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312" r:id="rId4"/>
    <p:sldId id="434" r:id="rId5"/>
    <p:sldId id="340" r:id="rId6"/>
    <p:sldId id="337" r:id="rId7"/>
    <p:sldId id="338" r:id="rId8"/>
    <p:sldId id="339" r:id="rId9"/>
    <p:sldId id="341" r:id="rId10"/>
    <p:sldId id="342" r:id="rId11"/>
    <p:sldId id="343" r:id="rId12"/>
    <p:sldId id="344" r:id="rId13"/>
    <p:sldId id="345" r:id="rId14"/>
    <p:sldId id="436" r:id="rId15"/>
    <p:sldId id="440" r:id="rId16"/>
    <p:sldId id="346" r:id="rId17"/>
    <p:sldId id="347" r:id="rId18"/>
    <p:sldId id="358" r:id="rId19"/>
    <p:sldId id="360" r:id="rId20"/>
    <p:sldId id="361" r:id="rId21"/>
    <p:sldId id="363" r:id="rId22"/>
    <p:sldId id="365" r:id="rId23"/>
    <p:sldId id="362" r:id="rId24"/>
    <p:sldId id="364" r:id="rId25"/>
    <p:sldId id="367" r:id="rId26"/>
    <p:sldId id="366" r:id="rId27"/>
    <p:sldId id="368" r:id="rId28"/>
    <p:sldId id="369" r:id="rId29"/>
    <p:sldId id="370" r:id="rId30"/>
    <p:sldId id="371" r:id="rId31"/>
    <p:sldId id="357" r:id="rId32"/>
    <p:sldId id="292" r:id="rId33"/>
    <p:sldId id="435" r:id="rId34"/>
    <p:sldId id="349" r:id="rId35"/>
    <p:sldId id="437" r:id="rId36"/>
    <p:sldId id="348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073" autoAdjust="0"/>
  </p:normalViewPr>
  <p:slideViewPr>
    <p:cSldViewPr>
      <p:cViewPr varScale="1">
        <p:scale>
          <a:sx n="106" d="100"/>
          <a:sy n="106" d="100"/>
        </p:scale>
        <p:origin x="17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887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427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34732269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The slides for this text are organized into chapters. This lecture covers Chapter 5.</a:t>
            </a:r>
          </a:p>
          <a:p>
            <a:endParaRPr lang="en-US"/>
          </a:p>
          <a:p>
            <a:r>
              <a:rPr lang="en-US"/>
              <a:t>Chapter 1: Introduction to Database Systems</a:t>
            </a:r>
          </a:p>
          <a:p>
            <a:r>
              <a:rPr lang="en-US"/>
              <a:t>Chapter 2: The Entity-Relationship Model	</a:t>
            </a:r>
          </a:p>
          <a:p>
            <a:r>
              <a:rPr lang="en-US"/>
              <a:t>Chapter 3: The Relational Model</a:t>
            </a:r>
          </a:p>
          <a:p>
            <a:r>
              <a:rPr lang="en-US"/>
              <a:t>Chapter 4 (Part A): Relational Algebra</a:t>
            </a:r>
          </a:p>
          <a:p>
            <a:r>
              <a:rPr lang="en-US"/>
              <a:t>Chapter 4 (Part B): Relational Calculus</a:t>
            </a:r>
          </a:p>
          <a:p>
            <a:r>
              <a:rPr lang="en-US"/>
              <a:t>Chapter 5: SQL: Queries, Programming, Triggers</a:t>
            </a:r>
          </a:p>
          <a:p>
            <a:r>
              <a:rPr lang="en-US"/>
              <a:t>Chapter 6: Query-by-Example (QBE)</a:t>
            </a:r>
          </a:p>
          <a:p>
            <a:r>
              <a:rPr lang="en-US"/>
              <a:t>Chapter 7: Storing Data: Disks and Files</a:t>
            </a:r>
          </a:p>
          <a:p>
            <a:r>
              <a:rPr lang="en-US"/>
              <a:t>Chapter 8: File Organizations and Indexing</a:t>
            </a:r>
          </a:p>
          <a:p>
            <a:r>
              <a:rPr lang="en-US"/>
              <a:t>Chapter 9: Tree-Structured Indexing</a:t>
            </a:r>
          </a:p>
          <a:p>
            <a:r>
              <a:rPr lang="en-US"/>
              <a:t>Chapter 10: Hash-Based Indexing</a:t>
            </a:r>
          </a:p>
          <a:p>
            <a:r>
              <a:rPr lang="en-US"/>
              <a:t>Chapter 11: External Sorting</a:t>
            </a:r>
          </a:p>
          <a:p>
            <a:r>
              <a:rPr lang="en-US"/>
              <a:t>Chapter 12 (Part A): Evaluation of Relational Operators</a:t>
            </a:r>
          </a:p>
          <a:p>
            <a:r>
              <a:rPr lang="en-US"/>
              <a:t>Chapter 12 (Part B): Evaluation of Relational Operators: Other Techniques</a:t>
            </a:r>
          </a:p>
          <a:p>
            <a:r>
              <a:rPr lang="en-US"/>
              <a:t>Chapter 13: Introduction to Query Optimization</a:t>
            </a:r>
          </a:p>
          <a:p>
            <a:r>
              <a:rPr lang="en-US"/>
              <a:t>Chapter 14: A Typical Relational Optimizer</a:t>
            </a:r>
          </a:p>
          <a:p>
            <a:r>
              <a:rPr lang="en-US"/>
              <a:t>Chapter 15: Schema Refinement and Normal Forms</a:t>
            </a:r>
          </a:p>
          <a:p>
            <a:r>
              <a:rPr lang="en-US"/>
              <a:t>Chapter 16 (Part A): Physical Database Design</a:t>
            </a:r>
          </a:p>
          <a:p>
            <a:r>
              <a:rPr lang="en-US"/>
              <a:t>Chapter 16 (Part B): Database Tuning</a:t>
            </a:r>
          </a:p>
          <a:p>
            <a:r>
              <a:rPr lang="en-US"/>
              <a:t>Chapter 17: Security</a:t>
            </a:r>
          </a:p>
          <a:p>
            <a:r>
              <a:rPr lang="en-US"/>
              <a:t>Chapter 18: Transaction Management Overview</a:t>
            </a:r>
          </a:p>
          <a:p>
            <a:r>
              <a:rPr lang="en-US"/>
              <a:t>Chapter 19: Concurrency Control</a:t>
            </a:r>
          </a:p>
          <a:p>
            <a:r>
              <a:rPr lang="en-US"/>
              <a:t>Chapter 20: Crash Recovery</a:t>
            </a:r>
          </a:p>
          <a:p>
            <a:r>
              <a:rPr lang="en-US"/>
              <a:t>Chapter 21: Parallel and Distributed Databases</a:t>
            </a:r>
          </a:p>
          <a:p>
            <a:r>
              <a:rPr lang="en-US"/>
              <a:t>Chapter 22: Internet Databases</a:t>
            </a:r>
          </a:p>
          <a:p>
            <a:r>
              <a:rPr lang="en-US"/>
              <a:t>Chapter 23: Decision Support</a:t>
            </a:r>
          </a:p>
          <a:p>
            <a:r>
              <a:rPr lang="en-US"/>
              <a:t>Chapter 24: Data Mining</a:t>
            </a:r>
          </a:p>
          <a:p>
            <a:r>
              <a:rPr lang="en-US"/>
              <a:t>Chapter 25: Object-Database Systems</a:t>
            </a:r>
          </a:p>
          <a:p>
            <a:r>
              <a:rPr lang="en-US"/>
              <a:t>Chapter 26: Spatial Data Management</a:t>
            </a:r>
          </a:p>
          <a:p>
            <a:r>
              <a:rPr lang="en-US"/>
              <a:t>Chapter 27: Deductive Databases</a:t>
            </a:r>
          </a:p>
          <a:p>
            <a:r>
              <a:rPr lang="en-US"/>
              <a:t>Chapter 28: Additional Topics</a:t>
            </a:r>
          </a:p>
          <a:p>
            <a:endParaRPr lang="en-US"/>
          </a:p>
        </p:txBody>
      </p:sp>
      <p:sp>
        <p:nvSpPr>
          <p:cNvPr id="10445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3885579" y="0"/>
            <a:ext cx="2972421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endParaRPr lang="en-US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885579" y="8686489"/>
            <a:ext cx="2972421" cy="45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694" tIns="0" rIns="18694" bIns="0" anchor="b"/>
          <a:lstStyle/>
          <a:p>
            <a:pPr algn="r" defTabSz="914437"/>
            <a:r>
              <a:rPr lang="en-US" sz="1000" i="1"/>
              <a:t>17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" y="8686489"/>
            <a:ext cx="2972421" cy="45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endParaRPr lang="en-US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0"/>
            <a:ext cx="2972421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endParaRPr lang="en-US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Accomplish normalization by analyzing the interdependencies among attributes in tables and taking subsets of larger tables to form smaller ones.</a:t>
            </a:r>
          </a:p>
          <a:p>
            <a:endParaRPr lang="en-US"/>
          </a:p>
          <a:p>
            <a:r>
              <a:rPr lang="en-US" sz="2800" b="1">
                <a:latin typeface="Helvetica" pitchFamily="34" charset="0"/>
              </a:rPr>
              <a:t>The subsets are created from examining the interdependencies among the table attributes.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5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sz="2000" b="1">
                <a:latin typeface="Helvetica" pitchFamily="34" charset="0"/>
              </a:rPr>
              <a:t>Note, dept_name is functionally dependent on dept_no.  Dept_no is functionally dependent on emp_no, so via the middle step of dept_no, dept_name is functionally dependent on emp_no.</a:t>
            </a:r>
          </a:p>
          <a:p>
            <a:pPr>
              <a:lnSpc>
                <a:spcPct val="75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sz="1600" b="1">
                <a:latin typeface="Helvetica" pitchFamily="34" charset="0"/>
              </a:rPr>
              <a:t>(emp_no -&gt; dept_no ,  dept_no -&gt; dept_name,  thus emp_no -&gt; dept_name)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DB6E14D-6CE9-4EDA-97F5-899C4038F3A0}" type="slidenum">
              <a:rPr lang="en-US"/>
              <a:pPr/>
              <a:t>31</a:t>
            </a:fld>
            <a:endParaRPr lang="en-US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And hey, odds are you can change more than one column, and you may have more than a million rows.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3885579" y="0"/>
            <a:ext cx="2972421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endParaRPr lang="en-US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3885579" y="8686489"/>
            <a:ext cx="2972421" cy="45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694" tIns="0" rIns="18694" bIns="0" anchor="b"/>
          <a:lstStyle/>
          <a:p>
            <a:pPr algn="r" defTabSz="914437"/>
            <a:r>
              <a:rPr lang="en-US" sz="1000" i="1"/>
              <a:t>28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" y="8686489"/>
            <a:ext cx="2972421" cy="45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endParaRPr lang="en-US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1" y="0"/>
            <a:ext cx="2972421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endParaRPr lang="en-US"/>
          </a:p>
        </p:txBody>
      </p:sp>
      <p:sp>
        <p:nvSpPr>
          <p:cNvPr id="327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2775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6CBCD-23B5-47B1-875E-C73FF0C10BDE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810D-218C-4AF4-9810-279DF09B42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97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2024063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059738" y="5661025"/>
            <a:ext cx="647700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571184" cy="562074"/>
          </a:xfrm>
        </p:spPr>
        <p:txBody>
          <a:bodyPr>
            <a:no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571184" cy="5493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 rot="5400000">
            <a:off x="8482013" y="2811462"/>
            <a:ext cx="1155700" cy="38417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9FA1AB8-AF71-4205-B9D7-C28F0BFAEB78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821738" y="6237288"/>
            <a:ext cx="322262" cy="620712"/>
          </a:xfrm>
          <a:prstGeom prst="rect">
            <a:avLst/>
          </a:prstGeom>
        </p:spPr>
        <p:txBody>
          <a:bodyPr rtlCol="0"/>
          <a:lstStyle>
            <a:lvl1pPr>
              <a:defRPr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727A873-12A6-499E-8A28-A6F335E34B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9"/>
          <p:cNvSpPr>
            <a:spLocks noGrp="1"/>
          </p:cNvSpPr>
          <p:nvPr>
            <p:ph type="ftr" sz="quarter" idx="12"/>
          </p:nvPr>
        </p:nvSpPr>
        <p:spPr>
          <a:xfrm rot="5400000">
            <a:off x="8002588" y="4846637"/>
            <a:ext cx="21336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9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reak_N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2024063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059738" y="5661025"/>
            <a:ext cx="647700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925380" y="6381328"/>
            <a:ext cx="391036" cy="39604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7632848" cy="562074"/>
          </a:xfrm>
        </p:spPr>
        <p:txBody>
          <a:bodyPr>
            <a:no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571184" cy="5493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rot="5400000">
            <a:off x="8482013" y="2811462"/>
            <a:ext cx="1155700" cy="38417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2AF2CD8-7DA6-4B75-9DE1-ABDB3AEADE91}" type="datetimeFigureOut">
              <a:rPr lang="en-US"/>
              <a:pPr>
                <a:defRPr/>
              </a:pPr>
              <a:t>4/18/2024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821738" y="6237288"/>
            <a:ext cx="322262" cy="620712"/>
          </a:xfrm>
          <a:prstGeom prst="rect">
            <a:avLst/>
          </a:prstGeom>
        </p:spPr>
        <p:txBody>
          <a:bodyPr rtlCol="0"/>
          <a:lstStyle>
            <a:lvl1pPr>
              <a:defRPr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DECA32D-D550-475F-85E3-D36B38ED63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 rot="5400000">
            <a:off x="8002588" y="4846637"/>
            <a:ext cx="2133600" cy="365125"/>
          </a:xfrm>
        </p:spPr>
        <p:txBody>
          <a:bodyPr rtlCol="0"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9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4DEEA9-B77D-45CC-8C1A-4A20FBBCB58E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44365-2B62-4A0B-86E5-366DCB210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31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A7004-1E0C-42DC-9211-4D2406AAFD55}" type="datetimeFigureOut">
              <a:rPr lang="en-US"/>
              <a:pPr>
                <a:defRPr/>
              </a:pPr>
              <a:t>4/18/2024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95D34-8182-46E1-941C-35CD4467A4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08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5A358-008A-4160-904A-9C9BDFDA42E0}" type="datetimeFigureOut">
              <a:rPr lang="en-US"/>
              <a:pPr>
                <a:defRPr/>
              </a:pPr>
              <a:t>4/18/2024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B77D6-5D92-4FF1-A53E-91E032ECF8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04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75E95DC-71A2-43A5-B681-B45C16F1C244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087D6E6-82ED-44D3-B017-F33906DE0E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22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EAF5F-1079-47FB-AC62-F46E32B6479F}" type="datetimeFigureOut">
              <a:rPr lang="en-US"/>
              <a:pPr>
                <a:defRPr/>
              </a:pPr>
              <a:t>4/18/2024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8A243-324A-437F-BDF7-4222E801A8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85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Straight Connector 23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24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traight Connector 26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BCF6A24-EBC4-4F57-8018-C5A48D6B4B2D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FD2AAEB-9204-4648-925C-5F8C5F104A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75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Straight Connector 23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traight Connector 25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1" name="Straight Connector 27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95DBD6F-9BB2-476C-B1BD-21818B610808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6430569-99D3-4200-86BB-37CC1F1949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3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100D3-C60B-4CB8-BD8E-B9D8D1371D8D}" type="datetimeFigureOut">
              <a:rPr lang="en-US"/>
              <a:pPr>
                <a:defRPr/>
              </a:pPr>
              <a:t>4/18/2024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DD5DE-A004-4A33-B1D3-7BC107747B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05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A3F6A-E512-4F9C-961E-852E22B28542}" type="datetimeFigureOut">
              <a:rPr lang="en-US"/>
              <a:pPr>
                <a:defRPr/>
              </a:pPr>
              <a:t>4/18/2024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18F10-DED7-4B45-BF67-2DA5432260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662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19100"/>
            <a:ext cx="6840537" cy="8493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0" y="1484313"/>
            <a:ext cx="7772400" cy="4824412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940790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19100"/>
            <a:ext cx="6840537" cy="8493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484313"/>
            <a:ext cx="3810000" cy="4824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484313"/>
            <a:ext cx="3810000" cy="4824412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clip art</a:t>
            </a:r>
          </a:p>
        </p:txBody>
      </p:sp>
    </p:spTree>
    <p:extLst>
      <p:ext uri="{BB962C8B-B14F-4D97-AF65-F5344CB8AC3E}">
        <p14:creationId xmlns:p14="http://schemas.microsoft.com/office/powerpoint/2010/main" val="2885816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19100"/>
            <a:ext cx="6840537" cy="8493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484313"/>
            <a:ext cx="3810000" cy="4824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484313"/>
            <a:ext cx="3810000" cy="233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00600" y="3971925"/>
            <a:ext cx="3810000" cy="233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8680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19100"/>
            <a:ext cx="6840537" cy="8493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484313"/>
            <a:ext cx="3810000" cy="4824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484313"/>
            <a:ext cx="3810000" cy="4824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052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 smtClean="0">
                <a:solidFill>
                  <a:schemeClr val="tx2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3BC6DAA5-E335-4174-BBEF-6E9E97C4652D}" type="datetimeFigureOut">
              <a:rPr lang="en-US"/>
              <a:pPr>
                <a:defRPr/>
              </a:pPr>
              <a:t>4/18/2024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 dirty="0">
                <a:solidFill>
                  <a:schemeClr val="tx2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7" name="Rectangle 12"/>
          <p:cNvSpPr>
            <a:spLocks noChangeArrowheads="1"/>
          </p:cNvSpPr>
          <p:nvPr/>
        </p:nvSpPr>
        <p:spPr bwMode="auto">
          <a:xfrm>
            <a:off x="8870950" y="6488113"/>
            <a:ext cx="1809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r" eaLnBrk="0" hangingPunct="0"/>
            <a:endParaRPr lang="en-US" sz="1400">
              <a:latin typeface="Book Antiqua" pitchFamily="18" charset="0"/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8316913" y="6524625"/>
            <a:ext cx="503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/>
          <a:p>
            <a:pPr eaLnBrk="0" hangingPunct="0"/>
            <a:fld id="{A11548C5-BCF8-490F-A27F-1B72CEBB7B68}" type="slidenum">
              <a:rPr lang="de-DE" sz="1400">
                <a:solidFill>
                  <a:srgbClr val="280049"/>
                </a:solidFill>
                <a:latin typeface="Book Antiqua" pitchFamily="18" charset="0"/>
              </a:rPr>
              <a:pPr eaLnBrk="0" hangingPunct="0"/>
              <a:t>‹#›</a:t>
            </a:fld>
            <a:endParaRPr lang="de-DE" sz="1400">
              <a:solidFill>
                <a:srgbClr val="280049"/>
              </a:solidFill>
              <a:latin typeface="Book Antiqua" pitchFamily="18" charset="0"/>
            </a:endParaRPr>
          </a:p>
        </p:txBody>
      </p:sp>
      <p:sp>
        <p:nvSpPr>
          <p:cNvPr id="1039" name="Rectangle 16"/>
          <p:cNvSpPr>
            <a:spLocks noChangeArrowheads="1"/>
          </p:cNvSpPr>
          <p:nvPr/>
        </p:nvSpPr>
        <p:spPr bwMode="auto">
          <a:xfrm>
            <a:off x="8870950" y="6488113"/>
            <a:ext cx="1809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r" eaLnBrk="0" hangingPunct="0"/>
            <a:endParaRPr lang="en-US" sz="1400">
              <a:latin typeface="Book Antiqua" pitchFamily="18" charset="0"/>
            </a:endParaRPr>
          </a:p>
        </p:txBody>
      </p:sp>
      <p:sp>
        <p:nvSpPr>
          <p:cNvPr id="1040" name="Rectangle 18"/>
          <p:cNvSpPr>
            <a:spLocks noChangeArrowheads="1"/>
          </p:cNvSpPr>
          <p:nvPr/>
        </p:nvSpPr>
        <p:spPr bwMode="auto">
          <a:xfrm>
            <a:off x="8316913" y="6524625"/>
            <a:ext cx="503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/>
          <a:p>
            <a:pPr eaLnBrk="0" hangingPunct="0"/>
            <a:fld id="{DE1860D1-3C84-445F-9855-ACBF677B1F75}" type="slidenum">
              <a:rPr lang="de-DE" sz="1400">
                <a:solidFill>
                  <a:srgbClr val="280049"/>
                </a:solidFill>
                <a:latin typeface="Book Antiqua" pitchFamily="18" charset="0"/>
              </a:rPr>
              <a:pPr eaLnBrk="0" hangingPunct="0"/>
              <a:t>‹#›</a:t>
            </a:fld>
            <a:endParaRPr lang="de-DE" sz="1400">
              <a:solidFill>
                <a:srgbClr val="280049"/>
              </a:solidFill>
              <a:latin typeface="Book Antiqua" pitchFamily="18" charset="0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8870950" y="6488113"/>
            <a:ext cx="1809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r"/>
            <a:endParaRPr lang="en-US" sz="1400">
              <a:latin typeface="Book Antiqua" pitchFamily="18" charset="0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8316913" y="6524625"/>
            <a:ext cx="503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/>
          <a:p>
            <a:fld id="{C4A9FBE6-1B5E-48AC-8E76-5688A5452DEE}" type="slidenum">
              <a:rPr lang="de-DE" sz="1400">
                <a:solidFill>
                  <a:srgbClr val="280049"/>
                </a:solidFill>
                <a:latin typeface="Book Antiqua" pitchFamily="18" charset="0"/>
              </a:rPr>
              <a:pPr/>
              <a:t>‹#›</a:t>
            </a:fld>
            <a:endParaRPr lang="de-DE" sz="1400">
              <a:solidFill>
                <a:srgbClr val="280049"/>
              </a:solidFill>
              <a:latin typeface="Book Antiqua" pitchFamily="18" charset="0"/>
            </a:endParaRPr>
          </a:p>
        </p:txBody>
      </p:sp>
      <p:sp>
        <p:nvSpPr>
          <p:cNvPr id="23" name="Rectangle 18"/>
          <p:cNvSpPr>
            <a:spLocks noChangeArrowheads="1"/>
          </p:cNvSpPr>
          <p:nvPr userDrawn="1"/>
        </p:nvSpPr>
        <p:spPr bwMode="auto">
          <a:xfrm>
            <a:off x="8870950" y="6488113"/>
            <a:ext cx="1809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r"/>
            <a:endParaRPr lang="en-US" sz="1400">
              <a:latin typeface="Book Antiqua" pitchFamily="18" charset="0"/>
            </a:endParaRPr>
          </a:p>
        </p:txBody>
      </p:sp>
      <p:sp>
        <p:nvSpPr>
          <p:cNvPr id="24" name="Rectangle 19"/>
          <p:cNvSpPr>
            <a:spLocks noChangeArrowheads="1"/>
          </p:cNvSpPr>
          <p:nvPr userDrawn="1"/>
        </p:nvSpPr>
        <p:spPr bwMode="auto">
          <a:xfrm>
            <a:off x="8316913" y="6524625"/>
            <a:ext cx="503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/>
          <a:p>
            <a:fld id="{38C21D56-BDF0-4FD9-BF6F-C2AB2F52E67B}" type="slidenum">
              <a:rPr lang="de-DE" sz="1400">
                <a:solidFill>
                  <a:srgbClr val="280049"/>
                </a:solidFill>
                <a:latin typeface="Book Antiqua" pitchFamily="18" charset="0"/>
              </a:rPr>
              <a:pPr/>
              <a:t>‹#›</a:t>
            </a:fld>
            <a:endParaRPr lang="de-DE" sz="1400">
              <a:solidFill>
                <a:srgbClr val="280049"/>
              </a:solidFill>
              <a:latin typeface="Book Antiqua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1" fontAlgn="base" hangingPunct="1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1" fontAlgn="base" hangingPunct="1">
        <a:spcBef>
          <a:spcPct val="20000"/>
        </a:spcBef>
        <a:spcAft>
          <a:spcPct val="0"/>
        </a:spcAft>
        <a:buClr>
          <a:srgbClr val="BA3E13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1" fontAlgn="base" hangingPunct="1">
        <a:spcBef>
          <a:spcPct val="20000"/>
        </a:spcBef>
        <a:spcAft>
          <a:spcPct val="0"/>
        </a:spcAft>
        <a:buClr>
          <a:srgbClr val="E6B1AB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1" fontAlgn="base" hangingPunct="1">
        <a:spcBef>
          <a:spcPct val="20000"/>
        </a:spcBef>
        <a:spcAft>
          <a:spcPct val="0"/>
        </a:spcAft>
        <a:buClr>
          <a:srgbClr val="CBADAB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2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1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892290" y="2996952"/>
            <a:ext cx="7772400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/>
            <a:r>
              <a:rPr lang="en-US" sz="4000" i="1" dirty="0">
                <a:solidFill>
                  <a:schemeClr val="tx2"/>
                </a:solidFill>
                <a:latin typeface="Book Antiqua" pitchFamily="18" charset="0"/>
              </a:rPr>
              <a:t>Design (Chapter 19)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075" name="Rectangle 11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Typically, the first database design uses a high-level database model such as the ER model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This model is then translated into a relational schema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Sometimes a relational database schema is developed directly without going through the high-level design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Either way, the initial relational schema usually has room for improvement, in particular by </a:t>
            </a:r>
            <a:r>
              <a:rPr lang="en-US" sz="2400" i="1" dirty="0"/>
              <a:t>eliminating redundancy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100" dirty="0"/>
              <a:t>Redundancies lead to undesirable update and deletion </a:t>
            </a:r>
            <a:r>
              <a:rPr lang="en-US" sz="2100" i="1" dirty="0"/>
              <a:t>anomalies</a:t>
            </a:r>
            <a:endParaRPr lang="en-US" sz="2100" dirty="0"/>
          </a:p>
          <a:p>
            <a:pPr>
              <a:lnSpc>
                <a:spcPct val="90000"/>
              </a:lnSpc>
            </a:pPr>
            <a:r>
              <a:rPr lang="en-US" sz="2400" dirty="0"/>
              <a:t>Relational database design theory introduces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various </a:t>
            </a:r>
            <a:r>
              <a:rPr lang="en-US" i="1" dirty="0"/>
              <a:t>normal forms</a:t>
            </a:r>
            <a:r>
              <a:rPr lang="en-US" dirty="0"/>
              <a:t> avoid various types of redundancies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algorithms to convert a relational schema into these normal forms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anchor="b">
            <a:noAutofit/>
          </a:bodyPr>
          <a:lstStyle/>
          <a:p>
            <a:pPr algn="r"/>
            <a:r>
              <a:rPr lang="en-US" sz="3200" dirty="0"/>
              <a:t>Functional Dependency</a:t>
            </a:r>
          </a:p>
        </p:txBody>
      </p:sp>
      <p:sp>
        <p:nvSpPr>
          <p:cNvPr id="4099" name="Rectangle 10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544" y="1052736"/>
            <a:ext cx="8064896" cy="525598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i="1" dirty="0"/>
              <a:t>Normal forms </a:t>
            </a:r>
            <a:r>
              <a:rPr lang="en-US" sz="2400" dirty="0"/>
              <a:t>are based on the concept of functional dependencies between sets of attributes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</a:t>
            </a:r>
            <a:r>
              <a:rPr lang="en-US" sz="2400" i="1" dirty="0"/>
              <a:t> </a:t>
            </a:r>
            <a:r>
              <a:rPr lang="en-US" sz="2400" i="1" dirty="0">
                <a:solidFill>
                  <a:schemeClr val="accent2"/>
                </a:solidFill>
              </a:rPr>
              <a:t>functional dependency</a:t>
            </a:r>
            <a:r>
              <a:rPr lang="en-US" sz="2400" i="1" dirty="0"/>
              <a:t> (</a:t>
            </a:r>
            <a:r>
              <a:rPr lang="en-US" sz="2400" i="1" dirty="0">
                <a:solidFill>
                  <a:schemeClr val="accent2"/>
                </a:solidFill>
              </a:rPr>
              <a:t>FD</a:t>
            </a:r>
            <a:r>
              <a:rPr lang="en-US" sz="2400" i="1" dirty="0"/>
              <a:t>) X</a:t>
            </a:r>
            <a:r>
              <a:rPr lang="en-US" sz="2400" dirty="0"/>
              <a:t>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i="1" dirty="0"/>
              <a:t>Y </a:t>
            </a:r>
            <a:r>
              <a:rPr lang="en-US" sz="2400" dirty="0"/>
              <a:t>is an assertion about a relation </a:t>
            </a:r>
            <a:r>
              <a:rPr lang="en-US" sz="2400" i="1" dirty="0"/>
              <a:t>R</a:t>
            </a:r>
            <a:r>
              <a:rPr lang="en-US" sz="2400" dirty="0"/>
              <a:t>  that whenever two tuples of </a:t>
            </a:r>
            <a:r>
              <a:rPr lang="en-US" sz="2400" i="1" dirty="0"/>
              <a:t>R</a:t>
            </a:r>
            <a:r>
              <a:rPr lang="en-US" sz="2400" dirty="0"/>
              <a:t>  agree on all the attributes of set </a:t>
            </a:r>
            <a:r>
              <a:rPr lang="en-US" sz="2400" i="1" dirty="0"/>
              <a:t>X</a:t>
            </a:r>
            <a:r>
              <a:rPr lang="en-US" sz="2400" dirty="0"/>
              <a:t>, then they must also agree on all attributes in set </a:t>
            </a:r>
            <a:r>
              <a:rPr lang="en-US" sz="2400" i="1" dirty="0"/>
              <a:t>Y</a:t>
            </a:r>
            <a:endParaRPr lang="en-US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806149"/>
              </p:ext>
            </p:extLst>
          </p:nvPr>
        </p:nvGraphicFramePr>
        <p:xfrm>
          <a:off x="1619672" y="364502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Coquitlam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FutureShop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Burnaby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FutureShop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Vancouver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FutureShop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Coquitlam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BestBuy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Burnaby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BestBuy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Vancouver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BestBuy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anchor="b">
            <a:noAutofit/>
          </a:bodyPr>
          <a:lstStyle/>
          <a:p>
            <a:pPr algn="r"/>
            <a:r>
              <a:rPr lang="en-US" sz="3200" dirty="0"/>
              <a:t>Functional Dependency</a:t>
            </a:r>
          </a:p>
        </p:txBody>
      </p:sp>
      <p:sp>
        <p:nvSpPr>
          <p:cNvPr id="4099" name="Rectangle 10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544" y="1052736"/>
            <a:ext cx="8064896" cy="525598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We say “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i="1" dirty="0"/>
              <a:t>Y</a:t>
            </a:r>
            <a:r>
              <a:rPr lang="en-US" dirty="0"/>
              <a:t>  holds in </a:t>
            </a:r>
            <a:r>
              <a:rPr lang="en-US" i="1" dirty="0"/>
              <a:t>R</a:t>
            </a:r>
            <a:r>
              <a:rPr lang="en-US" dirty="0"/>
              <a:t>.”</a:t>
            </a:r>
            <a:endParaRPr lang="en-US" i="1" dirty="0"/>
          </a:p>
          <a:p>
            <a:pPr>
              <a:lnSpc>
                <a:spcPct val="90000"/>
              </a:lnSpc>
            </a:pPr>
            <a:r>
              <a:rPr lang="en-US" dirty="0"/>
              <a:t>Convention: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  represent sets of attributes of relation </a:t>
            </a:r>
            <a:r>
              <a:rPr lang="en-US" i="1" dirty="0"/>
              <a:t>R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,… represent single attributes of </a:t>
            </a:r>
            <a:r>
              <a:rPr lang="en-US" i="1" dirty="0"/>
              <a:t>R</a:t>
            </a:r>
            <a:r>
              <a:rPr lang="en-US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 parentheses to denote sets of attributes, just </a:t>
            </a:r>
            <a:r>
              <a:rPr lang="en-US" i="1" dirty="0"/>
              <a:t>ABC</a:t>
            </a:r>
            <a:r>
              <a:rPr lang="en-US" dirty="0"/>
              <a:t>, rather than {</a:t>
            </a:r>
            <a:r>
              <a:rPr lang="en-US" i="1" dirty="0"/>
              <a:t>A</a:t>
            </a:r>
            <a:r>
              <a:rPr lang="en-US" dirty="0"/>
              <a:t>,</a:t>
            </a:r>
            <a:r>
              <a:rPr lang="en-US" i="1" dirty="0"/>
              <a:t>B</a:t>
            </a:r>
            <a:r>
              <a:rPr lang="en-US" dirty="0"/>
              <a:t>,</a:t>
            </a:r>
            <a:r>
              <a:rPr lang="en-US" i="1" dirty="0"/>
              <a:t>C </a:t>
            </a:r>
            <a:r>
              <a:rPr lang="en-US" dirty="0"/>
              <a:t>}.</a:t>
            </a:r>
          </a:p>
          <a:p>
            <a:pPr>
              <a:lnSpc>
                <a:spcPct val="90000"/>
              </a:lnSpc>
            </a:pPr>
            <a:r>
              <a:rPr lang="en-US" dirty="0"/>
              <a:t>A FD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i="1" dirty="0"/>
              <a:t>Y </a:t>
            </a:r>
            <a:r>
              <a:rPr lang="en-US" dirty="0"/>
              <a:t>is called</a:t>
            </a:r>
            <a:r>
              <a:rPr lang="en-US" i="1" dirty="0"/>
              <a:t> </a:t>
            </a:r>
            <a:r>
              <a:rPr lang="en-US" i="1" dirty="0">
                <a:solidFill>
                  <a:schemeClr val="accent2"/>
                </a:solidFill>
              </a:rPr>
              <a:t>trivial</a:t>
            </a:r>
            <a:r>
              <a:rPr lang="en-US" i="1" dirty="0"/>
              <a:t> </a:t>
            </a:r>
            <a:r>
              <a:rPr lang="en-US" dirty="0"/>
              <a:t>if</a:t>
            </a:r>
            <a:r>
              <a:rPr lang="en-US" i="1" dirty="0"/>
              <a:t>             .</a:t>
            </a:r>
            <a:endParaRPr lang="en-US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963022"/>
              </p:ext>
            </p:extLst>
          </p:nvPr>
        </p:nvGraphicFramePr>
        <p:xfrm>
          <a:off x="1619672" y="364502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Coquitlam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FutureShop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Burnaby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FutureShop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Vancouver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FutureShop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Coquitlam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BestBuy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Burnaby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BestBuy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Vancouver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BestBuy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943105911"/>
              </p:ext>
            </p:extLst>
          </p:nvPr>
        </p:nvGraphicFramePr>
        <p:xfrm>
          <a:off x="5148064" y="3212976"/>
          <a:ext cx="7905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4307" imgH="190417" progId="Equation.3">
                  <p:embed/>
                </p:oleObj>
              </mc:Choice>
              <mc:Fallback>
                <p:oleObj name="Equation" r:id="rId3" imgW="444307" imgH="190417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3212976"/>
                        <a:ext cx="7905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6721816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Splitting / Combining Rule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sz="2400" i="1" dirty="0"/>
              <a:t>X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i="1" dirty="0"/>
              <a:t>A</a:t>
            </a:r>
            <a:r>
              <a:rPr lang="en-US" sz="2400" baseline="-25000" dirty="0"/>
              <a:t>2</a:t>
            </a:r>
            <a:r>
              <a:rPr lang="en-US" sz="2400" dirty="0"/>
              <a:t>…</a:t>
            </a:r>
            <a:r>
              <a:rPr lang="en-US" sz="2400" i="1" dirty="0"/>
              <a:t>A</a:t>
            </a:r>
            <a:r>
              <a:rPr lang="en-US" sz="2400" i="1" baseline="-25000" dirty="0"/>
              <a:t>n</a:t>
            </a:r>
            <a:r>
              <a:rPr lang="en-US" sz="2400" dirty="0"/>
              <a:t>  holds for </a:t>
            </a:r>
            <a:r>
              <a:rPr lang="en-US" sz="2400" i="1" dirty="0"/>
              <a:t>R</a:t>
            </a:r>
            <a:r>
              <a:rPr lang="en-US" sz="2400" dirty="0"/>
              <a:t>  if and only if each of </a:t>
            </a:r>
            <a:br>
              <a:rPr lang="en-US" sz="2400" dirty="0"/>
            </a:br>
            <a:r>
              <a:rPr lang="en-US" sz="2400" i="1" dirty="0"/>
              <a:t>X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i="1" dirty="0"/>
              <a:t>A</a:t>
            </a:r>
            <a:r>
              <a:rPr lang="en-US" sz="2400" baseline="-25000" dirty="0"/>
              <a:t>2</a:t>
            </a:r>
            <a:r>
              <a:rPr lang="en-US" sz="2400" dirty="0"/>
              <a:t>,…, </a:t>
            </a:r>
            <a:r>
              <a:rPr lang="en-US" sz="2400" i="1" dirty="0" err="1"/>
              <a:t>X</a:t>
            </a:r>
            <a:r>
              <a:rPr lang="en-US" sz="2400" dirty="0" err="1">
                <a:sym typeface="Wingdings" pitchFamily="2" charset="2"/>
              </a:rPr>
              <a:t>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n</a:t>
            </a:r>
            <a:r>
              <a:rPr lang="en-US" sz="2400" dirty="0"/>
              <a:t>  hold for </a:t>
            </a:r>
            <a:r>
              <a:rPr lang="en-US" sz="2400" i="1" dirty="0"/>
              <a:t>R</a:t>
            </a:r>
            <a:r>
              <a:rPr lang="en-US" sz="2400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sz="2100" dirty="0"/>
              <a:t>i.e.: knowing X, we know </a:t>
            </a:r>
            <a:r>
              <a:rPr lang="en-US" sz="2100" i="1" dirty="0"/>
              <a:t>A</a:t>
            </a:r>
            <a:r>
              <a:rPr lang="en-US" sz="2100" i="1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endParaRPr lang="en-US" sz="2100" i="1" baseline="-25000" dirty="0"/>
          </a:p>
          <a:p>
            <a:pPr lvl="1">
              <a:lnSpc>
                <a:spcPct val="110000"/>
              </a:lnSpc>
            </a:pPr>
            <a:r>
              <a:rPr lang="en-US" sz="2100" dirty="0"/>
              <a:t>Example: The FD </a:t>
            </a:r>
            <a:r>
              <a:rPr lang="en-US" sz="2100" i="1" dirty="0"/>
              <a:t>A</a:t>
            </a:r>
            <a:r>
              <a:rPr lang="en-US" sz="2100" dirty="0">
                <a:sym typeface="Wingdings" pitchFamily="2" charset="2"/>
              </a:rPr>
              <a:t></a:t>
            </a:r>
            <a:r>
              <a:rPr lang="en-US" sz="2100" i="1" dirty="0"/>
              <a:t>BC</a:t>
            </a:r>
            <a:r>
              <a:rPr lang="en-US" sz="2100" dirty="0"/>
              <a:t>  is equivalent to the two FDs </a:t>
            </a:r>
            <a:r>
              <a:rPr lang="en-US" sz="2100" i="1" dirty="0"/>
              <a:t>A</a:t>
            </a:r>
            <a:r>
              <a:rPr lang="en-US" sz="2100" dirty="0">
                <a:sym typeface="Wingdings" pitchFamily="2" charset="2"/>
              </a:rPr>
              <a:t></a:t>
            </a:r>
            <a:r>
              <a:rPr lang="en-US" sz="2100" i="1" dirty="0"/>
              <a:t>B </a:t>
            </a:r>
            <a:r>
              <a:rPr lang="en-US" sz="2100" dirty="0"/>
              <a:t> and </a:t>
            </a:r>
            <a:r>
              <a:rPr lang="en-US" sz="2100" i="1" dirty="0"/>
              <a:t>A</a:t>
            </a:r>
            <a:r>
              <a:rPr lang="en-US" sz="2100" dirty="0">
                <a:sym typeface="Wingdings" pitchFamily="2" charset="2"/>
              </a:rPr>
              <a:t></a:t>
            </a:r>
            <a:r>
              <a:rPr lang="en-US" sz="2100" i="1" dirty="0"/>
              <a:t>C</a:t>
            </a:r>
            <a:endParaRPr lang="en-US" sz="2100" dirty="0"/>
          </a:p>
          <a:p>
            <a:pPr>
              <a:lnSpc>
                <a:spcPct val="110000"/>
              </a:lnSpc>
            </a:pPr>
            <a:r>
              <a:rPr lang="en-US" sz="2400" dirty="0"/>
              <a:t>This rule can be used to </a:t>
            </a:r>
          </a:p>
          <a:p>
            <a:pPr lvl="1">
              <a:lnSpc>
                <a:spcPct val="110000"/>
              </a:lnSpc>
            </a:pPr>
            <a:r>
              <a:rPr lang="en-US" sz="2100" i="1" dirty="0"/>
              <a:t>split</a:t>
            </a:r>
            <a:r>
              <a:rPr lang="en-US" sz="2100" dirty="0"/>
              <a:t> a FD into multiple ones with singleton right sides</a:t>
            </a:r>
          </a:p>
          <a:p>
            <a:pPr lvl="1">
              <a:lnSpc>
                <a:spcPct val="110000"/>
              </a:lnSpc>
            </a:pPr>
            <a:r>
              <a:rPr lang="en-US" sz="2100" i="1" dirty="0"/>
              <a:t>combine</a:t>
            </a:r>
            <a:r>
              <a:rPr lang="en-US" sz="2100" dirty="0"/>
              <a:t> multiple singleton right side FDs into one FD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There is no splitting /combining rule for left sides.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We’ll generally express FDs with </a:t>
            </a:r>
            <a:r>
              <a:rPr lang="en-US" sz="2400" i="1" dirty="0"/>
              <a:t>singleton</a:t>
            </a:r>
            <a:r>
              <a:rPr lang="en-US" sz="2400" dirty="0"/>
              <a:t> </a:t>
            </a:r>
            <a:r>
              <a:rPr lang="en-US" sz="2400" i="1" dirty="0"/>
              <a:t>right</a:t>
            </a:r>
            <a:r>
              <a:rPr lang="en-US" sz="2400" dirty="0"/>
              <a:t> </a:t>
            </a:r>
            <a:r>
              <a:rPr lang="en-US" sz="2400" i="1" dirty="0"/>
              <a:t>sides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Functional Dependency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Consider the relation</a:t>
            </a:r>
            <a:br>
              <a:rPr lang="en-US" sz="2400" dirty="0"/>
            </a:br>
            <a:r>
              <a:rPr lang="en-US" sz="2400" dirty="0"/>
              <a:t>	Movies1</a:t>
            </a:r>
            <a:br>
              <a:rPr lang="en-US" sz="2400" dirty="0"/>
            </a:br>
            <a:r>
              <a:rPr lang="en-US" sz="2400" dirty="0"/>
              <a:t>	   </a:t>
            </a:r>
            <a:r>
              <a:rPr lang="en-US" sz="2000" dirty="0"/>
              <a:t>(title, year, length, genre, </a:t>
            </a:r>
            <a:r>
              <a:rPr lang="en-US" sz="2000" dirty="0" err="1"/>
              <a:t>studioName</a:t>
            </a:r>
            <a:r>
              <a:rPr lang="en-US" sz="2000" dirty="0"/>
              <a:t>, </a:t>
            </a:r>
            <a:r>
              <a:rPr lang="en-US" sz="2000" dirty="0" err="1"/>
              <a:t>starName</a:t>
            </a:r>
            <a:r>
              <a:rPr lang="en-US" sz="2000" dirty="0"/>
              <a:t>)</a:t>
            </a:r>
          </a:p>
          <a:p>
            <a:r>
              <a:rPr lang="en-US" sz="2400" dirty="0"/>
              <a:t>title year </a:t>
            </a:r>
            <a:r>
              <a:rPr lang="en-US" sz="2400" dirty="0">
                <a:sym typeface="Wingdings" pitchFamily="2" charset="2"/>
              </a:rPr>
              <a:t> length genre </a:t>
            </a:r>
            <a:r>
              <a:rPr lang="en-US" sz="2400" dirty="0" err="1">
                <a:sym typeface="Wingdings" pitchFamily="2" charset="2"/>
              </a:rPr>
              <a:t>studioName</a:t>
            </a:r>
            <a:r>
              <a:rPr lang="en-US" sz="2400" dirty="0">
                <a:sym typeface="Wingdings" pitchFamily="2" charset="2"/>
              </a:rPr>
              <a:t> 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sz="2100" dirty="0">
                <a:sym typeface="Wingdings" pitchFamily="2" charset="2"/>
              </a:rPr>
              <a:t>Holds assuming that there are not two movies with the same title in the same year.</a:t>
            </a:r>
          </a:p>
          <a:p>
            <a:r>
              <a:rPr lang="en-US" sz="2400" dirty="0">
                <a:sym typeface="Wingdings" pitchFamily="2" charset="2"/>
              </a:rPr>
              <a:t>title year  </a:t>
            </a:r>
            <a:r>
              <a:rPr lang="en-US" sz="2400" dirty="0" err="1">
                <a:sym typeface="Wingdings" pitchFamily="2" charset="2"/>
              </a:rPr>
              <a:t>starName</a:t>
            </a:r>
            <a:r>
              <a:rPr lang="en-US" sz="2400" dirty="0">
                <a:sym typeface="Wingdings" pitchFamily="2" charset="2"/>
              </a:rPr>
              <a:t> </a:t>
            </a:r>
          </a:p>
          <a:p>
            <a:pPr lvl="1"/>
            <a:r>
              <a:rPr lang="en-US" sz="2100" dirty="0">
                <a:sym typeface="Wingdings" pitchFamily="2" charset="2"/>
              </a:rPr>
              <a:t>does not hold, since a movie can have more than one star acting</a:t>
            </a:r>
          </a:p>
          <a:p>
            <a:r>
              <a:rPr lang="en-US" sz="2400" dirty="0">
                <a:sym typeface="Wingdings" pitchFamily="2" charset="2"/>
              </a:rPr>
              <a:t>A FD makes an assertion about </a:t>
            </a:r>
            <a:r>
              <a:rPr lang="en-US" sz="2400" i="1" dirty="0">
                <a:sym typeface="Wingdings" pitchFamily="2" charset="2"/>
              </a:rPr>
              <a:t>all possible instances</a:t>
            </a:r>
            <a:r>
              <a:rPr lang="en-US" sz="2400" dirty="0">
                <a:sym typeface="Wingdings" pitchFamily="2" charset="2"/>
              </a:rPr>
              <a:t> of a relation, not only about one (such as the current) instance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Keys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95536" y="908720"/>
            <a:ext cx="8064896" cy="5472608"/>
          </a:xfrm>
        </p:spPr>
        <p:txBody>
          <a:bodyPr/>
          <a:lstStyle/>
          <a:p>
            <a:pPr marL="457200" indent="-457200">
              <a:lnSpc>
                <a:spcPct val="130000"/>
              </a:lnSpc>
            </a:pPr>
            <a:r>
              <a:rPr lang="en-US" sz="2400" dirty="0"/>
              <a:t>Given a relation </a:t>
            </a:r>
            <a:r>
              <a:rPr lang="en-US" sz="2400" i="1" dirty="0"/>
              <a:t>R</a:t>
            </a:r>
            <a:r>
              <a:rPr lang="en-US" sz="2400" dirty="0"/>
              <a:t> with attributes </a:t>
            </a:r>
            <a:r>
              <a:rPr lang="en-US" sz="2400" i="1" dirty="0"/>
              <a:t>X</a:t>
            </a:r>
            <a:r>
              <a:rPr lang="en-US" sz="2400" dirty="0"/>
              <a:t> = {A</a:t>
            </a:r>
            <a:r>
              <a:rPr lang="en-US" sz="2400" baseline="-25000" dirty="0"/>
              <a:t>1</a:t>
            </a:r>
            <a:r>
              <a:rPr lang="en-US" sz="2400" dirty="0"/>
              <a:t>, . . ., A</a:t>
            </a:r>
            <a:r>
              <a:rPr lang="en-US" sz="2400" baseline="-25000" dirty="0"/>
              <a:t>n</a:t>
            </a:r>
            <a:r>
              <a:rPr lang="en-US" sz="2400" dirty="0"/>
              <a:t>}.</a:t>
            </a:r>
          </a:p>
          <a:p>
            <a:pPr marL="823913" lvl="1" indent="-457200">
              <a:lnSpc>
                <a:spcPct val="130000"/>
              </a:lnSpc>
            </a:pPr>
            <a:r>
              <a:rPr lang="en-US" sz="1800" dirty="0"/>
              <a:t>is a </a:t>
            </a:r>
            <a:r>
              <a:rPr lang="en-US" sz="1800" i="1" dirty="0" err="1">
                <a:solidFill>
                  <a:srgbClr val="FF0066"/>
                </a:solidFill>
              </a:rPr>
              <a:t>superkey</a:t>
            </a:r>
            <a:r>
              <a:rPr lang="en-US" sz="1800" i="1" dirty="0"/>
              <a:t> </a:t>
            </a:r>
            <a:r>
              <a:rPr lang="en-US" sz="1800" dirty="0"/>
              <a:t>for relation </a:t>
            </a:r>
            <a:r>
              <a:rPr lang="en-US" sz="1800" i="1" dirty="0"/>
              <a:t>R </a:t>
            </a:r>
            <a:r>
              <a:rPr lang="en-US" sz="1800" dirty="0"/>
              <a:t> if  </a:t>
            </a:r>
            <a:r>
              <a:rPr lang="en-US" sz="1800" i="1" dirty="0"/>
              <a:t>K</a:t>
            </a:r>
            <a:r>
              <a:rPr lang="en-US" sz="1800" dirty="0"/>
              <a:t>  functionally determines </a:t>
            </a:r>
            <a:r>
              <a:rPr lang="en-US" sz="1800" i="1" dirty="0"/>
              <a:t>X</a:t>
            </a:r>
            <a:r>
              <a:rPr lang="en-US" sz="1800" dirty="0"/>
              <a:t>, i.e. </a:t>
            </a:r>
            <a:r>
              <a:rPr lang="en-US" sz="1800" i="1" dirty="0"/>
              <a:t>K</a:t>
            </a:r>
            <a:r>
              <a:rPr lang="en-US" sz="1800" dirty="0">
                <a:sym typeface="Wingdings" pitchFamily="2" charset="2"/>
              </a:rPr>
              <a:t> </a:t>
            </a:r>
            <a:r>
              <a:rPr lang="en-US" sz="1800" i="1" dirty="0">
                <a:sym typeface="Wingdings" pitchFamily="2" charset="2"/>
              </a:rPr>
              <a:t>X</a:t>
            </a:r>
            <a:endParaRPr lang="en-US" sz="1800" dirty="0"/>
          </a:p>
          <a:p>
            <a:pPr marL="457200" indent="-457200">
              <a:lnSpc>
                <a:spcPct val="130000"/>
              </a:lnSpc>
            </a:pPr>
            <a:r>
              <a:rPr lang="en-US" sz="2400" i="1" dirty="0"/>
              <a:t>K</a:t>
            </a:r>
            <a:r>
              <a:rPr lang="en-US" sz="2400" dirty="0"/>
              <a:t>  is a </a:t>
            </a:r>
            <a:r>
              <a:rPr lang="en-US" sz="2400" i="1" dirty="0">
                <a:solidFill>
                  <a:schemeClr val="accent2"/>
                </a:solidFill>
              </a:rPr>
              <a:t>key</a:t>
            </a:r>
            <a:r>
              <a:rPr lang="en-US" sz="2400" dirty="0"/>
              <a:t>  for </a:t>
            </a:r>
            <a:r>
              <a:rPr lang="en-US" sz="2400" i="1" dirty="0"/>
              <a:t>R</a:t>
            </a:r>
            <a:endParaRPr lang="en-US" sz="2400" dirty="0"/>
          </a:p>
          <a:p>
            <a:pPr marL="823913" lvl="1" indent="-457200">
              <a:lnSpc>
                <a:spcPct val="130000"/>
              </a:lnSpc>
            </a:pPr>
            <a:r>
              <a:rPr lang="en-US" sz="2100" dirty="0"/>
              <a:t>if </a:t>
            </a:r>
            <a:r>
              <a:rPr lang="en-US" sz="2100" i="1" dirty="0"/>
              <a:t>K</a:t>
            </a:r>
            <a:r>
              <a:rPr lang="en-US" sz="2100" dirty="0"/>
              <a:t>  is a </a:t>
            </a:r>
            <a:r>
              <a:rPr lang="en-US" sz="2100" dirty="0" err="1"/>
              <a:t>superkey</a:t>
            </a:r>
            <a:r>
              <a:rPr lang="en-US" sz="2100" dirty="0"/>
              <a:t>, but no proper subset of </a:t>
            </a:r>
            <a:r>
              <a:rPr lang="en-US" sz="2100" i="1" dirty="0"/>
              <a:t>K</a:t>
            </a:r>
            <a:r>
              <a:rPr lang="en-US" sz="2100" dirty="0"/>
              <a:t>  is a </a:t>
            </a:r>
            <a:r>
              <a:rPr lang="en-US" sz="2100" dirty="0" err="1"/>
              <a:t>superkey</a:t>
            </a:r>
            <a:endParaRPr lang="en-US" sz="2100" dirty="0"/>
          </a:p>
          <a:p>
            <a:pPr marL="457200" indent="-457200">
              <a:lnSpc>
                <a:spcPct val="130000"/>
              </a:lnSpc>
            </a:pPr>
            <a:r>
              <a:rPr lang="en-US" sz="2400" dirty="0"/>
              <a:t>Keys are a special case of a FD.</a:t>
            </a:r>
          </a:p>
          <a:p>
            <a:pPr marL="457200" indent="-457200">
              <a:lnSpc>
                <a:spcPct val="130000"/>
              </a:lnSpc>
            </a:pPr>
            <a:r>
              <a:rPr lang="en-US" sz="2400" dirty="0"/>
              <a:t>Keys can be deduced systematically, if all FDs for relation </a:t>
            </a:r>
            <a:r>
              <a:rPr lang="en-US" sz="2400" i="1" dirty="0"/>
              <a:t>R</a:t>
            </a:r>
            <a:r>
              <a:rPr lang="en-US" sz="2400" dirty="0"/>
              <a:t> are given. 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Keys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{title, year, </a:t>
            </a:r>
            <a:r>
              <a:rPr lang="en-US" sz="2400" dirty="0" err="1"/>
              <a:t>starName</a:t>
            </a:r>
            <a:r>
              <a:rPr lang="en-US" sz="2400" dirty="0"/>
              <a:t>} is a </a:t>
            </a:r>
            <a:r>
              <a:rPr lang="en-US" sz="2400" i="1" dirty="0" err="1"/>
              <a:t>superkey</a:t>
            </a:r>
            <a:r>
              <a:rPr lang="en-US" sz="2400" dirty="0"/>
              <a:t> of Movies1, since</a:t>
            </a:r>
            <a:br>
              <a:rPr lang="en-US" sz="2400" dirty="0"/>
            </a:br>
            <a:r>
              <a:rPr lang="en-US" sz="2400" dirty="0"/>
              <a:t> 	title </a:t>
            </a:r>
            <a:r>
              <a:rPr lang="en-US" sz="2400" dirty="0">
                <a:sym typeface="Wingdings" pitchFamily="2" charset="2"/>
              </a:rPr>
              <a:t> title, 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 	year  year, 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  	title year  length,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	title year  genre,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	title year  </a:t>
            </a:r>
            <a:r>
              <a:rPr lang="en-US" sz="2400" dirty="0" err="1">
                <a:sym typeface="Wingdings" pitchFamily="2" charset="2"/>
              </a:rPr>
              <a:t>studioName</a:t>
            </a:r>
            <a:r>
              <a:rPr lang="en-US" sz="2400" dirty="0">
                <a:sym typeface="Wingdings" pitchFamily="2" charset="2"/>
              </a:rPr>
              <a:t>,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	</a:t>
            </a:r>
            <a:r>
              <a:rPr lang="en-US" sz="2400" dirty="0" err="1">
                <a:sym typeface="Wingdings" pitchFamily="2" charset="2"/>
              </a:rPr>
              <a:t>starName</a:t>
            </a:r>
            <a:r>
              <a:rPr lang="en-US" sz="2400" dirty="0">
                <a:sym typeface="Wingdings" pitchFamily="2" charset="2"/>
              </a:rPr>
              <a:t>  </a:t>
            </a:r>
            <a:r>
              <a:rPr lang="en-US" sz="2400" dirty="0" err="1">
                <a:sym typeface="Wingdings" pitchFamily="2" charset="2"/>
              </a:rPr>
              <a:t>starName</a:t>
            </a:r>
            <a:r>
              <a:rPr lang="en-US" sz="2400" dirty="0">
                <a:sym typeface="Wingdings" pitchFamily="2" charset="2"/>
              </a:rPr>
              <a:t>.</a:t>
            </a:r>
          </a:p>
          <a:p>
            <a:r>
              <a:rPr lang="en-US" sz="2400" dirty="0"/>
              <a:t>Remember that </a:t>
            </a:r>
            <a:r>
              <a:rPr lang="en-US" sz="2400" dirty="0">
                <a:sym typeface="Wingdings" pitchFamily="2" charset="2"/>
              </a:rPr>
              <a:t>title year  </a:t>
            </a:r>
            <a:r>
              <a:rPr lang="en-US" sz="2400" dirty="0" err="1">
                <a:sym typeface="Wingdings" pitchFamily="2" charset="2"/>
              </a:rPr>
              <a:t>starName</a:t>
            </a:r>
            <a:r>
              <a:rPr lang="en-US" sz="2400" dirty="0">
                <a:sym typeface="Wingdings" pitchFamily="2" charset="2"/>
              </a:rPr>
              <a:t> does not hold.</a:t>
            </a:r>
            <a:endParaRPr lang="en-US" sz="2400" dirty="0"/>
          </a:p>
          <a:p>
            <a:r>
              <a:rPr lang="en-US" sz="2400" dirty="0"/>
              <a:t>{title, year}, {year, </a:t>
            </a:r>
            <a:r>
              <a:rPr lang="en-US" sz="2400" dirty="0" err="1"/>
              <a:t>starName</a:t>
            </a:r>
            <a:r>
              <a:rPr lang="en-US" sz="2400" dirty="0"/>
              <a:t>} and {title, </a:t>
            </a:r>
            <a:r>
              <a:rPr lang="en-US" sz="2400" dirty="0" err="1"/>
              <a:t>starName</a:t>
            </a:r>
            <a:r>
              <a:rPr lang="en-US" sz="2400" dirty="0"/>
              <a:t>} are </a:t>
            </a:r>
            <a:r>
              <a:rPr lang="en-US" sz="2400" i="1" dirty="0"/>
              <a:t>not</a:t>
            </a:r>
            <a:r>
              <a:rPr lang="en-US" sz="2400" dirty="0"/>
              <a:t> </a:t>
            </a:r>
            <a:r>
              <a:rPr lang="en-US" sz="2400" dirty="0" err="1"/>
              <a:t>superkeys</a:t>
            </a:r>
            <a:r>
              <a:rPr lang="en-US" sz="2400" dirty="0"/>
              <a:t>.</a:t>
            </a:r>
          </a:p>
          <a:p>
            <a:r>
              <a:rPr lang="en-US" sz="2400" dirty="0"/>
              <a:t>Thus, {title, year, </a:t>
            </a:r>
            <a:r>
              <a:rPr lang="en-US" sz="2400" dirty="0" err="1"/>
              <a:t>starName</a:t>
            </a:r>
            <a:r>
              <a:rPr lang="en-US" sz="2400" dirty="0"/>
              <a:t>} is a </a:t>
            </a:r>
            <a:r>
              <a:rPr lang="en-US" sz="2400" i="1" dirty="0"/>
              <a:t>key</a:t>
            </a:r>
            <a:r>
              <a:rPr lang="en-US" sz="2400" dirty="0"/>
              <a:t> of Movies1.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Closure of Attributes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Given a set of attributes {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/>
              <a:t>A</a:t>
            </a:r>
            <a:r>
              <a:rPr lang="en-US" sz="2400" baseline="-25000" dirty="0"/>
              <a:t>n</a:t>
            </a:r>
            <a:r>
              <a:rPr lang="en-US" sz="2400" dirty="0"/>
              <a:t>} and a set </a:t>
            </a:r>
            <a:r>
              <a:rPr lang="en-US" sz="2400" i="1" dirty="0"/>
              <a:t>S</a:t>
            </a:r>
            <a:r>
              <a:rPr lang="en-US" sz="2400" dirty="0"/>
              <a:t> of FDs.</a:t>
            </a:r>
          </a:p>
          <a:p>
            <a:r>
              <a:rPr lang="en-US" sz="2400" dirty="0">
                <a:sym typeface="Wingdings" pitchFamily="2" charset="2"/>
              </a:rPr>
              <a:t>The </a:t>
            </a:r>
            <a:r>
              <a:rPr lang="en-US" sz="2400" i="1" dirty="0">
                <a:solidFill>
                  <a:schemeClr val="accent2"/>
                </a:solidFill>
                <a:sym typeface="Wingdings" pitchFamily="2" charset="2"/>
              </a:rPr>
              <a:t>closure</a:t>
            </a:r>
            <a:r>
              <a:rPr lang="en-US" sz="2400" dirty="0">
                <a:sym typeface="Wingdings" pitchFamily="2" charset="2"/>
              </a:rPr>
              <a:t> of </a:t>
            </a:r>
            <a:r>
              <a:rPr lang="en-US" sz="2400" dirty="0"/>
              <a:t>{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/>
              <a:t>A</a:t>
            </a:r>
            <a:r>
              <a:rPr lang="en-US" sz="2400" baseline="-25000" dirty="0"/>
              <a:t>n</a:t>
            </a:r>
            <a:r>
              <a:rPr lang="en-US" sz="2400" dirty="0"/>
              <a:t>} under </a:t>
            </a:r>
            <a:r>
              <a:rPr lang="en-US" sz="2400" i="1" dirty="0"/>
              <a:t>S</a:t>
            </a:r>
            <a:r>
              <a:rPr lang="en-US" sz="2400" dirty="0"/>
              <a:t> is the set of attributes </a:t>
            </a:r>
            <a:r>
              <a:rPr lang="en-US" sz="2400" i="1" dirty="0"/>
              <a:t>X</a:t>
            </a:r>
            <a:r>
              <a:rPr lang="en-US" sz="2400" dirty="0"/>
              <a:t> such that every relation that satisfies all the FDs in </a:t>
            </a:r>
            <a:r>
              <a:rPr lang="en-US" sz="2400" i="1" dirty="0"/>
              <a:t>S</a:t>
            </a:r>
            <a:r>
              <a:rPr lang="en-US" sz="2400" dirty="0"/>
              <a:t> also satisfies {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/>
              <a:t>A</a:t>
            </a:r>
            <a:r>
              <a:rPr lang="en-US" sz="2400" baseline="-25000" dirty="0"/>
              <a:t>n</a:t>
            </a:r>
            <a:r>
              <a:rPr lang="en-US" sz="2400" dirty="0"/>
              <a:t>}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i="1" dirty="0">
                <a:sym typeface="Wingdings" pitchFamily="2" charset="2"/>
              </a:rPr>
              <a:t>X,</a:t>
            </a:r>
            <a:br>
              <a:rPr lang="en-US" sz="2400" i="1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i.e. </a:t>
            </a:r>
            <a:r>
              <a:rPr lang="en-US" sz="2400" dirty="0"/>
              <a:t>{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/>
              <a:t>A</a:t>
            </a:r>
            <a:r>
              <a:rPr lang="en-US" sz="2400" baseline="-25000" dirty="0"/>
              <a:t>n</a:t>
            </a:r>
            <a:r>
              <a:rPr lang="en-US" sz="2400" dirty="0"/>
              <a:t>}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i="1" dirty="0">
                <a:sym typeface="Wingdings" pitchFamily="2" charset="2"/>
              </a:rPr>
              <a:t>X</a:t>
            </a:r>
            <a:r>
              <a:rPr lang="en-US" sz="2400" dirty="0">
                <a:sym typeface="Wingdings" pitchFamily="2" charset="2"/>
              </a:rPr>
              <a:t> follows from the FDs in </a:t>
            </a:r>
            <a:r>
              <a:rPr lang="en-US" sz="2400" i="1" dirty="0">
                <a:sym typeface="Wingdings" pitchFamily="2" charset="2"/>
              </a:rPr>
              <a:t>S</a:t>
            </a:r>
            <a:r>
              <a:rPr lang="en-US" sz="2400" dirty="0">
                <a:sym typeface="Wingdings" pitchFamily="2" charset="2"/>
              </a:rPr>
              <a:t>.</a:t>
            </a:r>
          </a:p>
          <a:p>
            <a:r>
              <a:rPr lang="en-US" sz="2400" dirty="0">
                <a:sym typeface="Wingdings" pitchFamily="2" charset="2"/>
              </a:rPr>
              <a:t>The closure of set </a:t>
            </a:r>
            <a:r>
              <a:rPr lang="en-US" sz="2400" i="1" dirty="0">
                <a:sym typeface="Wingdings" pitchFamily="2" charset="2"/>
              </a:rPr>
              <a:t>Y</a:t>
            </a:r>
            <a:r>
              <a:rPr lang="en-US" sz="2400" dirty="0">
                <a:sym typeface="Wingdings" pitchFamily="2" charset="2"/>
              </a:rPr>
              <a:t> is denoted by </a:t>
            </a:r>
            <a:r>
              <a:rPr lang="en-US" sz="2400" i="1" dirty="0">
                <a:sym typeface="Wingdings" pitchFamily="2" charset="2"/>
              </a:rPr>
              <a:t>Y</a:t>
            </a:r>
            <a:r>
              <a:rPr lang="en-US" sz="2400" baseline="30000" dirty="0">
                <a:sym typeface="Wingdings" pitchFamily="2" charset="2"/>
              </a:rPr>
              <a:t>+.</a:t>
            </a:r>
          </a:p>
          <a:p>
            <a:r>
              <a:rPr lang="en-US" sz="2400" dirty="0">
                <a:sym typeface="Wingdings" pitchFamily="2" charset="2"/>
              </a:rPr>
              <a:t>Example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	attribute set {A, B, C}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	FDs {ABD, DE, BCF, GH}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	{A,B,C}</a:t>
            </a:r>
            <a:r>
              <a:rPr lang="en-US" sz="2400" baseline="30000" dirty="0">
                <a:sym typeface="Wingdings" pitchFamily="2" charset="2"/>
              </a:rPr>
              <a:t>+</a:t>
            </a:r>
            <a:r>
              <a:rPr lang="en-US" sz="2400" dirty="0">
                <a:sym typeface="Wingdings" pitchFamily="2" charset="2"/>
              </a:rPr>
              <a:t> = {A, B, C, D, E, F}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sz="3400" dirty="0"/>
              <a:t>Closure of Attributes</a:t>
            </a:r>
          </a:p>
        </p:txBody>
      </p:sp>
      <p:graphicFrame>
        <p:nvGraphicFramePr>
          <p:cNvPr id="10244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96455294"/>
              </p:ext>
            </p:extLst>
          </p:nvPr>
        </p:nvGraphicFramePr>
        <p:xfrm>
          <a:off x="3635896" y="3645024"/>
          <a:ext cx="2628891" cy="463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400" imgH="228600" progId="Equation.3">
                  <p:embed/>
                </p:oleObj>
              </mc:Choice>
              <mc:Fallback>
                <p:oleObj name="Equation" r:id="rId3" imgW="1295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3645024"/>
                        <a:ext cx="2628891" cy="463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544" y="980728"/>
            <a:ext cx="7848872" cy="5400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 dirty="0"/>
              <a:t>Given a set of attributes {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/>
              <a:t>A</a:t>
            </a:r>
            <a:r>
              <a:rPr lang="en-US" sz="2400" baseline="-25000" dirty="0"/>
              <a:t>n</a:t>
            </a:r>
            <a:r>
              <a:rPr lang="en-US" sz="2400" dirty="0"/>
              <a:t>} and a set </a:t>
            </a:r>
            <a:r>
              <a:rPr lang="en-US" sz="2400" i="1" dirty="0"/>
              <a:t>S</a:t>
            </a:r>
            <a:r>
              <a:rPr lang="en-US" sz="2400" dirty="0"/>
              <a:t> of FDs.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ym typeface="Wingdings" pitchFamily="2" charset="2"/>
              </a:rPr>
              <a:t>If necessary, apply the splitting rule to the FDs in S.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ym typeface="Wingdings" pitchFamily="2" charset="2"/>
              </a:rPr>
              <a:t>Initialize </a:t>
            </a:r>
            <a:r>
              <a:rPr lang="en-US" sz="2400" i="1" dirty="0">
                <a:sym typeface="Wingdings" pitchFamily="2" charset="2"/>
              </a:rPr>
              <a:t>X</a:t>
            </a:r>
            <a:r>
              <a:rPr lang="en-US" sz="2400" dirty="0">
                <a:sym typeface="Wingdings" pitchFamily="2" charset="2"/>
              </a:rPr>
              <a:t> to </a:t>
            </a:r>
            <a:r>
              <a:rPr lang="en-US" sz="2400" dirty="0"/>
              <a:t>{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/>
              <a:t>A</a:t>
            </a:r>
            <a:r>
              <a:rPr lang="en-US" sz="2400" baseline="-25000" dirty="0"/>
              <a:t>n</a:t>
            </a:r>
            <a:r>
              <a:rPr lang="en-US" sz="2400" dirty="0"/>
              <a:t>}.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Repeat </a:t>
            </a:r>
            <a:br>
              <a:rPr lang="en-US" sz="2400" dirty="0"/>
            </a:br>
            <a:r>
              <a:rPr lang="en-US" sz="2400" dirty="0"/>
              <a:t>     search for some FD </a:t>
            </a:r>
            <a:r>
              <a:rPr lang="en-US" sz="2400" i="1" dirty="0"/>
              <a:t>B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 err="1"/>
              <a:t>B</a:t>
            </a:r>
            <a:r>
              <a:rPr lang="en-US" sz="2400" baseline="-25000" dirty="0" err="1"/>
              <a:t>m</a:t>
            </a:r>
            <a:r>
              <a:rPr lang="en-US" sz="2400" dirty="0"/>
              <a:t>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i="1" dirty="0">
                <a:sym typeface="Wingdings" pitchFamily="2" charset="2"/>
              </a:rPr>
              <a:t>C</a:t>
            </a:r>
            <a:r>
              <a:rPr lang="en-US" sz="2400" dirty="0">
                <a:sym typeface="Wingdings" pitchFamily="2" charset="2"/>
              </a:rPr>
              <a:t> in </a:t>
            </a:r>
            <a:r>
              <a:rPr lang="en-US" sz="2400" i="1" dirty="0">
                <a:sym typeface="Wingdings" pitchFamily="2" charset="2"/>
              </a:rPr>
              <a:t>S</a:t>
            </a:r>
            <a:r>
              <a:rPr lang="en-US" sz="2400" dirty="0">
                <a:sym typeface="Wingdings" pitchFamily="2" charset="2"/>
              </a:rPr>
              <a:t>     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     such that for all 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     and add </a:t>
            </a:r>
            <a:r>
              <a:rPr lang="en-US" sz="2400" i="1" dirty="0">
                <a:sym typeface="Wingdings" pitchFamily="2" charset="2"/>
              </a:rPr>
              <a:t>C</a:t>
            </a:r>
            <a:r>
              <a:rPr lang="en-US" sz="2400" dirty="0">
                <a:sym typeface="Wingdings" pitchFamily="2" charset="2"/>
              </a:rPr>
              <a:t> to the set </a:t>
            </a:r>
            <a:r>
              <a:rPr lang="en-US" sz="2400" i="1" dirty="0">
                <a:sym typeface="Wingdings" pitchFamily="2" charset="2"/>
              </a:rPr>
              <a:t>X</a:t>
            </a:r>
            <a:r>
              <a:rPr lang="en-US" sz="2400" dirty="0">
                <a:sym typeface="Wingdings" pitchFamily="2" charset="2"/>
              </a:rPr>
              <a:t>			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/>
              <a:t>until no more attribute </a:t>
            </a:r>
            <a:r>
              <a:rPr lang="en-US" sz="2400" i="1" dirty="0"/>
              <a:t>C</a:t>
            </a:r>
            <a:r>
              <a:rPr lang="en-US" sz="2400" dirty="0"/>
              <a:t> can be added.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Now </a:t>
            </a:r>
            <a:r>
              <a:rPr lang="en-US" sz="2400" i="1" dirty="0"/>
              <a:t>X</a:t>
            </a:r>
            <a:r>
              <a:rPr lang="en-US" sz="2400" dirty="0"/>
              <a:t> = {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/>
              <a:t>A</a:t>
            </a:r>
            <a:r>
              <a:rPr lang="en-US" sz="2400" baseline="-25000" dirty="0"/>
              <a:t>n</a:t>
            </a:r>
            <a:r>
              <a:rPr lang="en-US" sz="2400" dirty="0"/>
              <a:t>}</a:t>
            </a:r>
            <a:r>
              <a:rPr lang="en-US" sz="2400" baseline="30000" dirty="0">
                <a:sym typeface="Wingdings" pitchFamily="2" charset="2"/>
              </a:rPr>
              <a:t>+, </a:t>
            </a:r>
            <a:r>
              <a:rPr lang="en-US" sz="2400" dirty="0"/>
              <a:t>, return </a:t>
            </a:r>
            <a:r>
              <a:rPr lang="en-US" sz="2400" i="1" dirty="0"/>
              <a:t>X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sz="3400" dirty="0"/>
              <a:t>Closure of Attributes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sz="2400"/>
              <a:t>Given a set of attributes {</a:t>
            </a:r>
            <a:r>
              <a:rPr lang="en-US" sz="2400" i="1"/>
              <a:t>A</a:t>
            </a:r>
            <a:r>
              <a:rPr lang="en-US" sz="2400"/>
              <a:t>, </a:t>
            </a:r>
            <a:r>
              <a:rPr lang="en-US" sz="2400" i="1"/>
              <a:t>B</a:t>
            </a:r>
            <a:r>
              <a:rPr lang="en-US" sz="2400"/>
              <a:t>, </a:t>
            </a:r>
            <a:r>
              <a:rPr lang="en-US" sz="2400" i="1"/>
              <a:t>C</a:t>
            </a:r>
            <a:r>
              <a:rPr lang="en-US" sz="2400"/>
              <a:t>, </a:t>
            </a:r>
            <a:r>
              <a:rPr lang="en-US" sz="2400" i="1"/>
              <a:t>D</a:t>
            </a:r>
            <a:r>
              <a:rPr lang="en-US" sz="2400"/>
              <a:t>, </a:t>
            </a:r>
            <a:r>
              <a:rPr lang="en-US" sz="2400" i="1"/>
              <a:t>E</a:t>
            </a:r>
            <a:r>
              <a:rPr lang="en-US" sz="2400"/>
              <a:t>, </a:t>
            </a:r>
            <a:r>
              <a:rPr lang="en-US" sz="2400" i="1"/>
              <a:t>F</a:t>
            </a:r>
            <a:r>
              <a:rPr lang="en-US" sz="2400"/>
              <a:t>}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sz="2400"/>
              <a:t>      and FDs {AB</a:t>
            </a:r>
            <a:r>
              <a:rPr lang="en-US" sz="2400">
                <a:sym typeface="Wingdings" pitchFamily="2" charset="2"/>
              </a:rPr>
              <a:t> C, BC AD, D E, CFB}.</a:t>
            </a:r>
          </a:p>
          <a:p>
            <a:pPr>
              <a:lnSpc>
                <a:spcPct val="110000"/>
              </a:lnSpc>
            </a:pPr>
            <a:r>
              <a:rPr lang="en-US" sz="2400"/>
              <a:t>What is {A,B} </a:t>
            </a:r>
            <a:r>
              <a:rPr lang="en-US" sz="2400" baseline="30000">
                <a:sym typeface="Wingdings" pitchFamily="2" charset="2"/>
              </a:rPr>
              <a:t>+</a:t>
            </a:r>
            <a:r>
              <a:rPr lang="en-US" sz="2400"/>
              <a:t>?</a:t>
            </a:r>
          </a:p>
          <a:p>
            <a:pPr>
              <a:lnSpc>
                <a:spcPct val="110000"/>
              </a:lnSpc>
            </a:pPr>
            <a:r>
              <a:rPr lang="en-US" sz="2400">
                <a:sym typeface="Wingdings" pitchFamily="2" charset="2"/>
              </a:rPr>
              <a:t>Apply the splitting rule: split BC AD into BC A and BC D.</a:t>
            </a:r>
          </a:p>
          <a:p>
            <a:pPr>
              <a:lnSpc>
                <a:spcPct val="110000"/>
              </a:lnSpc>
            </a:pPr>
            <a:r>
              <a:rPr lang="en-US" sz="2400">
                <a:sym typeface="Wingdings" pitchFamily="2" charset="2"/>
              </a:rPr>
              <a:t>Initialize X = </a:t>
            </a:r>
            <a:r>
              <a:rPr lang="en-US" sz="2400"/>
              <a:t>{A,B} .</a:t>
            </a:r>
          </a:p>
          <a:p>
            <a:pPr>
              <a:lnSpc>
                <a:spcPct val="110000"/>
              </a:lnSpc>
            </a:pPr>
            <a:r>
              <a:rPr lang="en-US" sz="2400">
                <a:sym typeface="Wingdings" pitchFamily="2" charset="2"/>
              </a:rPr>
              <a:t>Iterations</a:t>
            </a:r>
            <a:br>
              <a:rPr lang="en-US" sz="2400">
                <a:sym typeface="Wingdings" pitchFamily="2" charset="2"/>
              </a:rPr>
            </a:br>
            <a:r>
              <a:rPr lang="en-US" sz="2400">
                <a:sym typeface="Wingdings" pitchFamily="2" charset="2"/>
              </a:rPr>
              <a:t>	apply </a:t>
            </a:r>
            <a:r>
              <a:rPr lang="en-US" sz="2400"/>
              <a:t>AB</a:t>
            </a:r>
            <a:r>
              <a:rPr lang="en-US" sz="2400">
                <a:sym typeface="Wingdings" pitchFamily="2" charset="2"/>
              </a:rPr>
              <a:t> C, X = </a:t>
            </a:r>
            <a:r>
              <a:rPr lang="en-US" sz="2400"/>
              <a:t>{A,B,C}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sz="2400"/>
              <a:t>		</a:t>
            </a:r>
            <a:r>
              <a:rPr lang="en-US" sz="2400">
                <a:sym typeface="Wingdings" pitchFamily="2" charset="2"/>
              </a:rPr>
              <a:t>apply </a:t>
            </a:r>
            <a:r>
              <a:rPr lang="en-US" sz="2400"/>
              <a:t>BC</a:t>
            </a:r>
            <a:r>
              <a:rPr lang="en-US" sz="2400">
                <a:sym typeface="Wingdings" pitchFamily="2" charset="2"/>
              </a:rPr>
              <a:t> D, X = </a:t>
            </a:r>
            <a:r>
              <a:rPr lang="en-US" sz="2400"/>
              <a:t>{A,B,C,D}</a:t>
            </a:r>
            <a:br>
              <a:rPr lang="en-US" sz="2400"/>
            </a:br>
            <a:r>
              <a:rPr lang="en-US" sz="2400"/>
              <a:t>	</a:t>
            </a:r>
            <a:r>
              <a:rPr lang="en-US" sz="2400">
                <a:sym typeface="Wingdings" pitchFamily="2" charset="2"/>
              </a:rPr>
              <a:t>apply </a:t>
            </a:r>
            <a:r>
              <a:rPr lang="en-US" sz="2400"/>
              <a:t>D</a:t>
            </a:r>
            <a:r>
              <a:rPr lang="en-US" sz="2400">
                <a:sym typeface="Wingdings" pitchFamily="2" charset="2"/>
              </a:rPr>
              <a:t> E, X = </a:t>
            </a:r>
            <a:r>
              <a:rPr lang="en-US" sz="2400"/>
              <a:t>{A,B,C,D,E}</a:t>
            </a:r>
          </a:p>
          <a:p>
            <a:pPr>
              <a:lnSpc>
                <a:spcPct val="110000"/>
              </a:lnSpc>
            </a:pPr>
            <a:r>
              <a:rPr lang="en-US" sz="2400"/>
              <a:t>Return {A,B} </a:t>
            </a:r>
            <a:r>
              <a:rPr lang="en-US" sz="2400" baseline="30000">
                <a:sym typeface="Wingdings" pitchFamily="2" charset="2"/>
              </a:rPr>
              <a:t>+ </a:t>
            </a:r>
            <a:r>
              <a:rPr lang="en-US" sz="2400"/>
              <a:t>= {A,B,C,D,E}.</a:t>
            </a:r>
            <a:endParaRPr lang="en-US" sz="2400">
              <a:sym typeface="Wingdings" pitchFamily="2" charset="2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Relational Schema Design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Goal of relational schema design is to avoid anomalies.</a:t>
            </a:r>
          </a:p>
          <a:p>
            <a:r>
              <a:rPr lang="en-US" sz="2400" dirty="0"/>
              <a:t>Redundancies lead to certain forms of anomalies. and redundancy.</a:t>
            </a:r>
          </a:p>
          <a:p>
            <a:r>
              <a:rPr lang="en-US" sz="2400" i="1" dirty="0">
                <a:solidFill>
                  <a:schemeClr val="accent2"/>
                </a:solidFill>
              </a:rPr>
              <a:t>Update anomaly</a:t>
            </a:r>
            <a:endParaRPr lang="en-US" i="1" dirty="0"/>
          </a:p>
          <a:p>
            <a:pPr lvl="1"/>
            <a:r>
              <a:rPr lang="en-US" sz="2100" dirty="0"/>
              <a:t>one occurrence of a fact is changed, but not all occurrences</a:t>
            </a:r>
          </a:p>
          <a:p>
            <a:r>
              <a:rPr lang="en-US" sz="2400" i="1" dirty="0">
                <a:solidFill>
                  <a:schemeClr val="accent2"/>
                </a:solidFill>
              </a:rPr>
              <a:t>Deletion anomaly</a:t>
            </a:r>
            <a:endParaRPr lang="en-US" dirty="0"/>
          </a:p>
          <a:p>
            <a:pPr lvl="1"/>
            <a:r>
              <a:rPr lang="en-US" sz="2100" dirty="0"/>
              <a:t>valid fact is lost when a tuple is deleted</a:t>
            </a:r>
          </a:p>
          <a:p>
            <a:r>
              <a:rPr lang="en-US" sz="2400" dirty="0"/>
              <a:t>In the following example, consider the relation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dirty="0"/>
              <a:t>	Movies1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000" dirty="0"/>
              <a:t>(title, year, length, genre, </a:t>
            </a:r>
            <a:r>
              <a:rPr lang="en-US" sz="2000" dirty="0" err="1"/>
              <a:t>studioName</a:t>
            </a:r>
            <a:r>
              <a:rPr lang="en-US" sz="2000" dirty="0"/>
              <a:t>, </a:t>
            </a:r>
            <a:r>
              <a:rPr lang="en-US" sz="2000" dirty="0" err="1"/>
              <a:t>starName</a:t>
            </a:r>
            <a:r>
              <a:rPr lang="en-US" sz="2000" dirty="0"/>
              <a:t>).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Relational Schema Design</a:t>
            </a:r>
          </a:p>
        </p:txBody>
      </p:sp>
      <p:graphicFrame>
        <p:nvGraphicFramePr>
          <p:cNvPr id="192597" name="Group 8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04464634"/>
              </p:ext>
            </p:extLst>
          </p:nvPr>
        </p:nvGraphicFramePr>
        <p:xfrm>
          <a:off x="457200" y="981075"/>
          <a:ext cx="7570787" cy="4012566"/>
        </p:xfrm>
        <a:graphic>
          <a:graphicData uri="http://schemas.openxmlformats.org/drawingml/2006/table">
            <a:tbl>
              <a:tblPr/>
              <a:tblGrid>
                <a:gridCol w="1206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0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5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6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title</a:t>
                      </a:r>
                    </a:p>
                  </a:txBody>
                  <a:tcPr marL="83604" marR="836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year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length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genre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studioName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starName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Star Wars</a:t>
                      </a:r>
                    </a:p>
                  </a:txBody>
                  <a:tcPr marL="83604" marR="836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1977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124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SciFi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Fox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Carrie Fisher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Star Wars</a:t>
                      </a:r>
                    </a:p>
                  </a:txBody>
                  <a:tcPr marL="83604" marR="836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1977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124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SciFi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Fox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Mark Hamill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Star Wars</a:t>
                      </a:r>
                    </a:p>
                  </a:txBody>
                  <a:tcPr marL="83604" marR="836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1977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124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SciFi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Fox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Harrison Ford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Gone with the Wind</a:t>
                      </a:r>
                    </a:p>
                  </a:txBody>
                  <a:tcPr marL="83604" marR="836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1939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231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drama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MGM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Vivien Leigh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Wayne’s World</a:t>
                      </a:r>
                    </a:p>
                  </a:txBody>
                  <a:tcPr marL="83604" marR="836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1992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95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comedy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Paramount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Dana Carvey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Wayne’s World</a:t>
                      </a:r>
                    </a:p>
                  </a:txBody>
                  <a:tcPr marL="83604" marR="836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1992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95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comedy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Paramount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Mike Meyers</a:t>
                      </a:r>
                    </a:p>
                  </a:txBody>
                  <a:tcPr marL="83604" marR="836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373" name="Rectangle 86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544" y="5157193"/>
            <a:ext cx="7992888" cy="1368152"/>
          </a:xfrm>
          <a:noFill/>
        </p:spPr>
        <p:txBody>
          <a:bodyPr/>
          <a:lstStyle/>
          <a:p>
            <a:r>
              <a:rPr lang="en-US" sz="2000" dirty="0"/>
              <a:t>Update anomaly: update the length to 125 (only) for the first Star Wars tuple</a:t>
            </a:r>
          </a:p>
          <a:p>
            <a:r>
              <a:rPr lang="en-US" sz="2000" dirty="0"/>
              <a:t>Deletion anomaly: delete Vivien Leigh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/>
              <a:t>we loose all information about </a:t>
            </a:r>
            <a:r>
              <a:rPr lang="en-US" sz="2000" i="1" dirty="0"/>
              <a:t>Gone with the Wind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3409950" cy="562074"/>
          </a:xfrm>
          <a:noFill/>
          <a:ln/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1269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264723" y="983776"/>
            <a:ext cx="3532188" cy="5493224"/>
          </a:xfrm>
          <a:noFill/>
          <a:ln/>
        </p:spPr>
        <p:txBody>
          <a:bodyPr/>
          <a:lstStyle/>
          <a:p>
            <a:r>
              <a:rPr lang="en-US" sz="2000" dirty="0"/>
              <a:t>Problems due to R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W :</a:t>
            </a:r>
          </a:p>
          <a:p>
            <a:pPr lvl="1">
              <a:buSzPct val="75000"/>
            </a:pPr>
            <a:r>
              <a:rPr lang="en-US" sz="2000" i="1" u="sng" dirty="0">
                <a:solidFill>
                  <a:schemeClr val="accent2"/>
                </a:solidFill>
              </a:rPr>
              <a:t>Update anomaly</a:t>
            </a:r>
            <a:r>
              <a:rPr lang="en-US" sz="2000" dirty="0">
                <a:solidFill>
                  <a:schemeClr val="accent2"/>
                </a:solidFill>
              </a:rPr>
              <a:t>:  </a:t>
            </a:r>
            <a:r>
              <a:rPr lang="en-US" sz="2000" dirty="0"/>
              <a:t>Can            we change W in just             the 1st  tuple of SNLRWH?</a:t>
            </a:r>
          </a:p>
          <a:p>
            <a:pPr lvl="1">
              <a:buSzPct val="75000"/>
            </a:pPr>
            <a:r>
              <a:rPr lang="en-US" sz="2000" i="1" u="sng" dirty="0">
                <a:solidFill>
                  <a:schemeClr val="accent2"/>
                </a:solidFill>
              </a:rPr>
              <a:t>Insertion anomaly</a:t>
            </a:r>
            <a:r>
              <a:rPr lang="en-US" sz="2000" dirty="0">
                <a:solidFill>
                  <a:schemeClr val="accent2"/>
                </a:solidFill>
              </a:rPr>
              <a:t>:  </a:t>
            </a:r>
            <a:r>
              <a:rPr lang="en-US" sz="2000" dirty="0"/>
              <a:t>What if we want to insert an employee and don’t know the hourly wage for his rating?</a:t>
            </a:r>
          </a:p>
          <a:p>
            <a:pPr lvl="1">
              <a:buSzPct val="75000"/>
            </a:pPr>
            <a:r>
              <a:rPr lang="en-US" sz="2000" i="1" u="sng" dirty="0">
                <a:solidFill>
                  <a:schemeClr val="accent2"/>
                </a:solidFill>
              </a:rPr>
              <a:t>Deletion anomaly</a:t>
            </a:r>
            <a:r>
              <a:rPr lang="en-US" sz="2000" dirty="0">
                <a:solidFill>
                  <a:schemeClr val="accent2"/>
                </a:solidFill>
              </a:rPr>
              <a:t>: </a:t>
            </a:r>
            <a:r>
              <a:rPr lang="en-US" sz="2000" dirty="0"/>
              <a:t>If we delete all employees with rating 5, we lose the information about the wage for rating 5!  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4290595" y="5854018"/>
            <a:ext cx="2751124" cy="83163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en-US" sz="2400">
                <a:solidFill>
                  <a:schemeClr val="accent2"/>
                </a:solidFill>
              </a:rPr>
              <a:t>Will 2 smaller tables be better?</a:t>
            </a:r>
          </a:p>
        </p:txBody>
      </p:sp>
      <p:pic>
        <p:nvPicPr>
          <p:cNvPr id="2089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5153473"/>
            <a:ext cx="2118428" cy="1258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89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671" y="2414057"/>
            <a:ext cx="4707012" cy="2739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890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9" y="260648"/>
            <a:ext cx="4353714" cy="229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2381722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Decomposing Relations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707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Decomposing Relations</a:t>
            </a:r>
          </a:p>
        </p:txBody>
      </p:sp>
      <p:graphicFrame>
        <p:nvGraphicFramePr>
          <p:cNvPr id="14340" name="Object 6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96729085"/>
              </p:ext>
            </p:extLst>
          </p:nvPr>
        </p:nvGraphicFramePr>
        <p:xfrm>
          <a:off x="4139952" y="3429000"/>
          <a:ext cx="4030107" cy="412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5200" imgH="228600" progId="Equation.3">
                  <p:embed/>
                </p:oleObj>
              </mc:Choice>
              <mc:Fallback>
                <p:oleObj name="Equation" r:id="rId3" imgW="2235200" imgH="22860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429000"/>
                        <a:ext cx="4030107" cy="412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61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95537" y="1052736"/>
            <a:ext cx="8064895" cy="5255989"/>
          </a:xfrm>
          <a:noFill/>
        </p:spPr>
        <p:txBody>
          <a:bodyPr/>
          <a:lstStyle/>
          <a:p>
            <a:r>
              <a:rPr lang="en-US" sz="2400" dirty="0"/>
              <a:t>How to eliminate these anomalies? Decompose the relation into two or more relations that together have the same attributes.</a:t>
            </a:r>
          </a:p>
          <a:p>
            <a:pPr lvl="1"/>
            <a:r>
              <a:rPr lang="en-US" sz="2100" dirty="0"/>
              <a:t>Decomposition </a:t>
            </a:r>
            <a:r>
              <a:rPr lang="en-US" sz="2100" i="1" dirty="0"/>
              <a:t>MUST </a:t>
            </a:r>
            <a:r>
              <a:rPr lang="en-US" sz="2100" dirty="0"/>
              <a:t>be lossless.</a:t>
            </a:r>
          </a:p>
          <a:p>
            <a:r>
              <a:rPr lang="en-US" sz="2400" dirty="0"/>
              <a:t>Given relation </a:t>
            </a:r>
            <a:r>
              <a:rPr lang="en-US" sz="2400" i="1" dirty="0"/>
              <a:t>R</a:t>
            </a:r>
            <a:r>
              <a:rPr lang="en-US" sz="2400" dirty="0"/>
              <a:t> {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/>
              <a:t>A</a:t>
            </a:r>
            <a:r>
              <a:rPr lang="en-US" sz="2400" baseline="-25000" dirty="0"/>
              <a:t>n</a:t>
            </a:r>
            <a:r>
              <a:rPr lang="en-US" sz="2400" dirty="0"/>
              <a:t>}. A </a:t>
            </a:r>
            <a:r>
              <a:rPr lang="en-US" sz="2400" i="1" dirty="0">
                <a:solidFill>
                  <a:schemeClr val="accent2"/>
                </a:solidFill>
              </a:rPr>
              <a:t>decomposition </a:t>
            </a:r>
            <a:r>
              <a:rPr lang="en-US" sz="2400" dirty="0"/>
              <a:t>of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i="1" dirty="0"/>
              <a:t>R</a:t>
            </a:r>
            <a:r>
              <a:rPr lang="en-US" sz="2400" dirty="0"/>
              <a:t> consists of two relations </a:t>
            </a:r>
            <a:r>
              <a:rPr lang="en-US" sz="2400" i="1" dirty="0"/>
              <a:t>S</a:t>
            </a:r>
            <a:r>
              <a:rPr lang="en-US" sz="2400" dirty="0"/>
              <a:t> {</a:t>
            </a:r>
            <a:r>
              <a:rPr lang="en-US" sz="2400" i="1" dirty="0"/>
              <a:t>B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 err="1"/>
              <a:t>B</a:t>
            </a:r>
            <a:r>
              <a:rPr lang="en-US" sz="2400" baseline="-25000" dirty="0" err="1"/>
              <a:t>m</a:t>
            </a:r>
            <a:r>
              <a:rPr lang="en-US" sz="2400" dirty="0"/>
              <a:t>} and </a:t>
            </a:r>
            <a:br>
              <a:rPr lang="en-US" sz="2400" dirty="0"/>
            </a:br>
            <a:r>
              <a:rPr lang="en-US" sz="2400" i="1" dirty="0"/>
              <a:t>T</a:t>
            </a:r>
            <a:r>
              <a:rPr lang="en-US" sz="2400" dirty="0"/>
              <a:t> {</a:t>
            </a:r>
            <a:r>
              <a:rPr lang="en-US" sz="2400" i="1" dirty="0"/>
              <a:t>C</a:t>
            </a:r>
            <a:r>
              <a:rPr lang="en-US" sz="2400" baseline="-25000" dirty="0"/>
              <a:t>1</a:t>
            </a:r>
            <a:r>
              <a:rPr lang="en-US" sz="2400" dirty="0"/>
              <a:t>, . . ., </a:t>
            </a:r>
            <a:r>
              <a:rPr lang="en-US" sz="2400" i="1" dirty="0" err="1"/>
              <a:t>C</a:t>
            </a:r>
            <a:r>
              <a:rPr lang="en-US" sz="2400" baseline="-25000" dirty="0" err="1"/>
              <a:t>k</a:t>
            </a:r>
            <a:r>
              <a:rPr lang="en-US" sz="2400" dirty="0"/>
              <a:t>} such that</a:t>
            </a:r>
            <a:r>
              <a:rPr lang="en-US" sz="2000" dirty="0"/>
              <a:t>  </a:t>
            </a:r>
          </a:p>
          <a:p>
            <a:endParaRPr lang="en-US" sz="2000" dirty="0"/>
          </a:p>
          <a:p>
            <a:r>
              <a:rPr lang="en-US" dirty="0"/>
              <a:t>Decompose Movies1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/>
              <a:t>(title, year, length, genre, </a:t>
            </a:r>
            <a:r>
              <a:rPr lang="en-US" sz="2000" dirty="0" err="1"/>
              <a:t>studioName</a:t>
            </a:r>
            <a:r>
              <a:rPr lang="en-US" sz="2000" dirty="0"/>
              <a:t>, </a:t>
            </a:r>
            <a:r>
              <a:rPr lang="en-US" sz="2000" dirty="0" err="1"/>
              <a:t>starName</a:t>
            </a:r>
            <a:r>
              <a:rPr lang="en-US" sz="2000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into Movies2 (title, year, length, genre, </a:t>
            </a:r>
            <a:r>
              <a:rPr lang="en-US" dirty="0" err="1"/>
              <a:t>studioName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and Movies3 (title, year, </a:t>
            </a:r>
            <a:r>
              <a:rPr lang="en-US" dirty="0" err="1"/>
              <a:t>starName</a:t>
            </a:r>
            <a:r>
              <a:rPr lang="en-US" dirty="0"/>
              <a:t>).</a:t>
            </a:r>
          </a:p>
          <a:p>
            <a:endParaRPr lang="en-US" sz="2000" dirty="0"/>
          </a:p>
          <a:p>
            <a:pPr lvl="1">
              <a:buFontTx/>
              <a:buNone/>
            </a:pPr>
            <a:endParaRPr lang="en-US" sz="2000" dirty="0"/>
          </a:p>
          <a:p>
            <a:endParaRPr lang="en-US" sz="240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Decomposing Relations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pPr lvl="1">
              <a:buFontTx/>
              <a:buNone/>
            </a:pPr>
            <a:endParaRPr lang="en-US" sz="1800" dirty="0"/>
          </a:p>
          <a:p>
            <a:endParaRPr lang="en-US" sz="2400" dirty="0"/>
          </a:p>
        </p:txBody>
      </p:sp>
      <p:sp>
        <p:nvSpPr>
          <p:cNvPr id="15430" name="Text Box 226"/>
          <p:cNvSpPr txBox="1">
            <a:spLocks noChangeArrowheads="1"/>
          </p:cNvSpPr>
          <p:nvPr/>
        </p:nvSpPr>
        <p:spPr bwMode="auto">
          <a:xfrm>
            <a:off x="1951756" y="5305846"/>
            <a:ext cx="1071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/>
              <a:t>Movies2</a:t>
            </a:r>
          </a:p>
        </p:txBody>
      </p:sp>
      <p:sp>
        <p:nvSpPr>
          <p:cNvPr id="15431" name="Text Box 227"/>
          <p:cNvSpPr txBox="1">
            <a:spLocks noChangeArrowheads="1"/>
          </p:cNvSpPr>
          <p:nvPr/>
        </p:nvSpPr>
        <p:spPr bwMode="auto">
          <a:xfrm>
            <a:off x="6804025" y="6272485"/>
            <a:ext cx="1071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Movies3</a:t>
            </a:r>
          </a:p>
        </p:txBody>
      </p:sp>
      <p:sp>
        <p:nvSpPr>
          <p:cNvPr id="15432" name="Text Box 228"/>
          <p:cNvSpPr txBox="1">
            <a:spLocks noChangeArrowheads="1"/>
          </p:cNvSpPr>
          <p:nvPr/>
        </p:nvSpPr>
        <p:spPr bwMode="auto">
          <a:xfrm>
            <a:off x="851618" y="5725770"/>
            <a:ext cx="34909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The update and deletion</a:t>
            </a:r>
            <a:br>
              <a:rPr lang="en-US" sz="2400" dirty="0"/>
            </a:br>
            <a:r>
              <a:rPr lang="en-US" sz="2400" dirty="0"/>
              <a:t>anomalies are gone!</a:t>
            </a:r>
          </a:p>
        </p:txBody>
      </p:sp>
      <p:pic>
        <p:nvPicPr>
          <p:cNvPr id="15433" name="Picture 7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908719"/>
            <a:ext cx="4823537" cy="259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434" name="Picture 7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23" y="3831803"/>
            <a:ext cx="3831828" cy="1582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435" name="Picture 7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248149"/>
            <a:ext cx="3144227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5220072" y="2276872"/>
            <a:ext cx="936104" cy="7200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4499992" y="3507363"/>
            <a:ext cx="288032" cy="7200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 Box 226"/>
          <p:cNvSpPr txBox="1">
            <a:spLocks noChangeArrowheads="1"/>
          </p:cNvSpPr>
          <p:nvPr/>
        </p:nvSpPr>
        <p:spPr bwMode="auto">
          <a:xfrm>
            <a:off x="5203845" y="949449"/>
            <a:ext cx="10807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/>
              <a:t>Movies1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 logical design method which minimizes data redundancy and reduces design flaws.</a:t>
            </a:r>
          </a:p>
          <a:p>
            <a:endParaRPr lang="en-US" dirty="0"/>
          </a:p>
          <a:p>
            <a:r>
              <a:rPr lang="en-US" dirty="0"/>
              <a:t>Consists of applying various “normal” forms to the database design.</a:t>
            </a:r>
          </a:p>
          <a:p>
            <a:r>
              <a:rPr lang="en-US" dirty="0"/>
              <a:t>The normal forms break down large tables into smaller subsets.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Normal Form (1NF)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Each attribute must be atomic</a:t>
            </a:r>
          </a:p>
          <a:p>
            <a:pPr lvl="1"/>
            <a:r>
              <a:rPr lang="en-US" dirty="0"/>
              <a:t> No repeating columns within a row.</a:t>
            </a:r>
          </a:p>
          <a:p>
            <a:pPr lvl="1"/>
            <a:r>
              <a:rPr lang="en-US" dirty="0"/>
              <a:t> No multi-valued columns.</a:t>
            </a:r>
          </a:p>
          <a:p>
            <a:endParaRPr lang="en-US" dirty="0"/>
          </a:p>
          <a:p>
            <a:r>
              <a:rPr lang="en-US" dirty="0"/>
              <a:t>1NF simplifies attributes</a:t>
            </a:r>
          </a:p>
          <a:p>
            <a:pPr lvl="1"/>
            <a:r>
              <a:rPr lang="en-US" dirty="0"/>
              <a:t> Queries become easier.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1NF</a:t>
            </a:r>
          </a:p>
        </p:txBody>
      </p:sp>
      <p:sp>
        <p:nvSpPr>
          <p:cNvPr id="19459" name="Text Box 6"/>
          <p:cNvSpPr txBox="1">
            <a:spLocks noChangeArrowheads="1"/>
          </p:cNvSpPr>
          <p:nvPr/>
        </p:nvSpPr>
        <p:spPr bwMode="auto">
          <a:xfrm>
            <a:off x="1066800" y="1371600"/>
            <a:ext cx="69342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 (unnormalized)</a:t>
            </a:r>
          </a:p>
        </p:txBody>
      </p:sp>
      <p:graphicFrame>
        <p:nvGraphicFramePr>
          <p:cNvPr id="19460" name="Object 13"/>
          <p:cNvGraphicFramePr>
            <a:graphicFrameLocks noChangeAspect="1"/>
          </p:cNvGraphicFramePr>
          <p:nvPr/>
        </p:nvGraphicFramePr>
        <p:xfrm>
          <a:off x="1143000" y="2133600"/>
          <a:ext cx="67818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66944" imgH="670560" progId="Excel.Sheet.8">
                  <p:embed/>
                </p:oleObj>
              </mc:Choice>
              <mc:Fallback>
                <p:oleObj name="Worksheet" r:id="rId3" imgW="5266944" imgH="67056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133600"/>
                        <a:ext cx="67818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14"/>
          <p:cNvSpPr>
            <a:spLocks noChangeArrowheads="1"/>
          </p:cNvSpPr>
          <p:nvPr/>
        </p:nvSpPr>
        <p:spPr bwMode="auto">
          <a:xfrm>
            <a:off x="1066800" y="1905000"/>
            <a:ext cx="6934200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graphicFrame>
        <p:nvGraphicFramePr>
          <p:cNvPr id="19462" name="Object 15"/>
          <p:cNvGraphicFramePr>
            <a:graphicFrameLocks noChangeAspect="1"/>
          </p:cNvGraphicFramePr>
          <p:nvPr/>
        </p:nvGraphicFramePr>
        <p:xfrm>
          <a:off x="1524000" y="4191000"/>
          <a:ext cx="66294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266944" imgH="1493520" progId="Excel.Sheet.8">
                  <p:embed/>
                </p:oleObj>
              </mc:Choice>
              <mc:Fallback>
                <p:oleObj name="Worksheet" r:id="rId5" imgW="5266944" imgH="1493520" progId="Excel.Shee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191000"/>
                        <a:ext cx="66294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16"/>
          <p:cNvSpPr txBox="1">
            <a:spLocks noChangeArrowheads="1"/>
          </p:cNvSpPr>
          <p:nvPr/>
        </p:nvSpPr>
        <p:spPr bwMode="auto">
          <a:xfrm>
            <a:off x="1066800" y="3657600"/>
            <a:ext cx="69342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(1NF)</a:t>
            </a:r>
          </a:p>
        </p:txBody>
      </p:sp>
      <p:sp>
        <p:nvSpPr>
          <p:cNvPr id="19464" name="Rectangle 17"/>
          <p:cNvSpPr>
            <a:spLocks noChangeArrowheads="1"/>
          </p:cNvSpPr>
          <p:nvPr/>
        </p:nvSpPr>
        <p:spPr bwMode="auto">
          <a:xfrm>
            <a:off x="1066800" y="4191000"/>
            <a:ext cx="6934200" cy="1905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Dependence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304800" y="4038600"/>
            <a:ext cx="86106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273050" indent="-273050" eaLnBrk="1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latin typeface="+mn-lt"/>
              </a:defRPr>
            </a:lvl1pPr>
            <a:lvl2pPr marL="639763" lvl="1" indent="-2730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sz="2100">
                <a:latin typeface="+mn-lt"/>
              </a:defRPr>
            </a:lvl2pPr>
            <a:lvl3pPr indent="-182563" eaLnBrk="1" hangingPunct="1">
              <a:spcBef>
                <a:spcPct val="20000"/>
              </a:spcBef>
              <a:buClr>
                <a:srgbClr val="BA3E13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3pPr>
            <a:lvl4pPr marL="1187450" indent="-182563" eaLnBrk="1" hangingPunct="1">
              <a:spcBef>
                <a:spcPct val="20000"/>
              </a:spcBef>
              <a:buClr>
                <a:srgbClr val="E6B1AB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4pPr>
            <a:lvl5pPr marL="1462088" indent="-182563" eaLnBrk="1" hangingPunct="1">
              <a:spcBef>
                <a:spcPct val="20000"/>
              </a:spcBef>
              <a:buClr>
                <a:srgbClr val="CBADAB"/>
              </a:buClr>
              <a:buSzPct val="68000"/>
              <a:buFont typeface="Wingdings 2" pitchFamily="18" charset="2"/>
              <a:buChar char=""/>
              <a:defRPr sz="1600">
                <a:latin typeface="+mn-lt"/>
              </a:defRPr>
            </a:lvl5pPr>
            <a:lvl6pPr marL="1737360" indent="-182880">
              <a:spcBef>
                <a:spcPct val="20000"/>
              </a:spcBef>
              <a:buClr>
                <a:schemeClr val="accent1"/>
              </a:buClr>
              <a:buChar char="•"/>
              <a:defRPr kumimoji="0" sz="1600">
                <a:solidFill>
                  <a:schemeClr val="tx2"/>
                </a:solidFill>
                <a:latin typeface="+mn-lt"/>
              </a:defRPr>
            </a:lvl6pPr>
            <a:lvl7pPr marL="2011680" indent="-182880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baseline="0">
                <a:solidFill>
                  <a:schemeClr val="tx2"/>
                </a:solidFill>
                <a:latin typeface="+mn-lt"/>
              </a:defRPr>
            </a:lvl7pPr>
            <a:lvl8pPr marL="2286000" indent="-182880">
              <a:spcBef>
                <a:spcPct val="20000"/>
              </a:spcBef>
              <a:buClr>
                <a:schemeClr val="accent2"/>
              </a:buClr>
              <a:buChar char="•"/>
              <a:defRPr kumimoji="0" sz="1400" cap="small" baseline="0">
                <a:solidFill>
                  <a:schemeClr val="tx2"/>
                </a:solidFill>
                <a:latin typeface="+mn-lt"/>
              </a:defRPr>
            </a:lvl8pPr>
            <a:lvl9pPr marL="2560320" indent="-182880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baseline="0">
                <a:solidFill>
                  <a:schemeClr val="tx2"/>
                </a:solidFill>
                <a:latin typeface="+mn-lt"/>
              </a:defRPr>
            </a:lvl9pPr>
          </a:lstStyle>
          <a:p>
            <a:r>
              <a:rPr lang="en-US" dirty="0"/>
              <a:t>Name, </a:t>
            </a:r>
            <a:r>
              <a:rPr lang="en-US" dirty="0" err="1"/>
              <a:t>dept_no</a:t>
            </a:r>
            <a:r>
              <a:rPr lang="en-US" dirty="0"/>
              <a:t>, and </a:t>
            </a:r>
            <a:r>
              <a:rPr lang="en-US" dirty="0" err="1"/>
              <a:t>dept_name</a:t>
            </a:r>
            <a:r>
              <a:rPr lang="en-US" dirty="0"/>
              <a:t> are functionally dependent on </a:t>
            </a:r>
            <a:r>
              <a:rPr lang="en-US" dirty="0" err="1"/>
              <a:t>emp_no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emp_no</a:t>
            </a:r>
            <a:r>
              <a:rPr lang="en-US" dirty="0"/>
              <a:t> -&gt; name, </a:t>
            </a:r>
            <a:r>
              <a:rPr lang="en-US" dirty="0" err="1"/>
              <a:t>dept_no</a:t>
            </a:r>
            <a:r>
              <a:rPr lang="en-US" dirty="0"/>
              <a:t>, </a:t>
            </a:r>
            <a:r>
              <a:rPr lang="en-US" dirty="0" err="1"/>
              <a:t>dept_name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Skills is not functionally dependent on </a:t>
            </a:r>
            <a:r>
              <a:rPr lang="en-US" dirty="0" err="1"/>
              <a:t>emp_no</a:t>
            </a:r>
            <a:r>
              <a:rPr lang="en-US" dirty="0"/>
              <a:t> since it is not unique to each </a:t>
            </a:r>
            <a:r>
              <a:rPr lang="en-US" dirty="0" err="1"/>
              <a:t>emp_no</a:t>
            </a:r>
            <a:r>
              <a:rPr lang="en-US" dirty="0"/>
              <a:t>.</a:t>
            </a: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1524000" y="1905000"/>
          <a:ext cx="66294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66944" imgH="1493520" progId="Excel.Sheet.8">
                  <p:embed/>
                </p:oleObj>
              </mc:Choice>
              <mc:Fallback>
                <p:oleObj name="Worksheet" r:id="rId3" imgW="5266944" imgH="149352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905000"/>
                        <a:ext cx="66294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066800" y="1371600"/>
            <a:ext cx="69342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(1NF)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1066800" y="1905000"/>
            <a:ext cx="6934200" cy="1905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Integrity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04800" y="3921125"/>
            <a:ext cx="8610600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273050" indent="-273050" eaLnBrk="1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latin typeface="+mn-lt"/>
              </a:defRPr>
            </a:lvl1pPr>
            <a:lvl2pPr marL="639763" lvl="1" indent="-2730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sz="2100">
                <a:latin typeface="+mn-lt"/>
              </a:defRPr>
            </a:lvl2pPr>
            <a:lvl3pPr indent="-182563" eaLnBrk="1" hangingPunct="1">
              <a:spcBef>
                <a:spcPct val="20000"/>
              </a:spcBef>
              <a:buClr>
                <a:srgbClr val="BA3E13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3pPr>
            <a:lvl4pPr marL="1187450" indent="-182563" eaLnBrk="1" hangingPunct="1">
              <a:spcBef>
                <a:spcPct val="20000"/>
              </a:spcBef>
              <a:buClr>
                <a:srgbClr val="E6B1AB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4pPr>
            <a:lvl5pPr marL="1462088" indent="-182563" eaLnBrk="1" hangingPunct="1">
              <a:spcBef>
                <a:spcPct val="20000"/>
              </a:spcBef>
              <a:buClr>
                <a:srgbClr val="CBADAB"/>
              </a:buClr>
              <a:buSzPct val="68000"/>
              <a:buFont typeface="Wingdings 2" pitchFamily="18" charset="2"/>
              <a:buChar char=""/>
              <a:defRPr sz="1600">
                <a:latin typeface="+mn-lt"/>
              </a:defRPr>
            </a:lvl5pPr>
            <a:lvl6pPr marL="1737360" indent="-182880">
              <a:spcBef>
                <a:spcPct val="20000"/>
              </a:spcBef>
              <a:buClr>
                <a:schemeClr val="accent1"/>
              </a:buClr>
              <a:buChar char="•"/>
              <a:defRPr kumimoji="0" sz="1600">
                <a:solidFill>
                  <a:schemeClr val="tx2"/>
                </a:solidFill>
                <a:latin typeface="+mn-lt"/>
              </a:defRPr>
            </a:lvl6pPr>
            <a:lvl7pPr marL="2011680" indent="-182880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baseline="0">
                <a:solidFill>
                  <a:schemeClr val="tx2"/>
                </a:solidFill>
                <a:latin typeface="+mn-lt"/>
              </a:defRPr>
            </a:lvl7pPr>
            <a:lvl8pPr marL="2286000" indent="-182880">
              <a:spcBef>
                <a:spcPct val="20000"/>
              </a:spcBef>
              <a:buClr>
                <a:schemeClr val="accent2"/>
              </a:buClr>
              <a:buChar char="•"/>
              <a:defRPr kumimoji="0" sz="1400" cap="small" baseline="0">
                <a:solidFill>
                  <a:schemeClr val="tx2"/>
                </a:solidFill>
                <a:latin typeface="+mn-lt"/>
              </a:defRPr>
            </a:lvl8pPr>
            <a:lvl9pPr marL="2560320" indent="-182880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baseline="0">
                <a:solidFill>
                  <a:schemeClr val="tx2"/>
                </a:solidFill>
                <a:latin typeface="+mn-lt"/>
              </a:defRPr>
            </a:lvl9pPr>
          </a:lstStyle>
          <a:p>
            <a:r>
              <a:rPr lang="en-US" sz="2000" dirty="0"/>
              <a:t> Insert Anomaly - adding null values.  </a:t>
            </a:r>
            <a:r>
              <a:rPr lang="en-US" sz="2000" dirty="0" err="1"/>
              <a:t>eg</a:t>
            </a:r>
            <a:r>
              <a:rPr lang="en-US" sz="2000" dirty="0"/>
              <a:t>, inserting a new department does not require the primary key of </a:t>
            </a:r>
            <a:r>
              <a:rPr lang="en-US" sz="2000" dirty="0" err="1"/>
              <a:t>emp_no</a:t>
            </a:r>
            <a:r>
              <a:rPr lang="en-US" sz="2000" dirty="0"/>
              <a:t> to be added. </a:t>
            </a:r>
          </a:p>
          <a:p>
            <a:r>
              <a:rPr lang="en-US" sz="2000" dirty="0"/>
              <a:t> Update Anomaly - multiple updates for a single name change, causes performance degradation.  </a:t>
            </a:r>
            <a:r>
              <a:rPr lang="en-US" sz="2000" dirty="0" err="1"/>
              <a:t>eg</a:t>
            </a:r>
            <a:r>
              <a:rPr lang="en-US" sz="2000" dirty="0"/>
              <a:t>, changing IT </a:t>
            </a:r>
            <a:r>
              <a:rPr lang="en-US" sz="2000" dirty="0" err="1"/>
              <a:t>dept_name</a:t>
            </a:r>
            <a:r>
              <a:rPr lang="en-US" sz="2000" dirty="0"/>
              <a:t> to IS</a:t>
            </a:r>
          </a:p>
          <a:p>
            <a:r>
              <a:rPr lang="en-US" sz="2000" dirty="0"/>
              <a:t> Delete Anomaly - deleting wanted information.  </a:t>
            </a:r>
            <a:r>
              <a:rPr lang="en-US" sz="2000" dirty="0" err="1"/>
              <a:t>eg</a:t>
            </a:r>
            <a:r>
              <a:rPr lang="en-US" sz="2000" dirty="0"/>
              <a:t>, deleting the IT department removes employee Barbara Jones from the database</a:t>
            </a:r>
          </a:p>
        </p:txBody>
      </p:sp>
      <p:graphicFrame>
        <p:nvGraphicFramePr>
          <p:cNvPr id="23556" name="Object 7"/>
          <p:cNvGraphicFramePr>
            <a:graphicFrameLocks noChangeAspect="1"/>
          </p:cNvGraphicFramePr>
          <p:nvPr/>
        </p:nvGraphicFramePr>
        <p:xfrm>
          <a:off x="1828800" y="1928813"/>
          <a:ext cx="5638800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66944" imgH="1493520" progId="Excel.Sheet.8">
                  <p:embed/>
                </p:oleObj>
              </mc:Choice>
              <mc:Fallback>
                <p:oleObj name="Worksheet" r:id="rId3" imgW="5266944" imgH="149352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928813"/>
                        <a:ext cx="5638800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8"/>
          <p:cNvSpPr txBox="1">
            <a:spLocks noChangeArrowheads="1"/>
          </p:cNvSpPr>
          <p:nvPr/>
        </p:nvSpPr>
        <p:spPr bwMode="auto">
          <a:xfrm>
            <a:off x="1371600" y="1395413"/>
            <a:ext cx="6096000" cy="531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(1NF)</a:t>
            </a:r>
          </a:p>
        </p:txBody>
      </p:sp>
      <p:sp>
        <p:nvSpPr>
          <p:cNvPr id="23558" name="Rectangle 9"/>
          <p:cNvSpPr>
            <a:spLocks noChangeArrowheads="1"/>
          </p:cNvSpPr>
          <p:nvPr/>
        </p:nvSpPr>
        <p:spPr bwMode="auto">
          <a:xfrm>
            <a:off x="1371600" y="1928813"/>
            <a:ext cx="6096000" cy="172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Normal Form (2NF)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304800" y="980728"/>
            <a:ext cx="8610600" cy="462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eaLnBrk="1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latin typeface="+mn-lt"/>
              </a:defRPr>
            </a:lvl1pPr>
            <a:lvl2pPr marL="639763" lvl="1" indent="-2730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sz="2100">
                <a:latin typeface="+mn-lt"/>
              </a:defRPr>
            </a:lvl2pPr>
            <a:lvl3pPr indent="-182563" eaLnBrk="1" hangingPunct="1">
              <a:spcBef>
                <a:spcPct val="20000"/>
              </a:spcBef>
              <a:buClr>
                <a:srgbClr val="BA3E13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3pPr>
            <a:lvl4pPr marL="1187450" indent="-182563" eaLnBrk="1" hangingPunct="1">
              <a:spcBef>
                <a:spcPct val="20000"/>
              </a:spcBef>
              <a:buClr>
                <a:srgbClr val="E6B1AB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4pPr>
            <a:lvl5pPr marL="1462088" indent="-182563" eaLnBrk="1" hangingPunct="1">
              <a:spcBef>
                <a:spcPct val="20000"/>
              </a:spcBef>
              <a:buClr>
                <a:srgbClr val="CBADAB"/>
              </a:buClr>
              <a:buSzPct val="68000"/>
              <a:buFont typeface="Wingdings 2" pitchFamily="18" charset="2"/>
              <a:buChar char=""/>
              <a:defRPr sz="1600">
                <a:latin typeface="+mn-lt"/>
              </a:defRPr>
            </a:lvl5pPr>
            <a:lvl6pPr marL="1737360" indent="-182880">
              <a:spcBef>
                <a:spcPct val="20000"/>
              </a:spcBef>
              <a:buClr>
                <a:schemeClr val="accent1"/>
              </a:buClr>
              <a:buChar char="•"/>
              <a:defRPr kumimoji="0" sz="1600">
                <a:solidFill>
                  <a:schemeClr val="tx2"/>
                </a:solidFill>
                <a:latin typeface="+mn-lt"/>
              </a:defRPr>
            </a:lvl6pPr>
            <a:lvl7pPr marL="2011680" indent="-182880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baseline="0">
                <a:solidFill>
                  <a:schemeClr val="tx2"/>
                </a:solidFill>
                <a:latin typeface="+mn-lt"/>
              </a:defRPr>
            </a:lvl7pPr>
            <a:lvl8pPr marL="2286000" indent="-182880">
              <a:spcBef>
                <a:spcPct val="20000"/>
              </a:spcBef>
              <a:buClr>
                <a:schemeClr val="accent2"/>
              </a:buClr>
              <a:buChar char="•"/>
              <a:defRPr kumimoji="0" sz="1400" cap="small" baseline="0">
                <a:solidFill>
                  <a:schemeClr val="tx2"/>
                </a:solidFill>
                <a:latin typeface="+mn-lt"/>
              </a:defRPr>
            </a:lvl8pPr>
            <a:lvl9pPr marL="2560320" indent="-182880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baseline="0">
                <a:solidFill>
                  <a:schemeClr val="tx2"/>
                </a:solidFill>
                <a:latin typeface="+mn-lt"/>
              </a:defRPr>
            </a:lvl9pPr>
          </a:lstStyle>
          <a:p>
            <a:r>
              <a:rPr lang="en-US" dirty="0"/>
              <a:t>Each attribute must be functionally dependent on the primary key.</a:t>
            </a:r>
          </a:p>
          <a:p>
            <a:pPr lvl="1"/>
            <a:r>
              <a:rPr lang="en-US" dirty="0"/>
              <a:t> Functional dependence - the property of one or more attributes that uniquely determines the value of other attributes.</a:t>
            </a:r>
          </a:p>
          <a:p>
            <a:pPr lvl="1"/>
            <a:r>
              <a:rPr lang="en-US" dirty="0"/>
              <a:t> Any non-dependent attributes are moved into a smaller (subset) table.</a:t>
            </a:r>
          </a:p>
          <a:p>
            <a:r>
              <a:rPr lang="en-US" dirty="0"/>
              <a:t>2NF improves data integrity.</a:t>
            </a:r>
          </a:p>
          <a:p>
            <a:pPr lvl="1"/>
            <a:r>
              <a:rPr lang="en-US" dirty="0"/>
              <a:t> Prevents update, insert, and delete anomalies.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2NF</a:t>
            </a:r>
          </a:p>
        </p:txBody>
      </p:sp>
      <p:graphicFrame>
        <p:nvGraphicFramePr>
          <p:cNvPr id="22531" name="Object 4"/>
          <p:cNvGraphicFramePr>
            <a:graphicFrameLocks noChangeAspect="1"/>
          </p:cNvGraphicFramePr>
          <p:nvPr/>
        </p:nvGraphicFramePr>
        <p:xfrm>
          <a:off x="1524000" y="1676400"/>
          <a:ext cx="6324600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66944" imgH="1493520" progId="Excel.Sheet.8">
                  <p:embed/>
                </p:oleObj>
              </mc:Choice>
              <mc:Fallback>
                <p:oleObj name="Worksheet" r:id="rId3" imgW="5266944" imgH="149352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0"/>
                        <a:ext cx="6324600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1066800" y="1143000"/>
            <a:ext cx="69342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(1NF)</a:t>
            </a:r>
          </a:p>
        </p:txBody>
      </p:sp>
      <p:sp>
        <p:nvSpPr>
          <p:cNvPr id="22533" name="Rectangle 6"/>
          <p:cNvSpPr>
            <a:spLocks noChangeArrowheads="1"/>
          </p:cNvSpPr>
          <p:nvPr/>
        </p:nvSpPr>
        <p:spPr bwMode="auto">
          <a:xfrm>
            <a:off x="1066800" y="1676400"/>
            <a:ext cx="6934200" cy="1828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graphicFrame>
        <p:nvGraphicFramePr>
          <p:cNvPr id="22534" name="Object 8"/>
          <p:cNvGraphicFramePr>
            <a:graphicFrameLocks noChangeAspect="1"/>
          </p:cNvGraphicFramePr>
          <p:nvPr/>
        </p:nvGraphicFramePr>
        <p:xfrm>
          <a:off x="1066800" y="4418013"/>
          <a:ext cx="4419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331464" imgH="670560" progId="Excel.Sheet.8">
                  <p:embed/>
                </p:oleObj>
              </mc:Choice>
              <mc:Fallback>
                <p:oleObj name="Worksheet" r:id="rId5" imgW="3331464" imgH="670560" progId="Excel.Shee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418013"/>
                        <a:ext cx="4419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9"/>
          <p:cNvSpPr txBox="1">
            <a:spLocks noChangeArrowheads="1"/>
          </p:cNvSpPr>
          <p:nvPr/>
        </p:nvSpPr>
        <p:spPr bwMode="auto">
          <a:xfrm>
            <a:off x="1066800" y="3810000"/>
            <a:ext cx="43434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(2NF)</a:t>
            </a:r>
          </a:p>
        </p:txBody>
      </p:sp>
      <p:sp>
        <p:nvSpPr>
          <p:cNvPr id="22536" name="Rectangle 10"/>
          <p:cNvSpPr>
            <a:spLocks noChangeArrowheads="1"/>
          </p:cNvSpPr>
          <p:nvPr/>
        </p:nvSpPr>
        <p:spPr bwMode="auto">
          <a:xfrm>
            <a:off x="1066800" y="4341813"/>
            <a:ext cx="434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graphicFrame>
        <p:nvGraphicFramePr>
          <p:cNvPr id="22537" name="Object 11"/>
          <p:cNvGraphicFramePr>
            <a:graphicFrameLocks noChangeAspect="1"/>
          </p:cNvGraphicFramePr>
          <p:nvPr/>
        </p:nvGraphicFramePr>
        <p:xfrm>
          <a:off x="5943600" y="4343400"/>
          <a:ext cx="2133600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740408" imgH="1493520" progId="Excel.Sheet.8">
                  <p:embed/>
                </p:oleObj>
              </mc:Choice>
              <mc:Fallback>
                <p:oleObj name="Worksheet" r:id="rId7" imgW="1740408" imgH="1493520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343400"/>
                        <a:ext cx="2133600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Text Box 12"/>
          <p:cNvSpPr txBox="1">
            <a:spLocks noChangeArrowheads="1"/>
          </p:cNvSpPr>
          <p:nvPr/>
        </p:nvSpPr>
        <p:spPr bwMode="auto">
          <a:xfrm>
            <a:off x="5791200" y="3810000"/>
            <a:ext cx="21336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Skills (2NF)</a:t>
            </a:r>
          </a:p>
        </p:txBody>
      </p:sp>
      <p:sp>
        <p:nvSpPr>
          <p:cNvPr id="22539" name="Rectangle 13"/>
          <p:cNvSpPr>
            <a:spLocks noChangeArrowheads="1"/>
          </p:cNvSpPr>
          <p:nvPr/>
        </p:nvSpPr>
        <p:spPr bwMode="auto">
          <a:xfrm>
            <a:off x="5791200" y="4343400"/>
            <a:ext cx="2133600" cy="1905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Transitive Dependence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04800" y="3810000"/>
            <a:ext cx="8610600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273050" indent="-273050" eaLnBrk="1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latin typeface="+mn-lt"/>
              </a:defRPr>
            </a:lvl1pPr>
            <a:lvl2pPr marL="639763" lvl="1" indent="-2730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sz="2100">
                <a:latin typeface="+mn-lt"/>
              </a:defRPr>
            </a:lvl2pPr>
            <a:lvl3pPr indent="-182563" eaLnBrk="1" hangingPunct="1">
              <a:spcBef>
                <a:spcPct val="20000"/>
              </a:spcBef>
              <a:buClr>
                <a:srgbClr val="BA3E13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3pPr>
            <a:lvl4pPr marL="1187450" indent="-182563" eaLnBrk="1" hangingPunct="1">
              <a:spcBef>
                <a:spcPct val="20000"/>
              </a:spcBef>
              <a:buClr>
                <a:srgbClr val="E6B1AB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4pPr>
            <a:lvl5pPr marL="1462088" indent="-182563" eaLnBrk="1" hangingPunct="1">
              <a:spcBef>
                <a:spcPct val="20000"/>
              </a:spcBef>
              <a:buClr>
                <a:srgbClr val="CBADAB"/>
              </a:buClr>
              <a:buSzPct val="68000"/>
              <a:buFont typeface="Wingdings 2" pitchFamily="18" charset="2"/>
              <a:buChar char=""/>
              <a:defRPr sz="1600">
                <a:latin typeface="+mn-lt"/>
              </a:defRPr>
            </a:lvl5pPr>
            <a:lvl6pPr marL="1737360" indent="-182880">
              <a:spcBef>
                <a:spcPct val="20000"/>
              </a:spcBef>
              <a:buClr>
                <a:schemeClr val="accent1"/>
              </a:buClr>
              <a:buChar char="•"/>
              <a:defRPr kumimoji="0" sz="1600">
                <a:solidFill>
                  <a:schemeClr val="tx2"/>
                </a:solidFill>
                <a:latin typeface="+mn-lt"/>
              </a:defRPr>
            </a:lvl6pPr>
            <a:lvl7pPr marL="2011680" indent="-182880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baseline="0">
                <a:solidFill>
                  <a:schemeClr val="tx2"/>
                </a:solidFill>
                <a:latin typeface="+mn-lt"/>
              </a:defRPr>
            </a:lvl7pPr>
            <a:lvl8pPr marL="2286000" indent="-182880">
              <a:spcBef>
                <a:spcPct val="20000"/>
              </a:spcBef>
              <a:buClr>
                <a:schemeClr val="accent2"/>
              </a:buClr>
              <a:buChar char="•"/>
              <a:defRPr kumimoji="0" sz="1400" cap="small" baseline="0">
                <a:solidFill>
                  <a:schemeClr val="tx2"/>
                </a:solidFill>
                <a:latin typeface="+mn-lt"/>
              </a:defRPr>
            </a:lvl8pPr>
            <a:lvl9pPr marL="2560320" indent="-182880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baseline="0">
                <a:solidFill>
                  <a:schemeClr val="tx2"/>
                </a:solidFill>
                <a:latin typeface="+mn-lt"/>
              </a:defRPr>
            </a:lvl9pPr>
          </a:lstStyle>
          <a:p>
            <a:r>
              <a:rPr lang="en-US" dirty="0" err="1"/>
              <a:t>Dept_no</a:t>
            </a:r>
            <a:r>
              <a:rPr lang="en-US" dirty="0"/>
              <a:t> and </a:t>
            </a:r>
            <a:r>
              <a:rPr lang="en-US" dirty="0" err="1"/>
              <a:t>dept_name</a:t>
            </a:r>
            <a:r>
              <a:rPr lang="en-US" dirty="0"/>
              <a:t> are functionally dependent on </a:t>
            </a:r>
            <a:r>
              <a:rPr lang="en-US" dirty="0" err="1"/>
              <a:t>emp_no</a:t>
            </a:r>
            <a:r>
              <a:rPr lang="en-US" dirty="0"/>
              <a:t> however, department can be considered a separate entity.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5604" name="Object 7"/>
          <p:cNvGraphicFramePr>
            <a:graphicFrameLocks noChangeAspect="1"/>
          </p:cNvGraphicFramePr>
          <p:nvPr/>
        </p:nvGraphicFramePr>
        <p:xfrm>
          <a:off x="2362200" y="2132013"/>
          <a:ext cx="4419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331464" imgH="670560" progId="Excel.Sheet.8">
                  <p:embed/>
                </p:oleObj>
              </mc:Choice>
              <mc:Fallback>
                <p:oleObj name="Worksheet" r:id="rId3" imgW="3331464" imgH="67056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132013"/>
                        <a:ext cx="4419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 Box 8"/>
          <p:cNvSpPr txBox="1">
            <a:spLocks noChangeArrowheads="1"/>
          </p:cNvSpPr>
          <p:nvPr/>
        </p:nvSpPr>
        <p:spPr bwMode="auto">
          <a:xfrm>
            <a:off x="2362200" y="1524000"/>
            <a:ext cx="43434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(2NF)</a:t>
            </a:r>
          </a:p>
        </p:txBody>
      </p:sp>
      <p:sp>
        <p:nvSpPr>
          <p:cNvPr id="25606" name="Rectangle 9"/>
          <p:cNvSpPr>
            <a:spLocks noChangeArrowheads="1"/>
          </p:cNvSpPr>
          <p:nvPr/>
        </p:nvSpPr>
        <p:spPr bwMode="auto">
          <a:xfrm>
            <a:off x="2362200" y="2055813"/>
            <a:ext cx="434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Third Normal Form (3NF)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304800" y="1052736"/>
            <a:ext cx="8227640" cy="384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273050" indent="-273050" eaLnBrk="1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latin typeface="+mn-lt"/>
              </a:defRPr>
            </a:lvl1pPr>
            <a:lvl2pPr marL="639763" lvl="1" indent="-2730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sz="2100">
                <a:latin typeface="+mn-lt"/>
              </a:defRPr>
            </a:lvl2pPr>
            <a:lvl3pPr indent="-182563" eaLnBrk="1" hangingPunct="1">
              <a:spcBef>
                <a:spcPct val="20000"/>
              </a:spcBef>
              <a:buClr>
                <a:srgbClr val="BA3E13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3pPr>
            <a:lvl4pPr marL="1187450" indent="-182563" eaLnBrk="1" hangingPunct="1">
              <a:spcBef>
                <a:spcPct val="20000"/>
              </a:spcBef>
              <a:buClr>
                <a:srgbClr val="E6B1AB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4pPr>
            <a:lvl5pPr marL="1462088" indent="-182563" eaLnBrk="1" hangingPunct="1">
              <a:spcBef>
                <a:spcPct val="20000"/>
              </a:spcBef>
              <a:buClr>
                <a:srgbClr val="CBADAB"/>
              </a:buClr>
              <a:buSzPct val="68000"/>
              <a:buFont typeface="Wingdings 2" pitchFamily="18" charset="2"/>
              <a:buChar char=""/>
              <a:defRPr sz="1600">
                <a:latin typeface="+mn-lt"/>
              </a:defRPr>
            </a:lvl5pPr>
            <a:lvl6pPr marL="1737360" indent="-182880">
              <a:spcBef>
                <a:spcPct val="20000"/>
              </a:spcBef>
              <a:buClr>
                <a:schemeClr val="accent1"/>
              </a:buClr>
              <a:buChar char="•"/>
              <a:defRPr kumimoji="0" sz="1600">
                <a:solidFill>
                  <a:schemeClr val="tx2"/>
                </a:solidFill>
                <a:latin typeface="+mn-lt"/>
              </a:defRPr>
            </a:lvl6pPr>
            <a:lvl7pPr marL="2011680" indent="-182880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baseline="0">
                <a:solidFill>
                  <a:schemeClr val="tx2"/>
                </a:solidFill>
                <a:latin typeface="+mn-lt"/>
              </a:defRPr>
            </a:lvl7pPr>
            <a:lvl8pPr marL="2286000" indent="-182880">
              <a:spcBef>
                <a:spcPct val="20000"/>
              </a:spcBef>
              <a:buClr>
                <a:schemeClr val="accent2"/>
              </a:buClr>
              <a:buChar char="•"/>
              <a:defRPr kumimoji="0" sz="1400" cap="small" baseline="0">
                <a:solidFill>
                  <a:schemeClr val="tx2"/>
                </a:solidFill>
                <a:latin typeface="+mn-lt"/>
              </a:defRPr>
            </a:lvl8pPr>
            <a:lvl9pPr marL="2560320" indent="-182880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baseline="0">
                <a:solidFill>
                  <a:schemeClr val="tx2"/>
                </a:solidFill>
                <a:latin typeface="+mn-lt"/>
              </a:defRPr>
            </a:lvl9pPr>
          </a:lstStyle>
          <a:p>
            <a:r>
              <a:rPr lang="en-US" dirty="0"/>
              <a:t>Remove transitive dependencies.</a:t>
            </a:r>
          </a:p>
          <a:p>
            <a:pPr lvl="1"/>
            <a:r>
              <a:rPr lang="en-US" dirty="0"/>
              <a:t> Transitive dependence - two separate entities exist within one table.</a:t>
            </a:r>
          </a:p>
          <a:p>
            <a:pPr lvl="1"/>
            <a:r>
              <a:rPr lang="en-US" dirty="0"/>
              <a:t> Any transitive dependencies are moved into a smaller (subset) table.</a:t>
            </a:r>
          </a:p>
          <a:p>
            <a:r>
              <a:rPr lang="en-US" dirty="0"/>
              <a:t>3NF  further improves data integrity.</a:t>
            </a:r>
          </a:p>
          <a:p>
            <a:pPr lvl="1"/>
            <a:r>
              <a:rPr lang="en-US" dirty="0"/>
              <a:t> Prevents update, insert, and delete anomalies.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3NF</a:t>
            </a:r>
          </a:p>
        </p:txBody>
      </p:sp>
      <p:graphicFrame>
        <p:nvGraphicFramePr>
          <p:cNvPr id="26627" name="Object 6"/>
          <p:cNvGraphicFramePr>
            <a:graphicFrameLocks noChangeAspect="1"/>
          </p:cNvGraphicFramePr>
          <p:nvPr/>
        </p:nvGraphicFramePr>
        <p:xfrm>
          <a:off x="2286000" y="2055813"/>
          <a:ext cx="4419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331464" imgH="670560" progId="Excel.Sheet.8">
                  <p:embed/>
                </p:oleObj>
              </mc:Choice>
              <mc:Fallback>
                <p:oleObj name="Worksheet" r:id="rId3" imgW="3331464" imgH="67056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055813"/>
                        <a:ext cx="4419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7"/>
          <p:cNvSpPr txBox="1">
            <a:spLocks noChangeArrowheads="1"/>
          </p:cNvSpPr>
          <p:nvPr/>
        </p:nvSpPr>
        <p:spPr bwMode="auto">
          <a:xfrm>
            <a:off x="2286000" y="1447800"/>
            <a:ext cx="43434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(2NF)</a:t>
            </a:r>
          </a:p>
        </p:txBody>
      </p:sp>
      <p:sp>
        <p:nvSpPr>
          <p:cNvPr id="26629" name="Rectangle 8"/>
          <p:cNvSpPr>
            <a:spLocks noChangeArrowheads="1"/>
          </p:cNvSpPr>
          <p:nvPr/>
        </p:nvSpPr>
        <p:spPr bwMode="auto">
          <a:xfrm>
            <a:off x="2286000" y="1979613"/>
            <a:ext cx="434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graphicFrame>
        <p:nvGraphicFramePr>
          <p:cNvPr id="26630" name="Object 12"/>
          <p:cNvGraphicFramePr>
            <a:graphicFrameLocks noChangeAspect="1"/>
          </p:cNvGraphicFramePr>
          <p:nvPr/>
        </p:nvGraphicFramePr>
        <p:xfrm>
          <a:off x="609600" y="4038600"/>
          <a:ext cx="3886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383536" imgH="670560" progId="Excel.Sheet.8">
                  <p:embed/>
                </p:oleObj>
              </mc:Choice>
              <mc:Fallback>
                <p:oleObj name="Worksheet" r:id="rId5" imgW="2383536" imgH="670560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038600"/>
                        <a:ext cx="38862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13"/>
          <p:cNvSpPr txBox="1">
            <a:spLocks noChangeArrowheads="1"/>
          </p:cNvSpPr>
          <p:nvPr/>
        </p:nvSpPr>
        <p:spPr bwMode="auto">
          <a:xfrm>
            <a:off x="533400" y="3430588"/>
            <a:ext cx="4038600" cy="531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Employee (3NF)</a:t>
            </a:r>
          </a:p>
        </p:txBody>
      </p:sp>
      <p:graphicFrame>
        <p:nvGraphicFramePr>
          <p:cNvPr id="26632" name="Object 14"/>
          <p:cNvGraphicFramePr>
            <a:graphicFrameLocks noChangeAspect="1"/>
          </p:cNvGraphicFramePr>
          <p:nvPr/>
        </p:nvGraphicFramePr>
        <p:xfrm>
          <a:off x="5410200" y="4114800"/>
          <a:ext cx="28194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03248" imgH="505968" progId="Excel.Sheet.8">
                  <p:embed/>
                </p:oleObj>
              </mc:Choice>
              <mc:Fallback>
                <p:oleObj name="Worksheet" r:id="rId7" imgW="1603248" imgH="505968" progId="Excel.Shee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114800"/>
                        <a:ext cx="281940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15"/>
          <p:cNvSpPr txBox="1">
            <a:spLocks noChangeArrowheads="1"/>
          </p:cNvSpPr>
          <p:nvPr/>
        </p:nvSpPr>
        <p:spPr bwMode="auto">
          <a:xfrm>
            <a:off x="5257800" y="3429000"/>
            <a:ext cx="33528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Department (3NF)</a:t>
            </a:r>
          </a:p>
        </p:txBody>
      </p:sp>
      <p:sp>
        <p:nvSpPr>
          <p:cNvPr id="26634" name="Rectangle 16"/>
          <p:cNvSpPr>
            <a:spLocks noChangeArrowheads="1"/>
          </p:cNvSpPr>
          <p:nvPr/>
        </p:nvSpPr>
        <p:spPr bwMode="auto">
          <a:xfrm>
            <a:off x="533400" y="3962400"/>
            <a:ext cx="4038600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26635" name="Rectangle 17"/>
          <p:cNvSpPr>
            <a:spLocks noChangeArrowheads="1"/>
          </p:cNvSpPr>
          <p:nvPr/>
        </p:nvSpPr>
        <p:spPr bwMode="auto">
          <a:xfrm>
            <a:off x="5257800" y="3962400"/>
            <a:ext cx="3352800" cy="1143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Normal Forms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04800" y="1600200"/>
            <a:ext cx="8610600" cy="358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273050" indent="-273050" eaLnBrk="1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latin typeface="+mn-lt"/>
              </a:defRPr>
            </a:lvl1pPr>
            <a:lvl2pPr marL="639763" lvl="1" indent="-2730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sz="2100">
                <a:latin typeface="+mn-lt"/>
              </a:defRPr>
            </a:lvl2pPr>
            <a:lvl3pPr indent="-182563" eaLnBrk="1" hangingPunct="1">
              <a:spcBef>
                <a:spcPct val="20000"/>
              </a:spcBef>
              <a:buClr>
                <a:srgbClr val="BA3E13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3pPr>
            <a:lvl4pPr marL="1187450" indent="-182563" eaLnBrk="1" hangingPunct="1">
              <a:spcBef>
                <a:spcPct val="20000"/>
              </a:spcBef>
              <a:buClr>
                <a:srgbClr val="E6B1AB"/>
              </a:buClr>
              <a:buSzPct val="60000"/>
              <a:buFont typeface="Wingdings" pitchFamily="2" charset="2"/>
              <a:buChar char=""/>
              <a:defRPr>
                <a:latin typeface="+mn-lt"/>
              </a:defRPr>
            </a:lvl4pPr>
            <a:lvl5pPr marL="1462088" indent="-182563" eaLnBrk="1" hangingPunct="1">
              <a:spcBef>
                <a:spcPct val="20000"/>
              </a:spcBef>
              <a:buClr>
                <a:srgbClr val="CBADAB"/>
              </a:buClr>
              <a:buSzPct val="68000"/>
              <a:buFont typeface="Wingdings 2" pitchFamily="18" charset="2"/>
              <a:buChar char=""/>
              <a:defRPr sz="1600">
                <a:latin typeface="+mn-lt"/>
              </a:defRPr>
            </a:lvl5pPr>
            <a:lvl6pPr marL="1737360" indent="-182880">
              <a:spcBef>
                <a:spcPct val="20000"/>
              </a:spcBef>
              <a:buClr>
                <a:schemeClr val="accent1"/>
              </a:buClr>
              <a:buChar char="•"/>
              <a:defRPr kumimoji="0" sz="1600">
                <a:solidFill>
                  <a:schemeClr val="tx2"/>
                </a:solidFill>
                <a:latin typeface="+mn-lt"/>
              </a:defRPr>
            </a:lvl6pPr>
            <a:lvl7pPr marL="2011680" indent="-182880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baseline="0">
                <a:solidFill>
                  <a:schemeClr val="tx2"/>
                </a:solidFill>
                <a:latin typeface="+mn-lt"/>
              </a:defRPr>
            </a:lvl7pPr>
            <a:lvl8pPr marL="2286000" indent="-182880">
              <a:spcBef>
                <a:spcPct val="20000"/>
              </a:spcBef>
              <a:buClr>
                <a:schemeClr val="accent2"/>
              </a:buClr>
              <a:buChar char="•"/>
              <a:defRPr kumimoji="0" sz="1400" cap="small" baseline="0">
                <a:solidFill>
                  <a:schemeClr val="tx2"/>
                </a:solidFill>
                <a:latin typeface="+mn-lt"/>
              </a:defRPr>
            </a:lvl8pPr>
            <a:lvl9pPr marL="2560320" indent="-182880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baseline="0">
                <a:solidFill>
                  <a:schemeClr val="tx2"/>
                </a:solidFill>
                <a:latin typeface="+mn-lt"/>
              </a:defRPr>
            </a:lvl9pPr>
          </a:lstStyle>
          <a:p>
            <a:r>
              <a:rPr lang="en-US" dirty="0"/>
              <a:t>Boyce-</a:t>
            </a:r>
            <a:r>
              <a:rPr lang="en-US" dirty="0" err="1"/>
              <a:t>Codd</a:t>
            </a:r>
            <a:r>
              <a:rPr lang="en-US" dirty="0"/>
              <a:t> Normal Form (BCNF)</a:t>
            </a:r>
          </a:p>
          <a:p>
            <a:pPr lvl="1"/>
            <a:r>
              <a:rPr lang="en-US" dirty="0"/>
              <a:t> Strengthens 3NF by requiring the keys in the functional dependencies to be </a:t>
            </a:r>
            <a:r>
              <a:rPr lang="en-US" dirty="0" err="1"/>
              <a:t>superkeys</a:t>
            </a:r>
            <a:r>
              <a:rPr lang="en-US" dirty="0"/>
              <a:t> (a column or columns that uniquely identify a row)</a:t>
            </a:r>
          </a:p>
          <a:p>
            <a:r>
              <a:rPr lang="en-US" dirty="0"/>
              <a:t>Fourth Normal Form (4NF)</a:t>
            </a:r>
          </a:p>
          <a:p>
            <a:pPr lvl="1"/>
            <a:r>
              <a:rPr lang="en-US" dirty="0"/>
              <a:t> Eliminate trivial multivalued dependencies.</a:t>
            </a:r>
          </a:p>
          <a:p>
            <a:r>
              <a:rPr lang="en-US" dirty="0"/>
              <a:t>Fifth Normal Form (5NF)</a:t>
            </a:r>
          </a:p>
          <a:p>
            <a:pPr lvl="1"/>
            <a:r>
              <a:rPr lang="en-US" dirty="0"/>
              <a:t> Eliminate dependencies not determined by keys.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Normalizing our team (1NF)</a:t>
            </a:r>
          </a:p>
        </p:txBody>
      </p:sp>
      <p:sp>
        <p:nvSpPr>
          <p:cNvPr id="28675" name="Text Box 1027"/>
          <p:cNvSpPr txBox="1">
            <a:spLocks noChangeArrowheads="1"/>
          </p:cNvSpPr>
          <p:nvPr/>
        </p:nvSpPr>
        <p:spPr bwMode="auto">
          <a:xfrm>
            <a:off x="914400" y="3581400"/>
            <a:ext cx="71628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players</a:t>
            </a:r>
          </a:p>
        </p:txBody>
      </p:sp>
      <p:sp>
        <p:nvSpPr>
          <p:cNvPr id="28676" name="Text Box 1029"/>
          <p:cNvSpPr txBox="1">
            <a:spLocks noChangeArrowheads="1"/>
          </p:cNvSpPr>
          <p:nvPr/>
        </p:nvSpPr>
        <p:spPr bwMode="auto">
          <a:xfrm>
            <a:off x="1066800" y="1447800"/>
            <a:ext cx="33528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games</a:t>
            </a:r>
          </a:p>
        </p:txBody>
      </p:sp>
      <p:sp>
        <p:nvSpPr>
          <p:cNvPr id="28677" name="Text Box 1030"/>
          <p:cNvSpPr txBox="1">
            <a:spLocks noChangeArrowheads="1"/>
          </p:cNvSpPr>
          <p:nvPr/>
        </p:nvSpPr>
        <p:spPr bwMode="auto">
          <a:xfrm>
            <a:off x="5029200" y="1447800"/>
            <a:ext cx="28194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sales</a:t>
            </a:r>
          </a:p>
        </p:txBody>
      </p:sp>
      <p:sp>
        <p:nvSpPr>
          <p:cNvPr id="28678" name="Rectangle 1063"/>
          <p:cNvSpPr>
            <a:spLocks noChangeArrowheads="1"/>
          </p:cNvSpPr>
          <p:nvPr/>
        </p:nvSpPr>
        <p:spPr bwMode="auto">
          <a:xfrm>
            <a:off x="1066800" y="1981200"/>
            <a:ext cx="33528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28679" name="Rectangle 1067"/>
          <p:cNvSpPr>
            <a:spLocks noChangeArrowheads="1"/>
          </p:cNvSpPr>
          <p:nvPr/>
        </p:nvSpPr>
        <p:spPr bwMode="auto">
          <a:xfrm>
            <a:off x="5029200" y="1981200"/>
            <a:ext cx="2819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28680" name="Rectangle 1069"/>
          <p:cNvSpPr>
            <a:spLocks noChangeArrowheads="1"/>
          </p:cNvSpPr>
          <p:nvPr/>
        </p:nvSpPr>
        <p:spPr bwMode="auto">
          <a:xfrm>
            <a:off x="914400" y="4114800"/>
            <a:ext cx="7162800" cy="160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graphicFrame>
        <p:nvGraphicFramePr>
          <p:cNvPr id="28681" name="Object 1074"/>
          <p:cNvGraphicFramePr>
            <a:graphicFrameLocks noChangeAspect="1"/>
          </p:cNvGraphicFramePr>
          <p:nvPr/>
        </p:nvGraphicFramePr>
        <p:xfrm>
          <a:off x="1295400" y="2043113"/>
          <a:ext cx="28956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599944" imgH="835152" progId="Excel.Sheet.8">
                  <p:embed/>
                </p:oleObj>
              </mc:Choice>
              <mc:Fallback>
                <p:oleObj name="Worksheet" r:id="rId3" imgW="2599944" imgH="835152" progId="Excel.Sheet.8">
                  <p:embed/>
                  <p:pic>
                    <p:nvPicPr>
                      <p:cNvPr id="0" name="Object 1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043113"/>
                        <a:ext cx="289560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75"/>
          <p:cNvGraphicFramePr>
            <a:graphicFrameLocks noChangeAspect="1"/>
          </p:cNvGraphicFramePr>
          <p:nvPr/>
        </p:nvGraphicFramePr>
        <p:xfrm>
          <a:off x="5105400" y="2057400"/>
          <a:ext cx="27432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514600" imgH="835152" progId="Excel.Sheet.8">
                  <p:embed/>
                </p:oleObj>
              </mc:Choice>
              <mc:Fallback>
                <p:oleObj name="Worksheet" r:id="rId5" imgW="2514600" imgH="835152" progId="Excel.Sheet.8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057400"/>
                        <a:ext cx="27432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076"/>
          <p:cNvGraphicFramePr>
            <a:graphicFrameLocks noChangeAspect="1"/>
          </p:cNvGraphicFramePr>
          <p:nvPr/>
        </p:nvGraphicFramePr>
        <p:xfrm>
          <a:off x="990600" y="4114800"/>
          <a:ext cx="70866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6126480" imgH="1328928" progId="Excel.Sheet.8">
                  <p:embed/>
                </p:oleObj>
              </mc:Choice>
              <mc:Fallback>
                <p:oleObj name="Worksheet" r:id="rId7" imgW="6126480" imgH="1328928" progId="Excel.Sheet.8">
                  <p:embed/>
                  <p:pic>
                    <p:nvPicPr>
                      <p:cNvPr id="0" name="Object 10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114800"/>
                        <a:ext cx="70866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Normalizing our team (2NF &amp; 3NF)</a:t>
            </a:r>
          </a:p>
        </p:txBody>
      </p:sp>
      <p:sp>
        <p:nvSpPr>
          <p:cNvPr id="29699" name="Text Box 1027"/>
          <p:cNvSpPr txBox="1">
            <a:spLocks noChangeArrowheads="1"/>
          </p:cNvSpPr>
          <p:nvPr/>
        </p:nvSpPr>
        <p:spPr bwMode="auto">
          <a:xfrm>
            <a:off x="457200" y="3810000"/>
            <a:ext cx="38100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players</a:t>
            </a:r>
          </a:p>
        </p:txBody>
      </p:sp>
      <p:sp>
        <p:nvSpPr>
          <p:cNvPr id="29700" name="Text Box 1028"/>
          <p:cNvSpPr txBox="1">
            <a:spLocks noChangeArrowheads="1"/>
          </p:cNvSpPr>
          <p:nvPr/>
        </p:nvSpPr>
        <p:spPr bwMode="auto">
          <a:xfrm>
            <a:off x="1066800" y="1676400"/>
            <a:ext cx="33528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games</a:t>
            </a:r>
          </a:p>
        </p:txBody>
      </p:sp>
      <p:sp>
        <p:nvSpPr>
          <p:cNvPr id="29701" name="Text Box 1029"/>
          <p:cNvSpPr txBox="1">
            <a:spLocks noChangeArrowheads="1"/>
          </p:cNvSpPr>
          <p:nvPr/>
        </p:nvSpPr>
        <p:spPr bwMode="auto">
          <a:xfrm>
            <a:off x="5029200" y="1676400"/>
            <a:ext cx="28194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sales</a:t>
            </a:r>
          </a:p>
        </p:txBody>
      </p:sp>
      <p:sp>
        <p:nvSpPr>
          <p:cNvPr id="29702" name="Rectangle 1030"/>
          <p:cNvSpPr>
            <a:spLocks noChangeArrowheads="1"/>
          </p:cNvSpPr>
          <p:nvPr/>
        </p:nvSpPr>
        <p:spPr bwMode="auto">
          <a:xfrm>
            <a:off x="1066800" y="2209800"/>
            <a:ext cx="33528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29703" name="Rectangle 1033"/>
          <p:cNvSpPr>
            <a:spLocks noChangeArrowheads="1"/>
          </p:cNvSpPr>
          <p:nvPr/>
        </p:nvSpPr>
        <p:spPr bwMode="auto">
          <a:xfrm>
            <a:off x="5029200" y="2209800"/>
            <a:ext cx="2819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29704" name="Rectangle 1035"/>
          <p:cNvSpPr>
            <a:spLocks noChangeArrowheads="1"/>
          </p:cNvSpPr>
          <p:nvPr/>
        </p:nvSpPr>
        <p:spPr bwMode="auto">
          <a:xfrm>
            <a:off x="457200" y="4343400"/>
            <a:ext cx="3810000" cy="990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Text Box 1037"/>
          <p:cNvSpPr txBox="1">
            <a:spLocks noChangeArrowheads="1"/>
          </p:cNvSpPr>
          <p:nvPr/>
        </p:nvSpPr>
        <p:spPr bwMode="auto">
          <a:xfrm>
            <a:off x="4746625" y="3810000"/>
            <a:ext cx="38100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player_stats</a:t>
            </a:r>
          </a:p>
        </p:txBody>
      </p:sp>
      <p:sp>
        <p:nvSpPr>
          <p:cNvPr id="29706" name="Rectangle 1038"/>
          <p:cNvSpPr>
            <a:spLocks noChangeArrowheads="1"/>
          </p:cNvSpPr>
          <p:nvPr/>
        </p:nvSpPr>
        <p:spPr bwMode="auto">
          <a:xfrm>
            <a:off x="4746625" y="4343400"/>
            <a:ext cx="3810000" cy="1219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707" name="Object 1039"/>
          <p:cNvGraphicFramePr>
            <a:graphicFrameLocks noChangeAspect="1"/>
          </p:cNvGraphicFramePr>
          <p:nvPr/>
        </p:nvGraphicFramePr>
        <p:xfrm>
          <a:off x="533400" y="4419600"/>
          <a:ext cx="38798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880104" imgH="835152" progId="Excel.Sheet.8">
                  <p:embed/>
                </p:oleObj>
              </mc:Choice>
              <mc:Fallback>
                <p:oleObj name="Worksheet" r:id="rId3" imgW="3880104" imgH="835152" progId="Excel.Sheet.8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19600"/>
                        <a:ext cx="38798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045"/>
          <p:cNvGraphicFramePr>
            <a:graphicFrameLocks noChangeAspect="1"/>
          </p:cNvGraphicFramePr>
          <p:nvPr/>
        </p:nvGraphicFramePr>
        <p:xfrm>
          <a:off x="1295400" y="2271713"/>
          <a:ext cx="28956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599944" imgH="835152" progId="Excel.Sheet.8">
                  <p:embed/>
                </p:oleObj>
              </mc:Choice>
              <mc:Fallback>
                <p:oleObj name="Worksheet" r:id="rId5" imgW="2599944" imgH="835152" progId="Excel.Sheet.8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71713"/>
                        <a:ext cx="289560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046"/>
          <p:cNvGraphicFramePr>
            <a:graphicFrameLocks noChangeAspect="1"/>
          </p:cNvGraphicFramePr>
          <p:nvPr/>
        </p:nvGraphicFramePr>
        <p:xfrm>
          <a:off x="5105400" y="2289175"/>
          <a:ext cx="27432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2514600" imgH="835152" progId="Excel.Sheet.8">
                  <p:embed/>
                </p:oleObj>
              </mc:Choice>
              <mc:Fallback>
                <p:oleObj name="Worksheet" r:id="rId7" imgW="2514600" imgH="835152" progId="Excel.Sheet.8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289175"/>
                        <a:ext cx="27432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1047"/>
          <p:cNvGraphicFramePr>
            <a:graphicFrameLocks noChangeAspect="1"/>
          </p:cNvGraphicFramePr>
          <p:nvPr/>
        </p:nvGraphicFramePr>
        <p:xfrm>
          <a:off x="4876800" y="4343400"/>
          <a:ext cx="35814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3447288" imgH="1164336" progId="Excel.Sheet.8">
                  <p:embed/>
                </p:oleObj>
              </mc:Choice>
              <mc:Fallback>
                <p:oleObj name="Worksheet" r:id="rId9" imgW="3447288" imgH="1164336" progId="Excel.Sheet.8">
                  <p:embed/>
                  <p:pic>
                    <p:nvPicPr>
                      <p:cNvPr id="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343400"/>
                        <a:ext cx="358140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47248" cy="562074"/>
          </a:xfrm>
        </p:spPr>
        <p:txBody>
          <a:bodyPr/>
          <a:lstStyle/>
          <a:p>
            <a:r>
              <a:rPr lang="en-US" dirty="0"/>
              <a:t>Benefits of Database Normalization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Decreased storage requirements!</a:t>
            </a:r>
          </a:p>
          <a:p>
            <a:pPr>
              <a:buFontTx/>
              <a:buNone/>
            </a:pPr>
            <a:r>
              <a:rPr lang="en-US"/>
              <a:t>		</a:t>
            </a:r>
            <a:r>
              <a:rPr lang="en-US" sz="2000"/>
              <a:t>		1 VARCHAR(20)</a:t>
            </a:r>
          </a:p>
          <a:p>
            <a:pPr>
              <a:buFontTx/>
              <a:buNone/>
            </a:pPr>
            <a:r>
              <a:rPr lang="en-US" sz="2000"/>
              <a:t>     converted to          	1 TINYINT UNSIGNED</a:t>
            </a:r>
          </a:p>
          <a:p>
            <a:pPr>
              <a:buFontTx/>
              <a:buNone/>
            </a:pPr>
            <a:r>
              <a:rPr lang="en-US" sz="2000"/>
              <a:t>     in a table of		1 million rows</a:t>
            </a:r>
          </a:p>
          <a:p>
            <a:pPr>
              <a:buFontTx/>
              <a:buNone/>
            </a:pPr>
            <a:r>
              <a:rPr lang="en-US" sz="2000"/>
              <a:t>     is a savings of	~20 MB</a:t>
            </a:r>
          </a:p>
          <a:p>
            <a:r>
              <a:rPr lang="en-US"/>
              <a:t>Faster search performance!</a:t>
            </a:r>
          </a:p>
          <a:p>
            <a:pPr lvl="1"/>
            <a:r>
              <a:rPr lang="en-US"/>
              <a:t>Smaller file for table scans.</a:t>
            </a:r>
          </a:p>
          <a:p>
            <a:pPr lvl="1"/>
            <a:r>
              <a:rPr lang="en-US"/>
              <a:t>More directed searching.</a:t>
            </a:r>
          </a:p>
          <a:p>
            <a:r>
              <a:rPr lang="en-US"/>
              <a:t>Improved data integrity!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Boyce-Codd Normal Form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sz="2400" dirty="0"/>
              <a:t>There are many ways of decomposing a relation.</a:t>
            </a:r>
          </a:p>
          <a:p>
            <a:r>
              <a:rPr lang="en-US" sz="2400" dirty="0"/>
              <a:t>Which decompositions leads to an anomaly-free relation? </a:t>
            </a:r>
          </a:p>
          <a:p>
            <a:r>
              <a:rPr lang="en-US" sz="2400" dirty="0"/>
              <a:t>Boyce-</a:t>
            </a:r>
            <a:r>
              <a:rPr lang="en-US" sz="2400" dirty="0" err="1"/>
              <a:t>Codd</a:t>
            </a:r>
            <a:r>
              <a:rPr lang="en-US" sz="2400" dirty="0"/>
              <a:t> normal form defines a condition under which the anomalies discussed so far cannot exist.</a:t>
            </a:r>
          </a:p>
          <a:p>
            <a:r>
              <a:rPr lang="en-US" dirty="0"/>
              <a:t>A relation </a:t>
            </a:r>
            <a:r>
              <a:rPr lang="en-US" i="1" dirty="0"/>
              <a:t>R</a:t>
            </a:r>
            <a:r>
              <a:rPr lang="en-US" dirty="0"/>
              <a:t> is in </a:t>
            </a:r>
            <a:r>
              <a:rPr lang="en-US" i="1" dirty="0">
                <a:solidFill>
                  <a:schemeClr val="accent2"/>
                </a:solidFill>
              </a:rPr>
              <a:t>Boyce-</a:t>
            </a:r>
            <a:r>
              <a:rPr lang="en-US" i="1" dirty="0" err="1">
                <a:solidFill>
                  <a:schemeClr val="accent2"/>
                </a:solidFill>
              </a:rPr>
              <a:t>Codd</a:t>
            </a:r>
            <a:r>
              <a:rPr lang="en-US" i="1" dirty="0">
                <a:solidFill>
                  <a:schemeClr val="accent2"/>
                </a:solidFill>
              </a:rPr>
              <a:t> normal form</a:t>
            </a:r>
            <a:r>
              <a:rPr lang="en-US" dirty="0"/>
              <a:t> (</a:t>
            </a:r>
            <a:r>
              <a:rPr lang="en-US" dirty="0">
                <a:solidFill>
                  <a:schemeClr val="accent2"/>
                </a:solidFill>
              </a:rPr>
              <a:t>BCNF</a:t>
            </a:r>
            <a:r>
              <a:rPr lang="en-US" dirty="0"/>
              <a:t>), if and only if the following condition holds:</a:t>
            </a:r>
          </a:p>
          <a:p>
            <a:pPr lvl="1"/>
            <a:r>
              <a:rPr lang="en-US" sz="2100" dirty="0"/>
              <a:t>for every non-trivial FD </a:t>
            </a:r>
            <a:r>
              <a:rPr lang="en-US" sz="2100" i="1" dirty="0"/>
              <a:t>A</a:t>
            </a:r>
            <a:r>
              <a:rPr lang="en-US" sz="2100" baseline="-25000" dirty="0"/>
              <a:t>1</a:t>
            </a:r>
            <a:r>
              <a:rPr lang="en-US" sz="2100" dirty="0"/>
              <a:t> . . . </a:t>
            </a:r>
            <a:r>
              <a:rPr lang="en-US" sz="2100" i="1" dirty="0"/>
              <a:t>A</a:t>
            </a:r>
            <a:r>
              <a:rPr lang="en-US" sz="2100" baseline="-25000" dirty="0"/>
              <a:t>n</a:t>
            </a:r>
            <a:r>
              <a:rPr lang="en-US" sz="2100" dirty="0"/>
              <a:t> </a:t>
            </a:r>
            <a:r>
              <a:rPr lang="en-US" sz="2100" dirty="0">
                <a:sym typeface="Wingdings" pitchFamily="2" charset="2"/>
              </a:rPr>
              <a:t> </a:t>
            </a:r>
            <a:r>
              <a:rPr lang="en-US" sz="2100" i="1" dirty="0"/>
              <a:t>B</a:t>
            </a:r>
            <a:r>
              <a:rPr lang="en-US" sz="2100" baseline="-25000" dirty="0"/>
              <a:t>1</a:t>
            </a:r>
            <a:r>
              <a:rPr lang="en-US" sz="2100" dirty="0"/>
              <a:t> . . . </a:t>
            </a:r>
            <a:r>
              <a:rPr lang="en-US" sz="2100" i="1" dirty="0" err="1"/>
              <a:t>B</a:t>
            </a:r>
            <a:r>
              <a:rPr lang="en-US" sz="2100" baseline="-25000" dirty="0" err="1"/>
              <a:t>m</a:t>
            </a:r>
            <a:r>
              <a:rPr lang="en-US" sz="2100" dirty="0"/>
              <a:t> for </a:t>
            </a:r>
            <a:r>
              <a:rPr lang="en-US" sz="2100" i="1" dirty="0"/>
              <a:t>R</a:t>
            </a:r>
            <a:br>
              <a:rPr lang="en-US" sz="2100" i="1" dirty="0"/>
            </a:br>
            <a:r>
              <a:rPr lang="en-US" sz="2100" i="1" dirty="0"/>
              <a:t> </a:t>
            </a:r>
            <a:r>
              <a:rPr lang="en-US" sz="2100" dirty="0"/>
              <a:t>{</a:t>
            </a:r>
            <a:r>
              <a:rPr lang="en-US" sz="2100" i="1" dirty="0"/>
              <a:t>A</a:t>
            </a:r>
            <a:r>
              <a:rPr lang="en-US" sz="2100" baseline="-25000" dirty="0"/>
              <a:t>1</a:t>
            </a:r>
            <a:r>
              <a:rPr lang="en-US" sz="2100" dirty="0"/>
              <a:t>, . . ., </a:t>
            </a:r>
            <a:r>
              <a:rPr lang="en-US" sz="2100" i="1" dirty="0"/>
              <a:t>A</a:t>
            </a:r>
            <a:r>
              <a:rPr lang="en-US" sz="2100" baseline="-25000" dirty="0"/>
              <a:t>n </a:t>
            </a:r>
            <a:r>
              <a:rPr lang="en-US" sz="2100" dirty="0"/>
              <a:t>} is a </a:t>
            </a:r>
            <a:r>
              <a:rPr lang="en-US" sz="2100" dirty="0" err="1"/>
              <a:t>superkey</a:t>
            </a:r>
            <a:r>
              <a:rPr lang="en-US" sz="2100" dirty="0"/>
              <a:t> for </a:t>
            </a:r>
            <a:r>
              <a:rPr lang="en-US" sz="2100" i="1" dirty="0"/>
              <a:t>R</a:t>
            </a:r>
            <a:r>
              <a:rPr lang="en-US" sz="2100" dirty="0"/>
              <a:t>.</a:t>
            </a:r>
          </a:p>
          <a:p>
            <a:pPr lvl="2"/>
            <a:r>
              <a:rPr lang="en-US" sz="1800" dirty="0"/>
              <a:t>I.e., the left side of a FD needs to contain a key.</a:t>
            </a:r>
            <a:endParaRPr lang="en-US" sz="1800" i="1" dirty="0"/>
          </a:p>
          <a:p>
            <a:pPr>
              <a:buFont typeface="Monotype Sorts" pitchFamily="2" charset="2"/>
              <a:buNone/>
            </a:pPr>
            <a:endParaRPr lang="en-US" sz="2400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Boyce-Codd Normal Form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Consider </a:t>
            </a:r>
          </a:p>
          <a:p>
            <a:pPr marL="366713" lvl="1" indent="0">
              <a:lnSpc>
                <a:spcPct val="90000"/>
              </a:lnSpc>
              <a:buNone/>
            </a:pPr>
            <a:r>
              <a:rPr lang="en-US" sz="2100" dirty="0"/>
              <a:t>Movies1 </a:t>
            </a:r>
          </a:p>
          <a:p>
            <a:pPr marL="366713" lvl="1" indent="0">
              <a:lnSpc>
                <a:spcPct val="90000"/>
              </a:lnSpc>
              <a:buNone/>
            </a:pPr>
            <a:r>
              <a:rPr lang="en-US" dirty="0"/>
              <a:t>	</a:t>
            </a:r>
            <a:r>
              <a:rPr lang="en-US" sz="2100" dirty="0"/>
              <a:t>(title, year, length, genre, </a:t>
            </a:r>
            <a:r>
              <a:rPr lang="en-US" sz="2100" dirty="0" err="1"/>
              <a:t>studioName</a:t>
            </a:r>
            <a:r>
              <a:rPr lang="en-US" sz="2100" dirty="0"/>
              <a:t>, </a:t>
            </a:r>
            <a:r>
              <a:rPr lang="en-US" sz="2100" dirty="0" err="1"/>
              <a:t>starName</a:t>
            </a:r>
            <a:r>
              <a:rPr lang="en-US" sz="2100" dirty="0"/>
              <a:t>).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We have the FD 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title year </a:t>
            </a:r>
            <a:r>
              <a:rPr lang="en-US" sz="2100" dirty="0">
                <a:sym typeface="Wingdings" pitchFamily="2" charset="2"/>
              </a:rPr>
              <a:t> length genre </a:t>
            </a:r>
            <a:r>
              <a:rPr lang="en-US" sz="2100" dirty="0" err="1">
                <a:sym typeface="Wingdings" pitchFamily="2" charset="2"/>
              </a:rPr>
              <a:t>studioName</a:t>
            </a:r>
            <a:endParaRPr lang="en-US" sz="2100" dirty="0">
              <a:sym typeface="Wingdings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sz="2100" dirty="0">
                <a:sym typeface="Wingdings" pitchFamily="2" charset="2"/>
              </a:rPr>
              <a:t>The left side of this FD is not a </a:t>
            </a:r>
            <a:r>
              <a:rPr lang="en-US" sz="2100" dirty="0" err="1">
                <a:sym typeface="Wingdings" pitchFamily="2" charset="2"/>
              </a:rPr>
              <a:t>superkey</a:t>
            </a:r>
            <a:r>
              <a:rPr lang="en-US" sz="2100" dirty="0">
                <a:sym typeface="Wingdings" pitchFamily="2" charset="2"/>
              </a:rPr>
              <a:t>, i.e. Movies1 is not in BCNF</a:t>
            </a:r>
            <a:endParaRPr lang="en-US" dirty="0">
              <a:sym typeface="Wingdings" pitchFamily="2" charset="2"/>
            </a:endParaRPr>
          </a:p>
          <a:p>
            <a:pPr lvl="1">
              <a:lnSpc>
                <a:spcPct val="90000"/>
              </a:lnSpc>
            </a:pPr>
            <a:endParaRPr lang="en-US" sz="2100" dirty="0">
              <a:sym typeface="Wingdings" pitchFamily="2" charset="2"/>
            </a:endParaRPr>
          </a:p>
          <a:p>
            <a:pPr lvl="1">
              <a:lnSpc>
                <a:spcPct val="90000"/>
              </a:lnSpc>
            </a:pPr>
            <a:endParaRPr lang="en-US" dirty="0">
              <a:sym typeface="Wingdings" pitchFamily="2" charset="2"/>
            </a:endParaRPr>
          </a:p>
          <a:p>
            <a:pPr marL="366713" lvl="1" indent="0">
              <a:lnSpc>
                <a:spcPct val="90000"/>
              </a:lnSpc>
              <a:buNone/>
            </a:pPr>
            <a:r>
              <a:rPr lang="en-US" sz="2100" i="1" dirty="0">
                <a:sym typeface="Wingdings" pitchFamily="2" charset="2"/>
              </a:rPr>
              <a:t>title year </a:t>
            </a:r>
            <a:r>
              <a:rPr lang="en-US" sz="2100" dirty="0">
                <a:sym typeface="Wingdings" pitchFamily="2" charset="2"/>
              </a:rPr>
              <a:t>is not</a:t>
            </a:r>
          </a:p>
          <a:p>
            <a:pPr marL="366713" lvl="1" indent="0">
              <a:lnSpc>
                <a:spcPct val="90000"/>
              </a:lnSpc>
              <a:buNone/>
            </a:pPr>
            <a:r>
              <a:rPr lang="en-US" dirty="0">
                <a:sym typeface="Wingdings" pitchFamily="2" charset="2"/>
              </a:rPr>
              <a:t>unique for all</a:t>
            </a:r>
          </a:p>
          <a:p>
            <a:pPr marL="366713" lvl="1" indent="0">
              <a:lnSpc>
                <a:spcPct val="90000"/>
              </a:lnSpc>
              <a:buNone/>
            </a:pPr>
            <a:r>
              <a:rPr lang="en-US" sz="2100" dirty="0">
                <a:sym typeface="Wingdings" pitchFamily="2" charset="2"/>
              </a:rPr>
              <a:t>tuples</a:t>
            </a:r>
          </a:p>
        </p:txBody>
      </p:sp>
      <p:pic>
        <p:nvPicPr>
          <p:cNvPr id="4" name="Picture 7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149080"/>
            <a:ext cx="4823537" cy="259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1738732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Boyce-Codd Normal Form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sym typeface="Wingdings" pitchFamily="2" charset="2"/>
              </a:rPr>
              <a:t>Consider </a:t>
            </a:r>
          </a:p>
          <a:p>
            <a:pPr marL="366713" lvl="1" indent="0">
              <a:lnSpc>
                <a:spcPct val="90000"/>
              </a:lnSpc>
              <a:buNone/>
            </a:pPr>
            <a:r>
              <a:rPr lang="en-US" sz="2100" dirty="0"/>
              <a:t>Movies2 </a:t>
            </a:r>
          </a:p>
          <a:p>
            <a:pPr marL="366713" lvl="1" indent="0">
              <a:lnSpc>
                <a:spcPct val="90000"/>
              </a:lnSpc>
              <a:buNone/>
            </a:pPr>
            <a:r>
              <a:rPr lang="en-US" dirty="0"/>
              <a:t>	</a:t>
            </a:r>
            <a:r>
              <a:rPr lang="en-US" sz="2100" dirty="0"/>
              <a:t>(title, year, length, genre, </a:t>
            </a:r>
            <a:r>
              <a:rPr lang="en-US" sz="2100" dirty="0" err="1"/>
              <a:t>studioName</a:t>
            </a:r>
            <a:r>
              <a:rPr lang="en-US" sz="2100" dirty="0"/>
              <a:t>).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{title, year } is its only key, since neither </a:t>
            </a:r>
            <a:br>
              <a:rPr lang="en-US" sz="2400" dirty="0"/>
            </a:br>
            <a:r>
              <a:rPr lang="en-US" sz="2400" dirty="0"/>
              <a:t>	title </a:t>
            </a:r>
            <a:r>
              <a:rPr lang="en-US" sz="2400" dirty="0">
                <a:sym typeface="Wingdings" pitchFamily="2" charset="2"/>
              </a:rPr>
              <a:t> length genre </a:t>
            </a:r>
            <a:r>
              <a:rPr lang="en-US" sz="2400" dirty="0" err="1">
                <a:sym typeface="Wingdings" pitchFamily="2" charset="2"/>
              </a:rPr>
              <a:t>studioName</a:t>
            </a:r>
            <a:r>
              <a:rPr lang="en-US" sz="2400" dirty="0"/>
              <a:t>   nor </a:t>
            </a:r>
            <a:br>
              <a:rPr lang="en-US" sz="2400" dirty="0"/>
            </a:br>
            <a:r>
              <a:rPr lang="en-US" sz="2400" dirty="0"/>
              <a:t>	year </a:t>
            </a:r>
            <a:r>
              <a:rPr lang="en-US" sz="2400" dirty="0">
                <a:sym typeface="Wingdings" pitchFamily="2" charset="2"/>
              </a:rPr>
              <a:t> length genre </a:t>
            </a:r>
            <a:r>
              <a:rPr lang="en-US" sz="2400" dirty="0" err="1">
                <a:sym typeface="Wingdings" pitchFamily="2" charset="2"/>
              </a:rPr>
              <a:t>studioName</a:t>
            </a:r>
            <a:r>
              <a:rPr lang="en-US" sz="2400" dirty="0">
                <a:sym typeface="Wingdings" pitchFamily="2" charset="2"/>
              </a:rPr>
              <a:t>   hold.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ym typeface="Wingdings" pitchFamily="2" charset="2"/>
              </a:rPr>
              <a:t>All non-trivial FDs must have at least </a:t>
            </a:r>
            <a:r>
              <a:rPr lang="en-US" sz="2400" dirty="0"/>
              <a:t>title and year on the left side. Thus, </a:t>
            </a:r>
            <a:r>
              <a:rPr lang="en-US" sz="2400" dirty="0">
                <a:sym typeface="Wingdings" pitchFamily="2" charset="2"/>
              </a:rPr>
              <a:t>Movies2 is in BCNF.</a:t>
            </a:r>
            <a:endParaRPr lang="en-US" sz="2400" dirty="0"/>
          </a:p>
        </p:txBody>
      </p:sp>
      <p:pic>
        <p:nvPicPr>
          <p:cNvPr id="4" name="Picture 7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537" y="2132856"/>
            <a:ext cx="3831828" cy="1582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Problems with Decompositions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pPr marL="533400" indent="-533400"/>
            <a:r>
              <a:rPr lang="en-US" dirty="0"/>
              <a:t>There are three potential problems to consider:</a:t>
            </a:r>
          </a:p>
          <a:p>
            <a:pPr marL="900113" lvl="1" indent="-533400"/>
            <a:r>
              <a:rPr lang="en-US" dirty="0">
                <a:solidFill>
                  <a:schemeClr val="accent2"/>
                </a:solidFill>
              </a:rPr>
              <a:t>Some queries become more expensive.  </a:t>
            </a:r>
            <a:endParaRPr lang="en-US" dirty="0"/>
          </a:p>
          <a:p>
            <a:pPr marL="900113" lvl="1" indent="-533400"/>
            <a:endParaRPr lang="en-US" dirty="0">
              <a:solidFill>
                <a:schemeClr val="accent2"/>
              </a:solidFill>
            </a:endParaRPr>
          </a:p>
          <a:p>
            <a:pPr marL="900113" lvl="1" indent="-533400"/>
            <a:r>
              <a:rPr lang="en-US" dirty="0">
                <a:solidFill>
                  <a:schemeClr val="accent2"/>
                </a:solidFill>
              </a:rPr>
              <a:t>Given instances of the decomposed relations, we may not be able to reconstruct the corresponding instance of the original relation!  </a:t>
            </a:r>
            <a:endParaRPr lang="en-US" dirty="0"/>
          </a:p>
          <a:p>
            <a:pPr marL="900113" lvl="1" indent="-533400"/>
            <a:endParaRPr lang="en-US" dirty="0">
              <a:solidFill>
                <a:schemeClr val="accent2"/>
              </a:solidFill>
            </a:endParaRPr>
          </a:p>
          <a:p>
            <a:pPr marL="900113" lvl="1" indent="-533400"/>
            <a:r>
              <a:rPr lang="en-US" dirty="0">
                <a:solidFill>
                  <a:schemeClr val="accent2"/>
                </a:solidFill>
              </a:rPr>
              <a:t>Checking some dependencies may require joining the instances of the decomposed relations.</a:t>
            </a:r>
          </a:p>
          <a:p>
            <a:pPr marL="533400" indent="-533400"/>
            <a:endParaRPr lang="en-US" i="1" u="sng" dirty="0">
              <a:solidFill>
                <a:schemeClr val="accent2"/>
              </a:solidFill>
            </a:endParaRPr>
          </a:p>
          <a:p>
            <a:pPr marL="533400" indent="-533400"/>
            <a:r>
              <a:rPr lang="en-US" i="1" u="sng" dirty="0">
                <a:solidFill>
                  <a:schemeClr val="accent2"/>
                </a:solidFill>
              </a:rPr>
              <a:t>Tradeoff</a:t>
            </a:r>
            <a:r>
              <a:rPr lang="en-US" dirty="0">
                <a:solidFill>
                  <a:schemeClr val="accent2"/>
                </a:solidFill>
              </a:rPr>
              <a:t>:   </a:t>
            </a:r>
            <a:r>
              <a:rPr lang="en-US" dirty="0"/>
              <a:t>Must consider these issues vs. redundancy.</a:t>
            </a:r>
          </a:p>
        </p:txBody>
      </p:sp>
    </p:spTree>
    <p:extLst>
      <p:ext uri="{BB962C8B-B14F-4D97-AF65-F5344CB8AC3E}">
        <p14:creationId xmlns:p14="http://schemas.microsoft.com/office/powerpoint/2010/main" val="3134551699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sz="2400"/>
              <a:t>A functional dependency (FD) states that two tuples that agree on some set of attributes also agree on another attribute set.</a:t>
            </a:r>
          </a:p>
          <a:p>
            <a:r>
              <a:rPr lang="en-US" sz="2400"/>
              <a:t>Keys are special cases of functional dependencies.</a:t>
            </a:r>
          </a:p>
          <a:p>
            <a:r>
              <a:rPr lang="en-US" sz="2400"/>
              <a:t>Redundancies in a relational table lead to anomalies such as update and deletion anomalies. </a:t>
            </a:r>
          </a:p>
          <a:p>
            <a:r>
              <a:rPr lang="en-US" sz="2400"/>
              <a:t>A relation is in Boyce-Codd normal form (BCNF), if the left sides of all non-trivial FDs contain a key.</a:t>
            </a:r>
          </a:p>
          <a:p>
            <a:r>
              <a:rPr lang="en-US" sz="2400"/>
              <a:t>A schema in BCNF avoids the above anomalies.</a:t>
            </a:r>
          </a:p>
          <a:p>
            <a:r>
              <a:rPr lang="en-US" sz="2400"/>
              <a:t>A given schema can be decomposed into subsets of attributes such that the resulting tables are all in BCNF and the join of these tables recovers the original table.</a:t>
            </a:r>
          </a:p>
        </p:txBody>
      </p:sp>
    </p:spTree>
  </p:cSld>
  <p:clrMapOvr>
    <a:masterClrMapping/>
  </p:clrMapOvr>
  <p:transition>
    <p:cut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ty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354 - Week 06 - Tue - Triggers-Procedures-c</Template>
  <TotalTime>4223</TotalTime>
  <Pages>30</Pages>
  <Words>2741</Words>
  <Application>Microsoft Office PowerPoint</Application>
  <PresentationFormat>On-screen Show (4:3)</PresentationFormat>
  <Paragraphs>366</Paragraphs>
  <Slides>36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Arial</vt:lpstr>
      <vt:lpstr>Book Antiqua</vt:lpstr>
      <vt:lpstr>Century Schoolbook</vt:lpstr>
      <vt:lpstr>Helvetica</vt:lpstr>
      <vt:lpstr>Monotype Sorts</vt:lpstr>
      <vt:lpstr>Times New Roman</vt:lpstr>
      <vt:lpstr>Wingdings</vt:lpstr>
      <vt:lpstr>Wingdings 2</vt:lpstr>
      <vt:lpstr>Oriel</vt:lpstr>
      <vt:lpstr>Equation</vt:lpstr>
      <vt:lpstr>Worksheet</vt:lpstr>
      <vt:lpstr>PowerPoint Presentation</vt:lpstr>
      <vt:lpstr>Introduction</vt:lpstr>
      <vt:lpstr>Functional Dependency</vt:lpstr>
      <vt:lpstr>Functional Dependency</vt:lpstr>
      <vt:lpstr>Splitting / Combining Rule</vt:lpstr>
      <vt:lpstr>Functional Dependency</vt:lpstr>
      <vt:lpstr>Keys</vt:lpstr>
      <vt:lpstr>Keys</vt:lpstr>
      <vt:lpstr>Closure of Attributes</vt:lpstr>
      <vt:lpstr>Closure of Attributes</vt:lpstr>
      <vt:lpstr>Closure of Attributes</vt:lpstr>
      <vt:lpstr>Relational Schema Design</vt:lpstr>
      <vt:lpstr>Relational Schema Design</vt:lpstr>
      <vt:lpstr>Example</vt:lpstr>
      <vt:lpstr>PowerPoint Presentation</vt:lpstr>
      <vt:lpstr>Decomposing Relations</vt:lpstr>
      <vt:lpstr>Decomposing Relations</vt:lpstr>
      <vt:lpstr>Normalization</vt:lpstr>
      <vt:lpstr>First Normal Form (1NF)</vt:lpstr>
      <vt:lpstr>1NF</vt:lpstr>
      <vt:lpstr>Functional Dependence</vt:lpstr>
      <vt:lpstr>Data Integrity</vt:lpstr>
      <vt:lpstr>Second Normal Form (2NF)</vt:lpstr>
      <vt:lpstr>2NF</vt:lpstr>
      <vt:lpstr>Transitive Dependence</vt:lpstr>
      <vt:lpstr>Third Normal Form (3NF)</vt:lpstr>
      <vt:lpstr>3NF</vt:lpstr>
      <vt:lpstr>Other Normal Forms</vt:lpstr>
      <vt:lpstr>Normalizing our team (1NF)</vt:lpstr>
      <vt:lpstr>Normalizing our team (2NF &amp; 3NF)</vt:lpstr>
      <vt:lpstr>Benefits of Database Normalization</vt:lpstr>
      <vt:lpstr>Boyce-Codd Normal Form</vt:lpstr>
      <vt:lpstr>Boyce-Codd Normal Form</vt:lpstr>
      <vt:lpstr>Boyce-Codd Normal Form</vt:lpstr>
      <vt:lpstr>Problems with Decompositions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SQL: Queries, Programming, Triggers</dc:title>
  <dc:subject>Database Management Systems</dc:subject>
  <dc:creator>Raghu Ramakrishnan and Johannes Gehrke</dc:creator>
  <cp:keywords>Chapter 5</cp:keywords>
  <dc:description>See the notes for information on how the slides are organized.</dc:description>
  <cp:lastModifiedBy>Mayank Agarwal</cp:lastModifiedBy>
  <cp:revision>185</cp:revision>
  <cp:lastPrinted>1601-01-01T00:00:00Z</cp:lastPrinted>
  <dcterms:created xsi:type="dcterms:W3CDTF">1997-01-12T19:06:00Z</dcterms:created>
  <dcterms:modified xsi:type="dcterms:W3CDTF">2024-04-17T19:36:04Z</dcterms:modified>
</cp:coreProperties>
</file>