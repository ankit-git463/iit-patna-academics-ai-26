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9"/>
  </p:notesMasterIdLst>
  <p:handoutMasterIdLst>
    <p:handoutMasterId r:id="rId20"/>
  </p:handoutMasterIdLst>
  <p:sldIdLst>
    <p:sldId id="420" r:id="rId2"/>
    <p:sldId id="256" r:id="rId3"/>
    <p:sldId id="458" r:id="rId4"/>
    <p:sldId id="257" r:id="rId5"/>
    <p:sldId id="258" r:id="rId6"/>
    <p:sldId id="259" r:id="rId7"/>
    <p:sldId id="425" r:id="rId8"/>
    <p:sldId id="262" r:id="rId9"/>
    <p:sldId id="263" r:id="rId10"/>
    <p:sldId id="264" r:id="rId11"/>
    <p:sldId id="434" r:id="rId12"/>
    <p:sldId id="265" r:id="rId13"/>
    <p:sldId id="455" r:id="rId14"/>
    <p:sldId id="266" r:id="rId15"/>
    <p:sldId id="267" r:id="rId16"/>
    <p:sldId id="327" r:id="rId17"/>
    <p:sldId id="328" r:id="rId18"/>
  </p:sldIdLst>
  <p:sldSz cx="9144000" cy="6858000" type="screen4x3"/>
  <p:notesSz cx="6997700" cy="9283700"/>
  <p:custShowLst>
    <p:custShow name="Custom Show 1" id="0">
      <p:sldLst/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">
          <p15:clr>
            <a:srgbClr val="A4A3A4"/>
          </p15:clr>
        </p15:guide>
        <p15:guide id="2" pos="5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12" autoAdjust="0"/>
    <p:restoredTop sz="94737" autoAdjust="0"/>
  </p:normalViewPr>
  <p:slideViewPr>
    <p:cSldViewPr snapToGrid="0">
      <p:cViewPr varScale="1">
        <p:scale>
          <a:sx n="100" d="100"/>
          <a:sy n="100" d="100"/>
        </p:scale>
        <p:origin x="1734" y="90"/>
      </p:cViewPr>
      <p:guideLst>
        <p:guide orient="horz" pos="707"/>
        <p:guide pos="5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>
            <a:extLst>
              <a:ext uri="{FF2B5EF4-FFF2-40B4-BE49-F238E27FC236}">
                <a16:creationId xmlns:a16="http://schemas.microsoft.com/office/drawing/2014/main" id="{C6EF5354-BFFB-44DF-8FA7-1A088153BD8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7" name="Rectangle 3">
            <a:extLst>
              <a:ext uri="{FF2B5EF4-FFF2-40B4-BE49-F238E27FC236}">
                <a16:creationId xmlns:a16="http://schemas.microsoft.com/office/drawing/2014/main" id="{5BBF6CF9-ADFE-4F6E-89A0-8CB582D8FFC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8" name="Rectangle 4">
            <a:extLst>
              <a:ext uri="{FF2B5EF4-FFF2-40B4-BE49-F238E27FC236}">
                <a16:creationId xmlns:a16="http://schemas.microsoft.com/office/drawing/2014/main" id="{8C120FC7-7BCE-4696-BB5D-C087861E4B4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7269" name="Rectangle 5">
            <a:extLst>
              <a:ext uri="{FF2B5EF4-FFF2-40B4-BE49-F238E27FC236}">
                <a16:creationId xmlns:a16="http://schemas.microsoft.com/office/drawing/2014/main" id="{6735A123-7D3E-455E-AB82-1C3749BB052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8B4C920-550B-4EA7-9CB5-2D8883A273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42" name="Rectangle 2">
            <a:extLst>
              <a:ext uri="{FF2B5EF4-FFF2-40B4-BE49-F238E27FC236}">
                <a16:creationId xmlns:a16="http://schemas.microsoft.com/office/drawing/2014/main" id="{2E8AF117-EF14-4BF3-AB7D-D75C4F934CC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7D2DA5C-BED3-45D1-AFD2-94AF29863A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2936E5F-4C9B-4144-9261-C3F188AA67D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0645" name="Rectangle 5">
            <a:extLst>
              <a:ext uri="{FF2B5EF4-FFF2-40B4-BE49-F238E27FC236}">
                <a16:creationId xmlns:a16="http://schemas.microsoft.com/office/drawing/2014/main" id="{D73F14C5-05F8-4300-9D01-F3633C85474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0646" name="Rectangle 6">
            <a:extLst>
              <a:ext uri="{FF2B5EF4-FFF2-40B4-BE49-F238E27FC236}">
                <a16:creationId xmlns:a16="http://schemas.microsoft.com/office/drawing/2014/main" id="{BCB6CAD9-A006-4455-8054-9CACB290288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0647" name="Rectangle 7">
            <a:extLst>
              <a:ext uri="{FF2B5EF4-FFF2-40B4-BE49-F238E27FC236}">
                <a16:creationId xmlns:a16="http://schemas.microsoft.com/office/drawing/2014/main" id="{63060AD7-0C3D-477B-BD60-55C8EBDB94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/>
            </a:lvl1pPr>
          </a:lstStyle>
          <a:p>
            <a:pPr>
              <a:defRPr/>
            </a:pPr>
            <a:fld id="{AE66C03C-4B0E-4149-8287-A3B340EB818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DE2DCE1-2EFC-4C42-8DFC-CBA6F33233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1637794-A468-4EC6-9DD2-8F932E639220}" type="slidenum">
              <a:rPr lang="en-US" altLang="en-US" sz="1300" smtClean="0"/>
              <a:pPr/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607B12F9-7FC5-42D0-9964-0865785D1C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2BC6D4DE-B9DA-4FD2-A997-14A566E8D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076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019A8B4-FE31-4F70-9BCC-8CB6AE40496C}" type="slidenum">
              <a:rPr lang="en-US" altLang="en-US" sz="1200">
                <a:latin typeface="Times New Roman" panose="02020603050405020304" pitchFamily="18" charset="0"/>
              </a:rPr>
              <a:pPr/>
              <a:t>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34863" indent="-282640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30558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582781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35005" indent="-226112" defTabSz="928001" eaLnBrk="0" hangingPunct="0"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48722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39451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391675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43898" indent="-226112" defTabSz="92800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D8DAD5-EFE6-4531-83B5-A1D07989AD0D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87450" y="703263"/>
            <a:ext cx="4622800" cy="3467100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1146" y="4410702"/>
            <a:ext cx="5135409" cy="4174834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8213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76F1A6D1-0721-4D26-A1A3-1AB4D70577E7}" type="slidenum">
              <a:rPr lang="en-US" altLang="en-US" sz="1200">
                <a:latin typeface="Times New Roman" panose="02020603050405020304" pitchFamily="18" charset="0"/>
              </a:rPr>
              <a:pPr/>
              <a:t>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9702E69-A796-456C-8856-48AD9C8C9A41}" type="slidenum">
              <a:rPr lang="en-US" altLang="en-US" sz="1200">
                <a:latin typeface="Times New Roman" panose="02020603050405020304" pitchFamily="18" charset="0"/>
              </a:rPr>
              <a:pPr/>
              <a:t>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sz="1200" dirty="0"/>
              <a:t>If a lock cannot be granted, the requesting transaction is made to wait till all incompatible locks held by other transactions have been released.  The lock is then granted.</a:t>
            </a:r>
          </a:p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28A582B-3CD1-4357-870E-F2BE1FD49E70}" type="slidenum">
              <a:rPr lang="en-US" altLang="en-US" sz="1200">
                <a:latin typeface="Times New Roman" panose="02020603050405020304" pitchFamily="18" charset="0"/>
              </a:rPr>
              <a:pPr/>
              <a:t>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54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982EC89-B20C-4094-938B-231411E2148A}" type="slidenum">
              <a:rPr lang="en-US" altLang="en-US" sz="1200">
                <a:latin typeface="Times New Roman" panose="02020603050405020304" pitchFamily="18" charset="0"/>
              </a:rPr>
              <a:pPr/>
              <a:t>8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85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C457AB9-3BFC-4073-B22E-4956C57EECC1}" type="slidenum">
              <a:rPr lang="en-US" altLang="en-US" sz="1200">
                <a:latin typeface="Times New Roman" panose="02020603050405020304" pitchFamily="18" charset="0"/>
              </a:rPr>
              <a:pPr/>
              <a:t>9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588688-530E-4253-AC88-F094F75C031C}" type="slidenum">
              <a:rPr lang="en-US" altLang="en-US" sz="1200">
                <a:latin typeface="Times New Roman" panose="02020603050405020304" pitchFamily="18" charset="0"/>
              </a:rPr>
              <a:pPr/>
              <a:t>10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2C588688-530E-4253-AC88-F094F75C031C}" type="slidenum">
              <a:rPr lang="en-US" altLang="en-US" sz="1200">
                <a:latin typeface="Times New Roman" panose="02020603050405020304" pitchFamily="18" charset="0"/>
              </a:rPr>
              <a:pPr/>
              <a:t>11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8745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C3DE15F-304C-4F8B-973C-37594E88A915}" type="slidenum">
              <a:rPr lang="en-US" altLang="en-US" sz="1200">
                <a:latin typeface="Times New Roman" panose="02020603050405020304" pitchFamily="18" charset="0"/>
              </a:rPr>
              <a:pPr/>
              <a:t>12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216424-5483-4674-976A-4CF840959603}" type="slidenum">
              <a:rPr lang="en-US" altLang="en-US" sz="1200">
                <a:latin typeface="Times New Roman" panose="02020603050405020304" pitchFamily="18" charset="0"/>
              </a:rPr>
              <a:pPr/>
              <a:t>13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2945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7216424-5483-4674-976A-4CF840959603}" type="slidenum">
              <a:rPr lang="en-US" altLang="en-US" sz="1200">
                <a:latin typeface="Times New Roman" panose="02020603050405020304" pitchFamily="18" charset="0"/>
              </a:rPr>
              <a:pPr/>
              <a:t>14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D0E9FD9-D26A-4801-8463-8811DB58E320}" type="slidenum">
              <a:rPr lang="en-US" altLang="en-US" sz="1200">
                <a:latin typeface="Times New Roman" panose="02020603050405020304" pitchFamily="18" charset="0"/>
              </a:rPr>
              <a:pPr/>
              <a:t>15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87C4D67-3A9F-42B6-82B2-2B1E3CE0D621}" type="slidenum">
              <a:rPr lang="en-US" altLang="en-US" sz="1200">
                <a:latin typeface="Times New Roman" panose="02020603050405020304" pitchFamily="18" charset="0"/>
              </a:rPr>
              <a:pPr/>
              <a:t>16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879475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8794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DBC5AB9-34BB-442E-A644-79BF67BF4889}" type="slidenum">
              <a:rPr lang="en-US" altLang="en-US" sz="1200">
                <a:latin typeface="Times New Roman" panose="02020603050405020304" pitchFamily="18" charset="0"/>
              </a:rPr>
              <a:pPr/>
              <a:t>17</a:t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A25BB261-D773-4836-B381-7A051175F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13858" y="0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0487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4760F52-45E1-4E1D-A744-2F2290DE90C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3B69BB99-A72A-4470-971F-83530C443C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2"/>
          <a:stretch>
            <a:fillRect/>
          </a:stretch>
        </p:blipFill>
        <p:spPr bwMode="auto">
          <a:xfrm>
            <a:off x="13859" y="1"/>
            <a:ext cx="736829" cy="9410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6430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8350" y="1093788"/>
            <a:ext cx="7707313" cy="4903787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4371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6F2EBE-FF5F-4F9D-A3C2-A59A92D7809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7F3CAF-32BF-49A6-93F1-59C9E4B7C9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60709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6D4A7F0-1138-4608-80AA-D0A6F5D411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852D5F-D37B-4E9D-98AD-511A1ABBD6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0802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590" y="-411163"/>
            <a:ext cx="8074241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6DFCFB3-6710-4DD2-8404-7E55A930F35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91CCC-CC48-429B-87C9-7123B48E52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042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7780846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BB431453-8F56-47C4-89BA-3EDF3CD092B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9D92F0-DB25-4E6B-A10D-A7937AC7A3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600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4BE8099E-18A5-481A-9697-216087BE067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555C8E-F740-4D28-8DA3-D7B8E0F6F5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2147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7E2C57D-1205-411A-BA90-DF60A810F6D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BE5B0-1186-4DAB-9E97-511F15F5C6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8809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9EB6957-06EE-46F8-A450-3DB417A1F8A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91DB2E-7BC4-4C22-ACAE-0B8B3F0C51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14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C950AD-734E-45C7-8042-5795FFAD67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5E31B-1343-4510-8DCD-65E7B6544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3046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A7A2CD-B5B0-4CF6-8038-339B0E99E3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3574B0-C055-4E38-82A9-667A1DF1F8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4649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112478-D9B7-4D0D-ADE5-62D5EFAAF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8350" y="1093788"/>
            <a:ext cx="7707313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512003" name="Rectangle 3">
            <a:extLst>
              <a:ext uri="{FF2B5EF4-FFF2-40B4-BE49-F238E27FC236}">
                <a16:creationId xmlns:a16="http://schemas.microsoft.com/office/drawing/2014/main" id="{D2EB5033-CF44-472B-B77D-FAA18581E63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00206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BECA7E0-09BC-41D3-BD93-B7E81A2ACCB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0CFC8B2-2C6C-4CA4-9AFC-14298F0DD4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512005" name="Text Box 5">
            <a:extLst>
              <a:ext uri="{FF2B5EF4-FFF2-40B4-BE49-F238E27FC236}">
                <a16:creationId xmlns:a16="http://schemas.microsoft.com/office/drawing/2014/main" id="{ED25C836-0663-424A-84A7-5AB8034228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18.</a:t>
            </a:r>
            <a:fld id="{669DE52E-05EC-4487-BE79-3F9A6A9F8797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512006" name="Rectangle 6">
            <a:extLst>
              <a:ext uri="{FF2B5EF4-FFF2-40B4-BE49-F238E27FC236}">
                <a16:creationId xmlns:a16="http://schemas.microsoft.com/office/drawing/2014/main" id="{BFAC4B4C-D3C2-4A14-871E-CC7D45F076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768985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5472E9A1-C06F-4393-872E-7F8100F916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362D880-06BD-4D02-876C-3226AC8E6F10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2147483646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2147483646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2147483646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2147483646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0" name="Picture 8" descr="Cover-6Ed"/>
          <p:cNvPicPr>
            <a:picLocks noChangeAspect="1" noChangeArrowheads="1"/>
          </p:cNvPicPr>
          <p:nvPr userDrawn="1"/>
        </p:nvPicPr>
        <p:blipFill>
          <a:blip r:embed="rId15"/>
          <a:stretch>
            <a:fillRect/>
          </a:stretch>
        </p:blipFill>
        <p:spPr bwMode="auto">
          <a:xfrm>
            <a:off x="5546" y="0"/>
            <a:ext cx="742012" cy="947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D5DF75-4149-482D-A830-7958F8F75780}"/>
              </a:ext>
            </a:extLst>
          </p:cNvPr>
          <p:cNvCxnSpPr/>
          <p:nvPr userDrawn="1"/>
        </p:nvCxnSpPr>
        <p:spPr bwMode="auto">
          <a:xfrm>
            <a:off x="812732" y="801209"/>
            <a:ext cx="7707313" cy="0"/>
          </a:xfrm>
          <a:prstGeom prst="line">
            <a:avLst/>
          </a:prstGeom>
          <a:ln w="19050">
            <a:solidFill>
              <a:schemeClr val="bg1">
                <a:lumMod val="2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95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2">
            <a:extLst>
              <a:ext uri="{FF2B5EF4-FFF2-40B4-BE49-F238E27FC236}">
                <a16:creationId xmlns:a16="http://schemas.microsoft.com/office/drawing/2014/main" id="{1CB68582-BBE2-4F64-8E5F-7C76410784F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Chapter 18: </a:t>
            </a: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Concurrency Control 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24016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Outline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665824" y="1102497"/>
            <a:ext cx="7581531" cy="5367972"/>
          </a:xfrm>
        </p:spPr>
        <p:txBody>
          <a:bodyPr/>
          <a:lstStyle/>
          <a:p>
            <a:r>
              <a:rPr lang="en-US" altLang="en-US" dirty="0"/>
              <a:t>Lock-Based Protocols</a:t>
            </a:r>
          </a:p>
          <a:p>
            <a:r>
              <a:rPr lang="en-US" altLang="en-US" dirty="0"/>
              <a:t>Timestamp-Based Protocols</a:t>
            </a:r>
          </a:p>
          <a:p>
            <a:r>
              <a:rPr lang="en-US" altLang="en-US" dirty="0"/>
              <a:t>Validation-Based Protocols</a:t>
            </a:r>
          </a:p>
          <a:p>
            <a:r>
              <a:rPr lang="en-US" altLang="en-US" dirty="0"/>
              <a:t>Multiple Granularity</a:t>
            </a:r>
          </a:p>
          <a:p>
            <a:r>
              <a:rPr lang="en-US" altLang="en-US" dirty="0"/>
              <a:t>Multiversion Schemes</a:t>
            </a:r>
          </a:p>
          <a:p>
            <a:r>
              <a:rPr lang="en-US" altLang="en-US" dirty="0"/>
              <a:t>Insert and Delete Operations</a:t>
            </a:r>
          </a:p>
          <a:p>
            <a:r>
              <a:rPr lang="en-US" altLang="en-US" dirty="0"/>
              <a:t>Concurrency in Index Structures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7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18512"/>
            <a:ext cx="7772400" cy="1143000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Lock-Based Protocols</a:t>
            </a:r>
            <a:br>
              <a:rPr lang="en-US" sz="2800" b="1" dirty="0">
                <a:solidFill>
                  <a:schemeClr val="bg1">
                    <a:lumMod val="25000"/>
                  </a:schemeClr>
                </a:solidFill>
              </a:rPr>
            </a:b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33297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63283"/>
            <a:ext cx="7689850" cy="476704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Locking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7471828" cy="5216660"/>
          </a:xfrm>
        </p:spPr>
        <p:txBody>
          <a:bodyPr/>
          <a:lstStyle/>
          <a:p>
            <a:r>
              <a:rPr lang="en-US" altLang="en-US" dirty="0"/>
              <a:t>A lock is a mechanism to control concurrent access to a data item</a:t>
            </a:r>
          </a:p>
          <a:p>
            <a:r>
              <a:rPr lang="en-US" altLang="en-US" dirty="0"/>
              <a:t>Data items can be locked in two modes :</a:t>
            </a:r>
          </a:p>
          <a:p>
            <a:pPr>
              <a:buFont typeface="Monotype Sorts" charset="2"/>
              <a:buNone/>
            </a:pPr>
            <a:r>
              <a:rPr lang="en-US" altLang="en-US" i="1" dirty="0"/>
              <a:t>       </a:t>
            </a:r>
            <a:r>
              <a:rPr lang="en-US" altLang="en-US" dirty="0"/>
              <a:t>1</a:t>
            </a:r>
            <a:r>
              <a:rPr lang="en-US" altLang="en-US" i="1" dirty="0"/>
              <a:t>.   </a:t>
            </a:r>
            <a:r>
              <a:rPr lang="en-US" altLang="en-US" b="1" dirty="0">
                <a:solidFill>
                  <a:srgbClr val="002060"/>
                </a:solidFill>
              </a:rPr>
              <a:t>exclusive</a:t>
            </a:r>
            <a:r>
              <a:rPr lang="en-US" altLang="en-US" i="1" dirty="0"/>
              <a:t> (X) mode</a:t>
            </a:r>
            <a:r>
              <a:rPr lang="en-US" altLang="en-US" dirty="0"/>
              <a:t>. Data item can be both read as well  as   </a:t>
            </a:r>
          </a:p>
          <a:p>
            <a:pPr>
              <a:lnSpc>
                <a:spcPct val="60000"/>
              </a:lnSpc>
              <a:buFont typeface="Monotype Sorts" charset="2"/>
              <a:buNone/>
            </a:pPr>
            <a:r>
              <a:rPr lang="en-US" altLang="en-US" dirty="0"/>
              <a:t>             written. X-lock is requested using </a:t>
            </a:r>
            <a:r>
              <a:rPr lang="en-US" altLang="en-US" b="1" dirty="0"/>
              <a:t> lock-X</a:t>
            </a:r>
            <a:r>
              <a:rPr lang="en-US" altLang="en-US" dirty="0"/>
              <a:t> instruction.</a:t>
            </a:r>
          </a:p>
          <a:p>
            <a:pPr>
              <a:buFont typeface="Monotype Sorts" charset="2"/>
              <a:buNone/>
            </a:pPr>
            <a:r>
              <a:rPr lang="en-US" altLang="en-US" i="1" dirty="0"/>
              <a:t>       </a:t>
            </a:r>
            <a:r>
              <a:rPr lang="en-US" altLang="en-US" dirty="0"/>
              <a:t>2</a:t>
            </a:r>
            <a:r>
              <a:rPr lang="en-US" altLang="en-US" i="1" dirty="0"/>
              <a:t>.   </a:t>
            </a:r>
            <a:r>
              <a:rPr lang="en-US" altLang="en-US" b="1" dirty="0">
                <a:solidFill>
                  <a:srgbClr val="002060"/>
                </a:solidFill>
              </a:rPr>
              <a:t>shared</a:t>
            </a:r>
            <a:r>
              <a:rPr lang="en-US" altLang="en-US" i="1" dirty="0"/>
              <a:t> (S) mode</a:t>
            </a:r>
            <a:r>
              <a:rPr lang="en-US" altLang="en-US" dirty="0"/>
              <a:t>. Data item can only be read. S-lock is          </a:t>
            </a:r>
          </a:p>
          <a:p>
            <a:pPr>
              <a:lnSpc>
                <a:spcPct val="60000"/>
              </a:lnSpc>
              <a:buFont typeface="Monotype Sorts" charset="2"/>
              <a:buNone/>
            </a:pPr>
            <a:r>
              <a:rPr lang="en-US" altLang="en-US" dirty="0"/>
              <a:t>             requested using </a:t>
            </a:r>
            <a:r>
              <a:rPr lang="en-US" altLang="en-US" b="1" dirty="0"/>
              <a:t> lock-S</a:t>
            </a:r>
            <a:r>
              <a:rPr lang="en-US" altLang="en-US" dirty="0"/>
              <a:t> instruction.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Lock requests are made to concurrency-control manager. Transaction can proceed only after request is granted.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08854"/>
            <a:ext cx="7689850" cy="509360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Lock Compatibility 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415390" cy="5069703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</a:rPr>
              <a:t>Lock-compatibility matrix</a:t>
            </a:r>
          </a:p>
          <a:p>
            <a:endParaRPr lang="en-US" altLang="en-US" dirty="0">
              <a:solidFill>
                <a:schemeClr val="tx2"/>
              </a:solidFill>
            </a:endParaRPr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charset="2"/>
              <a:buNone/>
            </a:pPr>
            <a:endParaRPr lang="en-US" altLang="en-US" dirty="0"/>
          </a:p>
          <a:p>
            <a:r>
              <a:rPr lang="en-US" altLang="en-US" dirty="0"/>
              <a:t>A transaction may be granted a lock on an item if the requested lock is compatible with locks already held on the item by other transactions</a:t>
            </a:r>
          </a:p>
          <a:p>
            <a:r>
              <a:rPr lang="en-US" altLang="en-US" dirty="0"/>
              <a:t>Any number of transactions can hold shared locks on an item, </a:t>
            </a:r>
          </a:p>
          <a:p>
            <a:r>
              <a:rPr lang="en-US" altLang="en-US" dirty="0"/>
              <a:t>But if any transaction holds an exclusive on the item no other transaction may hold any lock on the item.</a:t>
            </a:r>
          </a:p>
        </p:txBody>
      </p:sp>
      <p:pic>
        <p:nvPicPr>
          <p:cNvPr id="7172" name="Picture 2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3" y="1684338"/>
            <a:ext cx="1912937" cy="109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9739"/>
            <a:ext cx="7689850" cy="509361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Locking Example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8153092" cy="5367972"/>
          </a:xfrm>
        </p:spPr>
        <p:txBody>
          <a:bodyPr/>
          <a:lstStyle/>
          <a:p>
            <a:r>
              <a:rPr lang="en-US" altLang="en-US" dirty="0"/>
              <a:t>Example of a transaction performing locking: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                    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2</a:t>
            </a:r>
            <a:r>
              <a:rPr lang="en-US" altLang="en-US" dirty="0"/>
              <a:t>:</a:t>
            </a:r>
            <a:r>
              <a:rPr lang="en-US" altLang="en-US" b="1" dirty="0"/>
              <a:t> lock-S</a:t>
            </a:r>
            <a:r>
              <a:rPr lang="en-US" altLang="en-US" i="1" dirty="0"/>
              <a:t>(A)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                           read </a:t>
            </a:r>
            <a:r>
              <a:rPr lang="en-US" altLang="en-US" i="1" dirty="0"/>
              <a:t>(A)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                           unlock</a:t>
            </a:r>
            <a:r>
              <a:rPr lang="en-US" altLang="en-US" i="1" dirty="0"/>
              <a:t>(A)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                           lock-S</a:t>
            </a:r>
            <a:r>
              <a:rPr lang="en-US" altLang="en-US" i="1" dirty="0"/>
              <a:t>(B)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                           read </a:t>
            </a:r>
            <a:r>
              <a:rPr lang="en-US" altLang="en-US" i="1" dirty="0"/>
              <a:t>(B)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                           unlock</a:t>
            </a:r>
            <a:r>
              <a:rPr lang="en-US" altLang="en-US" i="1" dirty="0"/>
              <a:t>(B)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r>
              <a:rPr lang="en-US" altLang="en-US" b="1" dirty="0"/>
              <a:t>                             display</a:t>
            </a:r>
            <a:r>
              <a:rPr lang="en-US" altLang="en-US" i="1" dirty="0"/>
              <a:t>(A+B)</a:t>
            </a:r>
          </a:p>
          <a:p>
            <a:r>
              <a:rPr lang="en-US" altLang="en-US" dirty="0"/>
              <a:t>Locking as above ensures that a data item is not modified by multiple  transactions at the same time.</a:t>
            </a:r>
          </a:p>
          <a:p>
            <a:r>
              <a:rPr lang="en-US" altLang="en-US" dirty="0"/>
              <a:t>It is not, however, sufficient to guarantee serializability</a:t>
            </a:r>
          </a:p>
          <a:p>
            <a:r>
              <a:rPr lang="en-US" altLang="en-US" dirty="0"/>
              <a:t>To ensure serializability we need to use </a:t>
            </a:r>
            <a:r>
              <a:rPr lang="en-US" altLang="en-US" b="1" dirty="0">
                <a:solidFill>
                  <a:srgbClr val="002060"/>
                </a:solidFill>
              </a:rPr>
              <a:t>locking protocols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9DB60-C461-4BD8-BE62-943FF7AA1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50" y="119741"/>
            <a:ext cx="7689850" cy="531132"/>
          </a:xfrm>
        </p:spPr>
        <p:txBody>
          <a:bodyPr/>
          <a:lstStyle/>
          <a:p>
            <a:r>
              <a:rPr lang="en-IN" dirty="0"/>
              <a:t>Locking Protocols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18C1A-C907-4055-BE08-B00EB60C0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703" y="1017144"/>
            <a:ext cx="7043268" cy="3652828"/>
          </a:xfrm>
        </p:spPr>
        <p:txBody>
          <a:bodyPr/>
          <a:lstStyle/>
          <a:p>
            <a:r>
              <a:rPr lang="en-US" altLang="en-US" dirty="0"/>
              <a:t>A  </a:t>
            </a:r>
            <a:r>
              <a:rPr lang="en-US" altLang="en-US" b="1" dirty="0">
                <a:solidFill>
                  <a:srgbClr val="002060"/>
                </a:solidFill>
              </a:rPr>
              <a:t>locking protocol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is a set of rules followed by all transactions while requesting and releasing locks.</a:t>
            </a:r>
          </a:p>
          <a:p>
            <a:r>
              <a:rPr lang="en-US" altLang="en-US" dirty="0"/>
              <a:t>Locking protocols enforce serializability by restricting the set of possible schedules.</a:t>
            </a:r>
          </a:p>
        </p:txBody>
      </p:sp>
    </p:spTree>
    <p:extLst>
      <p:ext uri="{BB962C8B-B14F-4D97-AF65-F5344CB8AC3E}">
        <p14:creationId xmlns:p14="http://schemas.microsoft.com/office/powerpoint/2010/main" val="4247117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77645"/>
            <a:ext cx="7689850" cy="484113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Two-Phase Locking Protocol (2PL)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678845" y="1102497"/>
            <a:ext cx="4797264" cy="5367972"/>
          </a:xfrm>
        </p:spPr>
        <p:txBody>
          <a:bodyPr/>
          <a:lstStyle/>
          <a:p>
            <a:r>
              <a:rPr lang="en-US" altLang="en-US" dirty="0"/>
              <a:t>A protocol which ensures conflict-serializable schedules.</a:t>
            </a:r>
          </a:p>
          <a:p>
            <a:r>
              <a:rPr lang="en-US" altLang="en-US" dirty="0"/>
              <a:t>Phase 1: </a:t>
            </a:r>
            <a:r>
              <a:rPr lang="en-US" altLang="en-US" b="1" dirty="0">
                <a:solidFill>
                  <a:srgbClr val="002060"/>
                </a:solidFill>
              </a:rPr>
              <a:t>Growing Phase</a:t>
            </a:r>
          </a:p>
          <a:p>
            <a:pPr lvl="1"/>
            <a:r>
              <a:rPr lang="en-US" altLang="en-US" dirty="0"/>
              <a:t>Transaction may obtain locks </a:t>
            </a:r>
          </a:p>
          <a:p>
            <a:pPr lvl="1"/>
            <a:r>
              <a:rPr lang="en-US" altLang="en-US" dirty="0"/>
              <a:t>Transaction may not release locks</a:t>
            </a:r>
          </a:p>
          <a:p>
            <a:r>
              <a:rPr lang="en-US" altLang="en-US" dirty="0"/>
              <a:t>Phase 2: </a:t>
            </a:r>
            <a:r>
              <a:rPr lang="en-US" altLang="en-US" b="1" dirty="0">
                <a:solidFill>
                  <a:srgbClr val="002060"/>
                </a:solidFill>
              </a:rPr>
              <a:t>Shrinking Phase</a:t>
            </a:r>
          </a:p>
          <a:p>
            <a:pPr lvl="1"/>
            <a:r>
              <a:rPr lang="en-US" altLang="en-US" dirty="0"/>
              <a:t>Transaction may release locks</a:t>
            </a:r>
          </a:p>
          <a:p>
            <a:pPr lvl="1"/>
            <a:r>
              <a:rPr lang="en-US" altLang="en-US" dirty="0"/>
              <a:t>Transaction may not obtain locks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The protocol assures serializability. It can be proved that the transactions can be serialized in the order of their </a:t>
            </a:r>
            <a:r>
              <a:rPr lang="en-US" altLang="en-US" b="1" dirty="0">
                <a:solidFill>
                  <a:srgbClr val="002060"/>
                </a:solidFill>
              </a:rPr>
              <a:t>lock points</a:t>
            </a:r>
            <a:r>
              <a:rPr lang="en-US" altLang="en-US" i="1" dirty="0">
                <a:solidFill>
                  <a:srgbClr val="002060"/>
                </a:solidFill>
              </a:rPr>
              <a:t> </a:t>
            </a:r>
            <a:r>
              <a:rPr lang="en-US" altLang="en-US" dirty="0">
                <a:solidFill>
                  <a:srgbClr val="002060"/>
                </a:solidFill>
              </a:rPr>
              <a:t> </a:t>
            </a:r>
            <a:r>
              <a:rPr lang="en-US" altLang="en-US" dirty="0"/>
              <a:t>(i.e., the point where a transaction acquired its final lock). 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26EAA91-4667-40F7-8DA5-75028B5E0C2D}"/>
              </a:ext>
            </a:extLst>
          </p:cNvPr>
          <p:cNvGrpSpPr/>
          <p:nvPr/>
        </p:nvGrpSpPr>
        <p:grpSpPr>
          <a:xfrm>
            <a:off x="5583990" y="1941816"/>
            <a:ext cx="3261560" cy="1761771"/>
            <a:chOff x="5728328" y="1541124"/>
            <a:chExt cx="3261560" cy="1761771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0FB54162-306B-4489-8B81-698E913A8D5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6298054" y="1931542"/>
              <a:ext cx="637498" cy="89385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1E3CB620-AC29-4FAC-95E2-262B8772164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935552" y="1931542"/>
              <a:ext cx="656799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95C9845F-53B5-42CF-9DED-577E128BCBD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92351" y="1931541"/>
              <a:ext cx="1017142" cy="893851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ED83627-5621-4B13-9C3D-3A3022EAABA8}"/>
                </a:ext>
              </a:extLst>
            </p:cNvPr>
            <p:cNvCxnSpPr/>
            <p:nvPr/>
          </p:nvCxnSpPr>
          <p:spPr bwMode="auto">
            <a:xfrm>
              <a:off x="6174763" y="1541124"/>
              <a:ext cx="0" cy="128426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77ADCCD-4ADA-470C-8D85-8D1F7DB228B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185037" y="2825393"/>
              <a:ext cx="2804851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3A1DDE4-522C-445C-B280-368903635744}"/>
                </a:ext>
              </a:extLst>
            </p:cNvPr>
            <p:cNvSpPr txBox="1"/>
            <p:nvPr/>
          </p:nvSpPr>
          <p:spPr>
            <a:xfrm>
              <a:off x="6935552" y="2964341"/>
              <a:ext cx="8013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Time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63CE1A40-51CB-4ABA-9E17-4CFF2435A163}"/>
                </a:ext>
              </a:extLst>
            </p:cNvPr>
            <p:cNvSpPr txBox="1"/>
            <p:nvPr/>
          </p:nvSpPr>
          <p:spPr>
            <a:xfrm rot="16200000">
              <a:off x="5496912" y="1900888"/>
              <a:ext cx="8013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dirty="0"/>
                <a:t>Locks</a:t>
              </a: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E4B3A32-79FE-4DB8-A614-AF9F0FFCEB0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6832309" y="2964343"/>
              <a:ext cx="863283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CED7774-56BB-4BC7-AD39-7011E54C9342}"/>
                </a:ext>
              </a:extLst>
            </p:cNvPr>
            <p:cNvCxnSpPr/>
            <p:nvPr/>
          </p:nvCxnSpPr>
          <p:spPr bwMode="auto">
            <a:xfrm flipV="1">
              <a:off x="6066882" y="1715668"/>
              <a:ext cx="0" cy="7089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5CEAF51-B2DF-4A38-8239-209AFA7E8E75}"/>
              </a:ext>
            </a:extLst>
          </p:cNvPr>
          <p:cNvCxnSpPr>
            <a:cxnSpLocks/>
          </p:cNvCxnSpPr>
          <p:nvPr/>
        </p:nvCxnSpPr>
        <p:spPr bwMode="auto">
          <a:xfrm>
            <a:off x="3666478" y="1861257"/>
            <a:ext cx="3021493" cy="609600"/>
          </a:xfrm>
          <a:prstGeom prst="straightConnector1">
            <a:avLst/>
          </a:prstGeom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A9857D5-A3B4-4348-AD13-80AB0BFB7FD3}"/>
              </a:ext>
            </a:extLst>
          </p:cNvPr>
          <p:cNvCxnSpPr>
            <a:cxnSpLocks/>
          </p:cNvCxnSpPr>
          <p:nvPr/>
        </p:nvCxnSpPr>
        <p:spPr bwMode="auto">
          <a:xfrm flipV="1">
            <a:off x="3870664" y="2583951"/>
            <a:ext cx="3804867" cy="372313"/>
          </a:xfrm>
          <a:prstGeom prst="straightConnector1">
            <a:avLst/>
          </a:prstGeom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1F32B76-916B-43B1-BB7A-6C852A73927C}"/>
              </a:ext>
            </a:extLst>
          </p:cNvPr>
          <p:cNvCxnSpPr>
            <a:cxnSpLocks/>
          </p:cNvCxnSpPr>
          <p:nvPr/>
        </p:nvCxnSpPr>
        <p:spPr bwMode="auto">
          <a:xfrm flipV="1">
            <a:off x="5255581" y="2825355"/>
            <a:ext cx="1954740" cy="1737767"/>
          </a:xfrm>
          <a:prstGeom prst="straightConnector1">
            <a:avLst/>
          </a:prstGeom>
          <a:ln w="9525" cap="flat" cmpd="sng" algn="ctr">
            <a:solidFill>
              <a:srgbClr val="7030A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996952" y="174169"/>
            <a:ext cx="7689850" cy="487589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Two-Phase Locking Protocol (Cont.)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701336" y="1102496"/>
            <a:ext cx="7691550" cy="4743133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dirty="0"/>
              <a:t>Extensions to the basic two-phase locking are needed to ensure recoverability or freedom from cascading roll-back</a:t>
            </a:r>
          </a:p>
          <a:p>
            <a:pPr lvl="1">
              <a:lnSpc>
                <a:spcPct val="11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Strict two-phase locking: </a:t>
            </a:r>
            <a:r>
              <a:rPr lang="en-US" altLang="en-US" dirty="0"/>
              <a:t>a transaction must hold all its exclusive locks till it commits/aborts.</a:t>
            </a:r>
          </a:p>
          <a:p>
            <a:pPr lvl="2">
              <a:lnSpc>
                <a:spcPct val="110000"/>
              </a:lnSpc>
            </a:pPr>
            <a:r>
              <a:rPr lang="en-US" altLang="en-US" dirty="0"/>
              <a:t>Ensures recoverability and avoids cascading roll-backs</a:t>
            </a:r>
          </a:p>
          <a:p>
            <a:pPr lvl="1">
              <a:lnSpc>
                <a:spcPct val="110000"/>
              </a:lnSpc>
            </a:pPr>
            <a:r>
              <a:rPr lang="en-US" altLang="en-US" b="1" dirty="0">
                <a:solidFill>
                  <a:srgbClr val="002060"/>
                </a:solidFill>
              </a:rPr>
              <a:t>Rigorous two-phase locking</a:t>
            </a:r>
            <a:r>
              <a:rPr lang="en-US" altLang="en-US" dirty="0"/>
              <a:t>: a transaction must hold </a:t>
            </a:r>
            <a:r>
              <a:rPr lang="en-US" altLang="en-US" i="1" dirty="0"/>
              <a:t>all </a:t>
            </a:r>
            <a:r>
              <a:rPr lang="en-US" altLang="en-US" dirty="0"/>
              <a:t>locks till commit/abort. </a:t>
            </a:r>
          </a:p>
          <a:p>
            <a:pPr lvl="2">
              <a:lnSpc>
                <a:spcPct val="110000"/>
              </a:lnSpc>
            </a:pPr>
            <a:r>
              <a:rPr lang="en-US" altLang="en-US" dirty="0"/>
              <a:t>Transactions can be serialized in the order in which they commit.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Most databases implement rigorous two-phase locking, </a:t>
            </a:r>
            <a:r>
              <a:rPr lang="en-US" altLang="en-US" i="1" dirty="0"/>
              <a:t>but refer to it as simply two-phase locking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98979" y="185055"/>
            <a:ext cx="7689850" cy="454931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The Two-Phase Locking Protocol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79527" y="1106807"/>
            <a:ext cx="6905837" cy="5000079"/>
          </a:xfrm>
        </p:spPr>
        <p:txBody>
          <a:bodyPr/>
          <a:lstStyle/>
          <a:p>
            <a:r>
              <a:rPr lang="en-US" altLang="en-US" dirty="0"/>
              <a:t>Two-phase locking is not a necessary condition for serializability</a:t>
            </a:r>
          </a:p>
          <a:p>
            <a:pPr lvl="1"/>
            <a:r>
              <a:rPr lang="en-US" altLang="en-US" dirty="0"/>
              <a:t>There are conflict serializable schedules that cannot be obtained if the two-phase locking protocol is used.  </a:t>
            </a:r>
          </a:p>
          <a:p>
            <a:r>
              <a:rPr lang="en-US" altLang="en-US" dirty="0"/>
              <a:t>However, in the absence of extra information (e.g., ordering of  access to data), two-phase locking is necessary for conflict serializability </a:t>
            </a:r>
            <a:r>
              <a:rPr lang="en-US" altLang="en-US" i="1" dirty="0"/>
              <a:t>in the following sense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i="1" dirty="0"/>
              <a:t>Given a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that does not follow two-phase locking, we can find a transaction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that uses two-phase locking, and a schedule for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i</a:t>
            </a:r>
            <a:r>
              <a:rPr lang="en-US" altLang="en-US" i="1" dirty="0"/>
              <a:t> and </a:t>
            </a:r>
            <a:r>
              <a:rPr lang="en-US" altLang="en-US" i="1" dirty="0" err="1"/>
              <a:t>T</a:t>
            </a:r>
            <a:r>
              <a:rPr lang="en-US" altLang="en-US" i="1" baseline="-25000" dirty="0" err="1"/>
              <a:t>j</a:t>
            </a:r>
            <a:r>
              <a:rPr lang="en-US" altLang="en-US" i="1" dirty="0"/>
              <a:t> that is not conflict serializable.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30626"/>
            <a:ext cx="7689850" cy="509360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Legal Schedules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92459" y="1102497"/>
            <a:ext cx="6916656" cy="4890089"/>
          </a:xfrm>
        </p:spPr>
        <p:txBody>
          <a:bodyPr/>
          <a:lstStyle/>
          <a:p>
            <a:r>
              <a:rPr lang="en-US" altLang="en-US" dirty="0"/>
              <a:t>Given a locking protocol (such as 2PL)</a:t>
            </a:r>
          </a:p>
          <a:p>
            <a:pPr lvl="1"/>
            <a:r>
              <a:rPr lang="en-US" altLang="en-US" dirty="0"/>
              <a:t>A schedule S is </a:t>
            </a:r>
            <a:r>
              <a:rPr lang="en-US" altLang="en-US" b="1" dirty="0">
                <a:solidFill>
                  <a:srgbClr val="002060"/>
                </a:solidFill>
              </a:rPr>
              <a:t>legal</a:t>
            </a:r>
            <a:r>
              <a:rPr lang="en-US" altLang="en-US" dirty="0"/>
              <a:t> under a locking protocol if it can be generated by a set of transactions that follow the protocol </a:t>
            </a:r>
          </a:p>
          <a:p>
            <a:pPr lvl="1"/>
            <a:r>
              <a:rPr lang="en-US" altLang="en-US" dirty="0"/>
              <a:t>A protocol </a:t>
            </a:r>
            <a:r>
              <a:rPr lang="en-US" altLang="en-US" b="1" dirty="0">
                <a:solidFill>
                  <a:srgbClr val="002060"/>
                </a:solidFill>
              </a:rPr>
              <a:t>ensures</a:t>
            </a:r>
            <a:r>
              <a:rPr lang="en-US" altLang="en-US" dirty="0"/>
              <a:t> serializability if all legal schedules under that protocol are serializable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33601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08854"/>
            <a:ext cx="7689850" cy="509361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Lock Conversions</a:t>
            </a:r>
          </a:p>
        </p:txBody>
      </p:sp>
      <p:sp>
        <p:nvSpPr>
          <p:cNvPr id="14339" name="Rectangle 4"/>
          <p:cNvSpPr>
            <a:spLocks noGrp="1" noChangeArrowheads="1"/>
          </p:cNvSpPr>
          <p:nvPr>
            <p:ph idx="1"/>
          </p:nvPr>
        </p:nvSpPr>
        <p:spPr>
          <a:xfrm>
            <a:off x="692458" y="1102497"/>
            <a:ext cx="8153092" cy="5367972"/>
          </a:xfrm>
          <a:noFill/>
        </p:spPr>
        <p:txBody>
          <a:bodyPr/>
          <a:lstStyle/>
          <a:p>
            <a:r>
              <a:rPr lang="en-US" altLang="en-US" dirty="0"/>
              <a:t>Two-phase locking protocol with lock conversions: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   –   Growing Phase:        </a:t>
            </a:r>
          </a:p>
          <a:p>
            <a:pPr lvl="1"/>
            <a:r>
              <a:rPr lang="en-US" altLang="en-US" dirty="0"/>
              <a:t>Can acquire a lock-S on item</a:t>
            </a:r>
          </a:p>
          <a:p>
            <a:pPr lvl="1"/>
            <a:r>
              <a:rPr lang="en-US" altLang="en-US" dirty="0"/>
              <a:t>Can acquire a lock-X on item</a:t>
            </a:r>
          </a:p>
          <a:p>
            <a:pPr lvl="1"/>
            <a:r>
              <a:rPr lang="en-US" altLang="en-US" dirty="0"/>
              <a:t>Can </a:t>
            </a:r>
            <a:r>
              <a:rPr lang="en-US" altLang="en-US" b="1" dirty="0">
                <a:solidFill>
                  <a:srgbClr val="002060"/>
                </a:solidFill>
              </a:rPr>
              <a:t>convert</a:t>
            </a:r>
            <a:r>
              <a:rPr lang="en-US" altLang="en-US" dirty="0"/>
              <a:t> a lock-S to a lock-X (</a:t>
            </a:r>
            <a:r>
              <a:rPr lang="en-US" altLang="en-US" b="1" dirty="0">
                <a:solidFill>
                  <a:srgbClr val="002060"/>
                </a:solidFill>
              </a:rPr>
              <a:t>upgrade</a:t>
            </a:r>
            <a:r>
              <a:rPr lang="en-US" altLang="en-US" dirty="0"/>
              <a:t>)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   –   Shrinking Phase:</a:t>
            </a:r>
          </a:p>
          <a:p>
            <a:pPr lvl="1"/>
            <a:r>
              <a:rPr lang="en-US" altLang="en-US" dirty="0"/>
              <a:t>Can release a lock-S</a:t>
            </a:r>
          </a:p>
          <a:p>
            <a:pPr lvl="1"/>
            <a:r>
              <a:rPr lang="en-US" altLang="en-US" dirty="0"/>
              <a:t>Can release a lock-X</a:t>
            </a:r>
          </a:p>
          <a:p>
            <a:pPr lvl="1"/>
            <a:r>
              <a:rPr lang="en-US" altLang="en-US" dirty="0"/>
              <a:t>Can convert a lock-X to a lock-S  (</a:t>
            </a:r>
            <a:r>
              <a:rPr lang="en-US" altLang="en-US" b="1" dirty="0">
                <a:solidFill>
                  <a:srgbClr val="002060"/>
                </a:solidFill>
              </a:rPr>
              <a:t>downgrade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This protocol ensures serializability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63283"/>
            <a:ext cx="7689850" cy="476704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2PL Protocol Issues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566802" cy="500735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dirty="0"/>
              <a:t>Possibility of deadlocks (more on deadlocks later)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The 2PL locking protocol ensures serializability if the lock and unlock requests are issued correctly. However: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A user my forget to issue requests all together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A user may </a:t>
            </a:r>
            <a:r>
              <a:rPr lang="en-US" altLang="en-US" b="1" dirty="0"/>
              <a:t>lock</a:t>
            </a:r>
            <a:r>
              <a:rPr lang="en-US" altLang="en-US" dirty="0"/>
              <a:t> and forget to </a:t>
            </a:r>
            <a:r>
              <a:rPr lang="en-US" altLang="en-US" b="1" dirty="0"/>
              <a:t>unlock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A user my issue </a:t>
            </a:r>
            <a:r>
              <a:rPr lang="en-US" altLang="en-US" b="1" dirty="0"/>
              <a:t>unlock-x</a:t>
            </a:r>
            <a:r>
              <a:rPr lang="en-US" altLang="en-US" dirty="0"/>
              <a:t>(A) .. </a:t>
            </a:r>
            <a:r>
              <a:rPr lang="en-US" altLang="en-US" b="1" dirty="0"/>
              <a:t>lock-x(</a:t>
            </a:r>
            <a:r>
              <a:rPr lang="en-US" altLang="en-US" dirty="0"/>
              <a:t>A)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 A user my issue </a:t>
            </a:r>
            <a:r>
              <a:rPr lang="en-US" altLang="en-US" b="1" dirty="0"/>
              <a:t>lock-x</a:t>
            </a:r>
            <a:r>
              <a:rPr lang="en-US" altLang="en-US" dirty="0"/>
              <a:t>(A) .. </a:t>
            </a:r>
            <a:r>
              <a:rPr lang="en-US" altLang="en-US" b="1" dirty="0"/>
              <a:t>lock-x(</a:t>
            </a:r>
            <a:r>
              <a:rPr lang="en-US" altLang="en-US" dirty="0"/>
              <a:t>A)</a:t>
            </a:r>
          </a:p>
          <a:p>
            <a:pPr lvl="1">
              <a:lnSpc>
                <a:spcPct val="110000"/>
              </a:lnSpc>
            </a:pPr>
            <a:r>
              <a:rPr lang="en-US" altLang="en-US" dirty="0"/>
              <a:t>Etc.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If a transaction needs to lock many data items, the overhead is very costly. What should  be the granularity of data items.?</a:t>
            </a:r>
          </a:p>
          <a:p>
            <a:pPr lvl="2">
              <a:lnSpc>
                <a:spcPct val="110000"/>
              </a:lnSpc>
            </a:pPr>
            <a:r>
              <a:rPr lang="en-US" altLang="en-US" dirty="0"/>
              <a:t>Relations</a:t>
            </a:r>
          </a:p>
          <a:p>
            <a:pPr lvl="2">
              <a:lnSpc>
                <a:spcPct val="110000"/>
              </a:lnSpc>
            </a:pPr>
            <a:r>
              <a:rPr lang="en-US" altLang="en-US" dirty="0"/>
              <a:t>Tuples</a:t>
            </a:r>
          </a:p>
          <a:p>
            <a:pPr lvl="2">
              <a:lnSpc>
                <a:spcPct val="110000"/>
              </a:lnSpc>
            </a:pPr>
            <a:r>
              <a:rPr lang="en-US" altLang="en-US" dirty="0"/>
              <a:t>Something else </a:t>
            </a:r>
          </a:p>
        </p:txBody>
      </p:sp>
    </p:spTree>
    <p:extLst>
      <p:ext uri="{BB962C8B-B14F-4D97-AF65-F5344CB8AC3E}">
        <p14:creationId xmlns:p14="http://schemas.microsoft.com/office/powerpoint/2010/main" val="2911873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19741"/>
            <a:ext cx="7689850" cy="531132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Automatic Acquisition of Locks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683581" y="1102497"/>
            <a:ext cx="7284762" cy="5167674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dirty="0"/>
              <a:t>The availability of lock conversion allow us to develop a scheme where the user is not required to issue the lock requests.</a:t>
            </a:r>
          </a:p>
          <a:p>
            <a:pPr>
              <a:lnSpc>
                <a:spcPct val="110000"/>
              </a:lnSpc>
            </a:pPr>
            <a:r>
              <a:rPr lang="en-US" altLang="en-US" dirty="0"/>
              <a:t>A transaction </a:t>
            </a:r>
            <a:r>
              <a:rPr lang="en-US" altLang="en-US" i="1" dirty="0"/>
              <a:t>T</a:t>
            </a:r>
            <a:r>
              <a:rPr lang="en-US" altLang="en-US" baseline="-25000" dirty="0"/>
              <a:t>i</a:t>
            </a:r>
            <a:r>
              <a:rPr lang="en-US" altLang="en-US" dirty="0"/>
              <a:t> issues the standard read/write instruction, without explicit locking calls.</a:t>
            </a:r>
          </a:p>
          <a:p>
            <a:r>
              <a:rPr lang="en-US" altLang="en-US" dirty="0"/>
              <a:t>The operation </a:t>
            </a:r>
            <a:r>
              <a:rPr lang="en-US" altLang="en-US" b="1" dirty="0"/>
              <a:t>read</a:t>
            </a:r>
            <a:r>
              <a:rPr lang="en-US" altLang="en-US" dirty="0"/>
              <a:t>(</a:t>
            </a:r>
            <a:r>
              <a:rPr lang="en-US" altLang="en-US" i="1" dirty="0"/>
              <a:t>D</a:t>
            </a:r>
            <a:r>
              <a:rPr lang="en-US" altLang="en-US" dirty="0"/>
              <a:t>) is processed as: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                    </a:t>
            </a:r>
            <a:r>
              <a:rPr lang="en-US" altLang="en-US" b="1" dirty="0"/>
              <a:t>if</a:t>
            </a:r>
            <a:r>
              <a:rPr lang="en-US" altLang="en-US" dirty="0"/>
              <a:t>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has a lock on </a:t>
            </a:r>
            <a:r>
              <a:rPr lang="en-US" altLang="en-US" i="1" dirty="0"/>
              <a:t>D</a:t>
            </a: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dirty="0"/>
              <a:t>                         </a:t>
            </a:r>
            <a:r>
              <a:rPr lang="en-US" altLang="en-US" b="1" dirty="0"/>
              <a:t>then</a:t>
            </a: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dirty="0"/>
              <a:t>                                read(</a:t>
            </a:r>
            <a:r>
              <a:rPr lang="en-US" altLang="en-US" i="1" dirty="0"/>
              <a:t>D</a:t>
            </a:r>
            <a:r>
              <a:rPr lang="en-US" altLang="en-US" dirty="0"/>
              <a:t>)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altLang="en-US" b="1" dirty="0"/>
              <a:t>                         else begin</a:t>
            </a:r>
            <a:r>
              <a:rPr lang="en-US" altLang="en-US" dirty="0"/>
              <a:t> 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                                 if necessary, wait until no other  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altLang="en-US" dirty="0"/>
              <a:t>                                       transaction has a </a:t>
            </a:r>
            <a:r>
              <a:rPr lang="en-US" altLang="en-US" b="1" dirty="0"/>
              <a:t>lock-X</a:t>
            </a:r>
            <a:r>
              <a:rPr lang="en-US" altLang="en-US" dirty="0"/>
              <a:t> on </a:t>
            </a:r>
            <a:r>
              <a:rPr lang="en-US" altLang="en-US" i="1" dirty="0"/>
              <a:t>D</a:t>
            </a:r>
            <a:endParaRPr lang="en-US" altLang="en-US" dirty="0"/>
          </a:p>
          <a:p>
            <a:pPr>
              <a:lnSpc>
                <a:spcPct val="90000"/>
              </a:lnSpc>
              <a:buFont typeface="Monotype Sorts" charset="2"/>
              <a:buNone/>
            </a:pPr>
            <a:r>
              <a:rPr lang="en-US" altLang="en-US" dirty="0"/>
              <a:t>                                   grant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a </a:t>
            </a:r>
            <a:r>
              <a:rPr lang="en-US" altLang="en-US" b="1" dirty="0"/>
              <a:t> lock-S</a:t>
            </a:r>
            <a:r>
              <a:rPr lang="en-US" altLang="en-US" dirty="0"/>
              <a:t> on </a:t>
            </a:r>
            <a:r>
              <a:rPr lang="en-US" altLang="en-US" i="1" dirty="0"/>
              <a:t>D</a:t>
            </a:r>
            <a:r>
              <a:rPr lang="en-US" altLang="en-US" dirty="0"/>
              <a:t>;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                                 read(</a:t>
            </a:r>
            <a:r>
              <a:rPr lang="en-US" altLang="en-US" i="1" dirty="0"/>
              <a:t>D</a:t>
            </a:r>
            <a:r>
              <a:rPr lang="en-US" altLang="en-US" dirty="0"/>
              <a:t>)</a:t>
            </a:r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en-US" b="1" dirty="0"/>
              <a:t>                                end</a:t>
            </a:r>
            <a:endParaRPr lang="en-US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877210" y="206827"/>
            <a:ext cx="7689850" cy="476703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Automatic Acquisition of Locks (Cont.)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656948" y="1102497"/>
            <a:ext cx="7501631" cy="5367972"/>
          </a:xfrm>
        </p:spPr>
        <p:txBody>
          <a:bodyPr/>
          <a:lstStyle/>
          <a:p>
            <a:r>
              <a:rPr lang="en-US" altLang="en-US" dirty="0"/>
              <a:t>The operation </a:t>
            </a:r>
            <a:r>
              <a:rPr lang="en-US" altLang="en-US" b="1" dirty="0"/>
              <a:t>write</a:t>
            </a:r>
            <a:r>
              <a:rPr lang="en-US" altLang="en-US" i="1" dirty="0"/>
              <a:t>(D)</a:t>
            </a:r>
            <a:r>
              <a:rPr lang="en-US" altLang="en-US" dirty="0"/>
              <a:t> is processed as: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       </a:t>
            </a:r>
            <a:r>
              <a:rPr lang="en-US" altLang="en-US" b="1" dirty="0"/>
              <a:t>if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has a  </a:t>
            </a:r>
            <a:r>
              <a:rPr lang="en-US" altLang="en-US" b="1" dirty="0"/>
              <a:t>lock-X</a:t>
            </a:r>
            <a:r>
              <a:rPr lang="en-US" altLang="en-US" dirty="0"/>
              <a:t> on </a:t>
            </a:r>
            <a:r>
              <a:rPr lang="en-US" altLang="en-US" i="1" dirty="0"/>
              <a:t>D</a:t>
            </a:r>
            <a:r>
              <a:rPr lang="en-US" altLang="en-US" dirty="0"/>
              <a:t> </a:t>
            </a:r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en-US" b="1" dirty="0"/>
              <a:t>           then</a:t>
            </a:r>
            <a:r>
              <a:rPr lang="en-US" altLang="en-US" dirty="0"/>
              <a:t> </a:t>
            </a:r>
          </a:p>
          <a:p>
            <a:pPr>
              <a:lnSpc>
                <a:spcPct val="60000"/>
              </a:lnSpc>
              <a:buFont typeface="Monotype Sorts" charset="2"/>
              <a:buNone/>
            </a:pPr>
            <a:r>
              <a:rPr lang="en-US" altLang="en-US" dirty="0"/>
              <a:t>              write(</a:t>
            </a:r>
            <a:r>
              <a:rPr lang="en-US" altLang="en-US" i="1" dirty="0"/>
              <a:t>D</a:t>
            </a:r>
            <a:r>
              <a:rPr lang="en-US" altLang="en-US" dirty="0"/>
              <a:t>)</a:t>
            </a:r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en-US" dirty="0"/>
              <a:t>          </a:t>
            </a:r>
            <a:r>
              <a:rPr lang="en-US" altLang="en-US" b="1" dirty="0"/>
              <a:t>else begin</a:t>
            </a:r>
            <a:endParaRPr lang="en-US" altLang="en-US" dirty="0"/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altLang="en-US" dirty="0"/>
              <a:t>            if necessary, wait until no other trans. has any lock on </a:t>
            </a:r>
            <a:r>
              <a:rPr lang="en-US" altLang="en-US" i="1" dirty="0"/>
              <a:t>D</a:t>
            </a:r>
            <a:r>
              <a:rPr lang="en-US" altLang="en-US" dirty="0"/>
              <a:t>,</a:t>
            </a:r>
          </a:p>
          <a:p>
            <a:pPr>
              <a:lnSpc>
                <a:spcPct val="80000"/>
              </a:lnSpc>
              <a:buFont typeface="Monotype Sorts" charset="2"/>
              <a:buNone/>
            </a:pPr>
            <a:r>
              <a:rPr lang="en-US" altLang="en-US" dirty="0"/>
              <a:t>            if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has a </a:t>
            </a:r>
            <a:r>
              <a:rPr lang="en-US" altLang="en-US" b="1" dirty="0"/>
              <a:t>lock-S</a:t>
            </a:r>
            <a:r>
              <a:rPr lang="en-US" altLang="en-US" dirty="0"/>
              <a:t> on </a:t>
            </a:r>
            <a:r>
              <a:rPr lang="en-US" altLang="en-US" i="1" dirty="0"/>
              <a:t>D</a:t>
            </a:r>
            <a:endParaRPr lang="en-US" altLang="en-US" dirty="0"/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en-US" b="1" dirty="0"/>
              <a:t>                 then</a:t>
            </a:r>
            <a:endParaRPr lang="en-US" altLang="en-US" dirty="0"/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en-US" b="1" dirty="0"/>
              <a:t>                    upgrade</a:t>
            </a:r>
            <a:r>
              <a:rPr lang="en-US" altLang="en-US" dirty="0"/>
              <a:t> lock on </a:t>
            </a:r>
            <a:r>
              <a:rPr lang="en-US" altLang="en-US" i="1" dirty="0"/>
              <a:t>D</a:t>
            </a:r>
            <a:r>
              <a:rPr lang="en-US" altLang="en-US" dirty="0"/>
              <a:t>  to </a:t>
            </a:r>
            <a:r>
              <a:rPr lang="en-US" altLang="en-US" b="1" dirty="0"/>
              <a:t>lock-X</a:t>
            </a:r>
            <a:endParaRPr lang="en-US" altLang="en-US" dirty="0"/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en-US" b="1" dirty="0"/>
              <a:t>                else</a:t>
            </a:r>
            <a:endParaRPr lang="en-US" altLang="en-US" dirty="0"/>
          </a:p>
          <a:p>
            <a:pPr>
              <a:lnSpc>
                <a:spcPct val="70000"/>
              </a:lnSpc>
              <a:buFont typeface="Monotype Sorts" charset="2"/>
              <a:buNone/>
            </a:pPr>
            <a:r>
              <a:rPr lang="en-US" altLang="en-US" dirty="0"/>
              <a:t>                    grant </a:t>
            </a:r>
            <a:r>
              <a:rPr lang="en-US" altLang="en-US" i="1" dirty="0"/>
              <a:t>T</a:t>
            </a:r>
            <a:r>
              <a:rPr lang="en-US" altLang="en-US" i="1" baseline="-25000" dirty="0"/>
              <a:t>i</a:t>
            </a:r>
            <a:r>
              <a:rPr lang="en-US" altLang="en-US" dirty="0"/>
              <a:t> a </a:t>
            </a:r>
            <a:r>
              <a:rPr lang="en-US" altLang="en-US" b="1" dirty="0"/>
              <a:t>lock-X</a:t>
            </a:r>
            <a:r>
              <a:rPr lang="en-US" altLang="en-US" dirty="0"/>
              <a:t> on </a:t>
            </a:r>
            <a:r>
              <a:rPr lang="en-US" altLang="en-US" i="1" dirty="0"/>
              <a:t>D</a:t>
            </a:r>
            <a:endParaRPr lang="en-US" altLang="en-US" dirty="0"/>
          </a:p>
          <a:p>
            <a:pPr>
              <a:buFont typeface="Monotype Sorts" charset="2"/>
              <a:buNone/>
            </a:pPr>
            <a:r>
              <a:rPr lang="en-US" altLang="en-US" dirty="0"/>
              <a:t>                write(</a:t>
            </a:r>
            <a:r>
              <a:rPr lang="en-US" altLang="en-US" i="1" dirty="0"/>
              <a:t>D</a:t>
            </a:r>
            <a:r>
              <a:rPr lang="en-US" altLang="en-US" dirty="0"/>
              <a:t>)</a:t>
            </a:r>
          </a:p>
          <a:p>
            <a:pPr>
              <a:lnSpc>
                <a:spcPct val="50000"/>
              </a:lnSpc>
              <a:buFont typeface="Monotype Sorts" charset="2"/>
              <a:buNone/>
            </a:pPr>
            <a:r>
              <a:rPr lang="en-US" altLang="en-US" b="1" dirty="0"/>
              <a:t>         end</a:t>
            </a:r>
            <a:r>
              <a:rPr lang="en-US" altLang="en-US" dirty="0"/>
              <a:t>;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b="1" dirty="0"/>
              <a:t>All locks are released after commit or abort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130625"/>
            <a:ext cx="7689850" cy="509361"/>
          </a:xfrm>
        </p:spPr>
        <p:txBody>
          <a:bodyPr/>
          <a:lstStyle/>
          <a:p>
            <a:pPr>
              <a:defRPr/>
            </a:pPr>
            <a:r>
              <a:rPr 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Implementation of Locking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692459" y="1102497"/>
            <a:ext cx="7145256" cy="5004389"/>
          </a:xfrm>
        </p:spPr>
        <p:txBody>
          <a:bodyPr/>
          <a:lstStyle/>
          <a:p>
            <a:r>
              <a:rPr lang="en-US" altLang="en-US" dirty="0"/>
              <a:t>A</a:t>
            </a:r>
            <a:r>
              <a:rPr lang="en-US" altLang="en-US" b="1" dirty="0">
                <a:solidFill>
                  <a:schemeClr val="tx2"/>
                </a:solidFill>
              </a:rPr>
              <a:t> </a:t>
            </a:r>
            <a:r>
              <a:rPr lang="en-US" altLang="en-US" b="1" dirty="0">
                <a:solidFill>
                  <a:srgbClr val="002060"/>
                </a:solidFill>
              </a:rPr>
              <a:t>lock manager </a:t>
            </a:r>
            <a:r>
              <a:rPr lang="en-US" altLang="en-US" dirty="0"/>
              <a:t>can be implemented as a separate process </a:t>
            </a:r>
          </a:p>
          <a:p>
            <a:r>
              <a:rPr lang="en-US" altLang="en-US" dirty="0"/>
              <a:t>Transactions can send lock and unlock requests as messages</a:t>
            </a:r>
          </a:p>
          <a:p>
            <a:r>
              <a:rPr lang="en-US" altLang="en-US" dirty="0"/>
              <a:t>The lock manager replies to a lock request by sending a lock grant messages (or a message asking the transaction to roll back, in case of  a deadlock)</a:t>
            </a:r>
          </a:p>
          <a:p>
            <a:pPr lvl="1"/>
            <a:r>
              <a:rPr lang="en-US" altLang="en-US" dirty="0"/>
              <a:t>The requesting transaction waits until its request is answered</a:t>
            </a:r>
          </a:p>
          <a:p>
            <a:r>
              <a:rPr lang="en-US" altLang="en-US" dirty="0"/>
              <a:t>The lock manager maintains an in-memory data-structure called a </a:t>
            </a:r>
            <a:r>
              <a:rPr lang="en-US" altLang="en-US" b="1" dirty="0">
                <a:solidFill>
                  <a:srgbClr val="002060"/>
                </a:solidFill>
              </a:rPr>
              <a:t>lock table </a:t>
            </a:r>
            <a:r>
              <a:rPr lang="en-US" altLang="en-US" dirty="0"/>
              <a:t>to record granted locks and pending requests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97969"/>
            <a:ext cx="7689850" cy="542018"/>
          </a:xfrm>
        </p:spPr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Lock Table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4169226" y="923278"/>
            <a:ext cx="4676324" cy="5363222"/>
          </a:xfrm>
          <a:noFill/>
        </p:spPr>
        <p:txBody>
          <a:bodyPr/>
          <a:lstStyle/>
          <a:p>
            <a:r>
              <a:rPr lang="en-US" altLang="en-US" dirty="0"/>
              <a:t>Data items I4, I7, I23, I44, I912</a:t>
            </a:r>
          </a:p>
          <a:p>
            <a:r>
              <a:rPr lang="en-US" altLang="en-US" dirty="0"/>
              <a:t>Dark rectangles indicate granted locks, light colored ones indicate waiting requests</a:t>
            </a:r>
          </a:p>
          <a:p>
            <a:r>
              <a:rPr lang="en-US" altLang="en-US" dirty="0"/>
              <a:t>Lock table also records the type of lock granted or requested</a:t>
            </a:r>
          </a:p>
          <a:p>
            <a:r>
              <a:rPr lang="en-US" altLang="en-US" dirty="0"/>
              <a:t>New request is added to the end of the queue of requests for the data item, and granted if it is compatible with all earlier locks</a:t>
            </a:r>
          </a:p>
          <a:p>
            <a:r>
              <a:rPr lang="en-US" altLang="en-US" dirty="0"/>
              <a:t>Unlock requests result in the request being deleted, and later requests are checked to see if they can now be granted</a:t>
            </a:r>
          </a:p>
          <a:p>
            <a:r>
              <a:rPr lang="en-US" altLang="en-US" dirty="0"/>
              <a:t>If transaction aborts, all waiting or granted requests of the transaction are deleted </a:t>
            </a:r>
          </a:p>
          <a:p>
            <a:pPr lvl="1"/>
            <a:r>
              <a:rPr lang="en-US" altLang="en-US" dirty="0"/>
              <a:t>Lock manager may keep a list of locks held by each transaction, to implement this efficiently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837BC0C-40AC-4932-83F0-8E305F276E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9485" y="979710"/>
            <a:ext cx="3569598" cy="50994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102706</TotalTime>
  <Words>1223</Words>
  <Application>Microsoft Office PowerPoint</Application>
  <PresentationFormat>On-screen Show (4:3)</PresentationFormat>
  <Paragraphs>151</Paragraphs>
  <Slides>17</Slides>
  <Notes>16</Notes>
  <HiddenSlides>1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  <vt:variant>
        <vt:lpstr>Custom Shows</vt:lpstr>
      </vt:variant>
      <vt:variant>
        <vt:i4>1</vt:i4>
      </vt:variant>
    </vt:vector>
  </HeadingPairs>
  <TitlesOfParts>
    <vt:vector size="25" baseType="lpstr">
      <vt:lpstr>Arial</vt:lpstr>
      <vt:lpstr>Helvetica</vt:lpstr>
      <vt:lpstr>Monotype Sorts</vt:lpstr>
      <vt:lpstr>Times New Roman</vt:lpstr>
      <vt:lpstr>Webdings</vt:lpstr>
      <vt:lpstr>Wingdings</vt:lpstr>
      <vt:lpstr>2_db-5-grey</vt:lpstr>
      <vt:lpstr>Chapter 18: Concurrency Control </vt:lpstr>
      <vt:lpstr>Outline</vt:lpstr>
      <vt:lpstr>Lock-Based Protocols </vt:lpstr>
      <vt:lpstr>Locking</vt:lpstr>
      <vt:lpstr>Lock Compatibility </vt:lpstr>
      <vt:lpstr>Locking Example</vt:lpstr>
      <vt:lpstr>Locking Protocols</vt:lpstr>
      <vt:lpstr>The Two-Phase Locking Protocol (2PL)</vt:lpstr>
      <vt:lpstr>The Two-Phase Locking Protocol (Cont.)</vt:lpstr>
      <vt:lpstr>The Two-Phase Locking Protocol (Cont.)</vt:lpstr>
      <vt:lpstr>Legal Schedules</vt:lpstr>
      <vt:lpstr>Lock Conversions</vt:lpstr>
      <vt:lpstr>2PL Protocol Issues</vt:lpstr>
      <vt:lpstr>Automatic Acquisition of Locks</vt:lpstr>
      <vt:lpstr>Automatic Acquisition of Locks (Cont.)</vt:lpstr>
      <vt:lpstr>Implementation of Locking</vt:lpstr>
      <vt:lpstr>Lock Table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Mayank Agarwal</cp:lastModifiedBy>
  <cp:revision>554</cp:revision>
  <cp:lastPrinted>1999-06-28T19:27:31Z</cp:lastPrinted>
  <dcterms:created xsi:type="dcterms:W3CDTF">2009-12-21T15:40:22Z</dcterms:created>
  <dcterms:modified xsi:type="dcterms:W3CDTF">2024-04-17T07:19:11Z</dcterms:modified>
</cp:coreProperties>
</file>