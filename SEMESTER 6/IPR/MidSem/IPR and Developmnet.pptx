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61" r:id="rId4"/>
    <p:sldId id="317" r:id="rId5"/>
    <p:sldId id="283" r:id="rId6"/>
    <p:sldId id="308" r:id="rId7"/>
    <p:sldId id="309" r:id="rId8"/>
    <p:sldId id="305" r:id="rId9"/>
    <p:sldId id="316" r:id="rId10"/>
    <p:sldId id="303" r:id="rId11"/>
    <p:sldId id="301" r:id="rId12"/>
    <p:sldId id="298" r:id="rId13"/>
    <p:sldId id="295" r:id="rId14"/>
    <p:sldId id="290" r:id="rId15"/>
    <p:sldId id="300" r:id="rId16"/>
    <p:sldId id="315" r:id="rId17"/>
    <p:sldId id="312" r:id="rId18"/>
    <p:sldId id="314" r:id="rId19"/>
    <p:sldId id="286" r:id="rId20"/>
    <p:sldId id="287" r:id="rId21"/>
    <p:sldId id="292" r:id="rId22"/>
    <p:sldId id="282" r:id="rId23"/>
    <p:sldId id="304" r:id="rId24"/>
    <p:sldId id="302" r:id="rId25"/>
    <p:sldId id="277" r:id="rId26"/>
    <p:sldId id="260" r:id="rId27"/>
    <p:sldId id="279" r:id="rId28"/>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96" autoAdjust="0"/>
    <p:restoredTop sz="94660"/>
  </p:normalViewPr>
  <p:slideViewPr>
    <p:cSldViewPr>
      <p:cViewPr varScale="1">
        <p:scale>
          <a:sx n="142" d="100"/>
          <a:sy n="142" d="100"/>
        </p:scale>
        <p:origin x="720" y="114"/>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5029200"/>
            <a:ext cx="9144000" cy="1143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2286"/>
            <a:ext cx="152400" cy="51435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51435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88595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46304" y="4793743"/>
            <a:ext cx="8833104" cy="23217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ubtitle 8"/>
          <p:cNvSpPr>
            <a:spLocks noGrp="1"/>
          </p:cNvSpPr>
          <p:nvPr>
            <p:ph type="subTitle" idx="1"/>
          </p:nvPr>
        </p:nvSpPr>
        <p:spPr>
          <a:xfrm>
            <a:off x="1371600" y="2114550"/>
            <a:ext cx="6400800" cy="131445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1D8BD707-D9CF-40AE-B4C6-C98DA3205C09}" type="datetimeFigureOut">
              <a:rPr lang="en-US" smtClean="0"/>
              <a:pPr/>
              <a:t>4/7/2025</a:t>
            </a:fld>
            <a:endParaRPr lang="en-US"/>
          </a:p>
        </p:txBody>
      </p:sp>
      <p:sp>
        <p:nvSpPr>
          <p:cNvPr id="17" name="Footer Placeholder 16"/>
          <p:cNvSpPr>
            <a:spLocks noGrp="1"/>
          </p:cNvSpPr>
          <p:nvPr>
            <p:ph type="ftr" sz="quarter" idx="11"/>
          </p:nvPr>
        </p:nvSpPr>
        <p:spPr/>
        <p:txBody>
          <a:bodyPr/>
          <a:lstStyle/>
          <a:p>
            <a:endParaRPr lang="en-US"/>
          </a:p>
        </p:txBody>
      </p:sp>
      <p:sp>
        <p:nvSpPr>
          <p:cNvPr id="7" name="Straight Connector 6"/>
          <p:cNvSpPr>
            <a:spLocks noChangeShapeType="1"/>
          </p:cNvSpPr>
          <p:nvPr/>
        </p:nvSpPr>
        <p:spPr bwMode="auto">
          <a:xfrm>
            <a:off x="155448" y="1815084"/>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14300"/>
            <a:ext cx="8833104" cy="4910328"/>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Oval 12"/>
          <p:cNvSpPr/>
          <p:nvPr/>
        </p:nvSpPr>
        <p:spPr>
          <a:xfrm>
            <a:off x="4267200" y="1586484"/>
            <a:ext cx="609600" cy="4572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Oval 13"/>
          <p:cNvSpPr/>
          <p:nvPr/>
        </p:nvSpPr>
        <p:spPr>
          <a:xfrm>
            <a:off x="4361688" y="1657350"/>
            <a:ext cx="420624" cy="315468"/>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Slide Number Placeholder 28"/>
          <p:cNvSpPr>
            <a:spLocks noGrp="1"/>
          </p:cNvSpPr>
          <p:nvPr>
            <p:ph type="sldNum" sz="quarter" idx="12"/>
          </p:nvPr>
        </p:nvSpPr>
        <p:spPr>
          <a:xfrm>
            <a:off x="4343400" y="1649588"/>
            <a:ext cx="457200" cy="330994"/>
          </a:xfrm>
        </p:spPr>
        <p:txBody>
          <a:bodyPr/>
          <a:lstStyle>
            <a:lvl1pPr>
              <a:defRPr>
                <a:solidFill>
                  <a:schemeClr val="accent3">
                    <a:shade val="75000"/>
                  </a:schemeClr>
                </a:solidFill>
              </a:defRPr>
            </a:lvl1pPr>
          </a:lstStyle>
          <a:p>
            <a:fld id="{B6F15528-21DE-4FAA-801E-634DDDAF4B2B}" type="slidenum">
              <a:rPr lang="en-US" smtClean="0"/>
              <a:pPr/>
              <a:t>‹#›</a:t>
            </a:fld>
            <a:endParaRPr lang="en-US"/>
          </a:p>
        </p:txBody>
      </p:sp>
      <p:sp>
        <p:nvSpPr>
          <p:cNvPr id="8" name="Title 7"/>
          <p:cNvSpPr>
            <a:spLocks noGrp="1"/>
          </p:cNvSpPr>
          <p:nvPr>
            <p:ph type="ctrTitle"/>
          </p:nvPr>
        </p:nvSpPr>
        <p:spPr>
          <a:xfrm>
            <a:off x="685800" y="285750"/>
            <a:ext cx="7772400" cy="1314450"/>
          </a:xfrm>
        </p:spPr>
        <p:txBody>
          <a:bodyPr anchor="b"/>
          <a:lstStyle>
            <a:lvl1pPr>
              <a:defRPr sz="4200">
                <a:solidFill>
                  <a:schemeClr val="accent1"/>
                </a:solidFill>
              </a:defRPr>
            </a:lvl1pPr>
          </a:lstStyle>
          <a:p>
            <a:r>
              <a:rPr kumimoji="0" lang="en-US"/>
              <a:t>Click to edit Master 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a:t>Click to edit Master 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361688" y="769779"/>
            <a:ext cx="457200" cy="330994"/>
          </a:xfrm>
        </p:spPr>
        <p:txBody>
          <a:body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301752" y="1145286"/>
            <a:ext cx="8503920" cy="3429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51435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5029200"/>
            <a:ext cx="9144000" cy="1143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143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14288"/>
            <a:ext cx="152400" cy="51435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52400" y="1714500"/>
            <a:ext cx="8833104" cy="228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5448" y="106764"/>
            <a:ext cx="8833104" cy="1604772"/>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1368426" y="2057400"/>
            <a:ext cx="6480174" cy="1254919"/>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13" name="Rectangle 12"/>
          <p:cNvSpPr>
            <a:spLocks noChangeArrowheads="1"/>
          </p:cNvSpPr>
          <p:nvPr/>
        </p:nvSpPr>
        <p:spPr bwMode="auto">
          <a:xfrm>
            <a:off x="146304" y="4793743"/>
            <a:ext cx="8833104" cy="23217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52400" y="114300"/>
            <a:ext cx="8833104" cy="4910328"/>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4/7/2025</a:t>
            </a:fld>
            <a:endParaRPr lang="en-US"/>
          </a:p>
        </p:txBody>
      </p:sp>
      <p:sp>
        <p:nvSpPr>
          <p:cNvPr id="8" name="Straight Connector 7"/>
          <p:cNvSpPr>
            <a:spLocks noChangeShapeType="1"/>
          </p:cNvSpPr>
          <p:nvPr/>
        </p:nvSpPr>
        <p:spPr bwMode="auto">
          <a:xfrm>
            <a:off x="152400" y="18288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Oval 9"/>
          <p:cNvSpPr/>
          <p:nvPr/>
        </p:nvSpPr>
        <p:spPr>
          <a:xfrm>
            <a:off x="4267200" y="1586484"/>
            <a:ext cx="609600" cy="4572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4361688" y="1657350"/>
            <a:ext cx="420624" cy="315468"/>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4343400" y="1649588"/>
            <a:ext cx="457200" cy="330994"/>
          </a:xfrm>
        </p:spPr>
        <p:txBody>
          <a:bodyPr/>
          <a:lstStyle>
            <a:lvl1pPr>
              <a:defRPr>
                <a:solidFill>
                  <a:schemeClr val="accent3">
                    <a:shade val="75000"/>
                  </a:schemeClr>
                </a:solidFill>
              </a:defRPr>
            </a:lvl1pPr>
          </a:lstStyle>
          <a:p>
            <a:fld id="{B6F15528-21DE-4FAA-801E-634DDDAF4B2B}" type="slidenum">
              <a:rPr lang="en-US" smtClean="0"/>
              <a:pPr/>
              <a:t>‹#›</a:t>
            </a:fld>
            <a:endParaRPr lang="en-US"/>
          </a:p>
        </p:txBody>
      </p:sp>
      <p:sp>
        <p:nvSpPr>
          <p:cNvPr id="2" name="Title 1"/>
          <p:cNvSpPr>
            <a:spLocks noGrp="1"/>
          </p:cNvSpPr>
          <p:nvPr>
            <p:ph type="title"/>
          </p:nvPr>
        </p:nvSpPr>
        <p:spPr>
          <a:xfrm>
            <a:off x="722313" y="400050"/>
            <a:ext cx="7772400" cy="1143000"/>
          </a:xfrm>
        </p:spPr>
        <p:txBody>
          <a:bodyPr anchor="b"/>
          <a:lstStyle>
            <a:lvl1pPr algn="ctr">
              <a:buNone/>
              <a:defRPr sz="4200" b="0" cap="none" baseline="0">
                <a:solidFill>
                  <a:srgbClr val="FFFFFF"/>
                </a:solidFill>
              </a:defRPr>
            </a:lvl1pPr>
          </a:lstStyle>
          <a:p>
            <a:r>
              <a:rPr kumimoji="0" lang="en-US"/>
              <a:t>Click to edit Master title style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01752" y="171450"/>
            <a:ext cx="8534400" cy="569214"/>
          </a:xfrm>
        </p:spPr>
        <p:txBody>
          <a:bodyPr/>
          <a:lstStyle/>
          <a:p>
            <a:r>
              <a:rPr kumimoji="0" lang="en-US"/>
              <a:t>Click to edit Master title style</a:t>
            </a:r>
          </a:p>
        </p:txBody>
      </p:sp>
      <p:sp>
        <p:nvSpPr>
          <p:cNvPr id="5" name="Date Placeholder 4"/>
          <p:cNvSpPr>
            <a:spLocks noGrp="1"/>
          </p:cNvSpPr>
          <p:nvPr>
            <p:ph type="dt" sz="half" idx="10"/>
          </p:nvPr>
        </p:nvSpPr>
        <p:spPr>
          <a:xfrm>
            <a:off x="5791200" y="4807458"/>
            <a:ext cx="3044952" cy="274320"/>
          </a:xfrm>
        </p:spPr>
        <p:txBody>
          <a:bodyPr/>
          <a:lstStyle/>
          <a:p>
            <a:fld id="{1D8BD707-D9CF-40AE-B4C6-C98DA3205C09}" type="datetimeFigureOut">
              <a:rPr lang="en-US" smtClean="0"/>
              <a:pPr/>
              <a:t>4/7/2025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Straight Connector 7"/>
          <p:cNvSpPr>
            <a:spLocks noChangeShapeType="1"/>
          </p:cNvSpPr>
          <p:nvPr/>
        </p:nvSpPr>
        <p:spPr bwMode="auto">
          <a:xfrm flipV="1">
            <a:off x="4563081" y="1181739"/>
            <a:ext cx="8921" cy="3614668"/>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Content Placeholder 9"/>
          <p:cNvSpPr>
            <a:spLocks noGrp="1"/>
          </p:cNvSpPr>
          <p:nvPr>
            <p:ph sz="half" idx="1"/>
          </p:nvPr>
        </p:nvSpPr>
        <p:spPr>
          <a:xfrm>
            <a:off x="301752" y="1028700"/>
            <a:ext cx="4038600" cy="3511296"/>
          </a:xfrm>
        </p:spPr>
        <p:txBody>
          <a:bodyPr/>
          <a:lstStyle>
            <a:lvl1pPr>
              <a:defRPr sz="2500"/>
            </a:lvl1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Content Placeholder 11"/>
          <p:cNvSpPr>
            <a:spLocks noGrp="1"/>
          </p:cNvSpPr>
          <p:nvPr>
            <p:ph sz="half" idx="2"/>
          </p:nvPr>
        </p:nvSpPr>
        <p:spPr>
          <a:xfrm>
            <a:off x="4800600" y="1028700"/>
            <a:ext cx="4038600" cy="3511296"/>
          </a:xfrm>
        </p:spPr>
        <p:txBody>
          <a:bodyPr/>
          <a:lstStyle>
            <a:lvl1pPr>
              <a:defRPr sz="2500"/>
            </a:lvl1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4572000" y="1650206"/>
            <a:ext cx="0" cy="3140964"/>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9144000" cy="108585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5029200"/>
            <a:ext cx="9144000" cy="1143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52400" cy="51435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8991600" y="0"/>
            <a:ext cx="152400" cy="51435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52400" y="1028700"/>
            <a:ext cx="8833104" cy="6858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45923" y="4793742"/>
            <a:ext cx="8833104" cy="23317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301752" y="1143000"/>
            <a:ext cx="4040188" cy="549731"/>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791331" y="1143000"/>
            <a:ext cx="4041775" cy="54864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1D8BD707-D9CF-40AE-B4C6-C98DA3205C09}" type="datetimeFigureOut">
              <a:rPr lang="en-US" smtClean="0"/>
              <a:pPr/>
              <a:t>4/7/2025</a:t>
            </a:fld>
            <a:endParaRPr lang="en-US"/>
          </a:p>
        </p:txBody>
      </p:sp>
      <p:sp>
        <p:nvSpPr>
          <p:cNvPr id="8" name="Footer Placeholder 7"/>
          <p:cNvSpPr>
            <a:spLocks noGrp="1"/>
          </p:cNvSpPr>
          <p:nvPr>
            <p:ph type="ftr" sz="quarter" idx="11"/>
          </p:nvPr>
        </p:nvSpPr>
        <p:spPr>
          <a:xfrm>
            <a:off x="304800" y="4807458"/>
            <a:ext cx="3581400" cy="274320"/>
          </a:xfrm>
        </p:spPr>
        <p:txBody>
          <a:bodyPr/>
          <a:lstStyle/>
          <a:p>
            <a:endParaRPr lang="en-US"/>
          </a:p>
        </p:txBody>
      </p:sp>
      <p:sp>
        <p:nvSpPr>
          <p:cNvPr id="15" name="Straight Connector 14"/>
          <p:cNvSpPr>
            <a:spLocks noChangeShapeType="1"/>
          </p:cNvSpPr>
          <p:nvPr/>
        </p:nvSpPr>
        <p:spPr bwMode="auto">
          <a:xfrm>
            <a:off x="152400" y="96012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52400" y="116586"/>
            <a:ext cx="8833104" cy="4910328"/>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Content Placeholder 23"/>
          <p:cNvSpPr>
            <a:spLocks noGrp="1"/>
          </p:cNvSpPr>
          <p:nvPr>
            <p:ph sz="quarter" idx="2"/>
          </p:nvPr>
        </p:nvSpPr>
        <p:spPr>
          <a:xfrm>
            <a:off x="301752" y="1853537"/>
            <a:ext cx="4041648" cy="2863803"/>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6" name="Content Placeholder 25"/>
          <p:cNvSpPr>
            <a:spLocks noGrp="1"/>
          </p:cNvSpPr>
          <p:nvPr>
            <p:ph sz="quarter" idx="4"/>
          </p:nvPr>
        </p:nvSpPr>
        <p:spPr>
          <a:xfrm>
            <a:off x="4800600" y="1853537"/>
            <a:ext cx="4038600" cy="2866644"/>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5" name="Oval 24"/>
          <p:cNvSpPr/>
          <p:nvPr/>
        </p:nvSpPr>
        <p:spPr>
          <a:xfrm>
            <a:off x="4267200" y="717027"/>
            <a:ext cx="609600" cy="4572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Oval 26"/>
          <p:cNvSpPr/>
          <p:nvPr/>
        </p:nvSpPr>
        <p:spPr>
          <a:xfrm>
            <a:off x="4361688" y="787893"/>
            <a:ext cx="420624" cy="315468"/>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lide Number Placeholder 8"/>
          <p:cNvSpPr>
            <a:spLocks noGrp="1"/>
          </p:cNvSpPr>
          <p:nvPr>
            <p:ph type="sldNum" sz="quarter" idx="12"/>
          </p:nvPr>
        </p:nvSpPr>
        <p:spPr>
          <a:xfrm>
            <a:off x="4343400" y="781812"/>
            <a:ext cx="457200" cy="330994"/>
          </a:xfrm>
        </p:spPr>
        <p:txBody>
          <a:bodyPr/>
          <a:lstStyle>
            <a:lvl1pPr algn="ctr">
              <a:defRPr/>
            </a:lvl1pPr>
          </a:lstStyle>
          <a:p>
            <a:fld id="{B6F15528-21DE-4FAA-801E-634DDDAF4B2B}" type="slidenum">
              <a:rPr lang="en-US" smtClean="0"/>
              <a:pPr/>
              <a:t>‹#›</a:t>
            </a:fld>
            <a:endParaRPr lang="en-US"/>
          </a:p>
        </p:txBody>
      </p:sp>
      <p:sp>
        <p:nvSpPr>
          <p:cNvPr id="23" name="Title 22"/>
          <p:cNvSpPr>
            <a:spLocks noGrp="1"/>
          </p:cNvSpPr>
          <p:nvPr>
            <p:ph type="title"/>
          </p:nvPr>
        </p:nvSpPr>
        <p:spPr/>
        <p:txBody>
          <a:bodyPr rtlCol="0" anchor="b" anchorCtr="0"/>
          <a:lstStyle/>
          <a:p>
            <a:r>
              <a:rPr kumimoji="0" lang="en-US"/>
              <a:t>Click to edit Master title style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4343400" y="777015"/>
            <a:ext cx="457200" cy="330994"/>
          </a:xfrm>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5029200"/>
            <a:ext cx="9144000" cy="1143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9144000" cy="116586"/>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51435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51435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46304" y="4793743"/>
            <a:ext cx="8833104" cy="23217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18872"/>
            <a:ext cx="8833104" cy="4910328"/>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Date Placeholder 1"/>
          <p:cNvSpPr>
            <a:spLocks noGrp="1"/>
          </p:cNvSpPr>
          <p:nvPr>
            <p:ph type="dt" sz="half" idx="10"/>
          </p:nvPr>
        </p:nvSpPr>
        <p:spPr/>
        <p:txBody>
          <a:bodyPr/>
          <a:lstStyle/>
          <a:p>
            <a:fld id="{1D8BD707-D9CF-40AE-B4C6-C98DA3205C09}" type="datetimeFigureOut">
              <a:rPr lang="en-US" smtClean="0"/>
              <a:pPr/>
              <a:t>4/7/2025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4267200" y="4743450"/>
            <a:ext cx="609600" cy="330993"/>
          </a:xfrm>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14300"/>
            <a:ext cx="8833104" cy="2286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5029200"/>
            <a:ext cx="9144000" cy="1143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0"/>
            <a:ext cx="152400" cy="51435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89154"/>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52400" cy="51435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52400" y="457200"/>
            <a:ext cx="2743200" cy="440055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381000" y="685800"/>
            <a:ext cx="2362200" cy="742950"/>
          </a:xfrm>
        </p:spPr>
        <p:txBody>
          <a:bodyPr anchor="b">
            <a:noAutofit/>
          </a:bodyPr>
          <a:lstStyle>
            <a:lvl1pPr algn="l">
              <a:buNone/>
              <a:defRPr sz="2200" b="1">
                <a:solidFill>
                  <a:srgbClr val="FFFFFF"/>
                </a:solidFill>
              </a:defRPr>
            </a:lvl1pPr>
          </a:lstStyle>
          <a:p>
            <a:r>
              <a:rPr kumimoji="0" lang="en-US"/>
              <a:t>Click to edit Master title style</a:t>
            </a:r>
          </a:p>
        </p:txBody>
      </p:sp>
      <p:sp>
        <p:nvSpPr>
          <p:cNvPr id="3" name="Text Placeholder 2"/>
          <p:cNvSpPr>
            <a:spLocks noGrp="1"/>
          </p:cNvSpPr>
          <p:nvPr>
            <p:ph type="body" idx="2"/>
          </p:nvPr>
        </p:nvSpPr>
        <p:spPr>
          <a:xfrm>
            <a:off x="381000" y="1485901"/>
            <a:ext cx="2362200" cy="3108722"/>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Rectangle 7"/>
          <p:cNvSpPr>
            <a:spLocks noChangeArrowheads="1"/>
          </p:cNvSpPr>
          <p:nvPr/>
        </p:nvSpPr>
        <p:spPr bwMode="auto">
          <a:xfrm>
            <a:off x="152400" y="114300"/>
            <a:ext cx="8833104" cy="4910328"/>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Straight Connector 8"/>
          <p:cNvSpPr>
            <a:spLocks noChangeShapeType="1"/>
          </p:cNvSpPr>
          <p:nvPr/>
        </p:nvSpPr>
        <p:spPr bwMode="auto">
          <a:xfrm>
            <a:off x="152400" y="40005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Content Placeholder 19"/>
          <p:cNvSpPr>
            <a:spLocks noGrp="1"/>
          </p:cNvSpPr>
          <p:nvPr>
            <p:ph sz="quarter" idx="1"/>
          </p:nvPr>
        </p:nvSpPr>
        <p:spPr>
          <a:xfrm>
            <a:off x="3124200" y="514350"/>
            <a:ext cx="5638800" cy="405765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Oval 9"/>
          <p:cNvSpPr/>
          <p:nvPr/>
        </p:nvSpPr>
        <p:spPr>
          <a:xfrm>
            <a:off x="1295400" y="171450"/>
            <a:ext cx="609600" cy="4572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1389888" y="242316"/>
            <a:ext cx="420624" cy="315468"/>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234554"/>
            <a:ext cx="457200" cy="330994"/>
          </a:xfrm>
        </p:spPr>
        <p:txBody>
          <a:bodyPr/>
          <a:lstStyle>
            <a:lvl1pPr>
              <a:defRPr>
                <a:solidFill>
                  <a:schemeClr val="accent3">
                    <a:shade val="75000"/>
                  </a:schemeClr>
                </a:solidFill>
              </a:defRPr>
            </a:lvl1pPr>
          </a:lstStyle>
          <a:p>
            <a:fld id="{B6F15528-21DE-4FAA-801E-634DDDAF4B2B}" type="slidenum">
              <a:rPr lang="en-US" smtClean="0"/>
              <a:pPr/>
              <a:t>‹#›</a:t>
            </a:fld>
            <a:endParaRPr lang="en-US"/>
          </a:p>
        </p:txBody>
      </p:sp>
      <p:sp>
        <p:nvSpPr>
          <p:cNvPr id="21" name="Rectangle 20"/>
          <p:cNvSpPr>
            <a:spLocks noChangeArrowheads="1"/>
          </p:cNvSpPr>
          <p:nvPr/>
        </p:nvSpPr>
        <p:spPr bwMode="auto">
          <a:xfrm>
            <a:off x="149352" y="4791289"/>
            <a:ext cx="8833104" cy="23217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4/7/2025</a:t>
            </a:fld>
            <a:endParaRPr lang="en-US"/>
          </a:p>
        </p:txBody>
      </p:sp>
      <p:sp>
        <p:nvSpPr>
          <p:cNvPr id="6" name="Footer Placeholder 5"/>
          <p:cNvSpPr>
            <a:spLocks noGrp="1"/>
          </p:cNvSpPr>
          <p:nvPr>
            <p:ph type="ftr" sz="quarter" idx="11"/>
          </p:nvPr>
        </p:nvSpPr>
        <p:spPr>
          <a:xfrm>
            <a:off x="301752" y="4808136"/>
            <a:ext cx="3383280" cy="274320"/>
          </a:xfrm>
        </p:spPr>
        <p:txBody>
          <a:bodyPr/>
          <a:lstStyle/>
          <a:p>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152400" y="40005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5029200"/>
            <a:ext cx="9144000" cy="1143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8991600" y="0"/>
            <a:ext cx="152400" cy="51435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9144000" cy="1143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51435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52400" y="114300"/>
            <a:ext cx="8833104" cy="226314"/>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52400" y="457200"/>
            <a:ext cx="2743200" cy="440055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52400" y="116586"/>
            <a:ext cx="8833104" cy="4910328"/>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Oval 11"/>
          <p:cNvSpPr/>
          <p:nvPr/>
        </p:nvSpPr>
        <p:spPr>
          <a:xfrm>
            <a:off x="1295400" y="171450"/>
            <a:ext cx="609600" cy="4572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Oval 12"/>
          <p:cNvSpPr/>
          <p:nvPr/>
        </p:nvSpPr>
        <p:spPr>
          <a:xfrm>
            <a:off x="1389888" y="242316"/>
            <a:ext cx="420624" cy="315468"/>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234554"/>
            <a:ext cx="457200" cy="330994"/>
          </a:xfrm>
        </p:spPr>
        <p:txBody>
          <a:bodyPr/>
          <a:lstStyle/>
          <a:p>
            <a:fld id="{B6F15528-21DE-4FAA-801E-634DDDAF4B2B}" type="slidenum">
              <a:rPr lang="en-US" smtClean="0"/>
              <a:pPr/>
              <a:t>‹#›</a:t>
            </a:fld>
            <a:endParaRPr lang="en-US"/>
          </a:p>
        </p:txBody>
      </p:sp>
      <p:sp>
        <p:nvSpPr>
          <p:cNvPr id="2" name="Title 1"/>
          <p:cNvSpPr>
            <a:spLocks noGrp="1"/>
          </p:cNvSpPr>
          <p:nvPr>
            <p:ph type="title"/>
          </p:nvPr>
        </p:nvSpPr>
        <p:spPr>
          <a:xfrm>
            <a:off x="3000375" y="3771900"/>
            <a:ext cx="5867400" cy="914400"/>
          </a:xfrm>
        </p:spPr>
        <p:txBody>
          <a:bodyPr anchor="t">
            <a:noAutofit/>
          </a:bodyPr>
          <a:lstStyle>
            <a:lvl1pPr algn="l">
              <a:buNone/>
              <a:defRPr sz="2400" b="1">
                <a:solidFill>
                  <a:schemeClr val="tx2"/>
                </a:solidFill>
              </a:defRPr>
            </a:lvl1pPr>
          </a:lstStyle>
          <a:p>
            <a:r>
              <a:rPr kumimoji="0" lang="en-US"/>
              <a:t>Click to edit Master title style</a:t>
            </a:r>
          </a:p>
        </p:txBody>
      </p:sp>
      <p:sp>
        <p:nvSpPr>
          <p:cNvPr id="3" name="Picture Placeholder 2"/>
          <p:cNvSpPr>
            <a:spLocks noGrp="1"/>
          </p:cNvSpPr>
          <p:nvPr>
            <p:ph type="pic" idx="1"/>
          </p:nvPr>
        </p:nvSpPr>
        <p:spPr>
          <a:xfrm>
            <a:off x="3000375" y="457200"/>
            <a:ext cx="5867400" cy="3200400"/>
          </a:xfrm>
        </p:spPr>
        <p:txBody>
          <a:bodyPr/>
          <a:lstStyle>
            <a:lvl1pPr marL="0" indent="0">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381000" y="742950"/>
            <a:ext cx="2438400" cy="394335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22" name="Rectangle 21"/>
          <p:cNvSpPr>
            <a:spLocks noChangeArrowheads="1"/>
          </p:cNvSpPr>
          <p:nvPr/>
        </p:nvSpPr>
        <p:spPr bwMode="auto">
          <a:xfrm>
            <a:off x="149352" y="4791289"/>
            <a:ext cx="8833104" cy="23217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a:xfrm>
            <a:off x="5788152" y="4803738"/>
            <a:ext cx="3044952" cy="274320"/>
          </a:xfrm>
        </p:spPr>
        <p:txBody>
          <a:bodyPr/>
          <a:lstStyle/>
          <a:p>
            <a:fld id="{1D8BD707-D9CF-40AE-B4C6-C98DA3205C09}" type="datetimeFigureOut">
              <a:rPr lang="en-US" smtClean="0"/>
              <a:pPr/>
              <a:t>4/7/2025</a:t>
            </a:fld>
            <a:endParaRPr lang="en-US"/>
          </a:p>
        </p:txBody>
      </p:sp>
      <p:sp>
        <p:nvSpPr>
          <p:cNvPr id="6" name="Footer Placeholder 5"/>
          <p:cNvSpPr>
            <a:spLocks noGrp="1"/>
          </p:cNvSpPr>
          <p:nvPr>
            <p:ph type="ftr" sz="quarter" idx="11"/>
          </p:nvPr>
        </p:nvSpPr>
        <p:spPr>
          <a:xfrm>
            <a:off x="301752" y="4808136"/>
            <a:ext cx="3584448" cy="274320"/>
          </a:xfrm>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4/7/2025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5029200"/>
            <a:ext cx="9144000" cy="1143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7010400" y="0"/>
            <a:ext cx="2133600" cy="51435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9144000" cy="116586"/>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52400" cy="51435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46304" y="4793743"/>
            <a:ext cx="8833104" cy="23217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2400" y="116586"/>
            <a:ext cx="8833104" cy="4910328"/>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Straight Connector 12"/>
          <p:cNvSpPr>
            <a:spLocks noChangeShapeType="1"/>
          </p:cNvSpPr>
          <p:nvPr/>
        </p:nvSpPr>
        <p:spPr bwMode="auto">
          <a:xfrm rot="5400000">
            <a:off x="4802505" y="2458593"/>
            <a:ext cx="468401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Oval 13"/>
          <p:cNvSpPr/>
          <p:nvPr/>
        </p:nvSpPr>
        <p:spPr>
          <a:xfrm>
            <a:off x="6839712" y="2194322"/>
            <a:ext cx="609600" cy="4572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6934200" y="2265188"/>
            <a:ext cx="420624" cy="315468"/>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6915912" y="2257426"/>
            <a:ext cx="457200" cy="330994"/>
          </a:xfrm>
        </p:spPr>
        <p:txBody>
          <a:bodyPr/>
          <a:lstStyle/>
          <a:p>
            <a:fld id="{B6F15528-21DE-4FAA-801E-634DDDAF4B2B}" type="slidenum">
              <a:rPr lang="en-US" smtClean="0"/>
              <a:pPr/>
              <a:t>‹#›</a:t>
            </a:fld>
            <a:endParaRPr lang="en-US"/>
          </a:p>
        </p:txBody>
      </p:sp>
      <p:sp>
        <p:nvSpPr>
          <p:cNvPr id="3" name="Vertical Text Placeholder 2"/>
          <p:cNvSpPr>
            <a:spLocks noGrp="1"/>
          </p:cNvSpPr>
          <p:nvPr>
            <p:ph type="body" orient="vert" idx="1"/>
          </p:nvPr>
        </p:nvSpPr>
        <p:spPr>
          <a:xfrm>
            <a:off x="304800" y="228600"/>
            <a:ext cx="6553200" cy="43660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4/7/2025</a:t>
            </a:fld>
            <a:endParaRPr lang="en-US"/>
          </a:p>
        </p:txBody>
      </p:sp>
      <p:sp>
        <p:nvSpPr>
          <p:cNvPr id="5" name="Footer Placeholder 4"/>
          <p:cNvSpPr>
            <a:spLocks noGrp="1"/>
          </p:cNvSpPr>
          <p:nvPr>
            <p:ph type="ftr" sz="quarter" idx="11"/>
          </p:nvPr>
        </p:nvSpPr>
        <p:spPr/>
        <p:txBody>
          <a:bodyPr/>
          <a:lstStyle/>
          <a:p>
            <a:endParaRPr lang="en-US"/>
          </a:p>
        </p:txBody>
      </p:sp>
      <p:sp>
        <p:nvSpPr>
          <p:cNvPr id="2" name="Vertical Title 1"/>
          <p:cNvSpPr>
            <a:spLocks noGrp="1"/>
          </p:cNvSpPr>
          <p:nvPr>
            <p:ph type="title" orient="vert"/>
          </p:nvPr>
        </p:nvSpPr>
        <p:spPr>
          <a:xfrm>
            <a:off x="7391400" y="228601"/>
            <a:ext cx="1447800" cy="4388644"/>
          </a:xfrm>
        </p:spPr>
        <p:txBody>
          <a:bodyPr vert="eaVert"/>
          <a:lstStyle/>
          <a:p>
            <a:r>
              <a:rPr kumimoji="0" lang="en-US"/>
              <a:t>Click to edit Master title style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5029200"/>
            <a:ext cx="9144000" cy="1143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1"/>
            <a:ext cx="9144000" cy="104502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51435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51435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49352" y="4791289"/>
            <a:ext cx="8833104" cy="23217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Date Placeholder 13"/>
          <p:cNvSpPr>
            <a:spLocks noGrp="1"/>
          </p:cNvSpPr>
          <p:nvPr>
            <p:ph type="dt" sz="half" idx="2"/>
          </p:nvPr>
        </p:nvSpPr>
        <p:spPr>
          <a:xfrm>
            <a:off x="5791200" y="4803738"/>
            <a:ext cx="3044952" cy="274320"/>
          </a:xfrm>
          <a:prstGeom prst="rect">
            <a:avLst/>
          </a:prstGeom>
        </p:spPr>
        <p:txBody>
          <a:bodyPr vert="horz"/>
          <a:lstStyle>
            <a:lvl1pPr algn="r" eaLnBrk="1" latinLnBrk="0" hangingPunct="1">
              <a:defRPr kumimoji="0" sz="1400">
                <a:solidFill>
                  <a:srgbClr val="FFFFFF"/>
                </a:solidFill>
              </a:defRPr>
            </a:lvl1pPr>
          </a:lstStyle>
          <a:p>
            <a:fld id="{1D8BD707-D9CF-40AE-B4C6-C98DA3205C09}" type="datetimeFigureOut">
              <a:rPr lang="en-US" smtClean="0"/>
              <a:pPr/>
              <a:t>4/7/2025</a:t>
            </a:fld>
            <a:endParaRPr lang="en-US"/>
          </a:p>
        </p:txBody>
      </p:sp>
      <p:sp>
        <p:nvSpPr>
          <p:cNvPr id="3" name="Footer Placeholder 2"/>
          <p:cNvSpPr>
            <a:spLocks noGrp="1"/>
          </p:cNvSpPr>
          <p:nvPr>
            <p:ph type="ftr" sz="quarter" idx="3"/>
          </p:nvPr>
        </p:nvSpPr>
        <p:spPr>
          <a:xfrm>
            <a:off x="304800" y="4808136"/>
            <a:ext cx="3581400" cy="274320"/>
          </a:xfrm>
          <a:prstGeom prst="rect">
            <a:avLst/>
          </a:prstGeom>
        </p:spPr>
        <p:txBody>
          <a:bodyPr vert="horz"/>
          <a:lstStyle>
            <a:lvl1pPr algn="l" eaLnBrk="1" latinLnBrk="0" hangingPunct="1">
              <a:defRPr kumimoji="0" sz="1200">
                <a:solidFill>
                  <a:srgbClr val="FFFFFF"/>
                </a:solidFill>
              </a:defRPr>
            </a:lvl1pPr>
          </a:lstStyle>
          <a:p>
            <a:endParaRPr lang="en-US"/>
          </a:p>
        </p:txBody>
      </p:sp>
      <p:sp>
        <p:nvSpPr>
          <p:cNvPr id="8" name="Rectangle 7"/>
          <p:cNvSpPr>
            <a:spLocks noChangeArrowheads="1"/>
          </p:cNvSpPr>
          <p:nvPr/>
        </p:nvSpPr>
        <p:spPr bwMode="auto">
          <a:xfrm>
            <a:off x="152400" y="116586"/>
            <a:ext cx="8833104" cy="4910328"/>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Straight Connector 9"/>
          <p:cNvSpPr>
            <a:spLocks noChangeShapeType="1"/>
          </p:cNvSpPr>
          <p:nvPr/>
        </p:nvSpPr>
        <p:spPr bwMode="auto">
          <a:xfrm>
            <a:off x="152400" y="957557"/>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Oval 11"/>
          <p:cNvSpPr/>
          <p:nvPr/>
        </p:nvSpPr>
        <p:spPr>
          <a:xfrm>
            <a:off x="4267200" y="717027"/>
            <a:ext cx="609600" cy="4572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4361688" y="787893"/>
            <a:ext cx="420624" cy="315468"/>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4343400" y="780131"/>
            <a:ext cx="457200" cy="330994"/>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B6F15528-21DE-4FAA-801E-634DDDAF4B2B}" type="slidenum">
              <a:rPr lang="en-US" smtClean="0"/>
              <a:pPr/>
              <a:t>‹#›</a:t>
            </a:fld>
            <a:endParaRPr lang="en-US"/>
          </a:p>
        </p:txBody>
      </p:sp>
      <p:sp>
        <p:nvSpPr>
          <p:cNvPr id="22" name="Title Placeholder 21"/>
          <p:cNvSpPr>
            <a:spLocks noGrp="1"/>
          </p:cNvSpPr>
          <p:nvPr>
            <p:ph type="title"/>
          </p:nvPr>
        </p:nvSpPr>
        <p:spPr>
          <a:xfrm>
            <a:off x="301752" y="171450"/>
            <a:ext cx="8534400" cy="569214"/>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301752" y="1143000"/>
            <a:ext cx="8534400" cy="3449574"/>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5.xml"/><Relationship Id="rId4" Type="http://schemas.openxmlformats.org/officeDocument/2006/relationships/hyperlink" Target="http://www.wipo.int/export/sites/www/about-ip/en/studies/pdf/wipo_unu_07_korea.pdf"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www.wto.org/english/tratop_e/dispu_e/dispu_agreements_index_e.htm?id=A26"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F28C2F0-2342-4B76-BEDC-D38C4AE615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5000" y="2096061"/>
            <a:ext cx="5591175" cy="1923489"/>
          </a:xfrm>
          <a:prstGeom prst="rect">
            <a:avLst/>
          </a:prstGeom>
        </p:spPr>
      </p:pic>
      <p:sp>
        <p:nvSpPr>
          <p:cNvPr id="6" name="Title 1">
            <a:extLst>
              <a:ext uri="{FF2B5EF4-FFF2-40B4-BE49-F238E27FC236}">
                <a16:creationId xmlns:a16="http://schemas.microsoft.com/office/drawing/2014/main" id="{09C1B35F-19A4-4E87-A2DD-49DD5CB195E4}"/>
              </a:ext>
            </a:extLst>
          </p:cNvPr>
          <p:cNvSpPr>
            <a:spLocks noGrp="1"/>
          </p:cNvSpPr>
          <p:nvPr>
            <p:ph type="ctrTitle"/>
          </p:nvPr>
        </p:nvSpPr>
        <p:spPr>
          <a:xfrm>
            <a:off x="685800" y="285750"/>
            <a:ext cx="7772400" cy="1314450"/>
          </a:xfrm>
        </p:spPr>
        <p:txBody>
          <a:bodyPr>
            <a:normAutofit fontScale="90000"/>
          </a:bodyPr>
          <a:lstStyle/>
          <a:p>
            <a:pPr algn="ctr"/>
            <a:br>
              <a:rPr lang="en-US" b="1" dirty="0">
                <a:solidFill>
                  <a:schemeClr val="accent2">
                    <a:lumMod val="50000"/>
                  </a:schemeClr>
                </a:solidFill>
                <a:latin typeface="Century" pitchFamily="18" charset="0"/>
              </a:rPr>
            </a:br>
            <a:r>
              <a:rPr lang="en-US" sz="3600" b="1" dirty="0">
                <a:solidFill>
                  <a:schemeClr val="accent2">
                    <a:lumMod val="50000"/>
                  </a:schemeClr>
                </a:solidFill>
                <a:latin typeface="Century" pitchFamily="18" charset="0"/>
              </a:rPr>
              <a:t>Intellectual  Property Rights  and Economic  Development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US" sz="3200" b="1" dirty="0">
                <a:solidFill>
                  <a:srgbClr val="FF0000"/>
                </a:solidFill>
                <a:latin typeface="Century" pitchFamily="18" charset="0"/>
              </a:rPr>
              <a:t>Brief Outline</a:t>
            </a:r>
          </a:p>
        </p:txBody>
      </p:sp>
      <p:sp>
        <p:nvSpPr>
          <p:cNvPr id="3" name="Content Placeholder 2"/>
          <p:cNvSpPr>
            <a:spLocks noGrp="1"/>
          </p:cNvSpPr>
          <p:nvPr>
            <p:ph sz="quarter" idx="1"/>
          </p:nvPr>
        </p:nvSpPr>
        <p:spPr>
          <a:xfrm>
            <a:off x="304800" y="1123950"/>
            <a:ext cx="8610600" cy="3426714"/>
          </a:xfrm>
        </p:spPr>
        <p:txBody>
          <a:bodyPr/>
          <a:lstStyle/>
          <a:p>
            <a:r>
              <a:rPr lang="en-US" dirty="0">
                <a:solidFill>
                  <a:schemeClr val="accent2">
                    <a:lumMod val="50000"/>
                  </a:schemeClr>
                </a:solidFill>
                <a:latin typeface="Century" pitchFamily="18" charset="0"/>
              </a:rPr>
              <a:t>Introduction</a:t>
            </a:r>
          </a:p>
          <a:p>
            <a:r>
              <a:rPr lang="en-IN" dirty="0">
                <a:solidFill>
                  <a:schemeClr val="accent2">
                    <a:lumMod val="50000"/>
                  </a:schemeClr>
                </a:solidFill>
              </a:rPr>
              <a:t>Technology Transfer</a:t>
            </a:r>
          </a:p>
          <a:p>
            <a:r>
              <a:rPr lang="en-IN" dirty="0">
                <a:solidFill>
                  <a:schemeClr val="accent2">
                    <a:lumMod val="50000"/>
                  </a:schemeClr>
                </a:solidFill>
              </a:rPr>
              <a:t>IPRs and Trade</a:t>
            </a:r>
          </a:p>
          <a:p>
            <a:r>
              <a:rPr lang="en-IN" dirty="0">
                <a:solidFill>
                  <a:schemeClr val="accent2">
                    <a:lumMod val="50000"/>
                  </a:schemeClr>
                </a:solidFill>
              </a:rPr>
              <a:t>IPRs and Development  (Video illustration on Patent and Economic Growth in US)  </a:t>
            </a:r>
            <a:endParaRPr lang="en-IN" dirty="0">
              <a:solidFill>
                <a:schemeClr val="accent2">
                  <a:lumMod val="50000"/>
                </a:schemeClr>
              </a:solidFill>
              <a:latin typeface="Century" pitchFamily="18" charset="0"/>
            </a:endParaRPr>
          </a:p>
          <a:p>
            <a:r>
              <a:rPr lang="en-IN" dirty="0">
                <a:solidFill>
                  <a:schemeClr val="accent2">
                    <a:lumMod val="50000"/>
                  </a:schemeClr>
                </a:solidFill>
                <a:latin typeface="Century" pitchFamily="18" charset="0"/>
              </a:rPr>
              <a:t>Conclusion</a:t>
            </a:r>
            <a:endParaRPr lang="en-US" dirty="0">
              <a:solidFill>
                <a:schemeClr val="accent2">
                  <a:lumMod val="50000"/>
                </a:schemeClr>
              </a:solidFill>
              <a:latin typeface="Century"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US" sz="3200" b="1" dirty="0">
                <a:solidFill>
                  <a:srgbClr val="FF0000"/>
                </a:solidFill>
                <a:latin typeface="Century" pitchFamily="18" charset="0"/>
              </a:rPr>
              <a:t>Introduction</a:t>
            </a:r>
            <a:endParaRPr lang="en-US" sz="3200" dirty="0">
              <a:latin typeface="Century" pitchFamily="18" charset="0"/>
            </a:endParaRPr>
          </a:p>
        </p:txBody>
      </p:sp>
      <p:sp>
        <p:nvSpPr>
          <p:cNvPr id="3" name="Content Placeholder 2"/>
          <p:cNvSpPr>
            <a:spLocks noGrp="1"/>
          </p:cNvSpPr>
          <p:nvPr>
            <p:ph sz="quarter" idx="1"/>
          </p:nvPr>
        </p:nvSpPr>
        <p:spPr>
          <a:xfrm>
            <a:off x="301752" y="1145286"/>
            <a:ext cx="5260848" cy="3560064"/>
          </a:xfrm>
        </p:spPr>
        <p:txBody>
          <a:bodyPr>
            <a:normAutofit fontScale="92500" lnSpcReduction="20000"/>
          </a:bodyPr>
          <a:lstStyle/>
          <a:p>
            <a:r>
              <a:rPr lang="en-IN" dirty="0">
                <a:solidFill>
                  <a:schemeClr val="accent2">
                    <a:lumMod val="50000"/>
                  </a:schemeClr>
                </a:solidFill>
                <a:latin typeface="Century" pitchFamily="18" charset="0"/>
              </a:rPr>
              <a:t>The economic, social and cultural development through intellectual property rights is contestable issue globally</a:t>
            </a:r>
          </a:p>
          <a:p>
            <a:r>
              <a:rPr lang="en-IN" dirty="0">
                <a:solidFill>
                  <a:srgbClr val="0070C0"/>
                </a:solidFill>
                <a:latin typeface="Century" pitchFamily="18" charset="0"/>
              </a:rPr>
              <a:t>The debate on the developmental facets related to IPR has been challenged by many economists, NGOs, civil society  and others, particularly in developing economies </a:t>
            </a:r>
          </a:p>
          <a:p>
            <a:endParaRPr lang="en-US" dirty="0">
              <a:latin typeface="Century" pitchFamily="18" charset="0"/>
            </a:endParaRPr>
          </a:p>
        </p:txBody>
      </p:sp>
      <p:pic>
        <p:nvPicPr>
          <p:cNvPr id="7" name="Picture 6">
            <a:extLst>
              <a:ext uri="{FF2B5EF4-FFF2-40B4-BE49-F238E27FC236}">
                <a16:creationId xmlns:a16="http://schemas.microsoft.com/office/drawing/2014/main" id="{102E0ACA-25B4-449B-BA34-6C5C2306E2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62600" y="1733550"/>
            <a:ext cx="2762250" cy="185737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301FE-C89A-4902-996A-55ECA15BC1FD}"/>
              </a:ext>
            </a:extLst>
          </p:cNvPr>
          <p:cNvSpPr>
            <a:spLocks noGrp="1"/>
          </p:cNvSpPr>
          <p:nvPr>
            <p:ph type="title"/>
          </p:nvPr>
        </p:nvSpPr>
        <p:spPr/>
        <p:txBody>
          <a:bodyPr>
            <a:normAutofit fontScale="90000"/>
          </a:bodyPr>
          <a:lstStyle/>
          <a:p>
            <a:r>
              <a:rPr lang="en-IN" dirty="0" err="1"/>
              <a:t>Cont</a:t>
            </a:r>
            <a:r>
              <a:rPr lang="en-IN" dirty="0"/>
              <a:t>…</a:t>
            </a:r>
          </a:p>
        </p:txBody>
      </p:sp>
      <p:sp>
        <p:nvSpPr>
          <p:cNvPr id="3" name="Content Placeholder 2">
            <a:extLst>
              <a:ext uri="{FF2B5EF4-FFF2-40B4-BE49-F238E27FC236}">
                <a16:creationId xmlns:a16="http://schemas.microsoft.com/office/drawing/2014/main" id="{E26ACA4C-0224-448D-9182-5579D82CCA68}"/>
              </a:ext>
            </a:extLst>
          </p:cNvPr>
          <p:cNvSpPr>
            <a:spLocks noGrp="1"/>
          </p:cNvSpPr>
          <p:nvPr>
            <p:ph sz="quarter" idx="1"/>
          </p:nvPr>
        </p:nvSpPr>
        <p:spPr/>
        <p:txBody>
          <a:bodyPr>
            <a:normAutofit lnSpcReduction="10000"/>
          </a:bodyPr>
          <a:lstStyle/>
          <a:p>
            <a:r>
              <a:rPr lang="en-IN" dirty="0">
                <a:solidFill>
                  <a:schemeClr val="accent2">
                    <a:lumMod val="50000"/>
                  </a:schemeClr>
                </a:solidFill>
                <a:latin typeface="Century" pitchFamily="18" charset="0"/>
              </a:rPr>
              <a:t>However, some argue that for developing countries, the protection of indigenous technology can be assured through conferring IPRs and is the major determinant of economic growth and poverty reduction</a:t>
            </a:r>
          </a:p>
          <a:p>
            <a:r>
              <a:rPr lang="en-IN" dirty="0">
                <a:solidFill>
                  <a:srgbClr val="0070C0"/>
                </a:solidFill>
                <a:latin typeface="Century" pitchFamily="18" charset="0"/>
              </a:rPr>
              <a:t>Moreover, this will also determine the capacity and extent to which these countries can absorb and use foreign technology </a:t>
            </a:r>
          </a:p>
          <a:p>
            <a:endParaRPr lang="en-IN" dirty="0"/>
          </a:p>
        </p:txBody>
      </p:sp>
    </p:spTree>
    <p:extLst>
      <p:ext uri="{BB962C8B-B14F-4D97-AF65-F5344CB8AC3E}">
        <p14:creationId xmlns:p14="http://schemas.microsoft.com/office/powerpoint/2010/main" val="16988010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US" sz="3200" b="1" dirty="0">
                <a:solidFill>
                  <a:srgbClr val="FF0000"/>
                </a:solidFill>
                <a:latin typeface="Century" pitchFamily="18" charset="0"/>
              </a:rPr>
              <a:t>Introduction…</a:t>
            </a:r>
            <a:endParaRPr lang="en-IN" sz="3200" dirty="0">
              <a:latin typeface="Century" pitchFamily="18" charset="0"/>
            </a:endParaRPr>
          </a:p>
        </p:txBody>
      </p:sp>
      <p:sp>
        <p:nvSpPr>
          <p:cNvPr id="3" name="Content Placeholder 2"/>
          <p:cNvSpPr>
            <a:spLocks noGrp="1"/>
          </p:cNvSpPr>
          <p:nvPr>
            <p:ph sz="quarter" idx="1"/>
          </p:nvPr>
        </p:nvSpPr>
        <p:spPr>
          <a:xfrm>
            <a:off x="301752" y="1145286"/>
            <a:ext cx="4879848" cy="3636264"/>
          </a:xfrm>
        </p:spPr>
        <p:txBody>
          <a:bodyPr>
            <a:normAutofit fontScale="70000" lnSpcReduction="20000"/>
          </a:bodyPr>
          <a:lstStyle/>
          <a:p>
            <a:r>
              <a:rPr lang="en-IN" dirty="0">
                <a:solidFill>
                  <a:schemeClr val="accent2">
                    <a:lumMod val="50000"/>
                  </a:schemeClr>
                </a:solidFill>
                <a:latin typeface="Century" pitchFamily="18" charset="0"/>
              </a:rPr>
              <a:t>The vital question arises that, whether extending the intellectual property regime assists developing countries or not in securing the  access to modern technologies provided by the developed counterpart</a:t>
            </a:r>
          </a:p>
          <a:p>
            <a:r>
              <a:rPr lang="en-US" dirty="0">
                <a:solidFill>
                  <a:schemeClr val="accent2">
                    <a:lumMod val="50000"/>
                  </a:schemeClr>
                </a:solidFill>
                <a:latin typeface="Century" pitchFamily="18" charset="0"/>
              </a:rPr>
              <a:t>And also the channel through which, </a:t>
            </a:r>
            <a:r>
              <a:rPr lang="en-US" dirty="0">
                <a:solidFill>
                  <a:srgbClr val="C00000"/>
                </a:solidFill>
                <a:latin typeface="Century" pitchFamily="18" charset="0"/>
              </a:rPr>
              <a:t>the protection of IPR will promote growth and development </a:t>
            </a:r>
            <a:r>
              <a:rPr lang="en-US" dirty="0">
                <a:solidFill>
                  <a:schemeClr val="accent2">
                    <a:lumMod val="50000"/>
                  </a:schemeClr>
                </a:solidFill>
                <a:latin typeface="Century" pitchFamily="18" charset="0"/>
              </a:rPr>
              <a:t>in these countries, and aid in achieving the social and economic targets</a:t>
            </a:r>
          </a:p>
          <a:p>
            <a:r>
              <a:rPr lang="en-US" dirty="0">
                <a:solidFill>
                  <a:schemeClr val="accent2">
                    <a:lumMod val="50000"/>
                  </a:schemeClr>
                </a:solidFill>
                <a:latin typeface="Century" pitchFamily="18" charset="0"/>
              </a:rPr>
              <a:t>However, the effects of IPRs on the process of economic growth and development is complex</a:t>
            </a:r>
            <a:endParaRPr lang="en-IN" dirty="0">
              <a:solidFill>
                <a:schemeClr val="accent2">
                  <a:lumMod val="50000"/>
                </a:schemeClr>
              </a:solidFill>
              <a:latin typeface="Century" pitchFamily="18" charset="0"/>
            </a:endParaRPr>
          </a:p>
          <a:p>
            <a:endParaRPr lang="en-IN" dirty="0"/>
          </a:p>
          <a:p>
            <a:endParaRPr lang="en-IN" dirty="0"/>
          </a:p>
        </p:txBody>
      </p:sp>
      <p:pic>
        <p:nvPicPr>
          <p:cNvPr id="5" name="Picture 4">
            <a:extLst>
              <a:ext uri="{FF2B5EF4-FFF2-40B4-BE49-F238E27FC236}">
                <a16:creationId xmlns:a16="http://schemas.microsoft.com/office/drawing/2014/main" id="{AA6B6F1B-1016-43A5-A505-75FC189EB1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0" y="1814512"/>
            <a:ext cx="3028950" cy="190023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33351"/>
            <a:ext cx="7467600" cy="762000"/>
          </a:xfrm>
        </p:spPr>
        <p:txBody>
          <a:bodyPr>
            <a:normAutofit/>
          </a:bodyPr>
          <a:lstStyle/>
          <a:p>
            <a:pPr algn="l"/>
            <a:r>
              <a:rPr lang="en-US" sz="3200" b="1" dirty="0">
                <a:solidFill>
                  <a:srgbClr val="FF0000"/>
                </a:solidFill>
                <a:latin typeface="Century" pitchFamily="18" charset="0"/>
              </a:rPr>
              <a:t>IP Protection Debate</a:t>
            </a:r>
          </a:p>
        </p:txBody>
      </p:sp>
      <p:sp>
        <p:nvSpPr>
          <p:cNvPr id="3" name="Content Placeholder 2"/>
          <p:cNvSpPr>
            <a:spLocks noGrp="1"/>
          </p:cNvSpPr>
          <p:nvPr>
            <p:ph sz="quarter" idx="1"/>
          </p:nvPr>
        </p:nvSpPr>
        <p:spPr>
          <a:xfrm>
            <a:off x="301752" y="1145286"/>
            <a:ext cx="4117848" cy="3483864"/>
          </a:xfrm>
        </p:spPr>
        <p:txBody>
          <a:bodyPr>
            <a:normAutofit fontScale="55000" lnSpcReduction="20000"/>
          </a:bodyPr>
          <a:lstStyle/>
          <a:p>
            <a:r>
              <a:rPr lang="en-US" dirty="0">
                <a:solidFill>
                  <a:schemeClr val="accent2">
                    <a:lumMod val="50000"/>
                  </a:schemeClr>
                </a:solidFill>
                <a:latin typeface="Century" pitchFamily="18" charset="0"/>
              </a:rPr>
              <a:t>Some say that stronger IP protection regime would encourage innovation and benefit developing countries by contributing to more rapid economic growth through the transfer of technology from developed to developing countries</a:t>
            </a:r>
          </a:p>
          <a:p>
            <a:r>
              <a:rPr lang="en-US" dirty="0">
                <a:solidFill>
                  <a:schemeClr val="accent2">
                    <a:lumMod val="50000"/>
                  </a:schemeClr>
                </a:solidFill>
                <a:latin typeface="Century" pitchFamily="18" charset="0"/>
              </a:rPr>
              <a:t>Other argues that </a:t>
            </a:r>
            <a:r>
              <a:rPr lang="en-US" dirty="0">
                <a:solidFill>
                  <a:srgbClr val="C00000"/>
                </a:solidFill>
                <a:latin typeface="Century" pitchFamily="18" charset="0"/>
              </a:rPr>
              <a:t>stronger IPR protection </a:t>
            </a:r>
            <a:r>
              <a:rPr lang="en-US" dirty="0">
                <a:solidFill>
                  <a:schemeClr val="accent2">
                    <a:lumMod val="50000"/>
                  </a:schemeClr>
                </a:solidFill>
                <a:latin typeface="Century" pitchFamily="18" charset="0"/>
              </a:rPr>
              <a:t>would neither accelerate economic growth nor facilitate rapid transfer of technology </a:t>
            </a:r>
          </a:p>
          <a:p>
            <a:r>
              <a:rPr lang="en-US" dirty="0">
                <a:solidFill>
                  <a:schemeClr val="accent2">
                    <a:lumMod val="50000"/>
                  </a:schemeClr>
                </a:solidFill>
                <a:latin typeface="Century" pitchFamily="18" charset="0"/>
              </a:rPr>
              <a:t>Because, it merely, results in the transfer of economic profits to </a:t>
            </a:r>
            <a:r>
              <a:rPr lang="en-US" dirty="0">
                <a:solidFill>
                  <a:srgbClr val="C00000"/>
                </a:solidFill>
                <a:latin typeface="Century" pitchFamily="18" charset="0"/>
              </a:rPr>
              <a:t>MNCs </a:t>
            </a:r>
            <a:r>
              <a:rPr lang="en-US" dirty="0">
                <a:solidFill>
                  <a:schemeClr val="accent2">
                    <a:lumMod val="50000"/>
                  </a:schemeClr>
                </a:solidFill>
                <a:latin typeface="Century" pitchFamily="18" charset="0"/>
              </a:rPr>
              <a:t>that are mostly located in the world’s most advanced economies like the US and the EU</a:t>
            </a:r>
          </a:p>
        </p:txBody>
      </p:sp>
      <p:pic>
        <p:nvPicPr>
          <p:cNvPr id="5" name="Picture 4">
            <a:extLst>
              <a:ext uri="{FF2B5EF4-FFF2-40B4-BE49-F238E27FC236}">
                <a16:creationId xmlns:a16="http://schemas.microsoft.com/office/drawing/2014/main" id="{8BB534F6-5A8F-4A80-B7FF-B4121CE26B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24402" y="1766887"/>
            <a:ext cx="2971798" cy="202406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US" sz="3200" b="1" dirty="0">
                <a:solidFill>
                  <a:srgbClr val="FF0000"/>
                </a:solidFill>
                <a:latin typeface="Century" pitchFamily="18" charset="0"/>
              </a:rPr>
              <a:t>IPR: Why is it Necessary?</a:t>
            </a:r>
            <a:endParaRPr lang="en-IN" sz="3200" b="1" dirty="0">
              <a:solidFill>
                <a:srgbClr val="FF0000"/>
              </a:solidFill>
              <a:latin typeface="Century" pitchFamily="18" charset="0"/>
            </a:endParaRPr>
          </a:p>
        </p:txBody>
      </p:sp>
      <p:sp>
        <p:nvSpPr>
          <p:cNvPr id="3" name="Content Placeholder 2"/>
          <p:cNvSpPr>
            <a:spLocks noGrp="1"/>
          </p:cNvSpPr>
          <p:nvPr>
            <p:ph sz="quarter" idx="1"/>
          </p:nvPr>
        </p:nvSpPr>
        <p:spPr>
          <a:xfrm>
            <a:off x="152400" y="1047750"/>
            <a:ext cx="5486400" cy="3657600"/>
          </a:xfrm>
        </p:spPr>
        <p:txBody>
          <a:bodyPr>
            <a:normAutofit fontScale="70000" lnSpcReduction="20000"/>
          </a:bodyPr>
          <a:lstStyle/>
          <a:p>
            <a:r>
              <a:rPr lang="en-IN" dirty="0">
                <a:solidFill>
                  <a:schemeClr val="accent2">
                    <a:lumMod val="50000"/>
                  </a:schemeClr>
                </a:solidFill>
                <a:latin typeface="Century" pitchFamily="18" charset="0"/>
              </a:rPr>
              <a:t>Future of any economy largely depends on the stock of knowledge and technical advancement </a:t>
            </a:r>
          </a:p>
          <a:p>
            <a:r>
              <a:rPr lang="en-US" dirty="0">
                <a:solidFill>
                  <a:schemeClr val="accent2">
                    <a:lumMod val="50000"/>
                  </a:schemeClr>
                </a:solidFill>
                <a:latin typeface="Century" pitchFamily="18" charset="0"/>
              </a:rPr>
              <a:t>Global markets demand successful marketing and variety of sophisticated products, IPR fulfills this requirement</a:t>
            </a:r>
            <a:endParaRPr lang="en-IN" dirty="0">
              <a:solidFill>
                <a:schemeClr val="accent2">
                  <a:lumMod val="50000"/>
                </a:schemeClr>
              </a:solidFill>
              <a:latin typeface="Century" pitchFamily="18" charset="0"/>
            </a:endParaRPr>
          </a:p>
          <a:p>
            <a:r>
              <a:rPr lang="en-IN" dirty="0">
                <a:solidFill>
                  <a:srgbClr val="FF0000"/>
                </a:solidFill>
                <a:latin typeface="Century" pitchFamily="18" charset="0"/>
              </a:rPr>
              <a:t>For industrial and manufacturing growth, new technology is required</a:t>
            </a:r>
          </a:p>
          <a:p>
            <a:r>
              <a:rPr lang="en-IN" dirty="0">
                <a:solidFill>
                  <a:srgbClr val="FF0000"/>
                </a:solidFill>
                <a:latin typeface="Century" pitchFamily="18" charset="0"/>
              </a:rPr>
              <a:t>Intellectual property promotes the export of the country and others have to procure the IP based products from that country</a:t>
            </a:r>
          </a:p>
          <a:p>
            <a:r>
              <a:rPr lang="en-IN" dirty="0">
                <a:solidFill>
                  <a:schemeClr val="accent2">
                    <a:lumMod val="50000"/>
                  </a:schemeClr>
                </a:solidFill>
                <a:latin typeface="Century" pitchFamily="18" charset="0"/>
              </a:rPr>
              <a:t>It thus, facilitate competitiveness in industrial and commercial activity that leads to growth and development</a:t>
            </a:r>
          </a:p>
        </p:txBody>
      </p:sp>
      <p:pic>
        <p:nvPicPr>
          <p:cNvPr id="5" name="Picture 4">
            <a:extLst>
              <a:ext uri="{FF2B5EF4-FFF2-40B4-BE49-F238E27FC236}">
                <a16:creationId xmlns:a16="http://schemas.microsoft.com/office/drawing/2014/main" id="{80CF4D20-616A-40F2-8EDC-6D43F8C06B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19800" y="1504950"/>
            <a:ext cx="2771775" cy="19716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US" sz="3200" b="1" dirty="0">
                <a:solidFill>
                  <a:srgbClr val="FF0000"/>
                </a:solidFill>
                <a:latin typeface="Century" pitchFamily="18" charset="0"/>
              </a:rPr>
              <a:t>IPRs Protection: Example</a:t>
            </a:r>
          </a:p>
        </p:txBody>
      </p:sp>
      <p:sp>
        <p:nvSpPr>
          <p:cNvPr id="3" name="Content Placeholder 2"/>
          <p:cNvSpPr>
            <a:spLocks noGrp="1"/>
          </p:cNvSpPr>
          <p:nvPr>
            <p:ph sz="quarter" idx="1"/>
          </p:nvPr>
        </p:nvSpPr>
        <p:spPr/>
        <p:txBody>
          <a:bodyPr>
            <a:normAutofit/>
          </a:bodyPr>
          <a:lstStyle/>
          <a:p>
            <a:r>
              <a:rPr lang="en-US" dirty="0">
                <a:solidFill>
                  <a:schemeClr val="accent2">
                    <a:lumMod val="50000"/>
                  </a:schemeClr>
                </a:solidFill>
                <a:latin typeface="Century" pitchFamily="18" charset="0"/>
              </a:rPr>
              <a:t>Korean companies developed indigenous technology with the help of intellectual property system, several of which have become global market leaders. </a:t>
            </a:r>
          </a:p>
          <a:p>
            <a:r>
              <a:rPr lang="en-US" dirty="0">
                <a:solidFill>
                  <a:schemeClr val="accent2">
                    <a:lumMod val="50000"/>
                  </a:schemeClr>
                </a:solidFill>
                <a:latin typeface="Century" pitchFamily="18" charset="0"/>
              </a:rPr>
              <a:t>There has been found a strong correlation between  number of patent applications in Korea and registration and real GDP during  1970-2005</a:t>
            </a:r>
          </a:p>
          <a:p>
            <a:endParaRPr lang="en-US" dirty="0">
              <a:solidFill>
                <a:schemeClr val="accent2">
                  <a:lumMod val="50000"/>
                </a:schemeClr>
              </a:solidFill>
              <a:latin typeface="Century"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28600" y="204788"/>
            <a:ext cx="7772400" cy="690562"/>
          </a:xfrm>
        </p:spPr>
        <p:txBody>
          <a:bodyPr>
            <a:normAutofit/>
          </a:bodyPr>
          <a:lstStyle/>
          <a:p>
            <a:pPr algn="l"/>
            <a:r>
              <a:rPr lang="en-US" sz="3200" b="1" dirty="0">
                <a:solidFill>
                  <a:srgbClr val="FF0000"/>
                </a:solidFill>
                <a:latin typeface="Century" pitchFamily="18" charset="0"/>
              </a:rPr>
              <a:t>Patents and Real GDP </a:t>
            </a:r>
            <a:endParaRPr lang="en-US" sz="3200" dirty="0">
              <a:solidFill>
                <a:srgbClr val="FF0000"/>
              </a:solidFill>
              <a:latin typeface="Century" pitchFamily="18" charset="0"/>
            </a:endParaRPr>
          </a:p>
        </p:txBody>
      </p:sp>
      <p:sp>
        <p:nvSpPr>
          <p:cNvPr id="5" name="Text Placeholder 4"/>
          <p:cNvSpPr>
            <a:spLocks noGrp="1"/>
          </p:cNvSpPr>
          <p:nvPr>
            <p:ph type="body" sz="quarter" idx="1"/>
          </p:nvPr>
        </p:nvSpPr>
        <p:spPr>
          <a:xfrm>
            <a:off x="533400" y="971550"/>
            <a:ext cx="3657600" cy="685800"/>
          </a:xfrm>
        </p:spPr>
        <p:txBody>
          <a:bodyPr/>
          <a:lstStyle/>
          <a:p>
            <a:r>
              <a:rPr lang="en-US" sz="2000" dirty="0">
                <a:solidFill>
                  <a:schemeClr val="tx1"/>
                </a:solidFill>
                <a:latin typeface="Century" pitchFamily="18" charset="0"/>
              </a:rPr>
              <a:t>No. of Patent Application and Registration in Korea</a:t>
            </a:r>
          </a:p>
        </p:txBody>
      </p:sp>
      <p:sp>
        <p:nvSpPr>
          <p:cNvPr id="7" name="Text Placeholder 6"/>
          <p:cNvSpPr>
            <a:spLocks noGrp="1"/>
          </p:cNvSpPr>
          <p:nvPr>
            <p:ph type="body" sz="quarter" idx="3"/>
          </p:nvPr>
        </p:nvSpPr>
        <p:spPr>
          <a:xfrm>
            <a:off x="4800600" y="1047750"/>
            <a:ext cx="4114800" cy="609600"/>
          </a:xfrm>
        </p:spPr>
        <p:txBody>
          <a:bodyPr/>
          <a:lstStyle/>
          <a:p>
            <a:r>
              <a:rPr lang="en-US" dirty="0">
                <a:solidFill>
                  <a:schemeClr val="tx1"/>
                </a:solidFill>
              </a:rPr>
              <a:t>Real GDP (at 2000 prices)</a:t>
            </a:r>
          </a:p>
        </p:txBody>
      </p:sp>
      <p:pic>
        <p:nvPicPr>
          <p:cNvPr id="1027" name="Picture 3" descr="C:\Users\swati\Desktop\Capture 2.PNG"/>
          <p:cNvPicPr>
            <a:picLocks noGrp="1" noChangeAspect="1" noChangeArrowheads="1"/>
          </p:cNvPicPr>
          <p:nvPr>
            <p:ph sz="quarter" idx="4"/>
          </p:nvPr>
        </p:nvPicPr>
        <p:blipFill>
          <a:blip r:embed="rId2"/>
          <a:srcRect/>
          <a:stretch>
            <a:fillRect/>
          </a:stretch>
        </p:blipFill>
        <p:spPr bwMode="auto">
          <a:xfrm>
            <a:off x="4343400" y="1733550"/>
            <a:ext cx="4419600" cy="3028950"/>
          </a:xfrm>
          <a:prstGeom prst="rect">
            <a:avLst/>
          </a:prstGeom>
          <a:noFill/>
        </p:spPr>
      </p:pic>
      <p:pic>
        <p:nvPicPr>
          <p:cNvPr id="1028" name="Picture 4" descr="C:\Users\swati\Desktop\Capture 3.PNG"/>
          <p:cNvPicPr>
            <a:picLocks noGrp="1" noChangeAspect="1" noChangeArrowheads="1"/>
          </p:cNvPicPr>
          <p:nvPr>
            <p:ph sz="quarter" idx="2"/>
          </p:nvPr>
        </p:nvPicPr>
        <p:blipFill>
          <a:blip r:embed="rId3"/>
          <a:srcRect/>
          <a:stretch>
            <a:fillRect/>
          </a:stretch>
        </p:blipFill>
        <p:spPr bwMode="auto">
          <a:xfrm>
            <a:off x="228600" y="1733550"/>
            <a:ext cx="4114800" cy="2895600"/>
          </a:xfrm>
          <a:prstGeom prst="rect">
            <a:avLst/>
          </a:prstGeom>
          <a:noFill/>
        </p:spPr>
      </p:pic>
      <p:sp>
        <p:nvSpPr>
          <p:cNvPr id="8" name="Rectangle 7"/>
          <p:cNvSpPr/>
          <p:nvPr/>
        </p:nvSpPr>
        <p:spPr>
          <a:xfrm>
            <a:off x="152400" y="4476750"/>
            <a:ext cx="8686800" cy="830997"/>
          </a:xfrm>
          <a:prstGeom prst="rect">
            <a:avLst/>
          </a:prstGeom>
        </p:spPr>
        <p:txBody>
          <a:bodyPr wrap="square">
            <a:spAutoFit/>
          </a:bodyPr>
          <a:lstStyle/>
          <a:p>
            <a:r>
              <a:rPr lang="en-US" sz="1400" dirty="0">
                <a:latin typeface="Century" pitchFamily="18" charset="0"/>
              </a:rPr>
              <a:t>Source: </a:t>
            </a:r>
            <a:r>
              <a:rPr lang="en-US" sz="1400" dirty="0">
                <a:latin typeface="Century" pitchFamily="18" charset="0"/>
                <a:hlinkClick r:id="rId4"/>
              </a:rPr>
              <a:t>http://www.wipo.int/export/sites/www/about-ip/en/studies/pdf/wipo_unu_07_korea.pdf</a:t>
            </a:r>
            <a:endParaRPr lang="en-US" sz="1400" dirty="0">
              <a:latin typeface="Century" pitchFamily="18" charset="0"/>
            </a:endParaRPr>
          </a:p>
          <a:p>
            <a:r>
              <a:rPr lang="en-US" sz="1600" dirty="0">
                <a:solidFill>
                  <a:srgbClr val="0070C0"/>
                </a:solidFill>
              </a:rPr>
              <a:t>   </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US" sz="3200" b="1" dirty="0">
                <a:solidFill>
                  <a:srgbClr val="FF0000"/>
                </a:solidFill>
                <a:latin typeface="Century" pitchFamily="18" charset="0"/>
              </a:rPr>
              <a:t>Challenges for Developing Countries</a:t>
            </a:r>
            <a:endParaRPr lang="en-IN" sz="3200" b="1" dirty="0">
              <a:solidFill>
                <a:srgbClr val="FF0000"/>
              </a:solidFill>
              <a:latin typeface="Century" pitchFamily="18" charset="0"/>
            </a:endParaRPr>
          </a:p>
        </p:txBody>
      </p:sp>
      <p:sp>
        <p:nvSpPr>
          <p:cNvPr id="3" name="Content Placeholder 2"/>
          <p:cNvSpPr>
            <a:spLocks noGrp="1"/>
          </p:cNvSpPr>
          <p:nvPr>
            <p:ph sz="quarter" idx="1"/>
          </p:nvPr>
        </p:nvSpPr>
        <p:spPr/>
        <p:txBody>
          <a:bodyPr>
            <a:normAutofit fontScale="92500" lnSpcReduction="10000"/>
          </a:bodyPr>
          <a:lstStyle/>
          <a:p>
            <a:r>
              <a:rPr lang="en-US" dirty="0">
                <a:solidFill>
                  <a:schemeClr val="accent2">
                    <a:lumMod val="50000"/>
                  </a:schemeClr>
                </a:solidFill>
                <a:latin typeface="Century" pitchFamily="18" charset="0"/>
              </a:rPr>
              <a:t>Greater emphasis on capacity building by mere imitation of technology through imports</a:t>
            </a:r>
          </a:p>
          <a:p>
            <a:r>
              <a:rPr lang="en-US" dirty="0">
                <a:solidFill>
                  <a:schemeClr val="accent2">
                    <a:lumMod val="50000"/>
                  </a:schemeClr>
                </a:solidFill>
                <a:latin typeface="Century" pitchFamily="18" charset="0"/>
              </a:rPr>
              <a:t>Operate with imperfect knowledge and asymmetric information of technological alternatives</a:t>
            </a:r>
          </a:p>
          <a:p>
            <a:r>
              <a:rPr lang="en-US" dirty="0">
                <a:solidFill>
                  <a:schemeClr val="accent2">
                    <a:lumMod val="50000"/>
                  </a:schemeClr>
                </a:solidFill>
                <a:latin typeface="Century" pitchFamily="18" charset="0"/>
              </a:rPr>
              <a:t>How the developing and the least developed economies are going to catch up with the developed economies, is unknown</a:t>
            </a:r>
          </a:p>
          <a:p>
            <a:r>
              <a:rPr lang="en-US" dirty="0">
                <a:solidFill>
                  <a:schemeClr val="accent2">
                    <a:lumMod val="50000"/>
                  </a:schemeClr>
                </a:solidFill>
                <a:latin typeface="Century" pitchFamily="18" charset="0"/>
              </a:rPr>
              <a:t>IPRs are the imposition by the developed counties to the developing countries?</a:t>
            </a:r>
          </a:p>
          <a:p>
            <a:endParaRPr lang="en-US" dirty="0">
              <a:latin typeface="Century" pitchFamily="18" charset="0"/>
            </a:endParaRPr>
          </a:p>
          <a:p>
            <a:endParaRPr lang="en-IN" dirty="0">
              <a:latin typeface="Century"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US" sz="3200" b="1" dirty="0">
                <a:solidFill>
                  <a:srgbClr val="FF0000"/>
                </a:solidFill>
                <a:latin typeface="Century" pitchFamily="18" charset="0"/>
              </a:rPr>
              <a:t>Challenges for Developing Countries…</a:t>
            </a:r>
            <a:endParaRPr lang="en-IN" sz="3200" b="1" dirty="0">
              <a:solidFill>
                <a:srgbClr val="FF0000"/>
              </a:solidFill>
              <a:latin typeface="Century" pitchFamily="18" charset="0"/>
            </a:endParaRPr>
          </a:p>
        </p:txBody>
      </p:sp>
      <p:sp>
        <p:nvSpPr>
          <p:cNvPr id="3" name="Content Placeholder 2"/>
          <p:cNvSpPr>
            <a:spLocks noGrp="1"/>
          </p:cNvSpPr>
          <p:nvPr>
            <p:ph sz="quarter" idx="1"/>
          </p:nvPr>
        </p:nvSpPr>
        <p:spPr>
          <a:xfrm>
            <a:off x="301752" y="1145286"/>
            <a:ext cx="4651248" cy="3429000"/>
          </a:xfrm>
        </p:spPr>
        <p:txBody>
          <a:bodyPr>
            <a:normAutofit fontScale="92500" lnSpcReduction="20000"/>
          </a:bodyPr>
          <a:lstStyle/>
          <a:p>
            <a:r>
              <a:rPr lang="en-US" dirty="0">
                <a:solidFill>
                  <a:schemeClr val="accent5">
                    <a:lumMod val="50000"/>
                  </a:schemeClr>
                </a:solidFill>
                <a:latin typeface="Century" pitchFamily="18" charset="0"/>
              </a:rPr>
              <a:t>Developed Countries- Exports High-tech sophisticated products</a:t>
            </a:r>
          </a:p>
          <a:p>
            <a:r>
              <a:rPr lang="en-US" dirty="0">
                <a:solidFill>
                  <a:schemeClr val="accent5">
                    <a:lumMod val="50000"/>
                  </a:schemeClr>
                </a:solidFill>
                <a:latin typeface="Century" pitchFamily="18" charset="0"/>
              </a:rPr>
              <a:t>Developing Countries-Factor Intensive and Primary Products Exports (Natural Resources)</a:t>
            </a:r>
          </a:p>
          <a:p>
            <a:r>
              <a:rPr lang="en-US" dirty="0">
                <a:solidFill>
                  <a:schemeClr val="accent5">
                    <a:lumMod val="50000"/>
                  </a:schemeClr>
                </a:solidFill>
                <a:latin typeface="Century" pitchFamily="18" charset="0"/>
              </a:rPr>
              <a:t>Developing Countries- Technology followers of the North</a:t>
            </a:r>
          </a:p>
          <a:p>
            <a:endParaRPr lang="en-IN" dirty="0">
              <a:solidFill>
                <a:schemeClr val="accent5">
                  <a:lumMod val="50000"/>
                </a:schemeClr>
              </a:solidFill>
              <a:latin typeface="Century" pitchFamily="18" charset="0"/>
            </a:endParaRPr>
          </a:p>
        </p:txBody>
      </p:sp>
      <p:pic>
        <p:nvPicPr>
          <p:cNvPr id="5" name="Picture 4">
            <a:extLst>
              <a:ext uri="{FF2B5EF4-FFF2-40B4-BE49-F238E27FC236}">
                <a16:creationId xmlns:a16="http://schemas.microsoft.com/office/drawing/2014/main" id="{41AE68A8-E9FD-49AE-A4D4-8A89BBF402E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181600" y="1962150"/>
            <a:ext cx="2286000" cy="1524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05979"/>
            <a:ext cx="8686800" cy="841771"/>
          </a:xfrm>
        </p:spPr>
        <p:txBody>
          <a:bodyPr>
            <a:noAutofit/>
          </a:bodyPr>
          <a:lstStyle/>
          <a:p>
            <a:pPr algn="l"/>
            <a:r>
              <a:rPr lang="en-US" sz="3200" b="1" dirty="0">
                <a:solidFill>
                  <a:srgbClr val="FF0000"/>
                </a:solidFill>
                <a:latin typeface="Century" pitchFamily="18" charset="0"/>
              </a:rPr>
              <a:t>Innovation: Crucial For Economic Growth</a:t>
            </a:r>
          </a:p>
        </p:txBody>
      </p:sp>
      <p:sp>
        <p:nvSpPr>
          <p:cNvPr id="3" name="Content Placeholder 2"/>
          <p:cNvSpPr>
            <a:spLocks noGrp="1"/>
          </p:cNvSpPr>
          <p:nvPr>
            <p:ph sz="quarter" idx="1"/>
          </p:nvPr>
        </p:nvSpPr>
        <p:spPr>
          <a:xfrm>
            <a:off x="301752" y="1145286"/>
            <a:ext cx="3813048" cy="3560064"/>
          </a:xfrm>
        </p:spPr>
        <p:txBody>
          <a:bodyPr>
            <a:normAutofit fontScale="70000" lnSpcReduction="20000"/>
          </a:bodyPr>
          <a:lstStyle/>
          <a:p>
            <a:r>
              <a:rPr lang="en-US" dirty="0">
                <a:solidFill>
                  <a:schemeClr val="accent3">
                    <a:lumMod val="50000"/>
                  </a:schemeClr>
                </a:solidFill>
                <a:latin typeface="Century" pitchFamily="18" charset="0"/>
              </a:rPr>
              <a:t>Development as regarded by </a:t>
            </a:r>
            <a:r>
              <a:rPr lang="en-US" dirty="0">
                <a:solidFill>
                  <a:srgbClr val="0070C0"/>
                </a:solidFill>
                <a:latin typeface="Century" pitchFamily="18" charset="0"/>
              </a:rPr>
              <a:t>Schumpeter</a:t>
            </a:r>
            <a:r>
              <a:rPr lang="en-US" dirty="0">
                <a:solidFill>
                  <a:schemeClr val="accent3">
                    <a:lumMod val="50000"/>
                  </a:schemeClr>
                </a:solidFill>
                <a:latin typeface="Century" pitchFamily="18" charset="0"/>
              </a:rPr>
              <a:t> as the historical process of structural changes which is driven mostly by the innovation</a:t>
            </a:r>
          </a:p>
          <a:p>
            <a:r>
              <a:rPr lang="en-US" dirty="0">
                <a:solidFill>
                  <a:schemeClr val="accent3">
                    <a:lumMod val="50000"/>
                  </a:schemeClr>
                </a:solidFill>
                <a:latin typeface="Century" pitchFamily="18" charset="0"/>
              </a:rPr>
              <a:t>Schumpeter called innovation as the ‘creative destruction’</a:t>
            </a:r>
          </a:p>
          <a:p>
            <a:r>
              <a:rPr lang="en-US" dirty="0">
                <a:solidFill>
                  <a:schemeClr val="accent3">
                    <a:lumMod val="50000"/>
                  </a:schemeClr>
                </a:solidFill>
                <a:latin typeface="Century" pitchFamily="18" charset="0"/>
              </a:rPr>
              <a:t>And is crucial for the development</a:t>
            </a:r>
          </a:p>
          <a:p>
            <a:r>
              <a:rPr lang="en-US" dirty="0">
                <a:solidFill>
                  <a:schemeClr val="accent3">
                    <a:lumMod val="50000"/>
                  </a:schemeClr>
                </a:solidFill>
                <a:latin typeface="Century" pitchFamily="18" charset="0"/>
              </a:rPr>
              <a:t>It is equally crucial for competitiveness and economic dynamism</a:t>
            </a:r>
          </a:p>
        </p:txBody>
      </p:sp>
      <p:pic>
        <p:nvPicPr>
          <p:cNvPr id="7" name="Picture 6">
            <a:extLst>
              <a:ext uri="{FF2B5EF4-FFF2-40B4-BE49-F238E27FC236}">
                <a16:creationId xmlns:a16="http://schemas.microsoft.com/office/drawing/2014/main" id="{5591A6F6-CD29-43DC-879E-000287E1A6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05400" y="1771650"/>
            <a:ext cx="3200400" cy="23241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US" sz="3200" b="1" dirty="0">
                <a:solidFill>
                  <a:srgbClr val="FF0000"/>
                </a:solidFill>
                <a:latin typeface="Century" pitchFamily="18" charset="0"/>
              </a:rPr>
              <a:t>Channels of Development</a:t>
            </a:r>
            <a:endParaRPr lang="en-IN" sz="3200" b="1" dirty="0">
              <a:solidFill>
                <a:srgbClr val="FF0000"/>
              </a:solidFill>
              <a:latin typeface="Century" pitchFamily="18" charset="0"/>
            </a:endParaRPr>
          </a:p>
        </p:txBody>
      </p:sp>
      <p:sp>
        <p:nvSpPr>
          <p:cNvPr id="3" name="Content Placeholder 2"/>
          <p:cNvSpPr>
            <a:spLocks noGrp="1"/>
          </p:cNvSpPr>
          <p:nvPr>
            <p:ph sz="quarter" idx="1"/>
          </p:nvPr>
        </p:nvSpPr>
        <p:spPr>
          <a:xfrm>
            <a:off x="301752" y="1145286"/>
            <a:ext cx="8689848" cy="3636264"/>
          </a:xfrm>
        </p:spPr>
        <p:txBody>
          <a:bodyPr>
            <a:normAutofit fontScale="92500" lnSpcReduction="20000"/>
          </a:bodyPr>
          <a:lstStyle/>
          <a:p>
            <a:r>
              <a:rPr lang="en-US" dirty="0">
                <a:solidFill>
                  <a:schemeClr val="accent2">
                    <a:lumMod val="50000"/>
                  </a:schemeClr>
                </a:solidFill>
                <a:latin typeface="Century" pitchFamily="18" charset="0"/>
              </a:rPr>
              <a:t>Through </a:t>
            </a:r>
            <a:r>
              <a:rPr lang="en-US" dirty="0">
                <a:solidFill>
                  <a:srgbClr val="C00000"/>
                </a:solidFill>
                <a:latin typeface="Century" pitchFamily="18" charset="0"/>
              </a:rPr>
              <a:t>IPRs owners </a:t>
            </a:r>
            <a:r>
              <a:rPr lang="en-US" dirty="0">
                <a:solidFill>
                  <a:schemeClr val="accent2">
                    <a:lumMod val="50000"/>
                  </a:schemeClr>
                </a:solidFill>
                <a:latin typeface="Century" pitchFamily="18" charset="0"/>
              </a:rPr>
              <a:t>of the right holders seek to exploit their legal rights by turning them into commercial ventures</a:t>
            </a:r>
          </a:p>
          <a:p>
            <a:r>
              <a:rPr lang="en-US" dirty="0">
                <a:solidFill>
                  <a:schemeClr val="accent2">
                    <a:lumMod val="50000"/>
                  </a:schemeClr>
                </a:solidFill>
                <a:latin typeface="Century" pitchFamily="18" charset="0"/>
              </a:rPr>
              <a:t>The possibility of attaining such advantages, in turn incentivizes innovation and creativity</a:t>
            </a:r>
          </a:p>
          <a:p>
            <a:r>
              <a:rPr lang="en-US" dirty="0">
                <a:solidFill>
                  <a:schemeClr val="accent2">
                    <a:lumMod val="50000"/>
                  </a:schemeClr>
                </a:solidFill>
                <a:latin typeface="Century" pitchFamily="18" charset="0"/>
              </a:rPr>
              <a:t>However,  after a certain period of time, these rights expire and then unprotected inventions and innovative works can be freely used by anyone</a:t>
            </a:r>
          </a:p>
          <a:p>
            <a:r>
              <a:rPr lang="en-US" dirty="0">
                <a:solidFill>
                  <a:schemeClr val="accent2">
                    <a:lumMod val="50000"/>
                  </a:schemeClr>
                </a:solidFill>
                <a:latin typeface="Century" pitchFamily="18" charset="0"/>
              </a:rPr>
              <a:t>The developing countries can gain potentially through these inventions</a:t>
            </a:r>
          </a:p>
          <a:p>
            <a:endParaRPr lang="en-I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IN" sz="3200" b="1" dirty="0">
                <a:solidFill>
                  <a:srgbClr val="FF0000"/>
                </a:solidFill>
                <a:latin typeface="Century" pitchFamily="18" charset="0"/>
              </a:rPr>
              <a:t>IPRs and Technology Transfer</a:t>
            </a:r>
            <a:endParaRPr lang="en-US" sz="3200" dirty="0">
              <a:latin typeface="Century" pitchFamily="18" charset="0"/>
            </a:endParaRPr>
          </a:p>
        </p:txBody>
      </p:sp>
      <p:sp>
        <p:nvSpPr>
          <p:cNvPr id="3" name="Content Placeholder 2"/>
          <p:cNvSpPr>
            <a:spLocks noGrp="1"/>
          </p:cNvSpPr>
          <p:nvPr>
            <p:ph sz="quarter" idx="1"/>
          </p:nvPr>
        </p:nvSpPr>
        <p:spPr>
          <a:xfrm>
            <a:off x="228600" y="1145286"/>
            <a:ext cx="8577072" cy="3712464"/>
          </a:xfrm>
        </p:spPr>
        <p:txBody>
          <a:bodyPr>
            <a:normAutofit fontScale="92500" lnSpcReduction="20000"/>
          </a:bodyPr>
          <a:lstStyle/>
          <a:p>
            <a:r>
              <a:rPr lang="en-US" dirty="0">
                <a:solidFill>
                  <a:schemeClr val="accent2">
                    <a:lumMod val="50000"/>
                  </a:schemeClr>
                </a:solidFill>
                <a:latin typeface="Century" pitchFamily="18" charset="0"/>
              </a:rPr>
              <a:t>Transfer of technology is seen as a part of the bargaining with the developed countries by the developing countries in return of protection of IPRs in their country</a:t>
            </a:r>
          </a:p>
          <a:p>
            <a:r>
              <a:rPr lang="en-US" dirty="0">
                <a:solidFill>
                  <a:srgbClr val="0070C0"/>
                </a:solidFill>
                <a:latin typeface="Century" pitchFamily="18" charset="0"/>
              </a:rPr>
              <a:t>TRIPS Agreement</a:t>
            </a:r>
            <a:r>
              <a:rPr lang="en-US" dirty="0">
                <a:solidFill>
                  <a:schemeClr val="accent2">
                    <a:lumMod val="50000"/>
                  </a:schemeClr>
                </a:solidFill>
                <a:latin typeface="Century" pitchFamily="18" charset="0"/>
              </a:rPr>
              <a:t> provides a number of provisions on this </a:t>
            </a:r>
          </a:p>
          <a:p>
            <a:r>
              <a:rPr lang="en-US" dirty="0">
                <a:solidFill>
                  <a:schemeClr val="accent2">
                    <a:lumMod val="50000"/>
                  </a:schemeClr>
                </a:solidFill>
                <a:latin typeface="Century" pitchFamily="18" charset="0"/>
              </a:rPr>
              <a:t>For instance: rationales of safeguarding the  IP is to encourage innovation and transfer of technology, which involves developed countries to offer inducements for their corporations and organizations to transfer technology to LDCs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US" sz="3200" b="1" dirty="0">
                <a:solidFill>
                  <a:srgbClr val="FF0000"/>
                </a:solidFill>
                <a:latin typeface="Century" pitchFamily="18" charset="0"/>
              </a:rPr>
              <a:t>Technology and Development</a:t>
            </a:r>
            <a:endParaRPr lang="en-IN" sz="3200" b="1" dirty="0">
              <a:solidFill>
                <a:srgbClr val="FF0000"/>
              </a:solidFill>
              <a:latin typeface="Century" pitchFamily="18" charset="0"/>
            </a:endParaRPr>
          </a:p>
        </p:txBody>
      </p:sp>
      <p:sp>
        <p:nvSpPr>
          <p:cNvPr id="3" name="Content Placeholder 2"/>
          <p:cNvSpPr>
            <a:spLocks noGrp="1"/>
          </p:cNvSpPr>
          <p:nvPr>
            <p:ph sz="quarter" idx="1"/>
          </p:nvPr>
        </p:nvSpPr>
        <p:spPr>
          <a:xfrm>
            <a:off x="301752" y="1145286"/>
            <a:ext cx="5794248" cy="3429000"/>
          </a:xfrm>
        </p:spPr>
        <p:txBody>
          <a:bodyPr>
            <a:normAutofit fontScale="92500" lnSpcReduction="20000"/>
          </a:bodyPr>
          <a:lstStyle/>
          <a:p>
            <a:r>
              <a:rPr lang="en-US" dirty="0">
                <a:solidFill>
                  <a:schemeClr val="accent2">
                    <a:lumMod val="50000"/>
                  </a:schemeClr>
                </a:solidFill>
                <a:latin typeface="Century" pitchFamily="18" charset="0"/>
              </a:rPr>
              <a:t>Technology as a factor of production-Total Factor Productivity will increase with the application of technology</a:t>
            </a:r>
          </a:p>
          <a:p>
            <a:r>
              <a:rPr lang="en-US" dirty="0">
                <a:solidFill>
                  <a:schemeClr val="accent1"/>
                </a:solidFill>
                <a:latin typeface="Century" pitchFamily="18" charset="0"/>
              </a:rPr>
              <a:t>Endogenous(Solow Model) </a:t>
            </a:r>
          </a:p>
          <a:p>
            <a:r>
              <a:rPr lang="en-US" dirty="0">
                <a:solidFill>
                  <a:schemeClr val="accent1"/>
                </a:solidFill>
                <a:latin typeface="Century" pitchFamily="18" charset="0"/>
              </a:rPr>
              <a:t>Exogenous &amp; New Growth theories</a:t>
            </a:r>
          </a:p>
          <a:p>
            <a:r>
              <a:rPr lang="en-US" dirty="0">
                <a:solidFill>
                  <a:schemeClr val="accent2">
                    <a:lumMod val="50000"/>
                  </a:schemeClr>
                </a:solidFill>
                <a:latin typeface="Century" pitchFamily="18" charset="0"/>
              </a:rPr>
              <a:t>Technology Intensity of Exports as an indicator of Technological specialization – facets of capability building</a:t>
            </a:r>
          </a:p>
          <a:p>
            <a:endParaRPr lang="en-IN" dirty="0">
              <a:latin typeface="Century" pitchFamily="18" charset="0"/>
            </a:endParaRPr>
          </a:p>
        </p:txBody>
      </p:sp>
      <p:pic>
        <p:nvPicPr>
          <p:cNvPr id="5" name="Picture 4">
            <a:extLst>
              <a:ext uri="{FF2B5EF4-FFF2-40B4-BE49-F238E27FC236}">
                <a16:creationId xmlns:a16="http://schemas.microsoft.com/office/drawing/2014/main" id="{069DA250-3CA6-4748-A150-FD7B9E1721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2200" y="1352550"/>
            <a:ext cx="2663952" cy="2286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a:solidFill>
                  <a:srgbClr val="FF0000"/>
                </a:solidFill>
                <a:latin typeface="Century" pitchFamily="18" charset="0"/>
              </a:rPr>
              <a:t>The Choice of Strategy and Development</a:t>
            </a:r>
            <a:endParaRPr lang="en-IN" sz="3200" b="1" dirty="0">
              <a:solidFill>
                <a:srgbClr val="FF0000"/>
              </a:solidFill>
              <a:latin typeface="Century" pitchFamily="18" charset="0"/>
            </a:endParaRPr>
          </a:p>
        </p:txBody>
      </p:sp>
      <p:sp>
        <p:nvSpPr>
          <p:cNvPr id="3" name="Content Placeholder 2"/>
          <p:cNvSpPr>
            <a:spLocks noGrp="1"/>
          </p:cNvSpPr>
          <p:nvPr>
            <p:ph sz="quarter" idx="1"/>
          </p:nvPr>
        </p:nvSpPr>
        <p:spPr>
          <a:xfrm>
            <a:off x="152400" y="1145286"/>
            <a:ext cx="8839200" cy="3712464"/>
          </a:xfrm>
        </p:spPr>
        <p:txBody>
          <a:bodyPr>
            <a:normAutofit fontScale="92500" lnSpcReduction="10000"/>
          </a:bodyPr>
          <a:lstStyle/>
          <a:p>
            <a:r>
              <a:rPr lang="en-US" dirty="0">
                <a:solidFill>
                  <a:schemeClr val="accent2">
                    <a:lumMod val="50000"/>
                  </a:schemeClr>
                </a:solidFill>
                <a:latin typeface="Century" pitchFamily="18" charset="0"/>
              </a:rPr>
              <a:t>Import substitution </a:t>
            </a:r>
            <a:r>
              <a:rPr lang="en-US" dirty="0" err="1">
                <a:solidFill>
                  <a:schemeClr val="accent2">
                    <a:lumMod val="50000"/>
                  </a:schemeClr>
                </a:solidFill>
                <a:latin typeface="Century" pitchFamily="18" charset="0"/>
              </a:rPr>
              <a:t>vs</a:t>
            </a:r>
            <a:r>
              <a:rPr lang="en-US" dirty="0">
                <a:solidFill>
                  <a:schemeClr val="accent2">
                    <a:lumMod val="50000"/>
                  </a:schemeClr>
                </a:solidFill>
                <a:latin typeface="Century" pitchFamily="18" charset="0"/>
              </a:rPr>
              <a:t> export promotion</a:t>
            </a:r>
            <a:endParaRPr lang="en-IN" dirty="0">
              <a:solidFill>
                <a:schemeClr val="accent2">
                  <a:lumMod val="50000"/>
                </a:schemeClr>
              </a:solidFill>
              <a:latin typeface="Century" pitchFamily="18" charset="0"/>
            </a:endParaRPr>
          </a:p>
          <a:p>
            <a:r>
              <a:rPr lang="en-IN" dirty="0">
                <a:solidFill>
                  <a:schemeClr val="accent2">
                    <a:lumMod val="50000"/>
                  </a:schemeClr>
                </a:solidFill>
                <a:latin typeface="Century" pitchFamily="18" charset="0"/>
              </a:rPr>
              <a:t>Japan and the Asian Tigers, such as Hong Kong, Singapore, South Korea, and Taiwan managed to raise their per capita incomes—between 1950s to 1990s </a:t>
            </a:r>
          </a:p>
          <a:p>
            <a:r>
              <a:rPr lang="en-IN" dirty="0">
                <a:solidFill>
                  <a:schemeClr val="accent2">
                    <a:lumMod val="50000"/>
                  </a:schemeClr>
                </a:solidFill>
                <a:latin typeface="Century" pitchFamily="18" charset="0"/>
              </a:rPr>
              <a:t>Moreover, Thailand, Indonesia, China, and Malaysia have maintained high rate of growth for long periods- able to reduce their development gap</a:t>
            </a:r>
          </a:p>
          <a:p>
            <a:r>
              <a:rPr lang="en-US" dirty="0">
                <a:solidFill>
                  <a:schemeClr val="accent2">
                    <a:lumMod val="50000"/>
                  </a:schemeClr>
                </a:solidFill>
                <a:latin typeface="Century" pitchFamily="18" charset="0"/>
              </a:rPr>
              <a:t>They all have shifted from import substitution to export promotion outward oriented developmental strategy</a:t>
            </a:r>
          </a:p>
          <a:p>
            <a:endParaRPr lang="en-IN" dirty="0">
              <a:solidFill>
                <a:schemeClr val="accent2">
                  <a:lumMod val="50000"/>
                </a:schemeClr>
              </a:solidFill>
              <a:latin typeface="Century"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US" sz="3200" b="1" dirty="0">
                <a:solidFill>
                  <a:srgbClr val="FF0000"/>
                </a:solidFill>
                <a:latin typeface="Century" pitchFamily="18" charset="0"/>
              </a:rPr>
              <a:t>Choice of the Model</a:t>
            </a:r>
            <a:endParaRPr lang="en-IN" sz="3200" b="1" dirty="0">
              <a:solidFill>
                <a:srgbClr val="FF0000"/>
              </a:solidFill>
              <a:latin typeface="Century" pitchFamily="18" charset="0"/>
            </a:endParaRPr>
          </a:p>
        </p:txBody>
      </p:sp>
      <p:sp>
        <p:nvSpPr>
          <p:cNvPr id="3" name="Content Placeholder 2"/>
          <p:cNvSpPr>
            <a:spLocks noGrp="1"/>
          </p:cNvSpPr>
          <p:nvPr>
            <p:ph sz="quarter" idx="1"/>
          </p:nvPr>
        </p:nvSpPr>
        <p:spPr>
          <a:xfrm>
            <a:off x="76200" y="1123950"/>
            <a:ext cx="8839200" cy="3864864"/>
          </a:xfrm>
        </p:spPr>
        <p:txBody>
          <a:bodyPr>
            <a:normAutofit fontScale="92500" lnSpcReduction="20000"/>
          </a:bodyPr>
          <a:lstStyle/>
          <a:p>
            <a:r>
              <a:rPr lang="en-IN" dirty="0">
                <a:solidFill>
                  <a:schemeClr val="accent2">
                    <a:lumMod val="50000"/>
                  </a:schemeClr>
                </a:solidFill>
                <a:latin typeface="Century" pitchFamily="18" charset="0"/>
              </a:rPr>
              <a:t>The long-run growth in the neo-classical growth models is exogenously determined </a:t>
            </a:r>
          </a:p>
          <a:p>
            <a:r>
              <a:rPr lang="en-IN" dirty="0">
                <a:solidFill>
                  <a:schemeClr val="accent2">
                    <a:lumMod val="50000"/>
                  </a:schemeClr>
                </a:solidFill>
                <a:latin typeface="Century" pitchFamily="18" charset="0"/>
              </a:rPr>
              <a:t>In </a:t>
            </a:r>
            <a:r>
              <a:rPr lang="en-IN" dirty="0" err="1">
                <a:solidFill>
                  <a:srgbClr val="002060"/>
                </a:solidFill>
                <a:latin typeface="Century" pitchFamily="18" charset="0"/>
              </a:rPr>
              <a:t>Harrod</a:t>
            </a:r>
            <a:r>
              <a:rPr lang="en-IN" dirty="0">
                <a:solidFill>
                  <a:srgbClr val="002060"/>
                </a:solidFill>
                <a:latin typeface="Century" pitchFamily="18" charset="0"/>
              </a:rPr>
              <a:t>- </a:t>
            </a:r>
            <a:r>
              <a:rPr lang="en-IN" dirty="0" err="1">
                <a:solidFill>
                  <a:srgbClr val="002060"/>
                </a:solidFill>
                <a:latin typeface="Century" pitchFamily="18" charset="0"/>
              </a:rPr>
              <a:t>Domar</a:t>
            </a:r>
            <a:r>
              <a:rPr lang="en-IN" dirty="0">
                <a:solidFill>
                  <a:srgbClr val="002060"/>
                </a:solidFill>
                <a:latin typeface="Century" pitchFamily="18" charset="0"/>
              </a:rPr>
              <a:t> Model- </a:t>
            </a:r>
            <a:r>
              <a:rPr lang="en-IN" dirty="0">
                <a:solidFill>
                  <a:schemeClr val="accent2">
                    <a:lumMod val="50000"/>
                  </a:schemeClr>
                </a:solidFill>
                <a:latin typeface="Century" pitchFamily="18" charset="0"/>
              </a:rPr>
              <a:t>long-run growth is determined by the savings rate</a:t>
            </a:r>
          </a:p>
          <a:p>
            <a:r>
              <a:rPr lang="en-IN" dirty="0">
                <a:solidFill>
                  <a:srgbClr val="002060"/>
                </a:solidFill>
                <a:latin typeface="Century" pitchFamily="18" charset="0"/>
              </a:rPr>
              <a:t>The Solow Model- </a:t>
            </a:r>
            <a:r>
              <a:rPr lang="en-IN" dirty="0">
                <a:solidFill>
                  <a:schemeClr val="accent2">
                    <a:lumMod val="50000"/>
                  </a:schemeClr>
                </a:solidFill>
                <a:latin typeface="Century" pitchFamily="18" charset="0"/>
              </a:rPr>
              <a:t>the long-run growth is determined by the rate of technical progress</a:t>
            </a:r>
          </a:p>
          <a:p>
            <a:r>
              <a:rPr lang="en-IN" dirty="0">
                <a:solidFill>
                  <a:schemeClr val="accent2">
                    <a:lumMod val="50000"/>
                  </a:schemeClr>
                </a:solidFill>
                <a:latin typeface="Century" pitchFamily="18" charset="0"/>
              </a:rPr>
              <a:t>However, these models do not explained the causes of the savings rate and rate of technological progress</a:t>
            </a:r>
          </a:p>
          <a:p>
            <a:r>
              <a:rPr lang="en-IN" dirty="0">
                <a:solidFill>
                  <a:schemeClr val="accent2">
                    <a:lumMod val="50000"/>
                  </a:schemeClr>
                </a:solidFill>
                <a:latin typeface="Century" pitchFamily="18" charset="0"/>
              </a:rPr>
              <a:t>Endogenous growth models attempted to remove this drawback by using microeconomics for developing the macroeconomic growth model</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 y="171450"/>
            <a:ext cx="8534400" cy="723900"/>
          </a:xfrm>
        </p:spPr>
        <p:txBody>
          <a:bodyPr>
            <a:normAutofit/>
          </a:bodyPr>
          <a:lstStyle/>
          <a:p>
            <a:pPr algn="l"/>
            <a:r>
              <a:rPr lang="en-IN" sz="3200" b="1" dirty="0">
                <a:solidFill>
                  <a:srgbClr val="FF0000"/>
                </a:solidFill>
                <a:latin typeface="Century" pitchFamily="18" charset="0"/>
              </a:rPr>
              <a:t>IPRs and Trade</a:t>
            </a:r>
            <a:endParaRPr lang="en-IN" sz="3200" dirty="0"/>
          </a:p>
        </p:txBody>
      </p:sp>
      <p:sp>
        <p:nvSpPr>
          <p:cNvPr id="3" name="Content Placeholder 2"/>
          <p:cNvSpPr>
            <a:spLocks noGrp="1"/>
          </p:cNvSpPr>
          <p:nvPr>
            <p:ph sz="quarter" idx="1"/>
          </p:nvPr>
        </p:nvSpPr>
        <p:spPr>
          <a:xfrm>
            <a:off x="152400" y="1047750"/>
            <a:ext cx="5867400" cy="3733800"/>
          </a:xfrm>
        </p:spPr>
        <p:txBody>
          <a:bodyPr>
            <a:normAutofit fontScale="55000" lnSpcReduction="20000"/>
          </a:bodyPr>
          <a:lstStyle/>
          <a:p>
            <a:r>
              <a:rPr lang="en-US" sz="2900" dirty="0">
                <a:solidFill>
                  <a:schemeClr val="accent2">
                    <a:lumMod val="50000"/>
                  </a:schemeClr>
                </a:solidFill>
                <a:latin typeface="Century" pitchFamily="18" charset="0"/>
                <a:cs typeface="Times New Roman" pitchFamily="18" charset="0"/>
              </a:rPr>
              <a:t>Technology determines trade patters (</a:t>
            </a:r>
            <a:r>
              <a:rPr lang="en-US" sz="2900" dirty="0">
                <a:solidFill>
                  <a:srgbClr val="0070C0"/>
                </a:solidFill>
                <a:latin typeface="Century" pitchFamily="18" charset="0"/>
                <a:cs typeface="Times New Roman" pitchFamily="18" charset="0"/>
              </a:rPr>
              <a:t>Vernon’s Product Life Cycle model)</a:t>
            </a:r>
          </a:p>
          <a:p>
            <a:r>
              <a:rPr lang="en-US" sz="2900" dirty="0">
                <a:solidFill>
                  <a:schemeClr val="accent2">
                    <a:lumMod val="50000"/>
                  </a:schemeClr>
                </a:solidFill>
                <a:latin typeface="Century" pitchFamily="18" charset="0"/>
                <a:cs typeface="Times New Roman" pitchFamily="18" charset="0"/>
              </a:rPr>
              <a:t>But, the level of technology is a positive function of intellectual property</a:t>
            </a:r>
          </a:p>
          <a:p>
            <a:r>
              <a:rPr lang="en-US" sz="2900" dirty="0">
                <a:solidFill>
                  <a:schemeClr val="accent2">
                    <a:lumMod val="50000"/>
                  </a:schemeClr>
                </a:solidFill>
                <a:latin typeface="Century" pitchFamily="18" charset="0"/>
                <a:cs typeface="Times New Roman" pitchFamily="18" charset="0"/>
              </a:rPr>
              <a:t>Tech-intensity of exports and value capturing in global value chains depends much upon the technology</a:t>
            </a:r>
          </a:p>
          <a:p>
            <a:r>
              <a:rPr lang="en-US" sz="2900" dirty="0">
                <a:solidFill>
                  <a:schemeClr val="accent2">
                    <a:lumMod val="50000"/>
                  </a:schemeClr>
                </a:solidFill>
                <a:latin typeface="Century" pitchFamily="18" charset="0"/>
                <a:cs typeface="Times New Roman" pitchFamily="18" charset="0"/>
              </a:rPr>
              <a:t>Both at the firm and national level-technology is endogenous</a:t>
            </a:r>
          </a:p>
          <a:p>
            <a:r>
              <a:rPr lang="en-US" sz="2900" dirty="0">
                <a:solidFill>
                  <a:schemeClr val="accent2">
                    <a:lumMod val="50000"/>
                  </a:schemeClr>
                </a:solidFill>
                <a:latin typeface="Century" pitchFamily="18" charset="0"/>
                <a:cs typeface="Times New Roman" pitchFamily="18" charset="0"/>
              </a:rPr>
              <a:t>There is two-way relationship between technology and trade</a:t>
            </a:r>
          </a:p>
          <a:p>
            <a:r>
              <a:rPr lang="en-US" sz="2900" dirty="0">
                <a:solidFill>
                  <a:schemeClr val="accent2">
                    <a:lumMod val="50000"/>
                  </a:schemeClr>
                </a:solidFill>
                <a:latin typeface="Century" pitchFamily="18" charset="0"/>
                <a:cs typeface="Times New Roman" pitchFamily="18" charset="0"/>
              </a:rPr>
              <a:t>Trade seen as a ‘highway of learning’ (Grossman and </a:t>
            </a:r>
            <a:r>
              <a:rPr lang="en-US" sz="2900" dirty="0" err="1">
                <a:solidFill>
                  <a:schemeClr val="accent2">
                    <a:lumMod val="50000"/>
                  </a:schemeClr>
                </a:solidFill>
                <a:latin typeface="Century" pitchFamily="18" charset="0"/>
                <a:cs typeface="Times New Roman" pitchFamily="18" charset="0"/>
              </a:rPr>
              <a:t>Helpman</a:t>
            </a:r>
            <a:r>
              <a:rPr lang="en-US" sz="2900" dirty="0">
                <a:solidFill>
                  <a:schemeClr val="accent2">
                    <a:lumMod val="50000"/>
                  </a:schemeClr>
                </a:solidFill>
                <a:latin typeface="Century" pitchFamily="18" charset="0"/>
                <a:cs typeface="Times New Roman" pitchFamily="18" charset="0"/>
              </a:rPr>
              <a:t>, 1994); specially under Global Value Chains (GVCs)</a:t>
            </a:r>
          </a:p>
          <a:p>
            <a:r>
              <a:rPr lang="en-US" sz="2900" dirty="0">
                <a:solidFill>
                  <a:schemeClr val="accent2">
                    <a:lumMod val="50000"/>
                  </a:schemeClr>
                </a:solidFill>
                <a:latin typeface="Century" pitchFamily="18" charset="0"/>
                <a:cs typeface="Times New Roman" pitchFamily="18" charset="0"/>
              </a:rPr>
              <a:t>Further, merchandise trade itself may substantiate tech-import, via imports of sophisticated machinery and intermediates</a:t>
            </a:r>
          </a:p>
          <a:p>
            <a:endParaRPr lang="en-IN" dirty="0"/>
          </a:p>
        </p:txBody>
      </p:sp>
      <p:pic>
        <p:nvPicPr>
          <p:cNvPr id="5" name="Picture 4">
            <a:extLst>
              <a:ext uri="{FF2B5EF4-FFF2-40B4-BE49-F238E27FC236}">
                <a16:creationId xmlns:a16="http://schemas.microsoft.com/office/drawing/2014/main" id="{ACDCF988-BD2E-43C4-ACAB-E4EBF1BF3D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19800" y="1504950"/>
            <a:ext cx="2619375" cy="174307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IN" b="1" dirty="0">
                <a:solidFill>
                  <a:srgbClr val="FF0000"/>
                </a:solidFill>
                <a:latin typeface="Century" pitchFamily="18" charset="0"/>
              </a:rPr>
              <a:t>IPRs and Trade...</a:t>
            </a:r>
          </a:p>
        </p:txBody>
      </p:sp>
      <p:sp>
        <p:nvSpPr>
          <p:cNvPr id="3" name="Content Placeholder 2"/>
          <p:cNvSpPr>
            <a:spLocks noGrp="1"/>
          </p:cNvSpPr>
          <p:nvPr>
            <p:ph sz="quarter" idx="1"/>
          </p:nvPr>
        </p:nvSpPr>
        <p:spPr>
          <a:xfrm>
            <a:off x="152400" y="1145286"/>
            <a:ext cx="8839200" cy="3864864"/>
          </a:xfrm>
        </p:spPr>
        <p:txBody>
          <a:bodyPr>
            <a:normAutofit fontScale="92500" lnSpcReduction="20000"/>
          </a:bodyPr>
          <a:lstStyle/>
          <a:p>
            <a:r>
              <a:rPr lang="en-US" dirty="0">
                <a:latin typeface="Century" pitchFamily="18" charset="0"/>
              </a:rPr>
              <a:t>1970 onwards witnessed the rapid increase in the commercial significance of the intellectual property rights</a:t>
            </a:r>
          </a:p>
          <a:p>
            <a:r>
              <a:rPr lang="en-US" dirty="0">
                <a:latin typeface="Century" pitchFamily="18" charset="0"/>
              </a:rPr>
              <a:t>This was the period when intellectual property based industries and the economies as well, witnessed a rapid  shift in the composition of their manufacturing exports</a:t>
            </a:r>
          </a:p>
          <a:p>
            <a:r>
              <a:rPr lang="en-US" dirty="0">
                <a:latin typeface="Century" pitchFamily="18" charset="0"/>
              </a:rPr>
              <a:t>Again, value-added in the high-tech manufacturing as well as the value of exports  increased considerably in most of the advanced economies since 1970</a:t>
            </a:r>
          </a:p>
          <a:p>
            <a:r>
              <a:rPr lang="en-US" dirty="0">
                <a:latin typeface="Century" pitchFamily="18" charset="0"/>
              </a:rPr>
              <a:t>These advanced economies exports most sophisticated products of high-technological intensity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IN" sz="3200" b="1" dirty="0">
                <a:solidFill>
                  <a:srgbClr val="FF0000"/>
                </a:solidFill>
                <a:latin typeface="Century" pitchFamily="18" charset="0"/>
              </a:rPr>
              <a:t>IPRs: Ethical Dilemma</a:t>
            </a:r>
          </a:p>
        </p:txBody>
      </p:sp>
      <p:sp>
        <p:nvSpPr>
          <p:cNvPr id="3" name="Content Placeholder 2"/>
          <p:cNvSpPr>
            <a:spLocks noGrp="1"/>
          </p:cNvSpPr>
          <p:nvPr>
            <p:ph sz="quarter" idx="1"/>
          </p:nvPr>
        </p:nvSpPr>
        <p:spPr/>
        <p:txBody>
          <a:bodyPr>
            <a:normAutofit fontScale="92500" lnSpcReduction="20000"/>
          </a:bodyPr>
          <a:lstStyle/>
          <a:p>
            <a:pPr algn="just"/>
            <a:r>
              <a:rPr lang="en-US" dirty="0">
                <a:latin typeface="Century" pitchFamily="18" charset="0"/>
              </a:rPr>
              <a:t>Skills, talent and scientific expertise- whether they can fit into property rights  regime-intangible nature</a:t>
            </a:r>
          </a:p>
          <a:p>
            <a:r>
              <a:rPr lang="en-US" dirty="0">
                <a:latin typeface="Century" pitchFamily="18" charset="0"/>
              </a:rPr>
              <a:t>Ethical &amp; moral questions of public domain and public interest </a:t>
            </a:r>
            <a:r>
              <a:rPr lang="en-US" dirty="0" err="1">
                <a:latin typeface="Century" pitchFamily="18" charset="0"/>
              </a:rPr>
              <a:t>vs</a:t>
            </a:r>
            <a:r>
              <a:rPr lang="en-US" dirty="0">
                <a:latin typeface="Century" pitchFamily="18" charset="0"/>
              </a:rPr>
              <a:t> IPRs protection</a:t>
            </a:r>
          </a:p>
          <a:p>
            <a:r>
              <a:rPr lang="en-US" dirty="0">
                <a:latin typeface="Century" pitchFamily="18" charset="0"/>
              </a:rPr>
              <a:t>Pharmaceutical patents and access to medicines</a:t>
            </a:r>
          </a:p>
          <a:p>
            <a:r>
              <a:rPr lang="en-US" dirty="0">
                <a:latin typeface="Century" pitchFamily="18" charset="0"/>
              </a:rPr>
              <a:t>Agriculture development (GM crops </a:t>
            </a:r>
            <a:r>
              <a:rPr lang="en-US" dirty="0" err="1">
                <a:latin typeface="Century" pitchFamily="18" charset="0"/>
              </a:rPr>
              <a:t>vs</a:t>
            </a:r>
            <a:r>
              <a:rPr lang="en-US" dirty="0">
                <a:latin typeface="Century" pitchFamily="18" charset="0"/>
              </a:rPr>
              <a:t> organic food)</a:t>
            </a:r>
          </a:p>
          <a:p>
            <a:r>
              <a:rPr lang="en-US" dirty="0">
                <a:latin typeface="Century" pitchFamily="18" charset="0"/>
              </a:rPr>
              <a:t>Plant varieties protection and biodiversity</a:t>
            </a:r>
          </a:p>
          <a:p>
            <a:r>
              <a:rPr lang="en-US" dirty="0">
                <a:latin typeface="Century" pitchFamily="18" charset="0"/>
              </a:rPr>
              <a:t>Unfair patents of traditional knowledge</a:t>
            </a:r>
          </a:p>
          <a:p>
            <a:r>
              <a:rPr lang="en-US" dirty="0">
                <a:latin typeface="Century" pitchFamily="18" charset="0"/>
              </a:rPr>
              <a:t>Patents and farmer’s rights</a:t>
            </a:r>
          </a:p>
          <a:p>
            <a:pPr>
              <a:buNone/>
            </a:pPr>
            <a:endParaRPr lang="en-US" dirty="0">
              <a:latin typeface="Century" pitchFamily="18" charset="0"/>
            </a:endParaRPr>
          </a:p>
          <a:p>
            <a:endParaRPr lang="en-IN"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IN" sz="3200" b="1" dirty="0">
                <a:solidFill>
                  <a:srgbClr val="FF0000"/>
                </a:solidFill>
                <a:latin typeface="Century" pitchFamily="18" charset="0"/>
              </a:rPr>
              <a:t>IPRs: Ethical Dilemma…</a:t>
            </a:r>
            <a:endParaRPr lang="en-US" sz="3200" dirty="0">
              <a:latin typeface="Century" pitchFamily="18" charset="0"/>
            </a:endParaRPr>
          </a:p>
        </p:txBody>
      </p:sp>
      <p:sp>
        <p:nvSpPr>
          <p:cNvPr id="3" name="Content Placeholder 2"/>
          <p:cNvSpPr>
            <a:spLocks noGrp="1"/>
          </p:cNvSpPr>
          <p:nvPr>
            <p:ph sz="quarter" idx="1"/>
          </p:nvPr>
        </p:nvSpPr>
        <p:spPr>
          <a:xfrm>
            <a:off x="301752" y="1145286"/>
            <a:ext cx="8503920" cy="3864864"/>
          </a:xfrm>
        </p:spPr>
        <p:txBody>
          <a:bodyPr>
            <a:normAutofit lnSpcReduction="10000"/>
          </a:bodyPr>
          <a:lstStyle/>
          <a:p>
            <a:r>
              <a:rPr lang="en-US" sz="2800" dirty="0">
                <a:solidFill>
                  <a:schemeClr val="accent2">
                    <a:lumMod val="50000"/>
                  </a:schemeClr>
                </a:solidFill>
                <a:latin typeface="Century" pitchFamily="18" charset="0"/>
                <a:cs typeface="Arial" pitchFamily="34" charset="0"/>
              </a:rPr>
              <a:t>Knowledge : Technology-Product  Linkage or tradable</a:t>
            </a:r>
          </a:p>
          <a:p>
            <a:r>
              <a:rPr lang="en-US" sz="2800" dirty="0">
                <a:solidFill>
                  <a:schemeClr val="accent2">
                    <a:lumMod val="50000"/>
                  </a:schemeClr>
                </a:solidFill>
                <a:latin typeface="Century" pitchFamily="18" charset="0"/>
                <a:cs typeface="Arial" pitchFamily="34" charset="0"/>
              </a:rPr>
              <a:t>Market Structure necessary for Innovation -Monopolies versus competition</a:t>
            </a:r>
          </a:p>
          <a:p>
            <a:r>
              <a:rPr lang="en-US" sz="2800" dirty="0">
                <a:solidFill>
                  <a:schemeClr val="accent2">
                    <a:lumMod val="50000"/>
                  </a:schemeClr>
                </a:solidFill>
                <a:latin typeface="Century" pitchFamily="18" charset="0"/>
                <a:cs typeface="Arial" pitchFamily="34" charset="0"/>
              </a:rPr>
              <a:t>Right holder vested: Community versus Individual- corporate entities-Sliding balance from ‘sui generis’ to entrenched systems of Intellectual Property- strength or weakness of  IPRs </a:t>
            </a:r>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IN" sz="3200" b="1" dirty="0">
                <a:solidFill>
                  <a:srgbClr val="FF0000"/>
                </a:solidFill>
                <a:latin typeface="Century" pitchFamily="18" charset="0"/>
              </a:rPr>
              <a:t>IPRs and Development</a:t>
            </a:r>
          </a:p>
        </p:txBody>
      </p:sp>
      <p:sp>
        <p:nvSpPr>
          <p:cNvPr id="3" name="Content Placeholder 2"/>
          <p:cNvSpPr>
            <a:spLocks noGrp="1"/>
          </p:cNvSpPr>
          <p:nvPr>
            <p:ph sz="quarter" idx="1"/>
          </p:nvPr>
        </p:nvSpPr>
        <p:spPr>
          <a:xfrm>
            <a:off x="152400" y="1145286"/>
            <a:ext cx="8839200" cy="3636264"/>
          </a:xfrm>
        </p:spPr>
        <p:txBody>
          <a:bodyPr>
            <a:normAutofit fontScale="92500" lnSpcReduction="20000"/>
          </a:bodyPr>
          <a:lstStyle/>
          <a:p>
            <a:r>
              <a:rPr lang="en-IN" dirty="0">
                <a:solidFill>
                  <a:srgbClr val="C00000"/>
                </a:solidFill>
                <a:latin typeface="Century" pitchFamily="18" charset="0"/>
              </a:rPr>
              <a:t>Patent protection </a:t>
            </a:r>
            <a:r>
              <a:rPr lang="en-IN" dirty="0">
                <a:latin typeface="Century" pitchFamily="18" charset="0"/>
              </a:rPr>
              <a:t>is crucial for the economy, since it leads to invention and commercial ventures through different contractual agreements or own venture and escalate the process of development</a:t>
            </a:r>
          </a:p>
          <a:p>
            <a:r>
              <a:rPr lang="en-IN" dirty="0">
                <a:solidFill>
                  <a:srgbClr val="002060"/>
                </a:solidFill>
                <a:latin typeface="Century" pitchFamily="18" charset="0"/>
              </a:rPr>
              <a:t>Trademark</a:t>
            </a:r>
            <a:r>
              <a:rPr lang="en-IN" dirty="0">
                <a:latin typeface="Century" pitchFamily="18" charset="0"/>
              </a:rPr>
              <a:t> is a valuable asset which has significant economic importance for a firm, since it enables the firm to establish a market position, and reputation</a:t>
            </a:r>
          </a:p>
          <a:p>
            <a:r>
              <a:rPr lang="en-IN" dirty="0">
                <a:latin typeface="Century" pitchFamily="18" charset="0"/>
              </a:rPr>
              <a:t>Effective protection of trademarks thus becomes crucial for the commercial activity in any given country.</a:t>
            </a:r>
          </a:p>
          <a:p>
            <a:r>
              <a:rPr lang="en-IN" dirty="0">
                <a:solidFill>
                  <a:srgbClr val="FF0000"/>
                </a:solidFill>
                <a:latin typeface="Century" pitchFamily="18" charset="0"/>
              </a:rPr>
              <a:t>https://youtu.be/Ni3X_8SrLwM</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33350"/>
            <a:ext cx="8915400" cy="841771"/>
          </a:xfrm>
        </p:spPr>
        <p:txBody>
          <a:bodyPr>
            <a:normAutofit/>
          </a:bodyPr>
          <a:lstStyle/>
          <a:p>
            <a:pPr algn="l"/>
            <a:r>
              <a:rPr lang="en-IN" sz="3200" b="1" dirty="0">
                <a:solidFill>
                  <a:srgbClr val="FF0000"/>
                </a:solidFill>
                <a:latin typeface="Century" pitchFamily="18" charset="0"/>
              </a:rPr>
              <a:t>IPRs and Development…</a:t>
            </a:r>
            <a:endParaRPr lang="en-US" sz="3200" b="1" dirty="0">
              <a:solidFill>
                <a:srgbClr val="FF0000"/>
              </a:solidFill>
              <a:latin typeface="Century" pitchFamily="18" charset="0"/>
            </a:endParaRPr>
          </a:p>
        </p:txBody>
      </p:sp>
      <p:sp>
        <p:nvSpPr>
          <p:cNvPr id="3" name="Content Placeholder 2"/>
          <p:cNvSpPr>
            <a:spLocks noGrp="1"/>
          </p:cNvSpPr>
          <p:nvPr>
            <p:ph sz="quarter" idx="1"/>
          </p:nvPr>
        </p:nvSpPr>
        <p:spPr>
          <a:xfrm>
            <a:off x="228600" y="1123950"/>
            <a:ext cx="4343400" cy="3657600"/>
          </a:xfrm>
        </p:spPr>
        <p:txBody>
          <a:bodyPr>
            <a:normAutofit fontScale="70000" lnSpcReduction="20000"/>
          </a:bodyPr>
          <a:lstStyle/>
          <a:p>
            <a:r>
              <a:rPr lang="en-US" dirty="0">
                <a:solidFill>
                  <a:srgbClr val="0070C0"/>
                </a:solidFill>
                <a:latin typeface="Century" pitchFamily="18" charset="0"/>
              </a:rPr>
              <a:t>Copyright</a:t>
            </a:r>
            <a:r>
              <a:rPr lang="en-US" dirty="0">
                <a:latin typeface="Century" pitchFamily="18" charset="0"/>
              </a:rPr>
              <a:t> has stimulated the development of exciting  local cultures, and encouraged their diffusion worldwide. For example, the international popularity of reggae, salsa, and different forms of world music.</a:t>
            </a:r>
          </a:p>
          <a:p>
            <a:r>
              <a:rPr lang="en-US" dirty="0">
                <a:solidFill>
                  <a:srgbClr val="C00000"/>
                </a:solidFill>
                <a:latin typeface="Century" pitchFamily="18" charset="0"/>
              </a:rPr>
              <a:t>Geographical Indications </a:t>
            </a:r>
            <a:r>
              <a:rPr lang="en-US" dirty="0">
                <a:latin typeface="Century" pitchFamily="18" charset="0"/>
              </a:rPr>
              <a:t>gives countries and particular regions a special status and the GI tagged product is recognized worldwide: It has huge commercial value and eventually an economy gains through GI protection</a:t>
            </a:r>
          </a:p>
          <a:p>
            <a:endParaRPr lang="en-US" dirty="0">
              <a:latin typeface="Century" pitchFamily="18" charset="0"/>
            </a:endParaRPr>
          </a:p>
        </p:txBody>
      </p:sp>
      <p:pic>
        <p:nvPicPr>
          <p:cNvPr id="5" name="Picture 4">
            <a:extLst>
              <a:ext uri="{FF2B5EF4-FFF2-40B4-BE49-F238E27FC236}">
                <a16:creationId xmlns:a16="http://schemas.microsoft.com/office/drawing/2014/main" id="{868784D9-6E3B-4548-B22A-1224C0D707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86400" y="1581150"/>
            <a:ext cx="2143125" cy="214312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US" sz="3200" b="1" dirty="0">
                <a:solidFill>
                  <a:srgbClr val="FF0000"/>
                </a:solidFill>
                <a:latin typeface="Century" pitchFamily="18" charset="0"/>
              </a:rPr>
              <a:t>Government’s  Role</a:t>
            </a:r>
            <a:endParaRPr lang="en-IN" sz="3200" b="1" dirty="0">
              <a:solidFill>
                <a:srgbClr val="FF0000"/>
              </a:solidFill>
              <a:latin typeface="Century" pitchFamily="18" charset="0"/>
            </a:endParaRPr>
          </a:p>
        </p:txBody>
      </p:sp>
      <p:sp>
        <p:nvSpPr>
          <p:cNvPr id="3" name="Content Placeholder 2"/>
          <p:cNvSpPr>
            <a:spLocks noGrp="1"/>
          </p:cNvSpPr>
          <p:nvPr>
            <p:ph sz="quarter" idx="1"/>
          </p:nvPr>
        </p:nvSpPr>
        <p:spPr>
          <a:xfrm>
            <a:off x="301752" y="1145286"/>
            <a:ext cx="3660648" cy="3407664"/>
          </a:xfrm>
        </p:spPr>
        <p:txBody>
          <a:bodyPr>
            <a:normAutofit fontScale="55000" lnSpcReduction="20000"/>
          </a:bodyPr>
          <a:lstStyle/>
          <a:p>
            <a:r>
              <a:rPr lang="en-US" sz="3000" dirty="0">
                <a:solidFill>
                  <a:srgbClr val="C00000"/>
                </a:solidFill>
                <a:latin typeface="Century" pitchFamily="18" charset="0"/>
              </a:rPr>
              <a:t>Government policy </a:t>
            </a:r>
            <a:r>
              <a:rPr lang="en-US" sz="3000" dirty="0">
                <a:latin typeface="Century" pitchFamily="18" charset="0"/>
              </a:rPr>
              <a:t>to strengthen capability building in domestic firms to overcome failures in learning</a:t>
            </a:r>
          </a:p>
          <a:p>
            <a:r>
              <a:rPr lang="en-US" sz="3000" dirty="0">
                <a:latin typeface="Century" pitchFamily="18" charset="0"/>
              </a:rPr>
              <a:t>Institutional Infrastructure for R&amp;D</a:t>
            </a:r>
          </a:p>
          <a:p>
            <a:r>
              <a:rPr lang="en-US" sz="3000" dirty="0">
                <a:latin typeface="Century" pitchFamily="18" charset="0"/>
              </a:rPr>
              <a:t>Policies to attract FDI that brings new technology</a:t>
            </a:r>
          </a:p>
          <a:p>
            <a:r>
              <a:rPr lang="en-US" sz="3000" dirty="0">
                <a:latin typeface="Century" pitchFamily="18" charset="0"/>
              </a:rPr>
              <a:t>Technology Deepening:</a:t>
            </a:r>
          </a:p>
          <a:p>
            <a:pPr lvl="3">
              <a:buFont typeface="Arial" pitchFamily="34" charset="0"/>
              <a:buChar char="•"/>
            </a:pPr>
            <a:r>
              <a:rPr lang="en-US" sz="2600" dirty="0">
                <a:latin typeface="Century" pitchFamily="18" charset="0"/>
              </a:rPr>
              <a:t>Upgrading quality and technology within existing activities.</a:t>
            </a:r>
          </a:p>
          <a:p>
            <a:pPr lvl="3">
              <a:buFont typeface="Arial" pitchFamily="34" charset="0"/>
              <a:buChar char="•"/>
            </a:pPr>
            <a:r>
              <a:rPr lang="en-US" sz="2600" dirty="0">
                <a:latin typeface="Century" pitchFamily="18" charset="0"/>
              </a:rPr>
              <a:t>Moving from technologically simple to complex activities</a:t>
            </a:r>
          </a:p>
          <a:p>
            <a:pPr lvl="3">
              <a:buNone/>
            </a:pPr>
            <a:endParaRPr lang="en-US" dirty="0"/>
          </a:p>
          <a:p>
            <a:endParaRPr lang="en-IN" dirty="0"/>
          </a:p>
        </p:txBody>
      </p:sp>
      <p:pic>
        <p:nvPicPr>
          <p:cNvPr id="5" name="Picture 4">
            <a:extLst>
              <a:ext uri="{FF2B5EF4-FFF2-40B4-BE49-F238E27FC236}">
                <a16:creationId xmlns:a16="http://schemas.microsoft.com/office/drawing/2014/main" id="{F75A8B82-8B4B-4370-8C3F-73CC6519C2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0" y="1657350"/>
            <a:ext cx="2566416" cy="2286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05979"/>
            <a:ext cx="7620000" cy="857250"/>
          </a:xfrm>
        </p:spPr>
        <p:txBody>
          <a:bodyPr>
            <a:normAutofit/>
          </a:bodyPr>
          <a:lstStyle/>
          <a:p>
            <a:pPr algn="l"/>
            <a:r>
              <a:rPr lang="en-US" sz="3200" b="1" dirty="0">
                <a:solidFill>
                  <a:srgbClr val="FF0000"/>
                </a:solidFill>
                <a:latin typeface="Century" pitchFamily="18" charset="0"/>
              </a:rPr>
              <a:t>Conclusion</a:t>
            </a:r>
          </a:p>
        </p:txBody>
      </p:sp>
      <p:sp>
        <p:nvSpPr>
          <p:cNvPr id="3" name="Content Placeholder 2"/>
          <p:cNvSpPr>
            <a:spLocks noGrp="1"/>
          </p:cNvSpPr>
          <p:nvPr>
            <p:ph sz="quarter" idx="1"/>
          </p:nvPr>
        </p:nvSpPr>
        <p:spPr>
          <a:xfrm>
            <a:off x="228600" y="1200150"/>
            <a:ext cx="8686800" cy="3810000"/>
          </a:xfrm>
        </p:spPr>
        <p:txBody>
          <a:bodyPr>
            <a:noAutofit/>
          </a:bodyPr>
          <a:lstStyle/>
          <a:p>
            <a:r>
              <a:rPr lang="en-IN" dirty="0">
                <a:latin typeface="Century" pitchFamily="18" charset="0"/>
              </a:rPr>
              <a:t>IPRs are required for sustainable development</a:t>
            </a:r>
          </a:p>
          <a:p>
            <a:r>
              <a:rPr lang="en-IN" dirty="0">
                <a:latin typeface="Century" pitchFamily="18" charset="0"/>
              </a:rPr>
              <a:t>This is necessary because it will eventually allow countries to develop their own process of technological innovation</a:t>
            </a:r>
          </a:p>
          <a:p>
            <a:r>
              <a:rPr lang="en-IN" dirty="0">
                <a:latin typeface="Century" pitchFamily="18" charset="0"/>
              </a:rPr>
              <a:t>It enables them to absorb effectively technologies developed abroad </a:t>
            </a:r>
          </a:p>
          <a:p>
            <a:endParaRPr lang="en-US" dirty="0">
              <a:latin typeface="Century"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US" sz="3200" b="1" dirty="0">
                <a:solidFill>
                  <a:srgbClr val="FF0000"/>
                </a:solidFill>
                <a:latin typeface="Century" pitchFamily="18" charset="0"/>
              </a:rPr>
              <a:t>Further Readings</a:t>
            </a:r>
          </a:p>
        </p:txBody>
      </p:sp>
      <p:sp>
        <p:nvSpPr>
          <p:cNvPr id="3" name="Content Placeholder 2"/>
          <p:cNvSpPr>
            <a:spLocks noGrp="1"/>
          </p:cNvSpPr>
          <p:nvPr>
            <p:ph sz="quarter" idx="1"/>
          </p:nvPr>
        </p:nvSpPr>
        <p:spPr>
          <a:xfrm>
            <a:off x="228600" y="1200150"/>
            <a:ext cx="8686800" cy="3655314"/>
          </a:xfrm>
        </p:spPr>
        <p:txBody>
          <a:bodyPr/>
          <a:lstStyle/>
          <a:p>
            <a:pPr>
              <a:buNone/>
            </a:pPr>
            <a:endParaRPr lang="en-US" sz="1400" dirty="0">
              <a:hlinkClick r:id="rId2"/>
            </a:endParaRPr>
          </a:p>
          <a:p>
            <a:r>
              <a:rPr lang="en-IN" sz="1600" dirty="0">
                <a:latin typeface="Century" pitchFamily="18" charset="0"/>
              </a:rPr>
              <a:t>The Role of Intellectual Property in Development and WIPO’s Development Cooperation Program: </a:t>
            </a:r>
            <a:r>
              <a:rPr lang="en-US" sz="1600" dirty="0">
                <a:latin typeface="Century" pitchFamily="18" charset="0"/>
                <a:hlinkClick r:id="rId2"/>
              </a:rPr>
              <a:t>http://www.wipo.int/export/sites/www/about-ip/en/iprm/pdf/ch3.pdf</a:t>
            </a:r>
          </a:p>
          <a:p>
            <a:pPr>
              <a:buNone/>
            </a:pPr>
            <a:endParaRPr lang="en-US" sz="1400" dirty="0">
              <a:latin typeface="Century" pitchFamily="18" charset="0"/>
              <a:hlinkClick r:id="rId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62200" y="1809750"/>
            <a:ext cx="5334000" cy="857250"/>
          </a:xfrm>
        </p:spPr>
        <p:txBody>
          <a:bodyPr>
            <a:normAutofit/>
          </a:bodyPr>
          <a:lstStyle/>
          <a:p>
            <a:r>
              <a:rPr lang="en-US" sz="4400" b="1" dirty="0">
                <a:solidFill>
                  <a:srgbClr val="FF0000"/>
                </a:solidFill>
                <a:latin typeface="Century" pitchFamily="18" charset="0"/>
              </a:rPr>
              <a:t>Thank You</a:t>
            </a:r>
            <a:endParaRPr lang="en-IN" sz="4400" b="1" dirty="0">
              <a:solidFill>
                <a:srgbClr val="FF0000"/>
              </a:solidFill>
              <a:latin typeface="Century" pitchFamily="18" charset="0"/>
            </a:endParaRPr>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c">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1338</TotalTime>
  <Words>1509</Words>
  <Application>Microsoft Office PowerPoint</Application>
  <PresentationFormat>On-screen Show (16:9)</PresentationFormat>
  <Paragraphs>122</Paragraphs>
  <Slides>27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Arial</vt:lpstr>
      <vt:lpstr>Century</vt:lpstr>
      <vt:lpstr>Georgia</vt:lpstr>
      <vt:lpstr>Times New Roman</vt:lpstr>
      <vt:lpstr>Wingdings</vt:lpstr>
      <vt:lpstr>Wingdings 2</vt:lpstr>
      <vt:lpstr>Civic</vt:lpstr>
      <vt:lpstr> Intellectual  Property Rights  and Economic  Development</vt:lpstr>
      <vt:lpstr>Brief Outline</vt:lpstr>
      <vt:lpstr>Introduction</vt:lpstr>
      <vt:lpstr>Cont…</vt:lpstr>
      <vt:lpstr>Introduction…</vt:lpstr>
      <vt:lpstr>IP Protection Debate</vt:lpstr>
      <vt:lpstr>IPR: Why is it Necessary?</vt:lpstr>
      <vt:lpstr>IPRs Protection: Example</vt:lpstr>
      <vt:lpstr>Patents and Real GDP </vt:lpstr>
      <vt:lpstr>Challenges for Developing Countries</vt:lpstr>
      <vt:lpstr>Challenges for Developing Countries…</vt:lpstr>
      <vt:lpstr>Innovation: Crucial For Economic Growth</vt:lpstr>
      <vt:lpstr>Channels of Development</vt:lpstr>
      <vt:lpstr>IPRs and Technology Transfer</vt:lpstr>
      <vt:lpstr>Technology and Development</vt:lpstr>
      <vt:lpstr>The Choice of Strategy and Development</vt:lpstr>
      <vt:lpstr>Choice of the Model</vt:lpstr>
      <vt:lpstr>IPRs and Trade</vt:lpstr>
      <vt:lpstr>IPRs and Trade...</vt:lpstr>
      <vt:lpstr>IPRs: Ethical Dilemma</vt:lpstr>
      <vt:lpstr>IPRs: Ethical Dilemma…</vt:lpstr>
      <vt:lpstr>IPRs and Development</vt:lpstr>
      <vt:lpstr>IPRs and Development…</vt:lpstr>
      <vt:lpstr>Government’s  Role</vt:lpstr>
      <vt:lpstr>Conclusion</vt:lpstr>
      <vt:lpstr>Further Readings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KUMAR GAURAV</dc:creator>
  <cp:lastModifiedBy>hp</cp:lastModifiedBy>
  <cp:revision>1006</cp:revision>
  <dcterms:created xsi:type="dcterms:W3CDTF">2006-08-16T00:00:00Z</dcterms:created>
  <dcterms:modified xsi:type="dcterms:W3CDTF">2025-04-07T07:46:56Z</dcterms:modified>
</cp:coreProperties>
</file>