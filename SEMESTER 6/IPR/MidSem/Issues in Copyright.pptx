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288" r:id="rId3"/>
    <p:sldId id="273" r:id="rId4"/>
    <p:sldId id="267" r:id="rId5"/>
    <p:sldId id="268" r:id="rId6"/>
    <p:sldId id="285" r:id="rId7"/>
    <p:sldId id="286" r:id="rId8"/>
    <p:sldId id="287" r:id="rId9"/>
    <p:sldId id="257" r:id="rId10"/>
    <p:sldId id="258" r:id="rId11"/>
    <p:sldId id="259" r:id="rId12"/>
    <p:sldId id="276" r:id="rId13"/>
    <p:sldId id="261" r:id="rId14"/>
    <p:sldId id="262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6" r:id="rId24"/>
    <p:sldId id="275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776D7-3BF9-468E-9B25-D1BCDF116681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E71FF-BC9E-4B75-8F61-EE4C8CE9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8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E71FF-BC9E-4B75-8F61-EE4C8CE94B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8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36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4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04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5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0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2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5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9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23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6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98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iipdigital.usembassy.gov/st/english/publication/2008/04/20080429222342myleen7.736933e-02.html" TargetMode="External"/><Relationship Id="rId7" Type="http://schemas.openxmlformats.org/officeDocument/2006/relationships/hyperlink" Target="http://www.wipo.int/edocs/pubdocs/en/copyright/893/wipo_pub_893.pdf" TargetMode="External"/><Relationship Id="rId2" Type="http://schemas.openxmlformats.org/officeDocument/2006/relationships/hyperlink" Target="http://www.itu.int/net/itunews/issues/2011/07/38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sa.org/" TargetMode="External"/><Relationship Id="rId5" Type="http://schemas.openxmlformats.org/officeDocument/2006/relationships/hyperlink" Target="http://www.ifpi.org/" TargetMode="External"/><Relationship Id="rId4" Type="http://schemas.openxmlformats.org/officeDocument/2006/relationships/hyperlink" Target="http://www.havocscope.com/tag/book-piracy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266950"/>
            <a:ext cx="7086600" cy="1371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effectLst/>
                <a:latin typeface="Century" pitchFamily="18" charset="0"/>
              </a:rPr>
              <a:t>Critical issues in </a:t>
            </a:r>
            <a:r>
              <a:rPr sz="3200" dirty="0">
                <a:solidFill>
                  <a:srgbClr val="7030A0"/>
                </a:solidFill>
                <a:effectLst/>
                <a:latin typeface="Century" pitchFamily="18" charset="0"/>
              </a:rPr>
              <a:t>copyrights and related rights</a:t>
            </a:r>
            <a:br>
              <a:rPr sz="3200" dirty="0">
                <a:solidFill>
                  <a:srgbClr val="7030A0"/>
                </a:solidFill>
                <a:effectLst/>
                <a:latin typeface="Century" pitchFamily="18" charset="0"/>
              </a:rPr>
            </a:br>
            <a:endParaRPr lang="en-IN" sz="3200" dirty="0">
              <a:solidFill>
                <a:srgbClr val="7030A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8F3D5-F214-469D-85C5-FCEA49DD2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990" y="138113"/>
            <a:ext cx="2849560" cy="2128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Outline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Introduction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Copyright Challenges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Copyright and Digital Piracy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Copyright Issues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Measures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entury" pitchFamily="18" charset="0"/>
              </a:rPr>
              <a:t>Conclusion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58F5F-B345-4B46-858B-13423A7BA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4950"/>
            <a:ext cx="2466975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4876800" cy="6667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Introduction  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52551"/>
            <a:ext cx="8839200" cy="3200400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Century" pitchFamily="18" charset="0"/>
              </a:rPr>
              <a:t>More recently protection of copyright across the world has become more difficult because of technological improvements.</a:t>
            </a:r>
          </a:p>
          <a:p>
            <a:r>
              <a:rPr lang="en-IN" sz="2000" dirty="0">
                <a:solidFill>
                  <a:srgbClr val="0070C0"/>
                </a:solidFill>
                <a:latin typeface="Century" pitchFamily="18" charset="0"/>
              </a:rPr>
              <a:t>This has created the environment in which content sharing became extremely easy and inexpensive </a:t>
            </a:r>
          </a:p>
          <a:p>
            <a:r>
              <a:rPr lang="en-IN" sz="2000" dirty="0">
                <a:solidFill>
                  <a:srgbClr val="0070C0"/>
                </a:solidFill>
                <a:latin typeface="Century" pitchFamily="18" charset="0"/>
              </a:rPr>
              <a:t>Meanwhile, the massive increase in the use of Internet-platforms like social media has escalated the fear for protection of the copyrighted materials </a:t>
            </a:r>
          </a:p>
          <a:p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Century" pitchFamily="18" charset="0"/>
              </a:rPr>
              <a:t>This necessitated to rethink and find the ways to balance copyright from unauthorized use without hampering creative works.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450F0-6839-4B14-BCB7-2613FED50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99" y="-11247"/>
            <a:ext cx="2286001" cy="1325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05979"/>
            <a:ext cx="8686800" cy="6131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The Rise of Technology: Fear or Strength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1"/>
            <a:ext cx="8686800" cy="320040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entury" pitchFamily="18" charset="0"/>
              </a:rPr>
              <a:t>Global markets for content and copyrights holders have been created and fuelled by the massive increase in the </a:t>
            </a:r>
            <a:r>
              <a:rPr lang="en-IN" sz="2400" dirty="0">
                <a:solidFill>
                  <a:srgbClr val="0070C0"/>
                </a:solidFill>
                <a:latin typeface="Century" pitchFamily="18" charset="0"/>
              </a:rPr>
              <a:t>digital economy</a:t>
            </a:r>
            <a:r>
              <a:rPr lang="en-IN" sz="2400" dirty="0">
                <a:latin typeface="Century" pitchFamily="18" charset="0"/>
              </a:rPr>
              <a:t>, facilitated by the diffusion of broadband, and consolidated with increases in computing power and storage </a:t>
            </a:r>
          </a:p>
          <a:p>
            <a:r>
              <a:rPr lang="en-IN" sz="2400" dirty="0">
                <a:latin typeface="Century" pitchFamily="18" charset="0"/>
              </a:rPr>
              <a:t>However, there is a risk of the protection of copyrights </a:t>
            </a:r>
          </a:p>
          <a:p>
            <a:r>
              <a:rPr lang="en-IN" sz="2400" dirty="0">
                <a:latin typeface="Century" pitchFamily="18" charset="0"/>
              </a:rPr>
              <a:t>Piracy will damage the creative works, because the growing </a:t>
            </a:r>
            <a:r>
              <a:rPr lang="en-IN" sz="2400" dirty="0">
                <a:solidFill>
                  <a:srgbClr val="0070C0"/>
                </a:solidFill>
                <a:latin typeface="Century" pitchFamily="18" charset="0"/>
              </a:rPr>
              <a:t>digital tools </a:t>
            </a:r>
            <a:r>
              <a:rPr lang="en-IN" sz="2400" dirty="0">
                <a:latin typeface="Century" pitchFamily="18" charset="0"/>
              </a:rPr>
              <a:t>are infringing the copyrights.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05979"/>
            <a:ext cx="7848600" cy="460771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Century" pitchFamily="18" charset="0"/>
              </a:rPr>
              <a:t>Copyright Challenges</a:t>
            </a:r>
            <a:endParaRPr lang="en-IN" sz="2400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2550"/>
            <a:ext cx="9067800" cy="3124200"/>
          </a:xfrm>
        </p:spPr>
        <p:txBody>
          <a:bodyPr>
            <a:noAutofit/>
          </a:bodyPr>
          <a:lstStyle/>
          <a:p>
            <a:r>
              <a:rPr lang="en-IN" sz="1800" dirty="0">
                <a:latin typeface="Century" pitchFamily="18" charset="0"/>
              </a:rPr>
              <a:t>IPRs are immensely significant for sharing the innovation, encouraging creativity and building consumer trust</a:t>
            </a:r>
          </a:p>
          <a:p>
            <a:r>
              <a:rPr lang="en-IN" sz="1800" dirty="0">
                <a:latin typeface="Century" pitchFamily="18" charset="0"/>
              </a:rPr>
              <a:t>However, in the age of digitization new challenges appeared in managing the copyrights, when the consumer is the creator </a:t>
            </a:r>
          </a:p>
          <a:p>
            <a:r>
              <a:rPr lang="en-IN" sz="1800" dirty="0">
                <a:latin typeface="Century" pitchFamily="18" charset="0"/>
              </a:rPr>
              <a:t>Marginal cost of copying is zero- the problem of copyright violation will be difficult to lessen </a:t>
            </a:r>
          </a:p>
          <a:p>
            <a:r>
              <a:rPr lang="en-IN" sz="1800" dirty="0">
                <a:latin typeface="Century" pitchFamily="18" charset="0"/>
              </a:rPr>
              <a:t>Again, the </a:t>
            </a:r>
            <a:r>
              <a:rPr lang="en-IN" sz="1800" dirty="0">
                <a:solidFill>
                  <a:srgbClr val="0070C0"/>
                </a:solidFill>
                <a:latin typeface="Century" pitchFamily="18" charset="0"/>
              </a:rPr>
              <a:t>administration of copyright laws </a:t>
            </a:r>
            <a:r>
              <a:rPr lang="en-IN" sz="1800" dirty="0">
                <a:latin typeface="Century" pitchFamily="18" charset="0"/>
              </a:rPr>
              <a:t>is extremely difficult, in this scenario</a:t>
            </a:r>
          </a:p>
          <a:p>
            <a:r>
              <a:rPr lang="en-IN" sz="1800" dirty="0">
                <a:latin typeface="Century" pitchFamily="18" charset="0"/>
              </a:rPr>
              <a:t>Free access to information and content- </a:t>
            </a:r>
            <a:r>
              <a:rPr lang="en-IN" sz="1800" dirty="0">
                <a:solidFill>
                  <a:srgbClr val="0070C0"/>
                </a:solidFill>
                <a:latin typeface="Century" pitchFamily="18" charset="0"/>
              </a:rPr>
              <a:t>global demand</a:t>
            </a:r>
          </a:p>
          <a:p>
            <a:r>
              <a:rPr lang="en-IN" sz="1800" dirty="0">
                <a:latin typeface="Century" pitchFamily="18" charset="0"/>
              </a:rPr>
              <a:t>The challenge is that how </a:t>
            </a:r>
            <a:r>
              <a:rPr lang="en-IN" sz="1800" dirty="0">
                <a:solidFill>
                  <a:srgbClr val="0070C0"/>
                </a:solidFill>
                <a:latin typeface="Century" pitchFamily="18" charset="0"/>
              </a:rPr>
              <a:t>copyright laws will respond to technological changes</a:t>
            </a:r>
          </a:p>
          <a:p>
            <a:endParaRPr lang="en-IN" sz="2300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05800" cy="85725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Copyrights And Digital Piracy: General Considerations</a:t>
            </a:r>
            <a:endParaRPr lang="en-US" sz="2400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37433"/>
            <a:ext cx="5943600" cy="27631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Piracy is a function of the market for the copyrighted materials, the more weak the market is, the more limited piracy will be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Piracy and sales are simultaneously related to each other: </a:t>
            </a: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piracy crowd out legitimate sales from copyright owners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, but sales determine the extent of piracy </a:t>
            </a:r>
          </a:p>
          <a:p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Piracy and counterfeiting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 occurs as a result of inadequate standard of copyright protection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There is found to be highly </a:t>
            </a: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inverse correlation between piracy and the level of economic development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64740-65FB-46D4-BC2D-67DD7FC73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627348"/>
            <a:ext cx="2362200" cy="2392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6131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Copyrights And Digital Piracy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28750"/>
            <a:ext cx="8839200" cy="3276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There is incidence of wide-spread, cross-border and virtually uncontrollable copyright infringement in the age of digitization because 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Simplicity of digital reproduction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The ease and speed of digital transmission 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The ease of digital manipulation</a:t>
            </a:r>
          </a:p>
          <a:p>
            <a:pPr>
              <a:buFont typeface="Wingdings" pitchFamily="2" charset="2"/>
              <a:buChar char="q"/>
            </a:pP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Infringement of copyrighted works (music, motion pictures, TV programmes, CDs DVDs, software, books, computer/video games ) in the digital world became a far greater threat to creators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05979"/>
            <a:ext cx="8610600" cy="61317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Copyrights And Digital Piracy: Problems </a:t>
            </a:r>
            <a:endParaRPr lang="en-US" sz="2400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581150"/>
            <a:ext cx="4571999" cy="2667000"/>
          </a:xfrm>
        </p:spPr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To recognize infringers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How to determine the jurisdiction and applicable law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Enforcement of the judgments against infringers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E38F2-82A3-4617-97DF-A992BA72D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657350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05979"/>
            <a:ext cx="7772400" cy="8572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entury" pitchFamily="18" charset="0"/>
              </a:rPr>
              <a:t>Issues in Copyrights</a:t>
            </a:r>
            <a:endParaRPr lang="en-IN" sz="32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85951"/>
            <a:ext cx="4648200" cy="2057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A large no. of industries; television, songs and music, film, publishing, software, entertainment including video games, etc. are being badly affected by the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illegal copying and dissemination of copyrighted materials 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A6385-F8C6-4FF0-AC7D-0D746A68C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581150"/>
            <a:ext cx="272415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05979"/>
            <a:ext cx="7848600" cy="6131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Issues in Copyrights: Music Piracy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52551"/>
            <a:ext cx="5791200" cy="3276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Copyright infringement is largely happening through 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commercial music piracy and individual copying of songs and music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More than 40 billion files illegally shared in 2008----The estimates of the International Federation of the Phonographic Industry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Huge volume of illegal downloads, annual losses to the music industry is estimated to US $ 3.5- 8 billion</a:t>
            </a:r>
          </a:p>
          <a:p>
            <a:endParaRPr lang="en-IN" dirty="0">
              <a:latin typeface="Century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60B9F-1B9A-46A2-909D-F44622689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647825"/>
            <a:ext cx="2466975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05979"/>
            <a:ext cx="7696200" cy="8572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Issues in Copyrights: Movie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28751"/>
            <a:ext cx="8763000" cy="30480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Internet Movie Database, 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Netflix, iTunes, </a:t>
            </a:r>
            <a:r>
              <a:rPr lang="en-IN" dirty="0" err="1">
                <a:solidFill>
                  <a:srgbClr val="0070C0"/>
                </a:solidFill>
                <a:latin typeface="Century" pitchFamily="18" charset="0"/>
              </a:rPr>
              <a:t>LOVEFiLM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, and </a:t>
            </a:r>
            <a:r>
              <a:rPr lang="en-IN" dirty="0" err="1">
                <a:solidFill>
                  <a:srgbClr val="0070C0"/>
                </a:solidFill>
                <a:latin typeface="Century" pitchFamily="18" charset="0"/>
              </a:rPr>
              <a:t>Blinkbox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success can largely be attributed to the internet and digitization of the film industry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However, the piracy has also become very easy without any cost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entury" pitchFamily="18" charset="0"/>
            </a:endParaRP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US authorities have shut down 9 websites that offer free access to movies in July 2010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Large no. of sites provide downloading facilities of movies even before its official release or hours just after their release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50 % of households have illegally downloaded movies in South Korea---reported by the Korean Film Council 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It constitutes losses to the DVD market of US $ 1 billion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8991600" cy="8572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Issues in Copyrights: Broadcast</a:t>
            </a:r>
            <a:endParaRPr lang="en-I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582975"/>
              </p:ext>
            </p:extLst>
          </p:nvPr>
        </p:nvGraphicFramePr>
        <p:xfrm>
          <a:off x="685800" y="2114550"/>
          <a:ext cx="723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" pitchFamily="18" charset="0"/>
                        </a:rPr>
                        <a:t>Physical Piracy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" pitchFamily="18" charset="0"/>
                        </a:rPr>
                        <a:t>Hardware-based Unauthorized Access 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" pitchFamily="18" charset="0"/>
                        </a:rPr>
                        <a:t>Unauthorized Re-broadcasting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" pitchFamily="18" charset="0"/>
                        </a:rPr>
                        <a:t>Extra-territorial Television Access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1291829"/>
            <a:ext cx="739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Century" pitchFamily="18" charset="0"/>
              </a:rPr>
              <a:t>Study by Screen Digest for the WIPO: 4 forms of unauthorized access to broadcast signals: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7195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entury" pitchFamily="18" charset="0"/>
              </a:rPr>
              <a:t>Unauthorized re-broadcasting is a huge challenge----Asia and States of Arab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7924800" cy="8572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Issues in Copyrights: Software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04950"/>
            <a:ext cx="8915400" cy="28956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Both physical and digital piracy is prevalent in the software industry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 Business Software Alliance estimated that 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piracy accounts for about 40 % of the global copyright market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Large volume and value of software were obtained illegally worldwide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One problem is that 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some companies purchase a limited user licence and then install the software on many computers or servers 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Counterfeiting and illegal piracy are all threats for the software industry</a:t>
            </a:r>
          </a:p>
          <a:p>
            <a:pPr>
              <a:buNone/>
            </a:pPr>
            <a:endParaRPr lang="en-IN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7924800" cy="8572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Issues in Copyrights: Entertainment 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28751"/>
            <a:ext cx="5105400" cy="27432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Entertainment especially gaming is somewhat more protected </a:t>
            </a:r>
            <a:endParaRPr lang="en-IN" sz="2400" dirty="0">
              <a:solidFill>
                <a:schemeClr val="accent5">
                  <a:lumMod val="50000"/>
                </a:schemeClr>
              </a:solidFill>
              <a:latin typeface="Century" pitchFamily="18" charset="0"/>
            </a:endParaRP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Because gaming software are technically difficult to imitate or copy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 industry has developed models that are more protected from piracy</a:t>
            </a:r>
          </a:p>
          <a:p>
            <a:pPr>
              <a:buNone/>
            </a:pPr>
            <a:endParaRPr lang="en-IN" sz="2400" dirty="0">
              <a:solidFill>
                <a:schemeClr val="accent5">
                  <a:lumMod val="50000"/>
                </a:schemeClr>
              </a:solidFill>
              <a:latin typeface="Century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1D68A-F2BC-466A-A140-534E8B820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428750"/>
            <a:ext cx="2819400" cy="24383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7151"/>
            <a:ext cx="9067800" cy="6096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Copyright Industries in Developed &amp; Developing Countries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581150"/>
            <a:ext cx="8686800" cy="35051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 share of copyright industries in GDP and employment for both developed and developing countries can be seen from table 1.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As the table shows the share of </a:t>
            </a: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copyright industries in GDP and employment is relatively low in developing countries than developed countries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97155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  </a:t>
            </a:r>
            <a:br>
              <a:rPr lang="en-US" sz="2000" b="1" dirty="0">
                <a:solidFill>
                  <a:srgbClr val="C00000"/>
                </a:solidFill>
              </a:rPr>
            </a:b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  <a:latin typeface="Century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entury" pitchFamily="18" charset="0"/>
              </a:rPr>
              <a:t>Table 1. Share of Copyright Industries in The Economy </a:t>
            </a:r>
            <a:br>
              <a:rPr lang="en-US" sz="2000" b="1" dirty="0">
                <a:solidFill>
                  <a:srgbClr val="FF0000"/>
                </a:solidFill>
                <a:latin typeface="Century" pitchFamily="18" charset="0"/>
              </a:rPr>
            </a:br>
            <a:endParaRPr lang="en-US" sz="20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152400" y="1047750"/>
          <a:ext cx="8839200" cy="3276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228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Century" pitchFamily="18" charset="0"/>
                        </a:rPr>
                        <a:t>Countries</a:t>
                      </a:r>
                      <a:endParaRPr lang="en-US" b="1" dirty="0">
                        <a:solidFill>
                          <a:schemeClr val="tx1"/>
                        </a:solidFill>
                        <a:latin typeface="Century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of 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of employment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U.S.A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Pakistan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Columbia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Ukraine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228">
                <a:tc>
                  <a:txBody>
                    <a:bodyPr/>
                    <a:lstStyle/>
                    <a:p>
                      <a:r>
                        <a:rPr lang="en-US" dirty="0"/>
                        <a:t>Jamaica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549">
                <a:tc>
                  <a:txBody>
                    <a:bodyPr/>
                    <a:lstStyle/>
                    <a:p>
                      <a:r>
                        <a:rPr lang="en-US" dirty="0"/>
                        <a:t>Jordan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52400" y="4835723"/>
            <a:ext cx="1475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Century" pitchFamily="18" charset="0"/>
              </a:rPr>
              <a:t>Source :WIPO</a:t>
            </a:r>
            <a:endParaRPr lang="en-IN" sz="1400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6131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Economic Impact of Digital Piracy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42950"/>
            <a:ext cx="8915400" cy="4343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Socioeconomic effects (on innovation and growth, criminal activities, environment, employment, foreign direct investment, and trade)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Effects on rights’ holders (on sales volume and prices, brand value and firm reputation, royalties, firm-level investment, costs and the scope of operations) 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Effects on consumers (health and safety risks and consumer utility)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Effects on government (tax revenues, expenditures and corruption)</a:t>
            </a:r>
          </a:p>
          <a:p>
            <a:pPr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     The impact of various forms of piracy can be seen from the tables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entury" pitchFamily="18" charset="0"/>
              </a:rPr>
              <a:t>Various Forms of Piracy and Consequences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45159"/>
          <a:ext cx="8077200" cy="4069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30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Various Forms Of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004">
                <a:tc>
                  <a:txBody>
                    <a:bodyPr/>
                    <a:lstStyle/>
                    <a:p>
                      <a:r>
                        <a:rPr lang="en-US" dirty="0"/>
                        <a:t>Software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None/>
                      </a:pPr>
                      <a:r>
                        <a:rPr lang="en-US" sz="1800" dirty="0"/>
                        <a:t>According to the new Global Software Survey from BSA ,39 percent of software installed on computers around the world was not properly licensed</a:t>
                      </a:r>
                      <a:r>
                        <a:rPr lang="en-US" sz="1800" baseline="0" dirty="0"/>
                        <a:t> in 2015. due to use of illegal software possibility of cyber attacks increases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776">
                <a:tc>
                  <a:txBody>
                    <a:bodyPr/>
                    <a:lstStyle/>
                    <a:p>
                      <a:r>
                        <a:rPr lang="en-US" dirty="0"/>
                        <a:t>Music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According to Digital</a:t>
                      </a:r>
                      <a:r>
                        <a:rPr lang="en-US" sz="1800" baseline="0" dirty="0"/>
                        <a:t> music report 2015 </a:t>
                      </a:r>
                      <a:r>
                        <a:rPr lang="en-US" sz="1800" dirty="0"/>
                        <a:t>some 4 billion music had been downloaded via</a:t>
                      </a:r>
                      <a:r>
                        <a:rPr lang="en-US" sz="1800" b="1" dirty="0"/>
                        <a:t> </a:t>
                      </a:r>
                      <a:r>
                        <a:rPr lang="en-US" sz="1800" b="0" i="1" dirty="0"/>
                        <a:t>Bit</a:t>
                      </a:r>
                      <a:r>
                        <a:rPr lang="en-US" sz="1800" b="0" i="1" baseline="0" dirty="0"/>
                        <a:t> Torrent</a:t>
                      </a:r>
                      <a:r>
                        <a:rPr lang="en-US" sz="1800" b="0" i="1" dirty="0"/>
                        <a:t> </a:t>
                      </a:r>
                      <a:r>
                        <a:rPr lang="en-US" sz="1800" dirty="0"/>
                        <a:t>(P2P File Sharing) alone, with 20% of fixed-line Internet users worldwide regularly access services that offer pirated music.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05979"/>
            <a:ext cx="7696200" cy="61317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entury" pitchFamily="18" charset="0"/>
              </a:rPr>
              <a:t>Cont…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758190"/>
          <a:ext cx="9144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0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Various Forms Of Piracy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              Consequences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347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r>
                        <a:rPr lang="en-US" baseline="0" dirty="0"/>
                        <a:t> piracy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2011,  the total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lost to book publishers in</a:t>
                      </a:r>
                      <a:r>
                        <a:rPr lang="en-US" u="none" dirty="0"/>
                        <a:t> India was</a:t>
                      </a:r>
                      <a:r>
                        <a:rPr lang="en-US" dirty="0"/>
                        <a:t> up to $387,000 (20 Million Indian Rupees) due to book piracy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8556">
                <a:tc>
                  <a:txBody>
                    <a:bodyPr/>
                    <a:lstStyle/>
                    <a:p>
                      <a:r>
                        <a:rPr lang="en-US" dirty="0"/>
                        <a:t>Video</a:t>
                      </a:r>
                      <a:r>
                        <a:rPr lang="en-US" baseline="0" dirty="0"/>
                        <a:t> game</a:t>
                      </a:r>
                      <a:r>
                        <a:rPr lang="en-US" dirty="0"/>
                        <a:t>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Between 2004 and 2009, file-sharing sites</a:t>
                      </a:r>
                      <a:r>
                        <a:rPr kumimoji="0" lang="en-US" b="0" i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downloaded illegally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nearly $42 billion worth of Sony PSP and Nintendo DS games according to study by the Computer Entertainment Suppliers Association.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8556">
                <a:tc>
                  <a:txBody>
                    <a:bodyPr/>
                    <a:lstStyle/>
                    <a:p>
                      <a:r>
                        <a:rPr lang="en-US" dirty="0"/>
                        <a:t>Movie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releasing</a:t>
                      </a:r>
                      <a:r>
                        <a:rPr lang="en-US" baseline="0" dirty="0"/>
                        <a:t> the movie</a:t>
                      </a:r>
                      <a:r>
                        <a:rPr lang="en-US" dirty="0"/>
                        <a:t> people all over the world already watch them online. For example- ‘The Expendables 3’ leaked three weeks prior to its release. It has since been downloaded more than 200,000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05979"/>
            <a:ext cx="7772400" cy="46077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entury" pitchFamily="18" charset="0"/>
              </a:rPr>
              <a:t>Cont…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299897"/>
              </p:ext>
            </p:extLst>
          </p:nvPr>
        </p:nvGraphicFramePr>
        <p:xfrm>
          <a:off x="0" y="819149"/>
          <a:ext cx="9144000" cy="419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4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Various Forms Of Piracy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      Consequences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248">
                <a:tc>
                  <a:txBody>
                    <a:bodyPr/>
                    <a:lstStyle/>
                    <a:p>
                      <a:r>
                        <a:rPr lang="en-US" dirty="0"/>
                        <a:t>Advertisement</a:t>
                      </a:r>
                      <a:r>
                        <a:rPr lang="en-US" baseline="0" dirty="0"/>
                        <a:t> piracy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according to a new report from the </a:t>
                      </a:r>
                      <a:r>
                        <a:rPr kumimoji="0" lang="en-US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digital citizens</a:t>
                      </a:r>
                      <a:r>
                        <a:rPr kumimoji="0" lang="en-US" b="0" i="0" u="none" strike="noStrike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alliance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kumimoji="0" lang="en-US" b="0" i="0" u="none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Medialink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dirty="0"/>
                        <a:t>pirates  make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money from displaying online ads for legitimate goods and services.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351">
                <a:tc>
                  <a:txBody>
                    <a:bodyPr/>
                    <a:lstStyle/>
                    <a:p>
                      <a:r>
                        <a:rPr lang="en-US" dirty="0"/>
                        <a:t>Television &amp; broadcasting piracy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Viacom International, Inc. and other copyright holders (Plaintiff) filed a case against You tube</a:t>
                      </a:r>
                      <a:r>
                        <a:rPr kumimoji="0" lang="en-US" b="0" i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based on the public performance, display, and reproduction of about 79,000 audiovisual “clips” shown on the YouTube website, an online video sharing service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7924800" cy="5369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Measures to Reduce Online Piracy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7467600" cy="365531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 private sector has created a number of successful voluntary partnerships to reduce online piracy such as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Copyright Alert System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 (CAS)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 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Trust Accountability Group's Brand Integrity Program Against Piracy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 (TAG Anti-Piracy Program)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In-house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Software Asset Management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(SAM) program 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" pitchFamily="18" charset="0"/>
              </a:rPr>
              <a:t>Conclusion</a:t>
            </a:r>
            <a:endParaRPr lang="en-IN" sz="24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04950"/>
            <a:ext cx="8458200" cy="3505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There are several issues related with copyright and related rights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However, </a:t>
            </a: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with digitization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, there is an increase in the number of cases of digital piracy, losses due to it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Measures to overcome from </a:t>
            </a:r>
            <a:r>
              <a:rPr lang="en-US" dirty="0">
                <a:solidFill>
                  <a:srgbClr val="0070C0"/>
                </a:solidFill>
                <a:latin typeface="Century" pitchFamily="18" charset="0"/>
              </a:rPr>
              <a:t>piracy have became major issue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Creating an </a:t>
            </a:r>
            <a:r>
              <a:rPr lang="en-IN" dirty="0">
                <a:solidFill>
                  <a:srgbClr val="0070C0"/>
                </a:solidFill>
                <a:latin typeface="Century" pitchFamily="18" charset="0"/>
              </a:rPr>
              <a:t>environment that promotes creativity and innovation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Century" pitchFamily="18" charset="0"/>
              </a:rPr>
              <a:t>, fosters competition, protects free speech, ensure legal exploitation of the digital technology necessitates a balance between protection and fair use &amp; dissemination of knowledge.</a:t>
            </a:r>
          </a:p>
          <a:p>
            <a:endParaRPr lang="en-US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entury" pitchFamily="18" charset="0"/>
              </a:rPr>
              <a:t>Further Readings</a:t>
            </a:r>
            <a:endParaRPr lang="en-IN" sz="3200" b="1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rgbClr val="FF0000"/>
                </a:solidFill>
                <a:latin typeface="Century" pitchFamily="18" charset="0"/>
                <a:hlinkClick r:id="rId2"/>
              </a:rPr>
              <a:t>http://www.itu.int/net/itunews/issues/2011/07/38.aspx</a:t>
            </a:r>
            <a:endParaRPr lang="en-IN" sz="1800" dirty="0">
              <a:solidFill>
                <a:srgbClr val="FF0000"/>
              </a:solidFill>
              <a:latin typeface="Century" pitchFamily="18" charset="0"/>
            </a:endParaRPr>
          </a:p>
          <a:p>
            <a:r>
              <a:rPr lang="en-IN" sz="1800" dirty="0">
                <a:solidFill>
                  <a:srgbClr val="FF0000"/>
                </a:solidFill>
                <a:latin typeface="Century" pitchFamily="18" charset="0"/>
                <a:hlinkClick r:id="rId3"/>
              </a:rPr>
              <a:t>http://iipdigital.usembassy.gov/st/english/publication/2008/04/20080429222342myleen7.736933e-02.html#axzz4CP6Z0fDI</a:t>
            </a:r>
            <a:endParaRPr lang="en-IN" sz="1800" dirty="0">
              <a:solidFill>
                <a:srgbClr val="FF0000"/>
              </a:solidFill>
              <a:latin typeface="Century" pitchFamily="18" charset="0"/>
            </a:endParaRPr>
          </a:p>
          <a:p>
            <a:r>
              <a:rPr lang="en-US" sz="1800" dirty="0">
                <a:latin typeface="Century" pitchFamily="18" charset="0"/>
                <a:hlinkClick r:id="rId4"/>
              </a:rPr>
              <a:t>http://www.havocscope.com/tag/book-piracy/</a:t>
            </a:r>
            <a:endParaRPr lang="en-US" sz="1800" dirty="0">
              <a:latin typeface="Century" pitchFamily="18" charset="0"/>
            </a:endParaRPr>
          </a:p>
          <a:p>
            <a:r>
              <a:rPr lang="en-US" sz="1800" dirty="0">
                <a:latin typeface="Century" pitchFamily="18" charset="0"/>
                <a:hlinkClick r:id="rId5"/>
              </a:rPr>
              <a:t>http://www.ifpi.org/</a:t>
            </a:r>
            <a:endParaRPr lang="en-US" sz="1800" dirty="0">
              <a:latin typeface="Century" pitchFamily="18" charset="0"/>
            </a:endParaRPr>
          </a:p>
          <a:p>
            <a:r>
              <a:rPr lang="en-US" sz="1800" dirty="0">
                <a:latin typeface="Century" pitchFamily="18" charset="0"/>
                <a:hlinkClick r:id="rId6"/>
              </a:rPr>
              <a:t>http://www.bsa.org/</a:t>
            </a:r>
            <a:endParaRPr lang="en-US" sz="1800" dirty="0">
              <a:latin typeface="Century" pitchFamily="18" charset="0"/>
            </a:endParaRPr>
          </a:p>
          <a:p>
            <a:r>
              <a:rPr lang="en-US" sz="1800" dirty="0">
                <a:latin typeface="Century" pitchFamily="18" charset="0"/>
                <a:hlinkClick r:id="rId7"/>
              </a:rPr>
              <a:t>http://www.wipo.int/edocs/pubdocs/en/copyright/893/wipo_pub_893.pdf</a:t>
            </a:r>
            <a:endParaRPr lang="en-US" sz="1800" dirty="0">
              <a:latin typeface="Century" pitchFamily="18" charset="0"/>
            </a:endParaRPr>
          </a:p>
          <a:p>
            <a:endParaRPr lang="en-IN" sz="1800" dirty="0">
              <a:solidFill>
                <a:srgbClr val="FF0000"/>
              </a:solidFill>
              <a:latin typeface="Century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038350"/>
            <a:ext cx="6175248" cy="85725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entury" pitchFamily="18" charset="0"/>
              </a:rPr>
              <a:t>Thank You</a:t>
            </a:r>
            <a:endParaRPr lang="en-IN" b="1" dirty="0">
              <a:solidFill>
                <a:srgbClr val="FF0000"/>
              </a:solidFill>
              <a:latin typeface="Century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570</TotalTime>
  <Words>1541</Words>
  <Application>Microsoft Office PowerPoint</Application>
  <PresentationFormat>On-screen Show (16:9)</PresentationFormat>
  <Paragraphs>165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Calibri Light</vt:lpstr>
      <vt:lpstr>Century</vt:lpstr>
      <vt:lpstr>Wingdings</vt:lpstr>
      <vt:lpstr>Retrospect</vt:lpstr>
      <vt:lpstr>Critical issues in copyrights and related rights </vt:lpstr>
      <vt:lpstr>Outline</vt:lpstr>
      <vt:lpstr>Introduction  </vt:lpstr>
      <vt:lpstr>The Rise of Technology: Fear or Strength</vt:lpstr>
      <vt:lpstr>Copyright Challenges</vt:lpstr>
      <vt:lpstr>Copyrights And Digital Piracy: General Considerations</vt:lpstr>
      <vt:lpstr>Copyrights And Digital Piracy </vt:lpstr>
      <vt:lpstr>Copyrights And Digital Piracy: Problems </vt:lpstr>
      <vt:lpstr>Issues in Copyrights</vt:lpstr>
      <vt:lpstr>Issues in Copyrights: Music Piracy</vt:lpstr>
      <vt:lpstr>Issues in Copyrights: Movie</vt:lpstr>
      <vt:lpstr>Issues in Copyrights: Broadcast</vt:lpstr>
      <vt:lpstr>Issues in Copyrights: Software</vt:lpstr>
      <vt:lpstr>Issues in Copyrights: Entertainment </vt:lpstr>
      <vt:lpstr>Copyright Industries in Developed &amp; Developing Countries</vt:lpstr>
      <vt:lpstr>     Table 1. Share of Copyright Industries in The Economy  </vt:lpstr>
      <vt:lpstr>Economic Impact of Digital Piracy</vt:lpstr>
      <vt:lpstr>Various Forms of Piracy and Consequences</vt:lpstr>
      <vt:lpstr>Cont…</vt:lpstr>
      <vt:lpstr>Cont…</vt:lpstr>
      <vt:lpstr>Measures to Reduce Online Piracy</vt:lpstr>
      <vt:lpstr>Conclusion</vt:lpstr>
      <vt:lpstr>Further Readings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copyrights and related rights critical issues</dc:title>
  <dc:creator>KUMAR GAURAV</dc:creator>
  <cp:lastModifiedBy>hp</cp:lastModifiedBy>
  <cp:revision>196</cp:revision>
  <dcterms:created xsi:type="dcterms:W3CDTF">2006-08-16T00:00:00Z</dcterms:created>
  <dcterms:modified xsi:type="dcterms:W3CDTF">2025-03-19T12:25:42Z</dcterms:modified>
</cp:coreProperties>
</file>