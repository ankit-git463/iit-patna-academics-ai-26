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37"/>
  </p:notesMasterIdLst>
  <p:sldIdLst>
    <p:sldId id="286" r:id="rId2"/>
    <p:sldId id="287" r:id="rId3"/>
    <p:sldId id="317" r:id="rId4"/>
    <p:sldId id="290" r:id="rId5"/>
    <p:sldId id="291" r:id="rId6"/>
    <p:sldId id="318" r:id="rId7"/>
    <p:sldId id="321" r:id="rId8"/>
    <p:sldId id="320" r:id="rId9"/>
    <p:sldId id="322" r:id="rId10"/>
    <p:sldId id="323" r:id="rId11"/>
    <p:sldId id="328" r:id="rId12"/>
    <p:sldId id="329" r:id="rId13"/>
    <p:sldId id="330" r:id="rId14"/>
    <p:sldId id="327" r:id="rId15"/>
    <p:sldId id="331" r:id="rId16"/>
    <p:sldId id="335" r:id="rId17"/>
    <p:sldId id="333" r:id="rId18"/>
    <p:sldId id="334" r:id="rId19"/>
    <p:sldId id="315" r:id="rId20"/>
    <p:sldId id="316" r:id="rId21"/>
    <p:sldId id="294" r:id="rId22"/>
    <p:sldId id="301" r:id="rId23"/>
    <p:sldId id="302" r:id="rId24"/>
    <p:sldId id="303" r:id="rId25"/>
    <p:sldId id="304" r:id="rId26"/>
    <p:sldId id="305" r:id="rId27"/>
    <p:sldId id="306" r:id="rId28"/>
    <p:sldId id="307" r:id="rId29"/>
    <p:sldId id="308" r:id="rId30"/>
    <p:sldId id="309" r:id="rId31"/>
    <p:sldId id="310" r:id="rId32"/>
    <p:sldId id="311" r:id="rId33"/>
    <p:sldId id="313" r:id="rId34"/>
    <p:sldId id="312" r:id="rId35"/>
    <p:sldId id="314" r:id="rId36"/>
  </p:sldIdLst>
  <p:sldSz cx="12192000" cy="6858000"/>
  <p:notesSz cx="12192000" cy="6858000"/>
  <p:embeddedFontLst>
    <p:embeddedFont>
      <p:font typeface="Cambria Math" panose="02040503050406030204" pitchFamily="18" charset="0"/>
      <p:regular r:id="rId38"/>
    </p:embeddedFont>
    <p:embeddedFont>
      <p:font typeface="Calibri" panose="020F0502020204030204" pitchFamily="34" charset="0"/>
      <p:regular r:id="rId39"/>
      <p:bold r:id="rId40"/>
      <p:italic r:id="rId41"/>
      <p:boldItalic r:id="rId42"/>
    </p:embeddedFont>
    <p:embeddedFont>
      <p:font typeface="Tahoma" panose="020B0604030504040204" pitchFamily="34" charset="0"/>
      <p:regular r:id="rId43"/>
      <p:bold r:id="rId4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920">
          <p15:clr>
            <a:srgbClr val="000000"/>
          </p15:clr>
        </p15:guide>
        <p15:guide id="2" pos="2150">
          <p15:clr>
            <a:srgbClr val="000000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79" roundtripDataSignature="AMtx7mg0rb7K25jzeb82yl9W760+b1lCc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AE0CDCE9-8EFF-456A-BFA7-76C2DBC4E188}">
  <a:tblStyle styleId="{AE0CDCE9-8EFF-456A-BFA7-76C2DBC4E188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0504" autoAdjust="0"/>
    <p:restoredTop sz="94660"/>
  </p:normalViewPr>
  <p:slideViewPr>
    <p:cSldViewPr snapToGrid="0">
      <p:cViewPr varScale="1">
        <p:scale>
          <a:sx n="108" d="100"/>
          <a:sy n="108" d="100"/>
        </p:scale>
        <p:origin x="378" y="108"/>
      </p:cViewPr>
      <p:guideLst>
        <p:guide orient="horz" pos="2920"/>
        <p:guide pos="215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2.fntdata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font" Target="fonts/font5.fntdata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font" Target="fonts/font3.fntdata"/><Relationship Id="rId79" Type="http://customschemas.google.com/relationships/presentationmetadata" Target="meta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82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font" Target="fonts/font7.fntdata"/><Relationship Id="rId8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font" Target="fonts/font6.fntdata"/><Relationship Id="rId8" Type="http://schemas.openxmlformats.org/officeDocument/2006/relationships/slide" Target="slides/slide7.xml"/><Relationship Id="rId80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font" Target="fonts/font1.fntdata"/><Relationship Id="rId20" Type="http://schemas.openxmlformats.org/officeDocument/2006/relationships/slide" Target="slides/slide19.xml"/><Relationship Id="rId41" Type="http://schemas.openxmlformats.org/officeDocument/2006/relationships/font" Target="fonts/font4.fntdata"/><Relationship Id="rId83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5283200" cy="3440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6905979" y="0"/>
            <a:ext cx="5283200" cy="3440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6513910"/>
            <a:ext cx="5283200" cy="344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6905979" y="6513910"/>
            <a:ext cx="5283200" cy="344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31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8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8" name="Google Shape;268;p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32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8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5" name="Google Shape;275;p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35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8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4" name="Google Shape;314;p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30189679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35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8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4" name="Google Shape;314;p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23" name="Google Shape;323;p36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50" tIns="46575" rIns="93150" bIns="465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4" name="Google Shape;324;p36:notes"/>
          <p:cNvSpPr txBox="1">
            <a:spLocks noGrp="1"/>
          </p:cNvSpPr>
          <p:nvPr>
            <p:ph type="sldNum" idx="12"/>
          </p:nvPr>
        </p:nvSpPr>
        <p:spPr>
          <a:xfrm>
            <a:off x="3971925" y="8774113"/>
            <a:ext cx="3038475" cy="461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50" tIns="46575" rIns="93150" bIns="4657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latin typeface="Times New Roman"/>
                <a:ea typeface="Times New Roman"/>
                <a:cs typeface="Times New Roman"/>
                <a:sym typeface="Times New Roman"/>
              </a:rPr>
              <a:t>5</a:t>
            </a:fld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23" name="Google Shape;323;p36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50" tIns="46575" rIns="93150" bIns="465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4" name="Google Shape;324;p36:notes"/>
          <p:cNvSpPr txBox="1">
            <a:spLocks noGrp="1"/>
          </p:cNvSpPr>
          <p:nvPr>
            <p:ph type="sldNum" idx="12"/>
          </p:nvPr>
        </p:nvSpPr>
        <p:spPr>
          <a:xfrm>
            <a:off x="3971925" y="8774113"/>
            <a:ext cx="3038475" cy="461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50" tIns="46575" rIns="93150" bIns="4657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latin typeface="Times New Roman"/>
                <a:ea typeface="Times New Roman"/>
                <a:cs typeface="Times New Roman"/>
                <a:sym typeface="Times New Roman"/>
              </a:rPr>
              <a:t>6</a:t>
            </a:fld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66176178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23" name="Google Shape;323;p36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50" tIns="46575" rIns="93150" bIns="465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4" name="Google Shape;324;p36:notes"/>
          <p:cNvSpPr txBox="1">
            <a:spLocks noGrp="1"/>
          </p:cNvSpPr>
          <p:nvPr>
            <p:ph type="sldNum" idx="12"/>
          </p:nvPr>
        </p:nvSpPr>
        <p:spPr>
          <a:xfrm>
            <a:off x="3971925" y="8774113"/>
            <a:ext cx="3038475" cy="461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50" tIns="46575" rIns="93150" bIns="4657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latin typeface="Times New Roman"/>
                <a:ea typeface="Times New Roman"/>
                <a:cs typeface="Times New Roman"/>
                <a:sym typeface="Times New Roman"/>
              </a:rPr>
              <a:t>7</a:t>
            </a:fld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20360377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23" name="Google Shape;323;p36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50" tIns="46575" rIns="93150" bIns="465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4" name="Google Shape;324;p36:notes"/>
          <p:cNvSpPr txBox="1">
            <a:spLocks noGrp="1"/>
          </p:cNvSpPr>
          <p:nvPr>
            <p:ph type="sldNum" idx="12"/>
          </p:nvPr>
        </p:nvSpPr>
        <p:spPr>
          <a:xfrm>
            <a:off x="3971925" y="8774113"/>
            <a:ext cx="3038475" cy="461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50" tIns="46575" rIns="93150" bIns="4657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latin typeface="Times New Roman"/>
                <a:ea typeface="Times New Roman"/>
                <a:cs typeface="Times New Roman"/>
                <a:sym typeface="Times New Roman"/>
              </a:rPr>
              <a:t>8</a:t>
            </a:fld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18208391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35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8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4" name="Google Shape;314;p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60614964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35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8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4" name="Google Shape;314;p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53886848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23" name="Google Shape;323;p36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50" tIns="46575" rIns="93150" bIns="465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4" name="Google Shape;324;p36:notes"/>
          <p:cNvSpPr txBox="1">
            <a:spLocks noGrp="1"/>
          </p:cNvSpPr>
          <p:nvPr>
            <p:ph type="sldNum" idx="12"/>
          </p:nvPr>
        </p:nvSpPr>
        <p:spPr>
          <a:xfrm>
            <a:off x="3971925" y="8774113"/>
            <a:ext cx="3038475" cy="461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50" tIns="46575" rIns="93150" bIns="4657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latin typeface="Times New Roman"/>
                <a:ea typeface="Times New Roman"/>
                <a:cs typeface="Times New Roman"/>
                <a:sym typeface="Times New Roman"/>
              </a:rPr>
              <a:t>11</a:t>
            </a:fld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81272151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23" name="Google Shape;323;p36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50" tIns="46575" rIns="93150" bIns="465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4" name="Google Shape;324;p36:notes"/>
          <p:cNvSpPr txBox="1">
            <a:spLocks noGrp="1"/>
          </p:cNvSpPr>
          <p:nvPr>
            <p:ph type="sldNum" idx="12"/>
          </p:nvPr>
        </p:nvSpPr>
        <p:spPr>
          <a:xfrm>
            <a:off x="3971925" y="8774113"/>
            <a:ext cx="3038475" cy="461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50" tIns="46575" rIns="93150" bIns="4657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latin typeface="Times New Roman"/>
                <a:ea typeface="Times New Roman"/>
                <a:cs typeface="Times New Roman"/>
                <a:sym typeface="Times New Roman"/>
              </a:rPr>
              <a:t>12</a:t>
            </a:fld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76871301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23" name="Google Shape;323;p36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50" tIns="46575" rIns="93150" bIns="465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4" name="Google Shape;324;p36:notes"/>
          <p:cNvSpPr txBox="1">
            <a:spLocks noGrp="1"/>
          </p:cNvSpPr>
          <p:nvPr>
            <p:ph type="sldNum" idx="12"/>
          </p:nvPr>
        </p:nvSpPr>
        <p:spPr>
          <a:xfrm>
            <a:off x="3971925" y="8774113"/>
            <a:ext cx="3038475" cy="461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50" tIns="46575" rIns="93150" bIns="4657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latin typeface="Times New Roman"/>
                <a:ea typeface="Times New Roman"/>
                <a:cs typeface="Times New Roman"/>
                <a:sym typeface="Times New Roman"/>
              </a:rPr>
              <a:t>13</a:t>
            </a:fld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14669775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35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8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4" name="Google Shape;314;p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7281855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23" name="Google Shape;323;p36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50" tIns="46575" rIns="93150" bIns="465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4" name="Google Shape;324;p36:notes"/>
          <p:cNvSpPr txBox="1">
            <a:spLocks noGrp="1"/>
          </p:cNvSpPr>
          <p:nvPr>
            <p:ph type="sldNum" idx="12"/>
          </p:nvPr>
        </p:nvSpPr>
        <p:spPr>
          <a:xfrm>
            <a:off x="3971925" y="8774113"/>
            <a:ext cx="3038475" cy="461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50" tIns="46575" rIns="93150" bIns="4657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latin typeface="Times New Roman"/>
                <a:ea typeface="Times New Roman"/>
                <a:cs typeface="Times New Roman"/>
                <a:sym typeface="Times New Roman"/>
              </a:rPr>
              <a:t>15</a:t>
            </a:fld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12843312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23" name="Google Shape;323;p36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50" tIns="46575" rIns="93150" bIns="465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4" name="Google Shape;324;p36:notes"/>
          <p:cNvSpPr txBox="1">
            <a:spLocks noGrp="1"/>
          </p:cNvSpPr>
          <p:nvPr>
            <p:ph type="sldNum" idx="12"/>
          </p:nvPr>
        </p:nvSpPr>
        <p:spPr>
          <a:xfrm>
            <a:off x="3971925" y="8774113"/>
            <a:ext cx="3038475" cy="461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50" tIns="46575" rIns="93150" bIns="4657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latin typeface="Times New Roman"/>
                <a:ea typeface="Times New Roman"/>
                <a:cs typeface="Times New Roman"/>
                <a:sym typeface="Times New Roman"/>
              </a:rPr>
              <a:t>16</a:t>
            </a:fld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91396419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23" name="Google Shape;323;p36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50" tIns="46575" rIns="93150" bIns="465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4" name="Google Shape;324;p36:notes"/>
          <p:cNvSpPr txBox="1">
            <a:spLocks noGrp="1"/>
          </p:cNvSpPr>
          <p:nvPr>
            <p:ph type="sldNum" idx="12"/>
          </p:nvPr>
        </p:nvSpPr>
        <p:spPr>
          <a:xfrm>
            <a:off x="3971925" y="8774113"/>
            <a:ext cx="3038475" cy="461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50" tIns="46575" rIns="93150" bIns="4657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latin typeface="Times New Roman"/>
                <a:ea typeface="Times New Roman"/>
                <a:cs typeface="Times New Roman"/>
                <a:sym typeface="Times New Roman"/>
              </a:rPr>
              <a:t>17</a:t>
            </a:fld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14323441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35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8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4" name="Google Shape;314;p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2218717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31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8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8" name="Google Shape;268;p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14077415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35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8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4" name="Google Shape;314;p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11580191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35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8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4" name="Google Shape;314;p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10284360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35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8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4" name="Google Shape;314;p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90353396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35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8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4" name="Google Shape;314;p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78885519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35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8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4" name="Google Shape;314;p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205514284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35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8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4" name="Google Shape;314;p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915186754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35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8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4" name="Google Shape;314;p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5549867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35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8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4" name="Google Shape;314;p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892093125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35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8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4" name="Google Shape;314;p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403821624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35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8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4" name="Google Shape;314;p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470343852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35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8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4" name="Google Shape;314;p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624416185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35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8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4" name="Google Shape;314;p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205614013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35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8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4" name="Google Shape;314;p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274050427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35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8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4" name="Google Shape;314;p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620699069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35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8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4" name="Google Shape;314;p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808235795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35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8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4" name="Google Shape;314;p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4515164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Only" type="obj">
  <p:cSld name="OBJECT">
    <p:bg>
      <p:bgPr>
        <a:solidFill>
          <a:schemeClr val="lt1"/>
        </a:solid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9"/>
          <p:cNvSpPr/>
          <p:nvPr/>
        </p:nvSpPr>
        <p:spPr>
          <a:xfrm>
            <a:off x="3828288" y="4343400"/>
            <a:ext cx="4572000" cy="401320"/>
          </a:xfrm>
          <a:custGeom>
            <a:avLst/>
            <a:gdLst/>
            <a:ahLst/>
            <a:cxnLst/>
            <a:rect l="l" t="t" r="r" b="b"/>
            <a:pathLst>
              <a:path w="4572000" h="401320" extrusionOk="0">
                <a:moveTo>
                  <a:pt x="0" y="400812"/>
                </a:moveTo>
                <a:lnTo>
                  <a:pt x="4572000" y="400812"/>
                </a:lnTo>
                <a:lnTo>
                  <a:pt x="4572000" y="0"/>
                </a:lnTo>
                <a:lnTo>
                  <a:pt x="0" y="0"/>
                </a:lnTo>
                <a:lnTo>
                  <a:pt x="0" y="400812"/>
                </a:lnTo>
                <a:close/>
              </a:path>
            </a:pathLst>
          </a:custGeom>
          <a:solidFill>
            <a:srgbClr val="D3212D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39"/>
          <p:cNvSpPr txBox="1">
            <a:spLocks noGrp="1"/>
          </p:cNvSpPr>
          <p:nvPr>
            <p:ph type="title"/>
          </p:nvPr>
        </p:nvSpPr>
        <p:spPr>
          <a:xfrm>
            <a:off x="2982595" y="2699080"/>
            <a:ext cx="6226809" cy="6972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39"/>
          <p:cNvSpPr txBox="1">
            <a:spLocks noGrp="1"/>
          </p:cNvSpPr>
          <p:nvPr>
            <p:ph type="ftr" idx="11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9"/>
          <p:cNvSpPr txBox="1">
            <a:spLocks noGrp="1"/>
          </p:cNvSpPr>
          <p:nvPr>
            <p:ph type="dt" idx="10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9"/>
          <p:cNvSpPr txBox="1">
            <a:spLocks noGrp="1"/>
          </p:cNvSpPr>
          <p:nvPr>
            <p:ph type="sldNum" idx="12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lvl="0" indent="0" algn="r">
              <a:spcBef>
                <a:spcPts val="0"/>
              </a:spcBef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spcBef>
                <a:spcPts val="0"/>
              </a:spcBef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spcBef>
                <a:spcPts val="0"/>
              </a:spcBef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spcBef>
                <a:spcPts val="0"/>
              </a:spcBef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spcBef>
                <a:spcPts val="0"/>
              </a:spcBef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spcBef>
                <a:spcPts val="0"/>
              </a:spcBef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spcBef>
                <a:spcPts val="0"/>
              </a:spcBef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spcBef>
                <a:spcPts val="0"/>
              </a:spcBef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spcBef>
                <a:spcPts val="0"/>
              </a:spcBef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Title and Conten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0"/>
          <p:cNvSpPr txBox="1">
            <a:spLocks noGrp="1"/>
          </p:cNvSpPr>
          <p:nvPr>
            <p:ph type="title"/>
          </p:nvPr>
        </p:nvSpPr>
        <p:spPr>
          <a:xfrm>
            <a:off x="2982595" y="2699080"/>
            <a:ext cx="6226809" cy="6972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0"/>
          <p:cNvSpPr txBox="1">
            <a:spLocks noGrp="1"/>
          </p:cNvSpPr>
          <p:nvPr>
            <p:ph type="body" idx="1"/>
          </p:nvPr>
        </p:nvSpPr>
        <p:spPr>
          <a:xfrm>
            <a:off x="916939" y="1621564"/>
            <a:ext cx="10358120" cy="30518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>
                <a:solidFill>
                  <a:schemeClr val="dk1"/>
                </a:solidFill>
              </a:defRPr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40"/>
          <p:cNvSpPr txBox="1">
            <a:spLocks noGrp="1"/>
          </p:cNvSpPr>
          <p:nvPr>
            <p:ph type="ftr" idx="11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0"/>
          <p:cNvSpPr txBox="1">
            <a:spLocks noGrp="1"/>
          </p:cNvSpPr>
          <p:nvPr>
            <p:ph type="dt" idx="10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0"/>
          <p:cNvSpPr txBox="1">
            <a:spLocks noGrp="1"/>
          </p:cNvSpPr>
          <p:nvPr>
            <p:ph type="sldNum" idx="12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lvl="0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>
  <p:cSld name="Two Content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42"/>
          <p:cNvSpPr txBox="1">
            <a:spLocks noGrp="1"/>
          </p:cNvSpPr>
          <p:nvPr>
            <p:ph type="title"/>
          </p:nvPr>
        </p:nvSpPr>
        <p:spPr>
          <a:xfrm>
            <a:off x="2982595" y="2699080"/>
            <a:ext cx="6226809" cy="6972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42"/>
          <p:cNvSpPr txBox="1">
            <a:spLocks noGrp="1"/>
          </p:cNvSpPr>
          <p:nvPr>
            <p:ph type="body" idx="1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42"/>
          <p:cNvSpPr txBox="1">
            <a:spLocks noGrp="1"/>
          </p:cNvSpPr>
          <p:nvPr>
            <p:ph type="body" idx="2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42"/>
          <p:cNvSpPr txBox="1">
            <a:spLocks noGrp="1"/>
          </p:cNvSpPr>
          <p:nvPr>
            <p:ph type="ftr" idx="11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42"/>
          <p:cNvSpPr txBox="1">
            <a:spLocks noGrp="1"/>
          </p:cNvSpPr>
          <p:nvPr>
            <p:ph type="dt" idx="10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42"/>
          <p:cNvSpPr txBox="1">
            <a:spLocks noGrp="1"/>
          </p:cNvSpPr>
          <p:nvPr>
            <p:ph type="sldNum" idx="12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lvl="0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Blank">
  <p:cSld name="Blank">
    <p:bg>
      <p:bgPr>
        <a:solidFill>
          <a:schemeClr val="lt1"/>
        </a:solidFill>
        <a:effectLst/>
      </p:bgPr>
    </p:bg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43"/>
          <p:cNvSpPr/>
          <p:nvPr/>
        </p:nvSpPr>
        <p:spPr>
          <a:xfrm>
            <a:off x="243751" y="1989327"/>
            <a:ext cx="3236810" cy="2882900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43"/>
          <p:cNvSpPr txBox="1">
            <a:spLocks noGrp="1"/>
          </p:cNvSpPr>
          <p:nvPr>
            <p:ph type="ftr" idx="11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43"/>
          <p:cNvSpPr txBox="1">
            <a:spLocks noGrp="1"/>
          </p:cNvSpPr>
          <p:nvPr>
            <p:ph type="dt" idx="10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43"/>
          <p:cNvSpPr txBox="1">
            <a:spLocks noGrp="1"/>
          </p:cNvSpPr>
          <p:nvPr>
            <p:ph type="sldNum" idx="12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lvl="0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8"/>
          <p:cNvSpPr txBox="1">
            <a:spLocks noGrp="1"/>
          </p:cNvSpPr>
          <p:nvPr>
            <p:ph type="title"/>
          </p:nvPr>
        </p:nvSpPr>
        <p:spPr>
          <a:xfrm>
            <a:off x="2982595" y="2699080"/>
            <a:ext cx="6226809" cy="6972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38"/>
          <p:cNvSpPr txBox="1">
            <a:spLocks noGrp="1"/>
          </p:cNvSpPr>
          <p:nvPr>
            <p:ph type="body" idx="1"/>
          </p:nvPr>
        </p:nvSpPr>
        <p:spPr>
          <a:xfrm>
            <a:off x="916939" y="1621564"/>
            <a:ext cx="10358120" cy="30518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38"/>
          <p:cNvSpPr txBox="1">
            <a:spLocks noGrp="1"/>
          </p:cNvSpPr>
          <p:nvPr>
            <p:ph type="ftr" idx="11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38"/>
          <p:cNvSpPr txBox="1">
            <a:spLocks noGrp="1"/>
          </p:cNvSpPr>
          <p:nvPr>
            <p:ph type="dt" idx="10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38"/>
          <p:cNvSpPr txBox="1">
            <a:spLocks noGrp="1"/>
          </p:cNvSpPr>
          <p:nvPr>
            <p:ph type="sldNum" idx="12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marR="0" lvl="0" indent="0" algn="r" rtl="0">
              <a:spcBef>
                <a:spcPts val="0"/>
              </a:spcBef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3" r:id="rId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3" Type="http://schemas.openxmlformats.org/officeDocument/2006/relationships/image" Target="../media/image31.png"/><Relationship Id="rId7" Type="http://schemas.openxmlformats.org/officeDocument/2006/relationships/image" Target="../media/image3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10" Type="http://schemas.openxmlformats.org/officeDocument/2006/relationships/image" Target="../media/image38.png"/><Relationship Id="rId4" Type="http://schemas.openxmlformats.org/officeDocument/2006/relationships/image" Target="../media/image32.png"/><Relationship Id="rId9" Type="http://schemas.openxmlformats.org/officeDocument/2006/relationships/image" Target="../media/image37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png"/><Relationship Id="rId3" Type="http://schemas.openxmlformats.org/officeDocument/2006/relationships/image" Target="../media/image39.png"/><Relationship Id="rId7" Type="http://schemas.openxmlformats.org/officeDocument/2006/relationships/image" Target="../media/image4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2.png"/><Relationship Id="rId11" Type="http://schemas.openxmlformats.org/officeDocument/2006/relationships/image" Target="../media/image47.png"/><Relationship Id="rId5" Type="http://schemas.openxmlformats.org/officeDocument/2006/relationships/image" Target="../media/image41.png"/><Relationship Id="rId10" Type="http://schemas.openxmlformats.org/officeDocument/2006/relationships/image" Target="../media/image46.png"/><Relationship Id="rId4" Type="http://schemas.openxmlformats.org/officeDocument/2006/relationships/image" Target="../media/image40.png"/><Relationship Id="rId9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3.png"/><Relationship Id="rId3" Type="http://schemas.openxmlformats.org/officeDocument/2006/relationships/image" Target="../media/image48.png"/><Relationship Id="rId7" Type="http://schemas.openxmlformats.org/officeDocument/2006/relationships/image" Target="../media/image5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1.png"/><Relationship Id="rId11" Type="http://schemas.openxmlformats.org/officeDocument/2006/relationships/image" Target="../media/image56.png"/><Relationship Id="rId5" Type="http://schemas.openxmlformats.org/officeDocument/2006/relationships/image" Target="../media/image50.png"/><Relationship Id="rId10" Type="http://schemas.openxmlformats.org/officeDocument/2006/relationships/image" Target="../media/image55.png"/><Relationship Id="rId4" Type="http://schemas.openxmlformats.org/officeDocument/2006/relationships/image" Target="../media/image49.png"/><Relationship Id="rId9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2.png"/><Relationship Id="rId3" Type="http://schemas.openxmlformats.org/officeDocument/2006/relationships/image" Target="../media/image57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0.png"/><Relationship Id="rId5" Type="http://schemas.openxmlformats.org/officeDocument/2006/relationships/image" Target="../media/image59.png"/><Relationship Id="rId4" Type="http://schemas.openxmlformats.org/officeDocument/2006/relationships/image" Target="../media/image58.png"/><Relationship Id="rId9" Type="http://schemas.openxmlformats.org/officeDocument/2006/relationships/image" Target="../media/image6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7.png"/><Relationship Id="rId5" Type="http://schemas.openxmlformats.org/officeDocument/2006/relationships/image" Target="../media/image66.png"/><Relationship Id="rId4" Type="http://schemas.openxmlformats.org/officeDocument/2006/relationships/image" Target="../media/image65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3.png"/><Relationship Id="rId3" Type="http://schemas.openxmlformats.org/officeDocument/2006/relationships/image" Target="../media/image68.png"/><Relationship Id="rId7" Type="http://schemas.openxmlformats.org/officeDocument/2006/relationships/image" Target="../media/image7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1.png"/><Relationship Id="rId5" Type="http://schemas.openxmlformats.org/officeDocument/2006/relationships/image" Target="../media/image70.png"/><Relationship Id="rId10" Type="http://schemas.openxmlformats.org/officeDocument/2006/relationships/image" Target="../media/image75.png"/><Relationship Id="rId4" Type="http://schemas.openxmlformats.org/officeDocument/2006/relationships/image" Target="../media/image69.png"/><Relationship Id="rId9" Type="http://schemas.openxmlformats.org/officeDocument/2006/relationships/image" Target="../media/image74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1.png"/><Relationship Id="rId3" Type="http://schemas.openxmlformats.org/officeDocument/2006/relationships/image" Target="../media/image76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9.png"/><Relationship Id="rId5" Type="http://schemas.openxmlformats.org/officeDocument/2006/relationships/image" Target="../media/image78.png"/><Relationship Id="rId4" Type="http://schemas.openxmlformats.org/officeDocument/2006/relationships/image" Target="../media/image77.png"/><Relationship Id="rId9" Type="http://schemas.openxmlformats.org/officeDocument/2006/relationships/image" Target="../media/image82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8.png"/><Relationship Id="rId3" Type="http://schemas.openxmlformats.org/officeDocument/2006/relationships/image" Target="../media/image83.png"/><Relationship Id="rId7" Type="http://schemas.openxmlformats.org/officeDocument/2006/relationships/image" Target="../media/image8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6.png"/><Relationship Id="rId5" Type="http://schemas.openxmlformats.org/officeDocument/2006/relationships/image" Target="../media/image85.png"/><Relationship Id="rId4" Type="http://schemas.openxmlformats.org/officeDocument/2006/relationships/image" Target="../media/image84.png"/><Relationship Id="rId9" Type="http://schemas.openxmlformats.org/officeDocument/2006/relationships/image" Target="../media/image8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2.png"/><Relationship Id="rId4" Type="http://schemas.openxmlformats.org/officeDocument/2006/relationships/image" Target="../media/image91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6.png"/><Relationship Id="rId3" Type="http://schemas.openxmlformats.org/officeDocument/2006/relationships/image" Target="../media/image93.png"/><Relationship Id="rId7" Type="http://schemas.openxmlformats.org/officeDocument/2006/relationships/image" Target="../media/image9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1.png"/><Relationship Id="rId5" Type="http://schemas.openxmlformats.org/officeDocument/2006/relationships/image" Target="../media/image70.png"/><Relationship Id="rId10" Type="http://schemas.openxmlformats.org/officeDocument/2006/relationships/image" Target="../media/image98.png"/><Relationship Id="rId4" Type="http://schemas.openxmlformats.org/officeDocument/2006/relationships/image" Target="../media/image94.png"/><Relationship Id="rId9" Type="http://schemas.openxmlformats.org/officeDocument/2006/relationships/image" Target="../media/image97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3.png"/><Relationship Id="rId3" Type="http://schemas.openxmlformats.org/officeDocument/2006/relationships/image" Target="../media/image76.png"/><Relationship Id="rId7" Type="http://schemas.openxmlformats.org/officeDocument/2006/relationships/image" Target="../media/image10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1.png"/><Relationship Id="rId11" Type="http://schemas.openxmlformats.org/officeDocument/2006/relationships/image" Target="../media/image104.png"/><Relationship Id="rId5" Type="http://schemas.openxmlformats.org/officeDocument/2006/relationships/image" Target="../media/image100.png"/><Relationship Id="rId10" Type="http://schemas.openxmlformats.org/officeDocument/2006/relationships/image" Target="../media/image55.png"/><Relationship Id="rId4" Type="http://schemas.openxmlformats.org/officeDocument/2006/relationships/image" Target="../media/image99.png"/><Relationship Id="rId9" Type="http://schemas.openxmlformats.org/officeDocument/2006/relationships/image" Target="../media/image12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0.png"/><Relationship Id="rId3" Type="http://schemas.openxmlformats.org/officeDocument/2006/relationships/image" Target="../media/image105.png"/><Relationship Id="rId7" Type="http://schemas.openxmlformats.org/officeDocument/2006/relationships/image" Target="../media/image109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8.png"/><Relationship Id="rId5" Type="http://schemas.openxmlformats.org/officeDocument/2006/relationships/image" Target="../media/image107.png"/><Relationship Id="rId4" Type="http://schemas.openxmlformats.org/officeDocument/2006/relationships/image" Target="../media/image106.png"/><Relationship Id="rId9" Type="http://schemas.openxmlformats.org/officeDocument/2006/relationships/image" Target="../media/image89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3.png"/><Relationship Id="rId4" Type="http://schemas.openxmlformats.org/officeDocument/2006/relationships/image" Target="../media/image11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4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6.png"/><Relationship Id="rId4" Type="http://schemas.openxmlformats.org/officeDocument/2006/relationships/image" Target="../media/image115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2.png"/><Relationship Id="rId3" Type="http://schemas.openxmlformats.org/officeDocument/2006/relationships/image" Target="../media/image117.png"/><Relationship Id="rId7" Type="http://schemas.openxmlformats.org/officeDocument/2006/relationships/image" Target="../media/image12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0.png"/><Relationship Id="rId5" Type="http://schemas.openxmlformats.org/officeDocument/2006/relationships/image" Target="../media/image119.png"/><Relationship Id="rId4" Type="http://schemas.openxmlformats.org/officeDocument/2006/relationships/image" Target="../media/image118.png"/><Relationship Id="rId9" Type="http://schemas.openxmlformats.org/officeDocument/2006/relationships/image" Target="../media/image123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9.png"/><Relationship Id="rId3" Type="http://schemas.openxmlformats.org/officeDocument/2006/relationships/image" Target="../media/image124.png"/><Relationship Id="rId7" Type="http://schemas.openxmlformats.org/officeDocument/2006/relationships/image" Target="../media/image128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7.png"/><Relationship Id="rId5" Type="http://schemas.openxmlformats.org/officeDocument/2006/relationships/image" Target="../media/image126.png"/><Relationship Id="rId4" Type="http://schemas.openxmlformats.org/officeDocument/2006/relationships/image" Target="../media/image125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5.png"/><Relationship Id="rId3" Type="http://schemas.openxmlformats.org/officeDocument/2006/relationships/image" Target="../media/image130.png"/><Relationship Id="rId7" Type="http://schemas.openxmlformats.org/officeDocument/2006/relationships/image" Target="../media/image134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3.png"/><Relationship Id="rId5" Type="http://schemas.openxmlformats.org/officeDocument/2006/relationships/image" Target="../media/image132.png"/><Relationship Id="rId4" Type="http://schemas.openxmlformats.org/officeDocument/2006/relationships/image" Target="../media/image131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0.png"/><Relationship Id="rId3" Type="http://schemas.openxmlformats.org/officeDocument/2006/relationships/image" Target="../media/image130.png"/><Relationship Id="rId7" Type="http://schemas.openxmlformats.org/officeDocument/2006/relationships/image" Target="../media/image139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8.png"/><Relationship Id="rId5" Type="http://schemas.openxmlformats.org/officeDocument/2006/relationships/image" Target="../media/image137.png"/><Relationship Id="rId4" Type="http://schemas.openxmlformats.org/officeDocument/2006/relationships/image" Target="../media/image136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4.png"/><Relationship Id="rId5" Type="http://schemas.openxmlformats.org/officeDocument/2006/relationships/image" Target="../media/image143.png"/><Relationship Id="rId4" Type="http://schemas.openxmlformats.org/officeDocument/2006/relationships/image" Target="../media/image142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0.png"/><Relationship Id="rId3" Type="http://schemas.openxmlformats.org/officeDocument/2006/relationships/image" Target="../media/image145.png"/><Relationship Id="rId7" Type="http://schemas.openxmlformats.org/officeDocument/2006/relationships/image" Target="../media/image149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8.png"/><Relationship Id="rId5" Type="http://schemas.openxmlformats.org/officeDocument/2006/relationships/image" Target="../media/image147.png"/><Relationship Id="rId4" Type="http://schemas.openxmlformats.org/officeDocument/2006/relationships/image" Target="../media/image146.png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5.png"/><Relationship Id="rId3" Type="http://schemas.openxmlformats.org/officeDocument/2006/relationships/image" Target="../media/image151.png"/><Relationship Id="rId7" Type="http://schemas.openxmlformats.org/officeDocument/2006/relationships/image" Target="../media/image150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4.png"/><Relationship Id="rId5" Type="http://schemas.openxmlformats.org/officeDocument/2006/relationships/image" Target="../media/image153.png"/><Relationship Id="rId4" Type="http://schemas.openxmlformats.org/officeDocument/2006/relationships/image" Target="../media/image152.png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0.png"/><Relationship Id="rId3" Type="http://schemas.openxmlformats.org/officeDocument/2006/relationships/image" Target="../media/image156.png"/><Relationship Id="rId7" Type="http://schemas.openxmlformats.org/officeDocument/2006/relationships/image" Target="../media/image160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9.png"/><Relationship Id="rId5" Type="http://schemas.openxmlformats.org/officeDocument/2006/relationships/image" Target="../media/image158.png"/><Relationship Id="rId4" Type="http://schemas.openxmlformats.org/officeDocument/2006/relationships/image" Target="../media/image157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9.png"/><Relationship Id="rId3" Type="http://schemas.openxmlformats.org/officeDocument/2006/relationships/image" Target="../media/image164.png"/><Relationship Id="rId7" Type="http://schemas.openxmlformats.org/officeDocument/2006/relationships/image" Target="../media/image168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7.png"/><Relationship Id="rId5" Type="http://schemas.openxmlformats.org/officeDocument/2006/relationships/image" Target="../media/image166.png"/><Relationship Id="rId4" Type="http://schemas.openxmlformats.org/officeDocument/2006/relationships/image" Target="../media/image165.png"/><Relationship Id="rId9" Type="http://schemas.openxmlformats.org/officeDocument/2006/relationships/image" Target="../media/image170.png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6.png"/><Relationship Id="rId3" Type="http://schemas.openxmlformats.org/officeDocument/2006/relationships/image" Target="../media/image171.png"/><Relationship Id="rId7" Type="http://schemas.openxmlformats.org/officeDocument/2006/relationships/image" Target="../media/image175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4.png"/><Relationship Id="rId5" Type="http://schemas.openxmlformats.org/officeDocument/2006/relationships/image" Target="../media/image173.png"/><Relationship Id="rId4" Type="http://schemas.openxmlformats.org/officeDocument/2006/relationships/image" Target="../media/image172.png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6.png"/><Relationship Id="rId3" Type="http://schemas.openxmlformats.org/officeDocument/2006/relationships/image" Target="../media/image177.png"/><Relationship Id="rId7" Type="http://schemas.openxmlformats.org/officeDocument/2006/relationships/image" Target="../media/image181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0.png"/><Relationship Id="rId5" Type="http://schemas.openxmlformats.org/officeDocument/2006/relationships/image" Target="../media/image179.png"/><Relationship Id="rId4" Type="http://schemas.openxmlformats.org/officeDocument/2006/relationships/image" Target="../media/image178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31"/>
          <p:cNvSpPr/>
          <p:nvPr/>
        </p:nvSpPr>
        <p:spPr>
          <a:xfrm>
            <a:off x="0" y="0"/>
            <a:ext cx="12191999" cy="6857996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31"/>
          <p:cNvSpPr/>
          <p:nvPr/>
        </p:nvSpPr>
        <p:spPr>
          <a:xfrm>
            <a:off x="5013959" y="1475232"/>
            <a:ext cx="2353056" cy="2641092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31"/>
          <p:cNvSpPr txBox="1">
            <a:spLocks noGrp="1"/>
          </p:cNvSpPr>
          <p:nvPr>
            <p:ph type="title"/>
          </p:nvPr>
        </p:nvSpPr>
        <p:spPr>
          <a:xfrm>
            <a:off x="753979" y="3084195"/>
            <a:ext cx="9978189" cy="6905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Decision </a:t>
            </a:r>
            <a:r>
              <a:rPr lang="en-US" dirty="0" smtClean="0"/>
              <a:t>Tree: Information Gain</a:t>
            </a: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32"/>
          <p:cNvSpPr txBox="1"/>
          <p:nvPr/>
        </p:nvSpPr>
        <p:spPr>
          <a:xfrm>
            <a:off x="304800" y="381000"/>
            <a:ext cx="7615546" cy="689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0" i="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Decision Tree</a:t>
            </a:r>
            <a:endParaRPr sz="4400" b="0" i="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8" name="Google Shape;278;p32"/>
          <p:cNvSpPr txBox="1">
            <a:spLocks noGrp="1"/>
          </p:cNvSpPr>
          <p:nvPr>
            <p:ph type="body" idx="1"/>
          </p:nvPr>
        </p:nvSpPr>
        <p:spPr>
          <a:xfrm>
            <a:off x="304800" y="1219200"/>
            <a:ext cx="10895330" cy="51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/>
              <a:t>Basic algorithm (a greedy algorithm)</a:t>
            </a:r>
            <a:endParaRPr sz="2400"/>
          </a:p>
          <a:p>
            <a:pPr marL="800100" lvl="1" indent="-34290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n-US" sz="2400"/>
              <a:t>Tree is constructed in a </a:t>
            </a:r>
            <a:r>
              <a:rPr lang="en-US" sz="2400">
                <a:solidFill>
                  <a:schemeClr val="hlink"/>
                </a:solidFill>
              </a:rPr>
              <a:t>top-down recursive divide-and-conquer manner</a:t>
            </a:r>
            <a:endParaRPr sz="2400">
              <a:solidFill>
                <a:schemeClr val="hlink"/>
              </a:solidFill>
            </a:endParaRPr>
          </a:p>
          <a:p>
            <a:pPr marL="800100" lvl="1" indent="-34290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n-US" sz="2400"/>
              <a:t>At start, all the training examples are at the root</a:t>
            </a:r>
            <a:endParaRPr sz="2400"/>
          </a:p>
          <a:p>
            <a:pPr marL="800100" lvl="1" indent="-34290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n-US" sz="2400"/>
              <a:t>Attributes are categorical (if continuous-valued, they are discretized in advance)</a:t>
            </a:r>
            <a:endParaRPr sz="2400"/>
          </a:p>
          <a:p>
            <a:pPr marL="800100" lvl="1" indent="-34290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n-US" sz="2400"/>
              <a:t>Examples are partitioned recursively based on selected attributes</a:t>
            </a:r>
            <a:endParaRPr sz="2400"/>
          </a:p>
          <a:p>
            <a:pPr marL="800100" lvl="1" indent="-34290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n-US" sz="2400"/>
              <a:t>Test attributes are selected on the basis of a heuristic or statistical measure (e.g., </a:t>
            </a:r>
            <a:r>
              <a:rPr lang="en-US" sz="2400">
                <a:solidFill>
                  <a:schemeClr val="hlink"/>
                </a:solidFill>
              </a:rPr>
              <a:t>information gain</a:t>
            </a:r>
            <a:r>
              <a:rPr lang="en-US" sz="2400"/>
              <a:t>)</a:t>
            </a:r>
            <a:endParaRPr sz="24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35"/>
          <p:cNvSpPr txBox="1"/>
          <p:nvPr/>
        </p:nvSpPr>
        <p:spPr>
          <a:xfrm>
            <a:off x="304799" y="381000"/>
            <a:ext cx="8454189" cy="689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0" i="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Decision Tree: </a:t>
            </a:r>
            <a:r>
              <a:rPr lang="en-US" sz="4400" b="0" i="0" dirty="0" smtClea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Information Gain</a:t>
            </a:r>
            <a:endParaRPr sz="4400" b="0" i="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652336" y="1556672"/>
          <a:ext cx="8470232" cy="4670475"/>
        </p:xfrm>
        <a:graphic>
          <a:graphicData uri="http://schemas.openxmlformats.org/drawingml/2006/table">
            <a:tbl>
              <a:tblPr/>
              <a:tblGrid>
                <a:gridCol w="1372779">
                  <a:extLst>
                    <a:ext uri="{9D8B030D-6E8A-4147-A177-3AD203B41FA5}">
                      <a16:colId xmlns:a16="http://schemas.microsoft.com/office/drawing/2014/main" val="166730754"/>
                    </a:ext>
                  </a:extLst>
                </a:gridCol>
                <a:gridCol w="1372779">
                  <a:extLst>
                    <a:ext uri="{9D8B030D-6E8A-4147-A177-3AD203B41FA5}">
                      <a16:colId xmlns:a16="http://schemas.microsoft.com/office/drawing/2014/main" val="3705911863"/>
                    </a:ext>
                  </a:extLst>
                </a:gridCol>
                <a:gridCol w="1449044">
                  <a:extLst>
                    <a:ext uri="{9D8B030D-6E8A-4147-A177-3AD203B41FA5}">
                      <a16:colId xmlns:a16="http://schemas.microsoft.com/office/drawing/2014/main" val="401773213"/>
                    </a:ext>
                  </a:extLst>
                </a:gridCol>
                <a:gridCol w="1468111">
                  <a:extLst>
                    <a:ext uri="{9D8B030D-6E8A-4147-A177-3AD203B41FA5}">
                      <a16:colId xmlns:a16="http://schemas.microsoft.com/office/drawing/2014/main" val="4272906104"/>
                    </a:ext>
                  </a:extLst>
                </a:gridCol>
                <a:gridCol w="1391843">
                  <a:extLst>
                    <a:ext uri="{9D8B030D-6E8A-4147-A177-3AD203B41FA5}">
                      <a16:colId xmlns:a16="http://schemas.microsoft.com/office/drawing/2014/main" val="4125339830"/>
                    </a:ext>
                  </a:extLst>
                </a:gridCol>
                <a:gridCol w="1415676">
                  <a:extLst>
                    <a:ext uri="{9D8B030D-6E8A-4147-A177-3AD203B41FA5}">
                      <a16:colId xmlns:a16="http://schemas.microsoft.com/office/drawing/2014/main" val="803712746"/>
                    </a:ext>
                  </a:extLst>
                </a:gridCol>
              </a:tblGrid>
              <a:tr h="203517"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Sl. No.</a:t>
                      </a:r>
                    </a:p>
                  </a:txBody>
                  <a:tcPr marL="6565" marR="6565" marT="65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Outlook</a:t>
                      </a:r>
                    </a:p>
                  </a:txBody>
                  <a:tcPr marL="6565" marR="6565" marT="65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Temp</a:t>
                      </a:r>
                    </a:p>
                  </a:txBody>
                  <a:tcPr marL="6565" marR="6565" marT="65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Humidity</a:t>
                      </a:r>
                    </a:p>
                  </a:txBody>
                  <a:tcPr marL="6565" marR="6565" marT="65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Windy</a:t>
                      </a:r>
                    </a:p>
                  </a:txBody>
                  <a:tcPr marL="6565" marR="6565" marT="65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Play Golf</a:t>
                      </a:r>
                    </a:p>
                  </a:txBody>
                  <a:tcPr marL="6565" marR="6565" marT="65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56919871"/>
                  </a:ext>
                </a:extLst>
              </a:tr>
              <a:tr h="203517"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6565" marR="6565" marT="65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Rainy</a:t>
                      </a:r>
                    </a:p>
                  </a:txBody>
                  <a:tcPr marL="6565" marR="6565" marT="65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Hot</a:t>
                      </a:r>
                    </a:p>
                  </a:txBody>
                  <a:tcPr marL="6565" marR="6565" marT="65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High</a:t>
                      </a:r>
                    </a:p>
                  </a:txBody>
                  <a:tcPr marL="6565" marR="6565" marT="65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Weak</a:t>
                      </a:r>
                    </a:p>
                  </a:txBody>
                  <a:tcPr marL="6565" marR="6565" marT="65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</a:t>
                      </a:r>
                    </a:p>
                  </a:txBody>
                  <a:tcPr marL="6565" marR="6565" marT="65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9502385"/>
                  </a:ext>
                </a:extLst>
              </a:tr>
              <a:tr h="203517"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6565" marR="6565" marT="65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Rainy</a:t>
                      </a:r>
                    </a:p>
                  </a:txBody>
                  <a:tcPr marL="6565" marR="6565" marT="65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Hot</a:t>
                      </a:r>
                    </a:p>
                  </a:txBody>
                  <a:tcPr marL="6565" marR="6565" marT="65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High</a:t>
                      </a:r>
                    </a:p>
                  </a:txBody>
                  <a:tcPr marL="6565" marR="6565" marT="65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Strong</a:t>
                      </a:r>
                    </a:p>
                  </a:txBody>
                  <a:tcPr marL="6565" marR="6565" marT="65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</a:t>
                      </a:r>
                    </a:p>
                  </a:txBody>
                  <a:tcPr marL="6565" marR="6565" marT="65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662295"/>
                  </a:ext>
                </a:extLst>
              </a:tr>
              <a:tr h="203517"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L="6565" marR="6565" marT="65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Overcast</a:t>
                      </a:r>
                    </a:p>
                  </a:txBody>
                  <a:tcPr marL="6565" marR="6565" marT="65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Hot</a:t>
                      </a:r>
                    </a:p>
                  </a:txBody>
                  <a:tcPr marL="6565" marR="6565" marT="65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High</a:t>
                      </a:r>
                    </a:p>
                  </a:txBody>
                  <a:tcPr marL="6565" marR="6565" marT="65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Weak</a:t>
                      </a:r>
                    </a:p>
                  </a:txBody>
                  <a:tcPr marL="6565" marR="6565" marT="65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Yes</a:t>
                      </a:r>
                    </a:p>
                  </a:txBody>
                  <a:tcPr marL="6565" marR="6565" marT="65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38145677"/>
                  </a:ext>
                </a:extLst>
              </a:tr>
              <a:tr h="203517"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marL="6565" marR="6565" marT="65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Sunny</a:t>
                      </a:r>
                    </a:p>
                  </a:txBody>
                  <a:tcPr marL="6565" marR="6565" marT="65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Mild</a:t>
                      </a:r>
                    </a:p>
                  </a:txBody>
                  <a:tcPr marL="6565" marR="6565" marT="65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High</a:t>
                      </a:r>
                    </a:p>
                  </a:txBody>
                  <a:tcPr marL="6565" marR="6565" marT="65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Weak</a:t>
                      </a:r>
                    </a:p>
                  </a:txBody>
                  <a:tcPr marL="6565" marR="6565" marT="65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Yes</a:t>
                      </a:r>
                    </a:p>
                  </a:txBody>
                  <a:tcPr marL="6565" marR="6565" marT="65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693404"/>
                  </a:ext>
                </a:extLst>
              </a:tr>
              <a:tr h="203517"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 marL="6565" marR="6565" marT="65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Sunny</a:t>
                      </a:r>
                    </a:p>
                  </a:txBody>
                  <a:tcPr marL="6565" marR="6565" marT="65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Cool</a:t>
                      </a:r>
                    </a:p>
                  </a:txBody>
                  <a:tcPr marL="6565" marR="6565" marT="65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Normal</a:t>
                      </a:r>
                    </a:p>
                  </a:txBody>
                  <a:tcPr marL="6565" marR="6565" marT="65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Weak</a:t>
                      </a:r>
                    </a:p>
                  </a:txBody>
                  <a:tcPr marL="6565" marR="6565" marT="65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Yes</a:t>
                      </a:r>
                    </a:p>
                  </a:txBody>
                  <a:tcPr marL="6565" marR="6565" marT="65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00931757"/>
                  </a:ext>
                </a:extLst>
              </a:tr>
              <a:tr h="203517"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</a:p>
                  </a:txBody>
                  <a:tcPr marL="6565" marR="6565" marT="65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Sunny</a:t>
                      </a:r>
                    </a:p>
                  </a:txBody>
                  <a:tcPr marL="6565" marR="6565" marT="65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Cool</a:t>
                      </a:r>
                    </a:p>
                  </a:txBody>
                  <a:tcPr marL="6565" marR="6565" marT="65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Normal</a:t>
                      </a:r>
                    </a:p>
                  </a:txBody>
                  <a:tcPr marL="6565" marR="6565" marT="65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Strong</a:t>
                      </a:r>
                    </a:p>
                  </a:txBody>
                  <a:tcPr marL="6565" marR="6565" marT="65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</a:t>
                      </a:r>
                    </a:p>
                  </a:txBody>
                  <a:tcPr marL="6565" marR="6565" marT="65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5776579"/>
                  </a:ext>
                </a:extLst>
              </a:tr>
              <a:tr h="203517"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</a:p>
                  </a:txBody>
                  <a:tcPr marL="6565" marR="6565" marT="65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Overcast</a:t>
                      </a:r>
                    </a:p>
                  </a:txBody>
                  <a:tcPr marL="6565" marR="6565" marT="65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Cool</a:t>
                      </a:r>
                    </a:p>
                  </a:txBody>
                  <a:tcPr marL="6565" marR="6565" marT="65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Normal</a:t>
                      </a:r>
                    </a:p>
                  </a:txBody>
                  <a:tcPr marL="6565" marR="6565" marT="65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Strong</a:t>
                      </a:r>
                    </a:p>
                  </a:txBody>
                  <a:tcPr marL="6565" marR="6565" marT="65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Yes</a:t>
                      </a:r>
                    </a:p>
                  </a:txBody>
                  <a:tcPr marL="6565" marR="6565" marT="65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69177"/>
                  </a:ext>
                </a:extLst>
              </a:tr>
              <a:tr h="203517"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</a:p>
                  </a:txBody>
                  <a:tcPr marL="6565" marR="6565" marT="65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Rainy</a:t>
                      </a:r>
                    </a:p>
                  </a:txBody>
                  <a:tcPr marL="6565" marR="6565" marT="65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Mild</a:t>
                      </a:r>
                    </a:p>
                  </a:txBody>
                  <a:tcPr marL="6565" marR="6565" marT="65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High</a:t>
                      </a:r>
                    </a:p>
                  </a:txBody>
                  <a:tcPr marL="6565" marR="6565" marT="65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Weak</a:t>
                      </a:r>
                    </a:p>
                  </a:txBody>
                  <a:tcPr marL="6565" marR="6565" marT="65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</a:t>
                      </a:r>
                    </a:p>
                  </a:txBody>
                  <a:tcPr marL="6565" marR="6565" marT="65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7887860"/>
                  </a:ext>
                </a:extLst>
              </a:tr>
              <a:tr h="203517"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</a:p>
                  </a:txBody>
                  <a:tcPr marL="6565" marR="6565" marT="65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Rainy</a:t>
                      </a:r>
                    </a:p>
                  </a:txBody>
                  <a:tcPr marL="6565" marR="6565" marT="65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Cool</a:t>
                      </a:r>
                    </a:p>
                  </a:txBody>
                  <a:tcPr marL="6565" marR="6565" marT="65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Normal</a:t>
                      </a:r>
                    </a:p>
                  </a:txBody>
                  <a:tcPr marL="6565" marR="6565" marT="65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Weak</a:t>
                      </a:r>
                    </a:p>
                  </a:txBody>
                  <a:tcPr marL="6565" marR="6565" marT="65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Yes</a:t>
                      </a:r>
                    </a:p>
                  </a:txBody>
                  <a:tcPr marL="6565" marR="6565" marT="65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4097314"/>
                  </a:ext>
                </a:extLst>
              </a:tr>
              <a:tr h="203517"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</a:p>
                  </a:txBody>
                  <a:tcPr marL="6565" marR="6565" marT="65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Sunny</a:t>
                      </a:r>
                    </a:p>
                  </a:txBody>
                  <a:tcPr marL="6565" marR="6565" marT="65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Mild</a:t>
                      </a:r>
                    </a:p>
                  </a:txBody>
                  <a:tcPr marL="6565" marR="6565" marT="65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Normal</a:t>
                      </a:r>
                    </a:p>
                  </a:txBody>
                  <a:tcPr marL="6565" marR="6565" marT="65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Weak</a:t>
                      </a:r>
                    </a:p>
                  </a:txBody>
                  <a:tcPr marL="6565" marR="6565" marT="65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Yes</a:t>
                      </a:r>
                    </a:p>
                  </a:txBody>
                  <a:tcPr marL="6565" marR="6565" marT="65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58984871"/>
                  </a:ext>
                </a:extLst>
              </a:tr>
              <a:tr h="203517"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</a:t>
                      </a:r>
                    </a:p>
                  </a:txBody>
                  <a:tcPr marL="6565" marR="6565" marT="65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Rainy</a:t>
                      </a:r>
                    </a:p>
                  </a:txBody>
                  <a:tcPr marL="6565" marR="6565" marT="65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Mild</a:t>
                      </a:r>
                    </a:p>
                  </a:txBody>
                  <a:tcPr marL="6565" marR="6565" marT="65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Normal</a:t>
                      </a:r>
                    </a:p>
                  </a:txBody>
                  <a:tcPr marL="6565" marR="6565" marT="65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Strong</a:t>
                      </a:r>
                    </a:p>
                  </a:txBody>
                  <a:tcPr marL="6565" marR="6565" marT="65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Yes</a:t>
                      </a:r>
                    </a:p>
                  </a:txBody>
                  <a:tcPr marL="6565" marR="6565" marT="65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30320933"/>
                  </a:ext>
                </a:extLst>
              </a:tr>
              <a:tr h="203517"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</a:t>
                      </a:r>
                    </a:p>
                  </a:txBody>
                  <a:tcPr marL="6565" marR="6565" marT="65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Overcast</a:t>
                      </a:r>
                    </a:p>
                  </a:txBody>
                  <a:tcPr marL="6565" marR="6565" marT="65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Mild</a:t>
                      </a:r>
                    </a:p>
                  </a:txBody>
                  <a:tcPr marL="6565" marR="6565" marT="65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High</a:t>
                      </a:r>
                    </a:p>
                  </a:txBody>
                  <a:tcPr marL="6565" marR="6565" marT="65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Strong</a:t>
                      </a:r>
                    </a:p>
                  </a:txBody>
                  <a:tcPr marL="6565" marR="6565" marT="65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Yes</a:t>
                      </a:r>
                    </a:p>
                  </a:txBody>
                  <a:tcPr marL="6565" marR="6565" marT="65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7588799"/>
                  </a:ext>
                </a:extLst>
              </a:tr>
              <a:tr h="203517"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13</a:t>
                      </a:r>
                    </a:p>
                  </a:txBody>
                  <a:tcPr marL="6565" marR="6565" marT="65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Overcast</a:t>
                      </a:r>
                    </a:p>
                  </a:txBody>
                  <a:tcPr marL="6565" marR="6565" marT="65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Hot</a:t>
                      </a:r>
                    </a:p>
                  </a:txBody>
                  <a:tcPr marL="6565" marR="6565" marT="65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Normal</a:t>
                      </a:r>
                    </a:p>
                  </a:txBody>
                  <a:tcPr marL="6565" marR="6565" marT="65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Weak</a:t>
                      </a:r>
                    </a:p>
                  </a:txBody>
                  <a:tcPr marL="6565" marR="6565" marT="65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Yes</a:t>
                      </a:r>
                    </a:p>
                  </a:txBody>
                  <a:tcPr marL="6565" marR="6565" marT="65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6908151"/>
                  </a:ext>
                </a:extLst>
              </a:tr>
              <a:tr h="203517"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14</a:t>
                      </a:r>
                    </a:p>
                  </a:txBody>
                  <a:tcPr marL="6565" marR="6565" marT="65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Sunny</a:t>
                      </a:r>
                    </a:p>
                  </a:txBody>
                  <a:tcPr marL="6565" marR="6565" marT="65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Mild</a:t>
                      </a:r>
                    </a:p>
                  </a:txBody>
                  <a:tcPr marL="6565" marR="6565" marT="65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High</a:t>
                      </a:r>
                    </a:p>
                  </a:txBody>
                  <a:tcPr marL="6565" marR="6565" marT="65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Strong</a:t>
                      </a:r>
                    </a:p>
                  </a:txBody>
                  <a:tcPr marL="6565" marR="6565" marT="65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</a:t>
                      </a:r>
                    </a:p>
                  </a:txBody>
                  <a:tcPr marL="6565" marR="6565" marT="65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096531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68026863"/>
      </p:ext>
    </p:extLst>
  </p:cSld>
  <p:clrMapOvr>
    <a:masterClrMapping/>
  </p:clrMapOvr>
  <p:transition>
    <p:fade thruBlk="1"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35"/>
          <p:cNvSpPr txBox="1"/>
          <p:nvPr/>
        </p:nvSpPr>
        <p:spPr>
          <a:xfrm>
            <a:off x="304799" y="381000"/>
            <a:ext cx="8454189" cy="689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0" i="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Decision Tree: Information </a:t>
            </a:r>
            <a:r>
              <a:rPr lang="en-US" sz="4400" b="0" i="0" dirty="0" smtClea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Gain</a:t>
            </a:r>
            <a:endParaRPr sz="4400" b="0" i="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7" name="Google Shape;317;p35"/>
          <p:cNvSpPr txBox="1"/>
          <p:nvPr/>
        </p:nvSpPr>
        <p:spPr>
          <a:xfrm>
            <a:off x="304800" y="1773555"/>
            <a:ext cx="4100830" cy="88138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 </a:t>
            </a:r>
            <a:endParaRPr/>
          </a:p>
        </p:txBody>
      </p:sp>
      <p:sp>
        <p:nvSpPr>
          <p:cNvPr id="318" name="Google Shape;318;p35"/>
          <p:cNvSpPr txBox="1"/>
          <p:nvPr/>
        </p:nvSpPr>
        <p:spPr>
          <a:xfrm>
            <a:off x="600647" y="3167316"/>
            <a:ext cx="3509010" cy="523875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l="-16" t="-108" r="15" b="107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 </a:t>
            </a:r>
            <a:endParaRPr/>
          </a:p>
        </p:txBody>
      </p:sp>
      <p:sp>
        <p:nvSpPr>
          <p:cNvPr id="319" name="Google Shape;319;p35"/>
          <p:cNvSpPr txBox="1"/>
          <p:nvPr/>
        </p:nvSpPr>
        <p:spPr>
          <a:xfrm>
            <a:off x="600647" y="4146486"/>
            <a:ext cx="4720590" cy="828675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l="-12" t="-69" r="11" b="68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 </a:t>
            </a:r>
            <a:endParaRPr/>
          </a:p>
        </p:txBody>
      </p:sp>
      <p:pic>
        <p:nvPicPr>
          <p:cNvPr id="320" name="Google Shape;320;p35" descr="http://upload.wikimedia.org/wikipedia/commons/thumb/2/22/Binary_entropy_plot.svg/200px-Binary_entropy_plot.svg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453505" y="1585595"/>
            <a:ext cx="4410075" cy="425577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 thruBlk="1"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36"/>
          <p:cNvSpPr txBox="1">
            <a:spLocks noGrp="1"/>
          </p:cNvSpPr>
          <p:nvPr>
            <p:ph type="sldNum" idx="12"/>
          </p:nvPr>
        </p:nvSpPr>
        <p:spPr>
          <a:xfrm>
            <a:off x="8778240" y="6536690"/>
            <a:ext cx="2804160" cy="184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ahoma"/>
              <a:buNone/>
            </a:pPr>
            <a:fld id="{00000000-1234-1234-1234-123412341234}" type="slidenum">
              <a:rPr lang="en-US" sz="12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5</a:t>
            </a:fld>
            <a:endParaRPr sz="1200" b="0" i="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201649" y="174414"/>
                <a:ext cx="6137706" cy="46063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IN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𝐸𝑛𝑡𝑟𝑜𝑝𝑦</m:t>
                    </m:r>
                    <m:d>
                      <m:dPr>
                        <m:ctrlPr>
                          <a:rPr lang="en-I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𝑆</m:t>
                        </m:r>
                      </m:e>
                    </m:d>
                    <m:r>
                      <a:rPr lang="en-IN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=−</m:t>
                    </m:r>
                    <m:d>
                      <m:dPr>
                        <m:ctrlPr>
                          <a:rPr lang="en-IN" sz="2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9</m:t>
                            </m:r>
                          </m:num>
                          <m:den>
                            <m: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14</m:t>
                            </m:r>
                          </m:den>
                        </m:f>
                      </m:e>
                    </m:d>
                    <m:sSub>
                      <m:sSubPr>
                        <m:ctrlPr>
                          <a:rPr lang="en-IN" sz="2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𝑙𝑜𝑔</m:t>
                        </m:r>
                      </m:e>
                      <m:sub>
                        <m:r>
                          <a:rPr lang="en-I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d>
                      <m:dPr>
                        <m:ctrlPr>
                          <a:rPr lang="en-I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9</m:t>
                            </m:r>
                          </m:num>
                          <m:den>
                            <m: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14</m:t>
                            </m:r>
                          </m:den>
                        </m:f>
                      </m:e>
                    </m:d>
                    <m:r>
                      <a:rPr lang="en-IN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d>
                      <m:dPr>
                        <m:ctrlPr>
                          <a:rPr lang="en-I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5</m:t>
                            </m:r>
                          </m:num>
                          <m:den>
                            <m: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14</m:t>
                            </m:r>
                          </m:den>
                        </m:f>
                      </m:e>
                    </m:d>
                    <m:sSub>
                      <m:sSubPr>
                        <m:ctrlPr>
                          <a:rPr lang="en-I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𝑙𝑜𝑔</m:t>
                        </m:r>
                      </m:e>
                      <m:sub>
                        <m:r>
                          <a:rPr lang="en-I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d>
                      <m:dPr>
                        <m:ctrlPr>
                          <a:rPr lang="en-I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5</m:t>
                            </m:r>
                          </m:num>
                          <m:den>
                            <m: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14</m:t>
                            </m:r>
                          </m:den>
                        </m:f>
                      </m:e>
                    </m:d>
                  </m:oMath>
                </a14:m>
                <a:r>
                  <a:rPr lang="en-IN" sz="20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0.940</a:t>
                </a:r>
                <a:endParaRPr lang="en-IN" sz="20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1649" y="174414"/>
                <a:ext cx="6137706" cy="460639"/>
              </a:xfrm>
              <a:prstGeom prst="rect">
                <a:avLst/>
              </a:prstGeom>
              <a:blipFill>
                <a:blip r:embed="rId3"/>
                <a:stretch>
                  <a:fillRect t="-2667" r="-1490" b="-1466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201649" y="2816978"/>
                <a:ext cx="6333978" cy="46063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IN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𝐸𝑛𝑡𝑟𝑜𝑝𝑦</m:t>
                    </m:r>
                    <m:d>
                      <m:dPr>
                        <m:ctrlPr>
                          <a:rPr lang="en-I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I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𝑊𝑒𝑎𝑘</m:t>
                            </m:r>
                          </m:sub>
                        </m:sSub>
                      </m:e>
                    </m:d>
                    <m:r>
                      <a:rPr lang="en-IN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=−</m:t>
                    </m:r>
                    <m:d>
                      <m:dPr>
                        <m:ctrlPr>
                          <a:rPr lang="en-IN" sz="2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6</m:t>
                            </m:r>
                          </m:num>
                          <m:den>
                            <m:r>
                              <a:rPr lang="en-I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8</m:t>
                            </m:r>
                          </m:den>
                        </m:f>
                      </m:e>
                    </m:d>
                    <m:sSub>
                      <m:sSubPr>
                        <m:ctrlPr>
                          <a:rPr lang="en-IN" sz="2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𝑙𝑜𝑔</m:t>
                        </m:r>
                      </m:e>
                      <m:sub>
                        <m:r>
                          <a:rPr lang="en-I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d>
                      <m:dPr>
                        <m:ctrlPr>
                          <a:rPr lang="en-I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6</m:t>
                            </m:r>
                          </m:num>
                          <m:den>
                            <m: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8</m:t>
                            </m:r>
                          </m:den>
                        </m:f>
                      </m:e>
                    </m:d>
                    <m:r>
                      <a:rPr lang="en-IN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d>
                      <m:dPr>
                        <m:ctrlPr>
                          <a:rPr lang="en-I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a:rPr lang="en-I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8</m:t>
                            </m:r>
                          </m:den>
                        </m:f>
                      </m:e>
                    </m:d>
                    <m:sSub>
                      <m:sSubPr>
                        <m:ctrlPr>
                          <a:rPr lang="en-I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𝑙𝑜𝑔</m:t>
                        </m:r>
                      </m:e>
                      <m:sub>
                        <m:r>
                          <a:rPr lang="en-I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d>
                      <m:dPr>
                        <m:ctrlPr>
                          <a:rPr lang="en-I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8</m:t>
                            </m:r>
                          </m:den>
                        </m:f>
                      </m:e>
                    </m:d>
                  </m:oMath>
                </a14:m>
                <a:r>
                  <a:rPr lang="en-IN" sz="20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0.811</a:t>
                </a:r>
                <a:endParaRPr lang="en-IN" sz="20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1649" y="2816978"/>
                <a:ext cx="6333978" cy="460639"/>
              </a:xfrm>
              <a:prstGeom prst="rect">
                <a:avLst/>
              </a:prstGeom>
              <a:blipFill>
                <a:blip r:embed="rId4"/>
                <a:stretch>
                  <a:fillRect t="-2632" b="-1447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6" name="Google Shape;261;p29"/>
          <p:cNvGraphicFramePr/>
          <p:nvPr>
            <p:extLst>
              <p:ext uri="{D42A27DB-BD31-4B8C-83A1-F6EECF244321}">
                <p14:modId xmlns:p14="http://schemas.microsoft.com/office/powerpoint/2010/main" val="2371594991"/>
              </p:ext>
            </p:extLst>
          </p:nvPr>
        </p:nvGraphicFramePr>
        <p:xfrm>
          <a:off x="8743950" y="287178"/>
          <a:ext cx="2838450" cy="2529800"/>
        </p:xfrm>
        <a:graphic>
          <a:graphicData uri="http://schemas.openxmlformats.org/drawingml/2006/table">
            <a:tbl>
              <a:tblPr firstRow="1" bandRow="1">
                <a:noFill/>
                <a:tableStyleId>{AE0CDCE9-8EFF-456A-BFA7-76C2DBC4E188}</a:tableStyleId>
              </a:tblPr>
              <a:tblGrid>
                <a:gridCol w="9461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461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461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7409">
                <a:tc gridSpan="3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Calibri"/>
                        <a:buNone/>
                      </a:pPr>
                      <a:r>
                        <a:rPr lang="en-US" sz="2000" b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Wind</a:t>
                      </a:r>
                      <a:endParaRPr sz="2000" b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356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SzPts val="2000"/>
                        <a:buFont typeface="Calibri"/>
                        <a:buNone/>
                      </a:pPr>
                      <a:endParaRPr sz="2000" b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Calibri"/>
                        <a:buNone/>
                      </a:pPr>
                      <a:r>
                        <a:rPr lang="en-US" sz="2000" b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Yes</a:t>
                      </a:r>
                      <a:endParaRPr sz="2000" b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Calibri"/>
                        <a:buNone/>
                      </a:pPr>
                      <a:r>
                        <a:rPr lang="en-US" sz="2000" b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</a:t>
                      </a:r>
                      <a:endParaRPr sz="2000" b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81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Calibri"/>
                        <a:buNone/>
                      </a:pPr>
                      <a:r>
                        <a:rPr lang="en-US" sz="2000" b="0" u="none" strike="noStrike" cap="none" dirty="0" smtClean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Weak</a:t>
                      </a:r>
                      <a:endParaRPr sz="2000" b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Calibri"/>
                        <a:buNone/>
                      </a:pPr>
                      <a:r>
                        <a:rPr lang="en-US" sz="2000" b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</a:t>
                      </a:r>
                      <a:endParaRPr sz="2000" b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Calibri"/>
                        <a:buNone/>
                      </a:pPr>
                      <a:r>
                        <a:rPr lang="en-US" sz="2000" b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 sz="2000" b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356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Calibri"/>
                        <a:buNone/>
                      </a:pPr>
                      <a:r>
                        <a:rPr lang="en-US" sz="2000" b="0" u="none" strike="noStrike" cap="none" dirty="0" smtClean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Strong</a:t>
                      </a:r>
                      <a:endParaRPr sz="2000" b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Calibri"/>
                        <a:buNone/>
                      </a:pPr>
                      <a:r>
                        <a:rPr lang="en-US" sz="2000" b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 sz="2000" b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Calibri"/>
                        <a:buNone/>
                      </a:pPr>
                      <a:r>
                        <a:rPr lang="en-US" sz="2000" b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 sz="2000" b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356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Calibri"/>
                        <a:buNone/>
                      </a:pPr>
                      <a:r>
                        <a:rPr lang="en-US" sz="2000" b="0" u="none" strike="noStrike" cap="none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Total</a:t>
                      </a:r>
                      <a:endParaRPr sz="2000" b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Calibri"/>
                        <a:buNone/>
                      </a:pPr>
                      <a:r>
                        <a:rPr lang="en-US" sz="2000" b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</a:t>
                      </a:r>
                      <a:endParaRPr sz="2000" b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Calibri"/>
                        <a:buNone/>
                      </a:pPr>
                      <a:r>
                        <a:rPr lang="en-US" sz="2000" b="0" u="none" strike="noStrike" cap="none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</a:t>
                      </a:r>
                      <a:endParaRPr sz="2000" b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1"/>
              <p:cNvSpPr/>
              <p:nvPr/>
            </p:nvSpPr>
            <p:spPr>
              <a:xfrm>
                <a:off x="201649" y="839782"/>
                <a:ext cx="3967240" cy="78386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I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IN" sz="20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IN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𝑊𝑒𝑎𝑘</m:t>
                              </m:r>
                            </m:sub>
                          </m:sSub>
                        </m:e>
                      </m:d>
                      <m:r>
                        <a:rPr lang="en-IN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𝑁𝑜</m:t>
                          </m:r>
                          <m:r>
                            <a:rPr lang="en-I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. </m:t>
                          </m:r>
                          <m:r>
                            <a:rPr lang="en-I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𝑜𝑓</m:t>
                          </m:r>
                          <m:r>
                            <a:rPr lang="en-I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en-I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𝑊𝑒𝑎𝑘</m:t>
                          </m:r>
                        </m:num>
                        <m:den>
                          <m:r>
                            <a:rPr lang="en-I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𝑇𝑜𝑡𝑎𝑙</m:t>
                          </m:r>
                        </m:den>
                      </m:f>
                      <m:r>
                        <a:rPr lang="en-IN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I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IN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IN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8</m:t>
                              </m:r>
                            </m:num>
                            <m:den>
                              <m:r>
                                <a:rPr lang="en-IN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14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IN" sz="2000" dirty="0"/>
              </a:p>
            </p:txBody>
          </p:sp>
        </mc:Choice>
        <mc:Fallback xmlns="">
          <p:sp>
            <p:nvSpPr>
              <p:cNvPr id="2" name="Rectangle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1649" y="839782"/>
                <a:ext cx="3967240" cy="78386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/>
              <p:cNvSpPr/>
              <p:nvPr/>
            </p:nvSpPr>
            <p:spPr>
              <a:xfrm>
                <a:off x="201649" y="1828380"/>
                <a:ext cx="4242956" cy="78386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I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IN" sz="20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IN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𝑆𝑡𝑟𝑜𝑛𝑔</m:t>
                              </m:r>
                            </m:sub>
                          </m:sSub>
                        </m:e>
                      </m:d>
                      <m:r>
                        <a:rPr lang="en-IN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𝑁𝑜</m:t>
                          </m:r>
                          <m:r>
                            <a:rPr lang="en-I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. </m:t>
                          </m:r>
                          <m:r>
                            <a:rPr lang="en-I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𝑜𝑓</m:t>
                          </m:r>
                          <m:r>
                            <a:rPr lang="en-I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en-I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𝑆𝑡𝑟𝑜𝑛𝑔</m:t>
                          </m:r>
                        </m:num>
                        <m:den>
                          <m:r>
                            <a:rPr lang="en-I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𝑇𝑜𝑡𝑎𝑙</m:t>
                          </m:r>
                        </m:den>
                      </m:f>
                      <m:r>
                        <a:rPr lang="en-IN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I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IN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IN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6</m:t>
                              </m:r>
                            </m:num>
                            <m:den>
                              <m:r>
                                <a:rPr lang="en-IN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14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IN" sz="2000" dirty="0"/>
              </a:p>
            </p:txBody>
          </p:sp>
        </mc:Choice>
        <mc:Fallback xmlns="">
          <p:sp>
            <p:nvSpPr>
              <p:cNvPr id="9" name="Rectangle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1649" y="1828380"/>
                <a:ext cx="4242956" cy="783869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201649" y="3482346"/>
                <a:ext cx="5869812" cy="46063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IN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𝐸𝑛𝑡𝑟𝑜𝑝𝑦</m:t>
                    </m:r>
                    <m:d>
                      <m:dPr>
                        <m:ctrlPr>
                          <a:rPr lang="en-I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I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𝑆𝑡𝑟𝑜𝑛𝑔</m:t>
                            </m:r>
                          </m:sub>
                        </m:sSub>
                      </m:e>
                    </m:d>
                    <m:r>
                      <a:rPr lang="en-IN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=−</m:t>
                    </m:r>
                    <m:d>
                      <m:dPr>
                        <m:ctrlPr>
                          <a:rPr lang="en-IN" sz="2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I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6</m:t>
                            </m:r>
                          </m:den>
                        </m:f>
                      </m:e>
                    </m:d>
                    <m:sSub>
                      <m:sSubPr>
                        <m:ctrlPr>
                          <a:rPr lang="en-IN" sz="2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𝑙𝑜𝑔</m:t>
                        </m:r>
                      </m:e>
                      <m:sub>
                        <m:r>
                          <a:rPr lang="en-I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d>
                      <m:dPr>
                        <m:ctrlPr>
                          <a:rPr lang="en-I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I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6</m:t>
                            </m:r>
                          </m:den>
                        </m:f>
                      </m:e>
                    </m:d>
                    <m:r>
                      <a:rPr lang="en-IN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d>
                      <m:dPr>
                        <m:ctrlPr>
                          <a:rPr lang="en-I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6</m:t>
                            </m:r>
                          </m:den>
                        </m:f>
                      </m:e>
                    </m:d>
                    <m:sSub>
                      <m:sSubPr>
                        <m:ctrlPr>
                          <a:rPr lang="en-I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𝑙𝑜𝑔</m:t>
                        </m:r>
                      </m:e>
                      <m:sub>
                        <m:r>
                          <a:rPr lang="en-I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d>
                      <m:dPr>
                        <m:ctrlPr>
                          <a:rPr lang="en-I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6</m:t>
                            </m:r>
                          </m:den>
                        </m:f>
                      </m:e>
                    </m:d>
                  </m:oMath>
                </a14:m>
                <a:r>
                  <a:rPr lang="en-IN" sz="20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1</a:t>
                </a:r>
                <a:endParaRPr lang="en-IN" sz="20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1649" y="3482346"/>
                <a:ext cx="5869812" cy="460639"/>
              </a:xfrm>
              <a:prstGeom prst="rect">
                <a:avLst/>
              </a:prstGeom>
              <a:blipFill>
                <a:blip r:embed="rId7"/>
                <a:stretch>
                  <a:fillRect t="-2632" r="-1661" b="-1447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201649" y="4147714"/>
                <a:ext cx="5952334" cy="84055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𝐼𝐺</m:t>
                      </m:r>
                      <m:d>
                        <m:dPr>
                          <m:ctrlPr>
                            <a:rPr lang="en-I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𝑆</m:t>
                          </m:r>
                          <m:r>
                            <a:rPr lang="en-I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 </m:t>
                          </m:r>
                          <m:r>
                            <a:rPr lang="en-I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𝑊𝑖𝑛𝑑</m:t>
                          </m:r>
                        </m:e>
                      </m:d>
                      <m:r>
                        <a:rPr lang="en-IN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IN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𝐸𝑛𝑡𝑟𝑜𝑝𝑦</m:t>
                      </m:r>
                      <m:d>
                        <m:dPr>
                          <m:ctrlPr>
                            <a:rPr lang="en-I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𝑆</m:t>
                          </m:r>
                        </m:e>
                      </m:d>
                      <m:r>
                        <a:rPr lang="en-IN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 </m:t>
                      </m:r>
                      <m:nary>
                        <m:naryPr>
                          <m:chr m:val="∑"/>
                          <m:ctrlPr>
                            <a:rPr lang="en-I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I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  <m:r>
                            <a:rPr lang="en-I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en-I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r>
                            <a:rPr lang="en-I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en-IN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IN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en-I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∗</m:t>
                          </m:r>
                          <m:r>
                            <a:rPr lang="en-I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𝐸𝑛𝑡𝑟𝑜𝑝𝑦</m:t>
                          </m:r>
                          <m:d>
                            <m:dPr>
                              <m:ctrlPr>
                                <a:rPr lang="en-IN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IN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e>
                      </m:nary>
                    </m:oMath>
                  </m:oMathPara>
                </a14:m>
                <a:endParaRPr lang="en-IN" sz="20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1649" y="4147714"/>
                <a:ext cx="5952334" cy="840551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/>
              <p:cNvSpPr/>
              <p:nvPr/>
            </p:nvSpPr>
            <p:spPr>
              <a:xfrm>
                <a:off x="201649" y="5192994"/>
                <a:ext cx="10605147" cy="44717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𝐼𝐺</m:t>
                      </m:r>
                      <m:d>
                        <m:dPr>
                          <m:ctrlPr>
                            <a:rPr lang="en-I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𝑆</m:t>
                          </m:r>
                          <m:r>
                            <a:rPr lang="en-I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 </m:t>
                          </m:r>
                          <m:r>
                            <a:rPr lang="en-I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𝑊𝑖𝑛𝑑</m:t>
                          </m:r>
                        </m:e>
                      </m:d>
                      <m:r>
                        <a:rPr lang="en-IN" sz="2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IN" sz="2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𝐸𝑛𝑡𝑟𝑜𝑝𝑦</m:t>
                      </m:r>
                      <m:d>
                        <m:dPr>
                          <m:ctrlPr>
                            <a:rPr lang="en-I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𝑆</m:t>
                          </m:r>
                        </m:e>
                      </m:d>
                      <m:r>
                        <a:rPr lang="en-IN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− </m:t>
                      </m:r>
                      <m:r>
                        <a:rPr lang="en-IN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I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IN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IN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𝑊𝑒𝑎𝑘</m:t>
                              </m:r>
                            </m:sub>
                          </m:sSub>
                        </m:e>
                      </m:d>
                      <m:r>
                        <m:rPr>
                          <m:nor/>
                        </m:rPr>
                        <a:rPr lang="en-IN" sz="2000" dirty="0"/>
                        <m:t> ∗ </m:t>
                      </m:r>
                      <m:r>
                        <a:rPr lang="en-IN" sz="2000" b="0" i="1" dirty="0" smtClean="0">
                          <a:latin typeface="Cambria Math" panose="02040503050406030204" pitchFamily="18" charset="0"/>
                        </a:rPr>
                        <m:t>𝐸𝑛𝑡𝑟𝑜𝑝𝑦</m:t>
                      </m:r>
                      <m:d>
                        <m:dPr>
                          <m:ctrlPr>
                            <a:rPr lang="en-IN" sz="20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000" b="0" i="1" dirty="0" smtClean="0">
                              <a:latin typeface="Cambria Math" panose="02040503050406030204" pitchFamily="18" charset="0"/>
                            </a:rPr>
                            <m:t>𝑊𝑒𝑎𝑘</m:t>
                          </m:r>
                        </m:e>
                      </m:d>
                      <m:r>
                        <a:rPr lang="en-IN" sz="2000" b="0" i="1" dirty="0" smtClean="0">
                          <a:latin typeface="Cambria Math" panose="02040503050406030204" pitchFamily="18" charset="0"/>
                        </a:rPr>
                        <m:t> − </m:t>
                      </m:r>
                      <m:r>
                        <a:rPr lang="en-IN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I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IN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IN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𝑆𝑡𝑟𝑜𝑛𝑔</m:t>
                              </m:r>
                            </m:sub>
                          </m:sSub>
                        </m:e>
                      </m:d>
                      <m:r>
                        <m:rPr>
                          <m:nor/>
                        </m:rPr>
                        <a:rPr lang="en-IN" sz="2000" dirty="0"/>
                        <m:t> ∗ </m:t>
                      </m:r>
                      <m:r>
                        <a:rPr lang="en-IN" sz="2000" i="1" dirty="0">
                          <a:latin typeface="Cambria Math" panose="02040503050406030204" pitchFamily="18" charset="0"/>
                        </a:rPr>
                        <m:t>𝐸𝑛𝑡𝑟𝑜𝑝𝑦</m:t>
                      </m:r>
                      <m:r>
                        <a:rPr lang="en-IN" sz="2000" i="1" dirty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IN" sz="2000" b="0" i="1" dirty="0" smtClean="0">
                          <a:latin typeface="Cambria Math" panose="02040503050406030204" pitchFamily="18" charset="0"/>
                        </a:rPr>
                        <m:t>𝑆𝑡𝑟𝑜𝑛𝑔</m:t>
                      </m:r>
                      <m:r>
                        <a:rPr lang="en-IN" sz="2000" i="1" dirty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IN" sz="2000" dirty="0"/>
              </a:p>
            </p:txBody>
          </p:sp>
        </mc:Choice>
        <mc:Fallback xmlns="">
          <p:sp>
            <p:nvSpPr>
              <p:cNvPr id="3" name="Rectangle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1649" y="5192994"/>
                <a:ext cx="10605147" cy="447174"/>
              </a:xfrm>
              <a:prstGeom prst="rect">
                <a:avLst/>
              </a:prstGeom>
              <a:blipFill>
                <a:blip r:embed="rId9"/>
                <a:stretch>
                  <a:fillRect b="-821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ectangle 12"/>
              <p:cNvSpPr/>
              <p:nvPr/>
            </p:nvSpPr>
            <p:spPr>
              <a:xfrm>
                <a:off x="201649" y="5844896"/>
                <a:ext cx="6525184" cy="78386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𝐼𝐺</m:t>
                      </m:r>
                      <m:d>
                        <m:dPr>
                          <m:ctrlPr>
                            <a:rPr lang="en-I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𝑆</m:t>
                          </m:r>
                          <m:r>
                            <a:rPr lang="en-I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 </m:t>
                          </m:r>
                          <m:r>
                            <a:rPr lang="en-I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𝑊𝑖𝑛𝑑</m:t>
                          </m:r>
                        </m:e>
                      </m:d>
                      <m:r>
                        <a:rPr lang="en-IN" sz="2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IN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0.940 </m:t>
                      </m:r>
                      <m:r>
                        <a:rPr lang="en-IN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d>
                        <m:dPr>
                          <m:ctrlPr>
                            <a:rPr lang="en-I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IN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IN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8</m:t>
                              </m:r>
                            </m:num>
                            <m:den>
                              <m:r>
                                <a:rPr lang="en-IN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14</m:t>
                              </m:r>
                            </m:den>
                          </m:f>
                        </m:e>
                      </m:d>
                      <m:r>
                        <a:rPr lang="en-IN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(0.811)</m:t>
                      </m:r>
                      <m:r>
                        <a:rPr lang="en-IN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d>
                        <m:dPr>
                          <m:ctrlPr>
                            <a:rPr lang="en-I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IN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IN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6</m:t>
                              </m:r>
                            </m:num>
                            <m:den>
                              <m:r>
                                <a:rPr lang="en-IN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14</m:t>
                              </m:r>
                            </m:den>
                          </m:f>
                        </m:e>
                      </m:d>
                      <m:r>
                        <a:rPr lang="en-IN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(1)</m:t>
                      </m:r>
                      <m:r>
                        <m:rPr>
                          <m:nor/>
                        </m:rPr>
                        <a:rPr lang="en-IN" sz="20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 </m:t>
                      </m:r>
                      <m:r>
                        <m:rPr>
                          <m:nor/>
                        </m:rPr>
                        <a:rPr lang="en-IN" sz="2000" b="0" i="0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0.048</m:t>
                      </m:r>
                    </m:oMath>
                  </m:oMathPara>
                </a14:m>
                <a:endParaRPr lang="en-IN" sz="20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3" name="Rectangle 1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1649" y="5844896"/>
                <a:ext cx="6525184" cy="783869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ectangle 6"/>
          <p:cNvSpPr/>
          <p:nvPr/>
        </p:nvSpPr>
        <p:spPr>
          <a:xfrm>
            <a:off x="201649" y="5844896"/>
            <a:ext cx="6525184" cy="875944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  <p:transition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00"/>
                            </p:stCondLst>
                            <p:childTnLst>
                              <p:par>
                                <p:cTn id="4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2" grpId="0"/>
      <p:bldP spid="9" grpId="0"/>
      <p:bldP spid="10" grpId="0"/>
      <p:bldP spid="11" grpId="0"/>
      <p:bldP spid="3" grpId="0"/>
      <p:bldP spid="13" grpId="0"/>
      <p:bldP spid="7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36"/>
          <p:cNvSpPr txBox="1">
            <a:spLocks noGrp="1"/>
          </p:cNvSpPr>
          <p:nvPr>
            <p:ph type="sldNum" idx="12"/>
          </p:nvPr>
        </p:nvSpPr>
        <p:spPr>
          <a:xfrm>
            <a:off x="8778240" y="6536690"/>
            <a:ext cx="2804160" cy="184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ahoma"/>
              <a:buNone/>
            </a:pPr>
            <a:fld id="{00000000-1234-1234-1234-123412341234}" type="slidenum">
              <a:rPr lang="en-US" sz="12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6</a:t>
            </a:fld>
            <a:endParaRPr sz="1200" b="0" i="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8912790" y="2854447"/>
                <a:ext cx="2255554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IN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𝐸𝑛𝑡𝑟𝑜𝑝𝑦</m:t>
                    </m:r>
                    <m:d>
                      <m:dPr>
                        <m:ctrlPr>
                          <a:rPr lang="en-I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𝑆</m:t>
                        </m:r>
                      </m:e>
                    </m:d>
                    <m:r>
                      <a:rPr lang="en-IN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IN" sz="20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0.940</a:t>
                </a:r>
                <a:endParaRPr lang="en-IN" sz="20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12790" y="2854447"/>
                <a:ext cx="2255554" cy="307777"/>
              </a:xfrm>
              <a:prstGeom prst="rect">
                <a:avLst/>
              </a:prstGeom>
              <a:blipFill>
                <a:blip r:embed="rId3"/>
                <a:stretch>
                  <a:fillRect l="-5135" t="-25490" r="-5946" b="-4902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3774" y="2769808"/>
                <a:ext cx="7119513" cy="69153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𝐸𝑛𝑡𝑟𝑜𝑝𝑦</m:t>
                      </m:r>
                      <m:d>
                        <m:dPr>
                          <m:ctrlPr>
                            <a:rPr lang="en-I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IN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IN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𝑆𝑢𝑛𝑛𝑦</m:t>
                              </m:r>
                            </m:sub>
                          </m:sSub>
                        </m:e>
                      </m:d>
                      <m:r>
                        <a:rPr lang="en-IN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=−</m:t>
                      </m:r>
                      <m:d>
                        <m:dPr>
                          <m:ctrlPr>
                            <a:rPr lang="en-IN" sz="20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IN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IN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3</m:t>
                              </m:r>
                            </m:num>
                            <m:den>
                              <m:r>
                                <a:rPr lang="en-IN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5</m:t>
                              </m:r>
                            </m:den>
                          </m:f>
                        </m:e>
                      </m:d>
                      <m:sSub>
                        <m:sSubPr>
                          <m:ctrlPr>
                            <a:rPr lang="en-IN" sz="20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𝑙𝑜𝑔</m:t>
                          </m:r>
                        </m:e>
                        <m:sub>
                          <m:r>
                            <a:rPr lang="en-I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en-I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IN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IN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3</m:t>
                              </m:r>
                            </m:num>
                            <m:den>
                              <m:r>
                                <a:rPr lang="en-IN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5</m:t>
                              </m:r>
                            </m:den>
                          </m:f>
                        </m:e>
                      </m:d>
                      <m:r>
                        <a:rPr lang="en-IN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d>
                        <m:dPr>
                          <m:ctrlPr>
                            <a:rPr lang="en-I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IN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IN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num>
                            <m:den>
                              <m:r>
                                <a:rPr lang="en-IN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5</m:t>
                              </m:r>
                            </m:den>
                          </m:f>
                        </m:e>
                      </m:d>
                      <m:sSub>
                        <m:sSubPr>
                          <m:ctrlPr>
                            <a:rPr lang="en-I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𝑙𝑜𝑔</m:t>
                          </m:r>
                        </m:e>
                        <m:sub>
                          <m:r>
                            <a:rPr lang="en-I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en-I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IN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IN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num>
                            <m:den>
                              <m:r>
                                <a:rPr lang="en-IN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5</m:t>
                              </m:r>
                            </m:den>
                          </m:f>
                        </m:e>
                      </m:d>
                      <m:r>
                        <a:rPr lang="en-IN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=0.970951</m:t>
                      </m:r>
                    </m:oMath>
                  </m:oMathPara>
                </a14:m>
                <a:endParaRPr lang="en-IN" sz="20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74" y="2769808"/>
                <a:ext cx="7119513" cy="69153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1"/>
              <p:cNvSpPr/>
              <p:nvPr/>
            </p:nvSpPr>
            <p:spPr>
              <a:xfrm>
                <a:off x="3774" y="61010"/>
                <a:ext cx="4114460" cy="78386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I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IN" sz="20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IN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𝑆𝑢𝑛𝑛𝑦</m:t>
                              </m:r>
                            </m:sub>
                          </m:sSub>
                        </m:e>
                      </m:d>
                      <m:r>
                        <a:rPr lang="en-IN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𝑁𝑜</m:t>
                          </m:r>
                          <m:r>
                            <a:rPr lang="en-I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. </m:t>
                          </m:r>
                          <m:r>
                            <a:rPr lang="en-I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𝑜𝑓</m:t>
                          </m:r>
                          <m:r>
                            <a:rPr lang="en-I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en-I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𝑆𝑢𝑛𝑛𝑦</m:t>
                          </m:r>
                        </m:num>
                        <m:den>
                          <m:r>
                            <a:rPr lang="en-I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𝑇𝑜𝑡𝑎𝑙</m:t>
                          </m:r>
                        </m:den>
                      </m:f>
                      <m:r>
                        <a:rPr lang="en-IN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I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IN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IN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5</m:t>
                              </m:r>
                            </m:num>
                            <m:den>
                              <m:r>
                                <a:rPr lang="en-IN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14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IN" sz="2000" dirty="0"/>
              </a:p>
            </p:txBody>
          </p:sp>
        </mc:Choice>
        <mc:Fallback xmlns="">
          <p:sp>
            <p:nvSpPr>
              <p:cNvPr id="2" name="Rectangle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74" y="61010"/>
                <a:ext cx="4114460" cy="78386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/>
              <p:cNvSpPr/>
              <p:nvPr/>
            </p:nvSpPr>
            <p:spPr>
              <a:xfrm>
                <a:off x="3774" y="997264"/>
                <a:ext cx="4617226" cy="68390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I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IN" sz="20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IN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𝑂𝑣𝑒𝑟𝑐𝑎𝑠𝑡</m:t>
                              </m:r>
                            </m:sub>
                          </m:sSub>
                        </m:e>
                      </m:d>
                      <m:r>
                        <a:rPr lang="en-IN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𝑁𝑜</m:t>
                          </m:r>
                          <m:r>
                            <a:rPr lang="en-I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. </m:t>
                          </m:r>
                          <m:r>
                            <a:rPr lang="en-I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𝑜𝑓</m:t>
                          </m:r>
                          <m:r>
                            <a:rPr lang="en-I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en-I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𝑂𝑣𝑒𝑟𝑐𝑎𝑠𝑡</m:t>
                          </m:r>
                        </m:num>
                        <m:den>
                          <m:r>
                            <a:rPr lang="en-I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𝑇𝑜𝑡𝑎𝑙</m:t>
                          </m:r>
                        </m:den>
                      </m:f>
                      <m:r>
                        <a:rPr lang="en-IN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I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IN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IN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4</m:t>
                              </m:r>
                            </m:num>
                            <m:den>
                              <m:r>
                                <a:rPr lang="en-IN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14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IN" sz="2000" dirty="0"/>
              </a:p>
            </p:txBody>
          </p:sp>
        </mc:Choice>
        <mc:Fallback xmlns="">
          <p:sp>
            <p:nvSpPr>
              <p:cNvPr id="9" name="Rectangle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74" y="997264"/>
                <a:ext cx="4617226" cy="68390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3774" y="3613729"/>
                <a:ext cx="10426376" cy="46063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IN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𝐸𝑛𝑡𝑟𝑜𝑝𝑦</m:t>
                    </m:r>
                    <m:d>
                      <m:dPr>
                        <m:ctrlPr>
                          <a:rPr lang="en-I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I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𝑂𝑣𝑒𝑟𝑐𝑎𝑠𝑡</m:t>
                            </m:r>
                          </m:sub>
                        </m:sSub>
                      </m:e>
                    </m:d>
                    <m:r>
                      <a:rPr lang="en-IN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=−</m:t>
                    </m:r>
                    <m:d>
                      <m:dPr>
                        <m:ctrlPr>
                          <a:rPr lang="en-IN" sz="2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4</m:t>
                            </m:r>
                          </m:num>
                          <m:den>
                            <m:r>
                              <a:rPr lang="en-I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  <m:sSub>
                      <m:sSubPr>
                        <m:ctrlPr>
                          <a:rPr lang="en-IN" sz="2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𝑙𝑜𝑔</m:t>
                        </m:r>
                      </m:e>
                      <m:sub>
                        <m:r>
                          <a:rPr lang="en-I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d>
                      <m:dPr>
                        <m:ctrlPr>
                          <a:rPr lang="en-I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4</m:t>
                            </m:r>
                          </m:num>
                          <m:den>
                            <m: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  <m:r>
                      <a:rPr lang="en-IN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d>
                      <m:dPr>
                        <m:ctrlPr>
                          <a:rPr lang="en-I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0</m:t>
                            </m:r>
                          </m:num>
                          <m:den>
                            <m:r>
                              <a:rPr lang="en-I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  <m:sSub>
                      <m:sSubPr>
                        <m:ctrlPr>
                          <a:rPr lang="en-I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𝑙𝑜𝑔</m:t>
                        </m:r>
                      </m:e>
                      <m:sub>
                        <m:r>
                          <a:rPr lang="en-I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d>
                      <m:dPr>
                        <m:ctrlPr>
                          <a:rPr lang="en-I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0</m:t>
                            </m:r>
                          </m:num>
                          <m:den>
                            <m: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</m:oMath>
                </a14:m>
                <a:r>
                  <a:rPr lang="en-IN" sz="20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Undefined(Kindly consider it as Zero)</a:t>
                </a:r>
                <a:endParaRPr lang="en-IN" sz="20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74" y="3613729"/>
                <a:ext cx="10426376" cy="460639"/>
              </a:xfrm>
              <a:prstGeom prst="rect">
                <a:avLst/>
              </a:prstGeom>
              <a:blipFill>
                <a:blip r:embed="rId7"/>
                <a:stretch>
                  <a:fillRect t="-2667" b="-1466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/>
              <p:cNvSpPr/>
              <p:nvPr/>
            </p:nvSpPr>
            <p:spPr>
              <a:xfrm>
                <a:off x="3774" y="5070674"/>
                <a:ext cx="11995913" cy="62183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IN" sz="16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𝐼𝐺</m:t>
                    </m:r>
                    <m:d>
                      <m:dPr>
                        <m:ctrlPr>
                          <a:rPr lang="en-IN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𝑆</m:t>
                        </m:r>
                        <m:r>
                          <a:rPr lang="en-IN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 </m:t>
                        </m:r>
                        <m:r>
                          <a:rPr lang="en-IN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𝑂𝑣𝑒𝑟𝑐𝑎𝑠𝑡</m:t>
                        </m:r>
                      </m:e>
                    </m:d>
                    <m:r>
                      <a:rPr lang="en-IN" sz="16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IN" sz="16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𝐸𝑛𝑡𝑟𝑜𝑝𝑦</m:t>
                    </m:r>
                    <m:d>
                      <m:dPr>
                        <m:ctrlPr>
                          <a:rPr lang="en-IN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𝑆</m:t>
                        </m:r>
                      </m:e>
                    </m:d>
                    <m:r>
                      <a:rPr lang="en-IN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− </m:t>
                    </m:r>
                    <m:r>
                      <a:rPr lang="en-IN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IN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IN" sz="1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1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IN" sz="1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𝑆𝑢𝑛𝑛𝑦</m:t>
                            </m:r>
                          </m:sub>
                        </m:sSub>
                      </m:e>
                    </m:d>
                    <m:r>
                      <m:rPr>
                        <m:nor/>
                      </m:rPr>
                      <a:rPr lang="en-IN" sz="1600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∗ </m:t>
                    </m:r>
                    <m:r>
                      <a:rPr lang="en-IN" sz="16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𝐸𝑛𝑡𝑟𝑜𝑝𝑦</m:t>
                    </m:r>
                    <m:d>
                      <m:dPr>
                        <m:ctrlPr>
                          <a:rPr lang="en-IN" sz="16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16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𝑆𝑢𝑛𝑛𝑦</m:t>
                        </m:r>
                      </m:e>
                    </m:d>
                    <m:r>
                      <a:rPr lang="en-IN" sz="16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− </m:t>
                    </m:r>
                    <m:r>
                      <a:rPr lang="en-IN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IN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IN" sz="1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1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IN" sz="1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𝑂𝑣𝑒𝑟𝑐𝑎𝑠𝑡</m:t>
                            </m:r>
                          </m:sub>
                        </m:sSub>
                      </m:e>
                    </m:d>
                    <m:r>
                      <m:rPr>
                        <m:nor/>
                      </m:rPr>
                      <a:rPr lang="en-IN" sz="1600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∗ </m:t>
                    </m:r>
                    <m:r>
                      <a:rPr lang="en-IN" sz="16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𝐸𝑛𝑡𝑟𝑜𝑝𝑦</m:t>
                    </m:r>
                    <m:r>
                      <a:rPr lang="en-IN" sz="16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IN" sz="16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𝑂𝑣𝑒𝑟𝑐𝑎𝑠𝑡</m:t>
                    </m:r>
                    <m:r>
                      <a:rPr lang="en-IN" sz="16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IN" sz="16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IN" sz="16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 </m:t>
                    </m:r>
                    <m:r>
                      <a:rPr lang="en-IN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IN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IN" sz="1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1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IN" sz="1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𝑅𝑎𝑖𝑛𝑦</m:t>
                            </m:r>
                          </m:sub>
                        </m:sSub>
                      </m:e>
                    </m:d>
                    <m:r>
                      <m:rPr>
                        <m:nor/>
                      </m:rPr>
                      <a:rPr lang="en-IN" sz="1600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∗ </m:t>
                    </m:r>
                    <m:r>
                      <a:rPr lang="en-IN" sz="16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𝐸𝑛𝑡𝑟𝑜𝑝𝑦</m:t>
                    </m:r>
                    <m:r>
                      <a:rPr lang="en-IN" sz="16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IN" sz="16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𝑅𝑎𝑖𝑛𝑦</m:t>
                    </m:r>
                    <m:r>
                      <a:rPr lang="en-IN" sz="16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en-IN" sz="16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endParaRPr lang="en-IN" sz="16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" name="Rectangle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74" y="5070674"/>
                <a:ext cx="11995913" cy="621837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Rectangle 12"/>
              <p:cNvSpPr/>
              <p:nvPr/>
            </p:nvSpPr>
            <p:spPr>
              <a:xfrm>
                <a:off x="3774" y="5868965"/>
                <a:ext cx="9844761" cy="78386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𝐼𝐺</m:t>
                      </m:r>
                      <m:d>
                        <m:dPr>
                          <m:ctrlPr>
                            <a:rPr lang="en-I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𝑆</m:t>
                          </m:r>
                          <m:r>
                            <a:rPr lang="en-I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 </m:t>
                          </m:r>
                          <m:r>
                            <a:rPr lang="en-I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𝑂𝑣𝑒𝑟𝑐𝑎𝑠𝑡</m:t>
                          </m:r>
                        </m:e>
                      </m:d>
                      <m:r>
                        <a:rPr lang="en-IN" sz="2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IN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0.940 </m:t>
                      </m:r>
                      <m:r>
                        <a:rPr lang="en-IN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d>
                        <m:dPr>
                          <m:ctrlPr>
                            <a:rPr lang="en-I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IN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IN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5</m:t>
                              </m:r>
                            </m:num>
                            <m:den>
                              <m:r>
                                <a:rPr lang="en-IN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14</m:t>
                              </m:r>
                            </m:den>
                          </m:f>
                        </m:e>
                      </m:d>
                      <m:d>
                        <m:dPr>
                          <m:ctrlPr>
                            <a:rPr lang="en-I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0.970951</m:t>
                          </m:r>
                        </m:e>
                      </m:d>
                      <m:r>
                        <a:rPr lang="en-IN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d>
                        <m:dPr>
                          <m:ctrlPr>
                            <a:rPr lang="en-I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IN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IN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4</m:t>
                              </m:r>
                            </m:num>
                            <m:den>
                              <m:r>
                                <a:rPr lang="en-IN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14</m:t>
                              </m:r>
                            </m:den>
                          </m:f>
                        </m:e>
                      </m:d>
                      <m:d>
                        <m:dPr>
                          <m:ctrlPr>
                            <a:rPr lang="en-I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e>
                      </m:d>
                      <m:r>
                        <a:rPr lang="en-IN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d>
                        <m:dPr>
                          <m:ctrlPr>
                            <a:rPr lang="en-I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IN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IN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5</m:t>
                              </m:r>
                            </m:num>
                            <m:den>
                              <m:r>
                                <a:rPr lang="en-IN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14</m:t>
                              </m:r>
                            </m:den>
                          </m:f>
                        </m:e>
                      </m:d>
                      <m:r>
                        <a:rPr lang="en-IN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(0.970951)</m:t>
                      </m:r>
                      <m:r>
                        <m:rPr>
                          <m:nor/>
                        </m:rPr>
                        <a:rPr lang="en-IN" sz="20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 </m:t>
                      </m:r>
                      <m:r>
                        <m:rPr>
                          <m:nor/>
                        </m:rPr>
                        <a:rPr lang="en-IN" sz="2000" b="0" i="0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0.0246</m:t>
                      </m:r>
                    </m:oMath>
                  </m:oMathPara>
                </a14:m>
                <a:endParaRPr lang="en-IN" sz="20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13" name="Rectangle 1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74" y="5868965"/>
                <a:ext cx="9844761" cy="783869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ectangle 6"/>
          <p:cNvSpPr/>
          <p:nvPr/>
        </p:nvSpPr>
        <p:spPr>
          <a:xfrm>
            <a:off x="108702" y="5850862"/>
            <a:ext cx="9739833" cy="875944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aphicFrame>
        <p:nvGraphicFramePr>
          <p:cNvPr id="15" name="Google Shape;258;p29"/>
          <p:cNvGraphicFramePr/>
          <p:nvPr>
            <p:extLst>
              <p:ext uri="{D42A27DB-BD31-4B8C-83A1-F6EECF244321}">
                <p14:modId xmlns:p14="http://schemas.microsoft.com/office/powerpoint/2010/main" val="2849710200"/>
              </p:ext>
            </p:extLst>
          </p:nvPr>
        </p:nvGraphicFramePr>
        <p:xfrm>
          <a:off x="8369615" y="85761"/>
          <a:ext cx="2957839" cy="2506909"/>
        </p:xfrm>
        <a:graphic>
          <a:graphicData uri="http://schemas.openxmlformats.org/drawingml/2006/table">
            <a:tbl>
              <a:tblPr firstRow="1" bandRow="1">
                <a:noFill/>
                <a:tableStyleId>{AE0CDCE9-8EFF-456A-BFA7-76C2DBC4E188}</a:tableStyleId>
              </a:tblPr>
              <a:tblGrid>
                <a:gridCol w="137543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91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1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77626">
                <a:tc gridSpan="3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Calibri"/>
                        <a:buNone/>
                      </a:pPr>
                      <a:r>
                        <a:rPr lang="en-US" sz="2000" b="0" u="none" strike="noStrike" cap="none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Overcast</a:t>
                      </a:r>
                      <a:endParaRPr sz="2000" b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468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SzPts val="2000"/>
                        <a:buFont typeface="Calibri"/>
                        <a:buNone/>
                      </a:pPr>
                      <a:endParaRPr sz="2000" b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Calibri"/>
                        <a:buNone/>
                      </a:pPr>
                      <a:r>
                        <a:rPr lang="en-US" sz="2000" b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Yes</a:t>
                      </a:r>
                      <a:endParaRPr sz="2000" b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Calibri"/>
                        <a:buNone/>
                      </a:pPr>
                      <a:r>
                        <a:rPr lang="en-US" sz="2000" b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</a:t>
                      </a:r>
                      <a:endParaRPr sz="2000" b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4208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Calibri"/>
                        <a:buNone/>
                      </a:pPr>
                      <a:r>
                        <a:rPr lang="en-US" sz="2000" b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Sunny</a:t>
                      </a:r>
                      <a:endParaRPr sz="2000" b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Calibri"/>
                        <a:buNone/>
                      </a:pPr>
                      <a:r>
                        <a:rPr lang="en-US" sz="2000" b="0" u="none" strike="noStrike" cap="none" dirty="0" smtClean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 sz="2000" b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Calibri"/>
                        <a:buNone/>
                      </a:pPr>
                      <a:r>
                        <a:rPr lang="en-US" sz="2000" b="0" u="none" strike="noStrike" cap="none" dirty="0" smtClean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 sz="2000" b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4208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Calibri"/>
                        <a:buNone/>
                      </a:pPr>
                      <a:r>
                        <a:rPr lang="en-US" sz="2000" b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Overcast</a:t>
                      </a:r>
                      <a:endParaRPr sz="2000" b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Calibri"/>
                        <a:buNone/>
                      </a:pPr>
                      <a:r>
                        <a:rPr lang="en-US" sz="2000" b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 sz="2000" b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Calibri"/>
                        <a:buNone/>
                      </a:pPr>
                      <a:r>
                        <a:rPr lang="en-US" sz="2000" b="0" u="none" strike="noStrike" cap="none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2000" b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7626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Calibri"/>
                        <a:buNone/>
                      </a:pPr>
                      <a:r>
                        <a:rPr lang="en-US" sz="2000" b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Rainy</a:t>
                      </a:r>
                      <a:endParaRPr sz="2000" b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Calibri"/>
                        <a:buNone/>
                      </a:pPr>
                      <a:r>
                        <a:rPr lang="en-US" sz="2000" b="0" u="none" strike="noStrike" cap="none" dirty="0" smtClean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 sz="2000" b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Calibri"/>
                        <a:buNone/>
                      </a:pPr>
                      <a:r>
                        <a:rPr lang="en-US" sz="2000" b="0" u="none" strike="noStrike" cap="none" dirty="0" smtClean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 sz="2000" b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4208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Calibri"/>
                        <a:buNone/>
                      </a:pPr>
                      <a:r>
                        <a:rPr lang="en-US" sz="2000" b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Total</a:t>
                      </a:r>
                      <a:endParaRPr sz="2000" b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Calibri"/>
                        <a:buNone/>
                      </a:pPr>
                      <a:r>
                        <a:rPr lang="en-US" sz="2000" b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</a:t>
                      </a:r>
                      <a:endParaRPr sz="2000" b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Calibri"/>
                        <a:buNone/>
                      </a:pPr>
                      <a:r>
                        <a:rPr lang="en-US" sz="2000" b="0" u="none" strike="noStrike" cap="none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</a:t>
                      </a:r>
                      <a:endParaRPr sz="2000" b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6" name="Rectangle 15"/>
              <p:cNvSpPr/>
              <p:nvPr/>
            </p:nvSpPr>
            <p:spPr>
              <a:xfrm>
                <a:off x="3774" y="1833554"/>
                <a:ext cx="4036811" cy="78386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I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IN" sz="20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IN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𝑅𝑎𝑖𝑛𝑦</m:t>
                              </m:r>
                            </m:sub>
                          </m:sSub>
                        </m:e>
                      </m:d>
                      <m:r>
                        <a:rPr lang="en-IN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𝑁𝑜</m:t>
                          </m:r>
                          <m:r>
                            <a:rPr lang="en-I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. </m:t>
                          </m:r>
                          <m:r>
                            <a:rPr lang="en-I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𝑜𝑓</m:t>
                          </m:r>
                          <m:r>
                            <a:rPr lang="en-I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en-I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𝑅𝑎𝑖𝑛𝑦</m:t>
                          </m:r>
                        </m:num>
                        <m:den>
                          <m:r>
                            <a:rPr lang="en-I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𝑇𝑜𝑡𝑎𝑙</m:t>
                          </m:r>
                        </m:den>
                      </m:f>
                      <m:r>
                        <a:rPr lang="en-IN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I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IN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IN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5</m:t>
                              </m:r>
                            </m:num>
                            <m:den>
                              <m:r>
                                <a:rPr lang="en-IN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14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IN" sz="2000" dirty="0"/>
              </a:p>
            </p:txBody>
          </p:sp>
        </mc:Choice>
        <mc:Fallback xmlns="">
          <p:sp>
            <p:nvSpPr>
              <p:cNvPr id="16" name="Rectangle 1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74" y="1833554"/>
                <a:ext cx="4036811" cy="783869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/>
              <p:cNvSpPr txBox="1"/>
              <p:nvPr/>
            </p:nvSpPr>
            <p:spPr>
              <a:xfrm>
                <a:off x="3774" y="4226753"/>
                <a:ext cx="7085145" cy="69153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𝐸𝑛𝑡𝑟𝑜𝑝𝑦</m:t>
                      </m:r>
                      <m:d>
                        <m:dPr>
                          <m:ctrlPr>
                            <a:rPr lang="en-I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IN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IN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𝑅𝑎𝑖𝑛𝑦</m:t>
                              </m:r>
                            </m:sub>
                          </m:sSub>
                        </m:e>
                      </m:d>
                      <m:r>
                        <a:rPr lang="en-IN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=−</m:t>
                      </m:r>
                      <m:d>
                        <m:dPr>
                          <m:ctrlPr>
                            <a:rPr lang="en-IN" sz="20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IN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IN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num>
                            <m:den>
                              <m:r>
                                <a:rPr lang="en-IN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5</m:t>
                              </m:r>
                            </m:den>
                          </m:f>
                        </m:e>
                      </m:d>
                      <m:sSub>
                        <m:sSubPr>
                          <m:ctrlPr>
                            <a:rPr lang="en-IN" sz="20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𝑙𝑜𝑔</m:t>
                          </m:r>
                        </m:e>
                        <m:sub>
                          <m:r>
                            <a:rPr lang="en-I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en-I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IN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IN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num>
                            <m:den>
                              <m:r>
                                <a:rPr lang="en-IN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5</m:t>
                              </m:r>
                            </m:den>
                          </m:f>
                        </m:e>
                      </m:d>
                      <m:r>
                        <a:rPr lang="en-IN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d>
                        <m:dPr>
                          <m:ctrlPr>
                            <a:rPr lang="en-I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IN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IN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3</m:t>
                              </m:r>
                            </m:num>
                            <m:den>
                              <m:r>
                                <a:rPr lang="en-IN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5</m:t>
                              </m:r>
                            </m:den>
                          </m:f>
                        </m:e>
                      </m:d>
                      <m:sSub>
                        <m:sSubPr>
                          <m:ctrlPr>
                            <a:rPr lang="en-I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𝑙𝑜𝑔</m:t>
                          </m:r>
                        </m:e>
                        <m:sub>
                          <m:r>
                            <a:rPr lang="en-I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en-I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IN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IN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3</m:t>
                              </m:r>
                            </m:num>
                            <m:den>
                              <m:r>
                                <a:rPr lang="en-IN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5</m:t>
                              </m:r>
                            </m:den>
                          </m:f>
                        </m:e>
                      </m:d>
                      <m:r>
                        <a:rPr lang="en-IN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IN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0.970951</m:t>
                      </m:r>
                    </m:oMath>
                  </m:oMathPara>
                </a14:m>
                <a:endParaRPr lang="en-IN" sz="20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7" name="Text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74" y="4226753"/>
                <a:ext cx="7085145" cy="691536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00466838"/>
      </p:ext>
    </p:extLst>
  </p:cSld>
  <p:clrMapOvr>
    <a:masterClrMapping/>
  </p:clrMapOvr>
  <p:transition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500"/>
                            </p:stCondLst>
                            <p:childTnLst>
                              <p:par>
                                <p:cTn id="4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2" grpId="0"/>
      <p:bldP spid="9" grpId="0"/>
      <p:bldP spid="10" grpId="0"/>
      <p:bldP spid="3" grpId="0"/>
      <p:bldP spid="13" grpId="0"/>
      <p:bldP spid="7" grpId="0" animBg="1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36"/>
          <p:cNvSpPr txBox="1">
            <a:spLocks noGrp="1"/>
          </p:cNvSpPr>
          <p:nvPr>
            <p:ph type="sldNum" idx="12"/>
          </p:nvPr>
        </p:nvSpPr>
        <p:spPr>
          <a:xfrm>
            <a:off x="8778240" y="6536690"/>
            <a:ext cx="2804160" cy="184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ahoma"/>
              <a:buNone/>
            </a:pPr>
            <a:fld id="{00000000-1234-1234-1234-123412341234}" type="slidenum">
              <a:rPr lang="en-US" sz="12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7</a:t>
            </a:fld>
            <a:endParaRPr sz="1200" b="0" i="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8612987" y="2413586"/>
                <a:ext cx="2255554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IN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𝐸𝑛𝑡𝑟𝑜𝑝𝑦</m:t>
                    </m:r>
                    <m:d>
                      <m:dPr>
                        <m:ctrlPr>
                          <a:rPr lang="en-I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𝑆</m:t>
                        </m:r>
                      </m:e>
                    </m:d>
                    <m:r>
                      <a:rPr lang="en-IN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IN" sz="20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0.940</a:t>
                </a:r>
                <a:endParaRPr lang="en-IN" sz="20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12987" y="2413586"/>
                <a:ext cx="2255554" cy="307777"/>
              </a:xfrm>
              <a:prstGeom prst="rect">
                <a:avLst/>
              </a:prstGeom>
              <a:blipFill>
                <a:blip r:embed="rId3"/>
                <a:stretch>
                  <a:fillRect l="-5135" t="-26000" r="-5676" b="-5000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3774" y="2651611"/>
                <a:ext cx="5945923" cy="69153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𝐸𝑛𝑡𝑟𝑜𝑝𝑦</m:t>
                      </m:r>
                      <m:d>
                        <m:dPr>
                          <m:ctrlPr>
                            <a:rPr lang="en-I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IN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IN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𝐻𝑜𝑡</m:t>
                              </m:r>
                            </m:sub>
                          </m:sSub>
                        </m:e>
                      </m:d>
                      <m:r>
                        <a:rPr lang="en-IN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=−</m:t>
                      </m:r>
                      <m:d>
                        <m:dPr>
                          <m:ctrlPr>
                            <a:rPr lang="en-IN" sz="20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IN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IN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num>
                            <m:den>
                              <m:r>
                                <a:rPr lang="en-IN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4</m:t>
                              </m:r>
                            </m:den>
                          </m:f>
                        </m:e>
                      </m:d>
                      <m:sSub>
                        <m:sSubPr>
                          <m:ctrlPr>
                            <a:rPr lang="en-IN" sz="20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𝑙𝑜𝑔</m:t>
                          </m:r>
                        </m:e>
                        <m:sub>
                          <m:r>
                            <a:rPr lang="en-I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en-I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IN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IN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num>
                            <m:den>
                              <m:r>
                                <a:rPr lang="en-IN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4</m:t>
                              </m:r>
                            </m:den>
                          </m:f>
                        </m:e>
                      </m:d>
                      <m:r>
                        <a:rPr lang="en-IN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d>
                        <m:dPr>
                          <m:ctrlPr>
                            <a:rPr lang="en-I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IN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IN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num>
                            <m:den>
                              <m:r>
                                <a:rPr lang="en-IN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4</m:t>
                              </m:r>
                            </m:den>
                          </m:f>
                        </m:e>
                      </m:d>
                      <m:sSub>
                        <m:sSubPr>
                          <m:ctrlPr>
                            <a:rPr lang="en-I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𝑙𝑜𝑔</m:t>
                          </m:r>
                        </m:e>
                        <m:sub>
                          <m:r>
                            <a:rPr lang="en-I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en-I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IN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IN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num>
                            <m:den>
                              <m:r>
                                <a:rPr lang="en-IN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4</m:t>
                              </m:r>
                            </m:den>
                          </m:f>
                        </m:e>
                      </m:d>
                      <m:r>
                        <a:rPr lang="en-IN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n-IN" sz="20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74" y="2651611"/>
                <a:ext cx="5945923" cy="69153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1"/>
              <p:cNvSpPr/>
              <p:nvPr/>
            </p:nvSpPr>
            <p:spPr>
              <a:xfrm>
                <a:off x="3774" y="61010"/>
                <a:ext cx="3511153" cy="68390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I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IN" sz="20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IN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𝐻𝑜𝑡</m:t>
                              </m:r>
                            </m:sub>
                          </m:sSub>
                        </m:e>
                      </m:d>
                      <m:r>
                        <a:rPr lang="en-IN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𝑁𝑜</m:t>
                          </m:r>
                          <m:r>
                            <a:rPr lang="en-I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. </m:t>
                          </m:r>
                          <m:r>
                            <a:rPr lang="en-I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𝑜𝑓</m:t>
                          </m:r>
                          <m:r>
                            <a:rPr lang="en-I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en-I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𝐻𝑜𝑡</m:t>
                          </m:r>
                        </m:num>
                        <m:den>
                          <m:r>
                            <a:rPr lang="en-I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𝑇𝑜𝑡𝑎𝑙</m:t>
                          </m:r>
                        </m:den>
                      </m:f>
                      <m:r>
                        <a:rPr lang="en-IN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I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IN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IN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4</m:t>
                              </m:r>
                            </m:num>
                            <m:den>
                              <m:r>
                                <a:rPr lang="en-IN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14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IN" sz="2000" dirty="0"/>
              </a:p>
            </p:txBody>
          </p:sp>
        </mc:Choice>
        <mc:Fallback xmlns="">
          <p:sp>
            <p:nvSpPr>
              <p:cNvPr id="2" name="Rectangle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74" y="61010"/>
                <a:ext cx="3511153" cy="68390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/>
              <p:cNvSpPr/>
              <p:nvPr/>
            </p:nvSpPr>
            <p:spPr>
              <a:xfrm>
                <a:off x="3774" y="997264"/>
                <a:ext cx="3745513" cy="78386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I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IN" sz="20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IN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𝑀𝑖𝑙𝑑</m:t>
                              </m:r>
                            </m:sub>
                          </m:sSub>
                        </m:e>
                      </m:d>
                      <m:r>
                        <a:rPr lang="en-IN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𝑁𝑜</m:t>
                          </m:r>
                          <m:r>
                            <a:rPr lang="en-I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. </m:t>
                          </m:r>
                          <m:r>
                            <a:rPr lang="en-I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𝑜𝑓</m:t>
                          </m:r>
                          <m:r>
                            <a:rPr lang="en-I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en-I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𝑀𝑖𝑙𝑑</m:t>
                          </m:r>
                        </m:num>
                        <m:den>
                          <m:r>
                            <a:rPr lang="en-I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𝑇𝑜𝑡𝑎𝑙</m:t>
                          </m:r>
                        </m:den>
                      </m:f>
                      <m:r>
                        <a:rPr lang="en-IN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I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IN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IN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6</m:t>
                              </m:r>
                            </m:num>
                            <m:den>
                              <m:r>
                                <a:rPr lang="en-IN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14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IN" sz="2000" dirty="0"/>
              </a:p>
            </p:txBody>
          </p:sp>
        </mc:Choice>
        <mc:Fallback xmlns="">
          <p:sp>
            <p:nvSpPr>
              <p:cNvPr id="9" name="Rectangle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74" y="997264"/>
                <a:ext cx="3745513" cy="783869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53146" y="3620614"/>
                <a:ext cx="10426376" cy="46063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IN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𝐸𝑛𝑡𝑟𝑜𝑝𝑦</m:t>
                    </m:r>
                    <m:d>
                      <m:dPr>
                        <m:ctrlPr>
                          <a:rPr lang="en-I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𝑀𝑖𝑙𝑑</m:t>
                            </m:r>
                          </m:sub>
                        </m:sSub>
                      </m:e>
                    </m:d>
                    <m:r>
                      <a:rPr lang="en-IN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=−</m:t>
                    </m:r>
                    <m:d>
                      <m:dPr>
                        <m:ctrlPr>
                          <a:rPr lang="en-I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4</m:t>
                            </m:r>
                          </m:num>
                          <m:den>
                            <m: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6</m:t>
                            </m:r>
                          </m:den>
                        </m:f>
                      </m:e>
                    </m:d>
                    <m:sSub>
                      <m:sSubPr>
                        <m:ctrlPr>
                          <a:rPr lang="en-I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𝑙𝑜𝑔</m:t>
                        </m:r>
                      </m:e>
                      <m:sub>
                        <m:r>
                          <a:rPr lang="en-I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d>
                      <m:dPr>
                        <m:ctrlPr>
                          <a:rPr lang="en-I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4</m:t>
                            </m:r>
                          </m:num>
                          <m:den>
                            <m: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6</m:t>
                            </m:r>
                          </m:den>
                        </m:f>
                      </m:e>
                    </m:d>
                    <m:r>
                      <a:rPr lang="en-IN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d>
                      <m:dPr>
                        <m:ctrlPr>
                          <a:rPr lang="en-I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6</m:t>
                            </m:r>
                          </m:den>
                        </m:f>
                      </m:e>
                    </m:d>
                    <m:sSub>
                      <m:sSubPr>
                        <m:ctrlPr>
                          <a:rPr lang="en-I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𝑙𝑜𝑔</m:t>
                        </m:r>
                      </m:e>
                      <m:sub>
                        <m:r>
                          <a:rPr lang="en-I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d>
                      <m:dPr>
                        <m:ctrlPr>
                          <a:rPr lang="en-I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6</m:t>
                            </m:r>
                          </m:den>
                        </m:f>
                      </m:e>
                    </m:d>
                  </m:oMath>
                </a14:m>
                <a:r>
                  <a:rPr lang="en-IN" sz="20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0.918296</a:t>
                </a:r>
                <a:endParaRPr lang="en-IN" sz="20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146" y="3620614"/>
                <a:ext cx="10426376" cy="460639"/>
              </a:xfrm>
              <a:prstGeom prst="rect">
                <a:avLst/>
              </a:prstGeom>
              <a:blipFill>
                <a:blip r:embed="rId7"/>
                <a:stretch>
                  <a:fillRect t="-2667" b="-1466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/>
              <p:cNvSpPr/>
              <p:nvPr/>
            </p:nvSpPr>
            <p:spPr>
              <a:xfrm>
                <a:off x="3774" y="5260121"/>
                <a:ext cx="11491544" cy="64633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IN" sz="18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𝐼𝐺</m:t>
                    </m:r>
                    <m:d>
                      <m:dPr>
                        <m:ctrlPr>
                          <a:rPr lang="en-IN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𝑆</m:t>
                        </m:r>
                        <m:r>
                          <a:rPr lang="en-IN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 </m:t>
                        </m:r>
                        <m:r>
                          <a:rPr lang="en-IN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𝑇𝑒𝑚𝑝</m:t>
                        </m:r>
                      </m:e>
                    </m:d>
                    <m:r>
                      <a:rPr lang="en-IN" sz="18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IN" sz="18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𝐸𝑛𝑡𝑟𝑜𝑝𝑦</m:t>
                    </m:r>
                    <m:d>
                      <m:dPr>
                        <m:ctrlPr>
                          <a:rPr lang="en-IN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𝑆</m:t>
                        </m:r>
                      </m:e>
                    </m:d>
                    <m:r>
                      <a:rPr lang="en-IN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− </m:t>
                    </m:r>
                    <m:r>
                      <a:rPr lang="en-IN" sz="1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IN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IN" sz="1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1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IN" sz="1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𝐻𝑜𝑡</m:t>
                            </m:r>
                          </m:sub>
                        </m:sSub>
                      </m:e>
                    </m:d>
                    <m:r>
                      <m:rPr>
                        <m:nor/>
                      </m:rPr>
                      <a:rPr lang="en-IN" sz="1800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∗ </m:t>
                    </m:r>
                    <m:r>
                      <a:rPr lang="en-IN" sz="18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𝐸𝑛𝑡𝑟𝑜𝑝𝑦</m:t>
                    </m:r>
                    <m:d>
                      <m:dPr>
                        <m:ctrlPr>
                          <a:rPr lang="en-IN" sz="18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18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𝐻𝑜𝑡</m:t>
                        </m:r>
                      </m:e>
                    </m:d>
                    <m:r>
                      <a:rPr lang="en-IN" sz="18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− </m:t>
                    </m:r>
                    <m:r>
                      <a:rPr lang="en-IN" sz="1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IN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IN" sz="1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1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IN" sz="1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𝑀𝑖𝑙𝑑</m:t>
                            </m:r>
                          </m:sub>
                        </m:sSub>
                      </m:e>
                    </m:d>
                    <m:r>
                      <m:rPr>
                        <m:nor/>
                      </m:rPr>
                      <a:rPr lang="en-IN" sz="1800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∗ </m:t>
                    </m:r>
                    <m:r>
                      <a:rPr lang="en-IN" sz="18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𝐸𝑛𝑡𝑟𝑜𝑝𝑦</m:t>
                    </m:r>
                    <m:r>
                      <a:rPr lang="en-IN" sz="18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IN" sz="18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𝑀𝑖𝑙𝑑</m:t>
                    </m:r>
                    <m:r>
                      <a:rPr lang="en-IN" sz="18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IN" sz="18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IN" sz="18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 </m:t>
                    </m:r>
                    <m:r>
                      <a:rPr lang="en-IN" sz="1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IN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IN" sz="1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1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IN" sz="1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𝐶𝑜𝑜𝑙</m:t>
                            </m:r>
                          </m:sub>
                        </m:sSub>
                      </m:e>
                    </m:d>
                    <m:r>
                      <m:rPr>
                        <m:nor/>
                      </m:rPr>
                      <a:rPr lang="en-IN" sz="1800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∗ </m:t>
                    </m:r>
                    <m:r>
                      <a:rPr lang="en-IN" sz="18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𝐸𝑛𝑡𝑟𝑜𝑝𝑦</m:t>
                    </m:r>
                    <m:r>
                      <a:rPr lang="en-IN" sz="18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IN" sz="18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𝐶𝑜𝑜𝑙</m:t>
                    </m:r>
                    <m:r>
                      <a:rPr lang="en-IN" sz="18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en-IN" sz="18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endParaRPr lang="en-IN" sz="18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" name="Rectangle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74" y="5260121"/>
                <a:ext cx="11491544" cy="646331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Rectangle 12"/>
              <p:cNvSpPr/>
              <p:nvPr/>
            </p:nvSpPr>
            <p:spPr>
              <a:xfrm>
                <a:off x="-143297" y="5844896"/>
                <a:ext cx="10068326" cy="78386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𝐼𝐺</m:t>
                      </m:r>
                      <m:d>
                        <m:dPr>
                          <m:ctrlPr>
                            <a:rPr lang="en-I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𝑆</m:t>
                          </m:r>
                          <m:r>
                            <a:rPr lang="en-I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 </m:t>
                          </m:r>
                          <m:r>
                            <a:rPr lang="en-I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𝑇𝑒𝑚𝑝</m:t>
                          </m:r>
                        </m:e>
                      </m:d>
                      <m:r>
                        <a:rPr lang="en-IN" sz="2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IN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0.940 </m:t>
                      </m:r>
                      <m:r>
                        <a:rPr lang="en-IN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d>
                        <m:dPr>
                          <m:ctrlPr>
                            <a:rPr lang="en-I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IN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IN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4</m:t>
                              </m:r>
                            </m:num>
                            <m:den>
                              <m:r>
                                <a:rPr lang="en-IN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14</m:t>
                              </m:r>
                            </m:den>
                          </m:f>
                        </m:e>
                      </m:d>
                      <m:d>
                        <m:dPr>
                          <m:ctrlPr>
                            <a:rPr lang="en-I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nor/>
                            </m:rPr>
                            <a:rPr lang="en-IN" sz="20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  <m:r>
                            <m:rPr>
                              <m:nor/>
                            </m:rPr>
                            <a:rPr lang="en-IN" sz="20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</m:e>
                      </m:d>
                      <m:r>
                        <a:rPr lang="en-IN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d>
                        <m:dPr>
                          <m:ctrlPr>
                            <a:rPr lang="en-I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IN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IN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6</m:t>
                              </m:r>
                            </m:num>
                            <m:den>
                              <m:r>
                                <a:rPr lang="en-IN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14</m:t>
                              </m:r>
                            </m:den>
                          </m:f>
                        </m:e>
                      </m:d>
                      <m:d>
                        <m:dPr>
                          <m:ctrlPr>
                            <a:rPr lang="en-I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nor/>
                            </m:rPr>
                            <a:rPr lang="en-IN" sz="20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0.918296</m:t>
                          </m:r>
                        </m:e>
                      </m:d>
                      <m:r>
                        <a:rPr lang="en-IN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d>
                        <m:dPr>
                          <m:ctrlPr>
                            <a:rPr lang="en-I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IN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IN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4</m:t>
                              </m:r>
                            </m:num>
                            <m:den>
                              <m:r>
                                <a:rPr lang="en-IN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14</m:t>
                              </m:r>
                            </m:den>
                          </m:f>
                        </m:e>
                      </m:d>
                      <m:r>
                        <a:rPr lang="en-IN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(0.811278)</m:t>
                      </m:r>
                      <m:r>
                        <m:rPr>
                          <m:nor/>
                        </m:rPr>
                        <a:rPr lang="en-IN" sz="20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IN" sz="20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m:rPr>
                          <m:nor/>
                        </m:rPr>
                        <a:rPr lang="en-IN" sz="2000" b="0" i="0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0.028937</m:t>
                      </m:r>
                    </m:oMath>
                  </m:oMathPara>
                </a14:m>
                <a:endParaRPr lang="en-IN" sz="20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13" name="Rectangle 1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43297" y="5844896"/>
                <a:ext cx="10068326" cy="783869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ectangle 6"/>
          <p:cNvSpPr/>
          <p:nvPr/>
        </p:nvSpPr>
        <p:spPr>
          <a:xfrm>
            <a:off x="80175" y="5850143"/>
            <a:ext cx="10068327" cy="875944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Rectangle 15"/>
              <p:cNvSpPr/>
              <p:nvPr/>
            </p:nvSpPr>
            <p:spPr>
              <a:xfrm>
                <a:off x="3774" y="1833554"/>
                <a:ext cx="3665106" cy="68390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I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IN" sz="20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IN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𝐶𝑜𝑜𝑙</m:t>
                              </m:r>
                            </m:sub>
                          </m:sSub>
                        </m:e>
                      </m:d>
                      <m:r>
                        <a:rPr lang="en-IN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𝑁𝑜</m:t>
                          </m:r>
                          <m:r>
                            <a:rPr lang="en-I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. </m:t>
                          </m:r>
                          <m:r>
                            <a:rPr lang="en-I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𝑜𝑓</m:t>
                          </m:r>
                          <m:r>
                            <a:rPr lang="en-I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en-I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𝐶𝑜𝑜𝑙</m:t>
                          </m:r>
                        </m:num>
                        <m:den>
                          <m:r>
                            <a:rPr lang="en-I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𝑇𝑜𝑡𝑎𝑙</m:t>
                          </m:r>
                        </m:den>
                      </m:f>
                      <m:r>
                        <a:rPr lang="en-IN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I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IN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IN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4</m:t>
                              </m:r>
                            </m:num>
                            <m:den>
                              <m:r>
                                <a:rPr lang="en-IN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14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IN" sz="2000" dirty="0"/>
              </a:p>
            </p:txBody>
          </p:sp>
        </mc:Choice>
        <mc:Fallback xmlns="">
          <p:sp>
            <p:nvSpPr>
              <p:cNvPr id="16" name="Rectangle 1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74" y="1833554"/>
                <a:ext cx="3665106" cy="683905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/>
              <p:cNvSpPr txBox="1"/>
              <p:nvPr/>
            </p:nvSpPr>
            <p:spPr>
              <a:xfrm>
                <a:off x="53146" y="4281791"/>
                <a:ext cx="6923562" cy="69153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𝐸𝑛𝑡𝑟𝑜𝑝𝑦</m:t>
                      </m:r>
                      <m:d>
                        <m:dPr>
                          <m:ctrlPr>
                            <a:rPr lang="en-I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IN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IN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𝐶𝑜𝑜𝑙</m:t>
                              </m:r>
                            </m:sub>
                          </m:sSub>
                        </m:e>
                      </m:d>
                      <m:r>
                        <a:rPr lang="en-IN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=−</m:t>
                      </m:r>
                      <m:d>
                        <m:dPr>
                          <m:ctrlPr>
                            <a:rPr lang="en-IN" sz="20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IN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IN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3</m:t>
                              </m:r>
                            </m:num>
                            <m:den>
                              <m:r>
                                <a:rPr lang="en-IN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4</m:t>
                              </m:r>
                            </m:den>
                          </m:f>
                        </m:e>
                      </m:d>
                      <m:sSub>
                        <m:sSubPr>
                          <m:ctrlPr>
                            <a:rPr lang="en-IN" sz="20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𝑙𝑜𝑔</m:t>
                          </m:r>
                        </m:e>
                        <m:sub>
                          <m:r>
                            <a:rPr lang="en-I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en-I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IN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IN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3</m:t>
                              </m:r>
                            </m:num>
                            <m:den>
                              <m:r>
                                <a:rPr lang="en-IN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4</m:t>
                              </m:r>
                            </m:den>
                          </m:f>
                        </m:e>
                      </m:d>
                      <m:r>
                        <a:rPr lang="en-IN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d>
                        <m:dPr>
                          <m:ctrlPr>
                            <a:rPr lang="en-I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IN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IN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IN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4</m:t>
                              </m:r>
                            </m:den>
                          </m:f>
                        </m:e>
                      </m:d>
                      <m:sSub>
                        <m:sSubPr>
                          <m:ctrlPr>
                            <a:rPr lang="en-I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𝑙𝑜𝑔</m:t>
                          </m:r>
                        </m:e>
                        <m:sub>
                          <m:r>
                            <a:rPr lang="en-I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en-I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IN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IN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IN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4</m:t>
                              </m:r>
                            </m:den>
                          </m:f>
                        </m:e>
                      </m:d>
                      <m:r>
                        <a:rPr lang="en-IN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=0.811278</m:t>
                      </m:r>
                    </m:oMath>
                  </m:oMathPara>
                </a14:m>
                <a:endParaRPr lang="en-IN" sz="20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7" name="Text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146" y="4281791"/>
                <a:ext cx="6923562" cy="691536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8" name="Google Shape;259;p29"/>
          <p:cNvGraphicFramePr/>
          <p:nvPr>
            <p:extLst>
              <p:ext uri="{D42A27DB-BD31-4B8C-83A1-F6EECF244321}">
                <p14:modId xmlns:p14="http://schemas.microsoft.com/office/powerpoint/2010/main" val="1357625753"/>
              </p:ext>
            </p:extLst>
          </p:nvPr>
        </p:nvGraphicFramePr>
        <p:xfrm>
          <a:off x="8706723" y="216289"/>
          <a:ext cx="2068082" cy="1969800"/>
        </p:xfrm>
        <a:graphic>
          <a:graphicData uri="http://schemas.openxmlformats.org/drawingml/2006/table">
            <a:tbl>
              <a:tblPr firstRow="1" bandRow="1">
                <a:noFill/>
                <a:tableStyleId>{AE0CDCE9-8EFF-456A-BFA7-76C2DBC4E188}</a:tableStyleId>
              </a:tblPr>
              <a:tblGrid>
                <a:gridCol w="8212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285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3395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8300">
                <a:tc gridSpan="3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Calibri"/>
                        <a:buNone/>
                      </a:pPr>
                      <a:r>
                        <a:rPr lang="en-US" sz="2000" b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Temperature</a:t>
                      </a:r>
                      <a:endParaRPr sz="2000" b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83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SzPts val="2000"/>
                        <a:buFont typeface="Calibri"/>
                        <a:buNone/>
                      </a:pPr>
                      <a:endParaRPr sz="2000" b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Calibri"/>
                        <a:buNone/>
                      </a:pPr>
                      <a:r>
                        <a:rPr lang="en-US" sz="2000" b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Yes</a:t>
                      </a:r>
                      <a:endParaRPr sz="2000" b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Calibri"/>
                        <a:buNone/>
                      </a:pPr>
                      <a:r>
                        <a:rPr lang="en-US" sz="2000" b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</a:t>
                      </a:r>
                      <a:endParaRPr sz="2000" b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83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Calibri"/>
                        <a:buNone/>
                      </a:pPr>
                      <a:r>
                        <a:rPr lang="en-US" sz="2000" b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Hot</a:t>
                      </a:r>
                      <a:endParaRPr sz="2000" b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Calibri"/>
                        <a:buNone/>
                      </a:pPr>
                      <a:r>
                        <a:rPr lang="en-US" sz="2000" b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 sz="2000" b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Calibri"/>
                        <a:buNone/>
                      </a:pPr>
                      <a:r>
                        <a:rPr lang="en-US" sz="2000" b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 sz="2000" b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83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Calibri"/>
                        <a:buNone/>
                      </a:pPr>
                      <a:r>
                        <a:rPr lang="en-US" sz="2000" b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Mild</a:t>
                      </a:r>
                      <a:endParaRPr sz="2000" b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Calibri"/>
                        <a:buNone/>
                      </a:pPr>
                      <a:r>
                        <a:rPr lang="en-US" sz="2000" b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 sz="2000" b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Calibri"/>
                        <a:buNone/>
                      </a:pPr>
                      <a:r>
                        <a:rPr lang="en-US" sz="2000" b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 sz="2000" b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83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Calibri"/>
                        <a:buNone/>
                      </a:pPr>
                      <a:r>
                        <a:rPr lang="en-US" sz="2000" b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Cool</a:t>
                      </a:r>
                      <a:endParaRPr sz="2000" b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Calibri"/>
                        <a:buNone/>
                      </a:pPr>
                      <a:r>
                        <a:rPr lang="en-US" sz="2000" b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 sz="2000" b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Calibri"/>
                        <a:buNone/>
                      </a:pPr>
                      <a:r>
                        <a:rPr lang="en-US" sz="2000" b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2000" b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83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Calibri"/>
                        <a:buNone/>
                      </a:pPr>
                      <a:r>
                        <a:rPr lang="en-US" sz="2000" b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Total</a:t>
                      </a:r>
                      <a:endParaRPr sz="2000" b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Calibri"/>
                        <a:buNone/>
                      </a:pPr>
                      <a:r>
                        <a:rPr lang="en-US" sz="2000" b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</a:t>
                      </a:r>
                      <a:endParaRPr sz="2000" b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Calibri"/>
                        <a:buNone/>
                      </a:pPr>
                      <a:r>
                        <a:rPr lang="en-US" sz="2000" b="0" u="none" strike="noStrike" cap="none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</a:t>
                      </a:r>
                      <a:endParaRPr sz="2000" b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20646742"/>
      </p:ext>
    </p:extLst>
  </p:cSld>
  <p:clrMapOvr>
    <a:masterClrMapping/>
  </p:clrMapOvr>
  <p:transition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500"/>
                            </p:stCondLst>
                            <p:childTnLst>
                              <p:par>
                                <p:cTn id="4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2" grpId="0"/>
      <p:bldP spid="9" grpId="0"/>
      <p:bldP spid="10" grpId="0"/>
      <p:bldP spid="13" grpId="0"/>
      <p:bldP spid="7" grpId="0" animBg="1"/>
      <p:bldP spid="16" grpId="0"/>
      <p:bldP spid="17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36"/>
          <p:cNvSpPr txBox="1">
            <a:spLocks noGrp="1"/>
          </p:cNvSpPr>
          <p:nvPr>
            <p:ph type="sldNum" idx="12"/>
          </p:nvPr>
        </p:nvSpPr>
        <p:spPr>
          <a:xfrm>
            <a:off x="8778240" y="6536690"/>
            <a:ext cx="2804160" cy="184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ahoma"/>
              <a:buNone/>
            </a:pPr>
            <a:fld id="{00000000-1234-1234-1234-123412341234}" type="slidenum">
              <a:rPr lang="en-US" sz="12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8</a:t>
            </a:fld>
            <a:endParaRPr sz="1200" b="0" i="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95016" y="2454382"/>
                <a:ext cx="6593600" cy="46063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IN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𝐸𝑛𝑡𝑟𝑜𝑝𝑦</m:t>
                    </m:r>
                    <m:d>
                      <m:dPr>
                        <m:ctrlPr>
                          <a:rPr lang="en-I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𝐻𝑖𝑔h</m:t>
                            </m:r>
                          </m:sub>
                        </m:sSub>
                      </m:e>
                    </m:d>
                    <m:r>
                      <a:rPr lang="en-IN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=−</m:t>
                    </m:r>
                    <m:d>
                      <m:dPr>
                        <m:ctrlPr>
                          <a:rPr lang="en-IN" sz="2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I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7</m:t>
                            </m:r>
                          </m:den>
                        </m:f>
                      </m:e>
                    </m:d>
                    <m:sSub>
                      <m:sSubPr>
                        <m:ctrlPr>
                          <a:rPr lang="en-IN" sz="2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𝑙𝑜𝑔</m:t>
                        </m:r>
                      </m:e>
                      <m:sub>
                        <m:r>
                          <a:rPr lang="en-I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d>
                      <m:dPr>
                        <m:ctrlPr>
                          <a:rPr lang="en-I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7</m:t>
                            </m:r>
                          </m:den>
                        </m:f>
                      </m:e>
                    </m:d>
                    <m:r>
                      <a:rPr lang="en-IN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d>
                      <m:dPr>
                        <m:ctrlPr>
                          <a:rPr lang="en-I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4</m:t>
                            </m:r>
                          </m:num>
                          <m:den>
                            <m:r>
                              <a:rPr lang="en-I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7</m:t>
                            </m:r>
                          </m:den>
                        </m:f>
                      </m:e>
                    </m:d>
                    <m:sSub>
                      <m:sSubPr>
                        <m:ctrlPr>
                          <a:rPr lang="en-I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𝑙𝑜𝑔</m:t>
                        </m:r>
                      </m:e>
                      <m:sub>
                        <m:r>
                          <a:rPr lang="en-I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d>
                      <m:dPr>
                        <m:ctrlPr>
                          <a:rPr lang="en-I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4</m:t>
                            </m:r>
                          </m:num>
                          <m:den>
                            <m:r>
                              <a:rPr lang="en-I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7</m:t>
                            </m:r>
                          </m:den>
                        </m:f>
                      </m:e>
                    </m:d>
                  </m:oMath>
                </a14:m>
                <a:r>
                  <a:rPr lang="en-IN" sz="20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0.985228</a:t>
                </a:r>
                <a:endParaRPr lang="en-IN" sz="20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016" y="2454382"/>
                <a:ext cx="6593600" cy="460639"/>
              </a:xfrm>
              <a:prstGeom prst="rect">
                <a:avLst/>
              </a:prstGeom>
              <a:blipFill>
                <a:blip r:embed="rId3"/>
                <a:stretch>
                  <a:fillRect t="-2667" r="-1295" b="-1466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1"/>
              <p:cNvSpPr/>
              <p:nvPr/>
            </p:nvSpPr>
            <p:spPr>
              <a:xfrm>
                <a:off x="201649" y="452308"/>
                <a:ext cx="3784626" cy="68390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I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IN" sz="20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IN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𝐻𝑖𝑔h</m:t>
                              </m:r>
                            </m:sub>
                          </m:sSub>
                        </m:e>
                      </m:d>
                      <m:r>
                        <a:rPr lang="en-IN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𝑁𝑜</m:t>
                          </m:r>
                          <m:r>
                            <a:rPr lang="en-I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. </m:t>
                          </m:r>
                          <m:r>
                            <a:rPr lang="en-I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𝑜𝑓</m:t>
                          </m:r>
                          <m:r>
                            <a:rPr lang="en-I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en-I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𝐻𝑖𝑔h</m:t>
                          </m:r>
                        </m:num>
                        <m:den>
                          <m:r>
                            <a:rPr lang="en-I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𝑇𝑜𝑡𝑎𝑙</m:t>
                          </m:r>
                        </m:den>
                      </m:f>
                      <m:r>
                        <a:rPr lang="en-IN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I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IN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IN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7</m:t>
                              </m:r>
                            </m:num>
                            <m:den>
                              <m:r>
                                <a:rPr lang="en-IN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14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IN" sz="2000" dirty="0"/>
              </a:p>
            </p:txBody>
          </p:sp>
        </mc:Choice>
        <mc:Fallback xmlns="">
          <p:sp>
            <p:nvSpPr>
              <p:cNvPr id="2" name="Rectangle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1649" y="452308"/>
                <a:ext cx="3784626" cy="68390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/>
              <p:cNvSpPr/>
              <p:nvPr/>
            </p:nvSpPr>
            <p:spPr>
              <a:xfrm>
                <a:off x="201649" y="1230772"/>
                <a:ext cx="4351191" cy="68390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I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IN" sz="20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IN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𝑁𝑜𝑟𝑚𝑎𝑙</m:t>
                              </m:r>
                            </m:sub>
                          </m:sSub>
                        </m:e>
                      </m:d>
                      <m:r>
                        <a:rPr lang="en-IN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𝑁𝑜</m:t>
                          </m:r>
                          <m:r>
                            <a:rPr lang="en-I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. </m:t>
                          </m:r>
                          <m:r>
                            <a:rPr lang="en-I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𝑜𝑓</m:t>
                          </m:r>
                          <m:r>
                            <a:rPr lang="en-I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en-I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𝑁𝑜𝑟𝑚𝑎𝑙</m:t>
                          </m:r>
                        </m:num>
                        <m:den>
                          <m:r>
                            <a:rPr lang="en-I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𝑇𝑜𝑡𝑎𝑙</m:t>
                          </m:r>
                        </m:den>
                      </m:f>
                      <m:r>
                        <a:rPr lang="en-IN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I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IN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IN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7</m:t>
                              </m:r>
                            </m:num>
                            <m:den>
                              <m:r>
                                <a:rPr lang="en-IN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14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IN" sz="2000" dirty="0"/>
              </a:p>
            </p:txBody>
          </p:sp>
        </mc:Choice>
        <mc:Fallback xmlns="">
          <p:sp>
            <p:nvSpPr>
              <p:cNvPr id="9" name="Rectangle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1649" y="1230772"/>
                <a:ext cx="4351191" cy="68390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201649" y="3482346"/>
                <a:ext cx="6925357" cy="46063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IN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𝐸𝑛𝑡𝑟𝑜𝑝𝑦</m:t>
                    </m:r>
                    <m:d>
                      <m:dPr>
                        <m:ctrlPr>
                          <a:rPr lang="en-I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I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𝑁𝑜𝑟𝑚𝑎𝑙</m:t>
                            </m:r>
                          </m:sub>
                        </m:sSub>
                      </m:e>
                    </m:d>
                    <m:r>
                      <a:rPr lang="en-IN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=−</m:t>
                    </m:r>
                    <m:d>
                      <m:dPr>
                        <m:ctrlPr>
                          <a:rPr lang="en-IN" sz="2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6</m:t>
                            </m:r>
                          </m:num>
                          <m:den>
                            <m:r>
                              <a:rPr lang="en-I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7</m:t>
                            </m:r>
                          </m:den>
                        </m:f>
                      </m:e>
                    </m:d>
                    <m:sSub>
                      <m:sSubPr>
                        <m:ctrlPr>
                          <a:rPr lang="en-IN" sz="2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𝑙𝑜𝑔</m:t>
                        </m:r>
                      </m:e>
                      <m:sub>
                        <m:r>
                          <a:rPr lang="en-I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d>
                      <m:dPr>
                        <m:ctrlPr>
                          <a:rPr lang="en-I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6</m:t>
                            </m:r>
                          </m:num>
                          <m:den>
                            <m:r>
                              <a:rPr lang="en-I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7</m:t>
                            </m:r>
                          </m:den>
                        </m:f>
                      </m:e>
                    </m:d>
                    <m:r>
                      <a:rPr lang="en-IN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d>
                      <m:dPr>
                        <m:ctrlPr>
                          <a:rPr lang="en-I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7</m:t>
                            </m:r>
                          </m:den>
                        </m:f>
                      </m:e>
                    </m:d>
                    <m:sSub>
                      <m:sSubPr>
                        <m:ctrlPr>
                          <a:rPr lang="en-I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𝑙𝑜𝑔</m:t>
                        </m:r>
                      </m:e>
                      <m:sub>
                        <m:r>
                          <a:rPr lang="en-I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d>
                      <m:dPr>
                        <m:ctrlPr>
                          <a:rPr lang="en-I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7</m:t>
                            </m:r>
                          </m:den>
                        </m:f>
                      </m:e>
                    </m:d>
                    <m:r>
                      <a:rPr lang="en-IN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=0.591673</m:t>
                    </m:r>
                  </m:oMath>
                </a14:m>
                <a:r>
                  <a:rPr lang="en-IN" sz="20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endParaRPr lang="en-IN" sz="20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1649" y="3482346"/>
                <a:ext cx="6925357" cy="460639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Rectangle 2"/>
              <p:cNvSpPr/>
              <p:nvPr/>
            </p:nvSpPr>
            <p:spPr>
              <a:xfrm>
                <a:off x="172112" y="4734703"/>
                <a:ext cx="10991663" cy="44717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𝐼𝐺</m:t>
                      </m:r>
                      <m:d>
                        <m:dPr>
                          <m:ctrlPr>
                            <a:rPr lang="en-I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𝑆</m:t>
                          </m:r>
                          <m:r>
                            <a:rPr lang="en-I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 </m:t>
                          </m:r>
                          <m:r>
                            <a:rPr lang="en-I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𝐻𝑢𝑚𝑖𝑑𝑖𝑡𝑦</m:t>
                          </m:r>
                        </m:e>
                      </m:d>
                      <m:r>
                        <a:rPr lang="en-IN" sz="2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IN" sz="2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𝐸𝑛𝑡𝑟𝑜𝑝𝑦</m:t>
                      </m:r>
                      <m:d>
                        <m:dPr>
                          <m:ctrlPr>
                            <a:rPr lang="en-I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𝑆</m:t>
                          </m:r>
                        </m:e>
                      </m:d>
                      <m:r>
                        <a:rPr lang="en-IN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− </m:t>
                      </m:r>
                      <m:r>
                        <a:rPr lang="en-IN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I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IN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IN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𝐻𝑖𝑔h</m:t>
                              </m:r>
                            </m:sub>
                          </m:sSub>
                        </m:e>
                      </m:d>
                      <m:r>
                        <m:rPr>
                          <m:nor/>
                        </m:rPr>
                        <a:rPr lang="en-IN" sz="2000" dirty="0"/>
                        <m:t> ∗ </m:t>
                      </m:r>
                      <m:r>
                        <a:rPr lang="en-IN" sz="2000" b="0" i="1" dirty="0" smtClean="0">
                          <a:latin typeface="Cambria Math" panose="02040503050406030204" pitchFamily="18" charset="0"/>
                        </a:rPr>
                        <m:t>𝐸𝑛𝑡𝑟𝑜𝑝𝑦</m:t>
                      </m:r>
                      <m:d>
                        <m:dPr>
                          <m:ctrlPr>
                            <a:rPr lang="en-IN" sz="20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000" b="0" i="1" dirty="0" smtClean="0">
                              <a:latin typeface="Cambria Math" panose="02040503050406030204" pitchFamily="18" charset="0"/>
                            </a:rPr>
                            <m:t>𝐻𝑖𝑔h</m:t>
                          </m:r>
                        </m:e>
                      </m:d>
                      <m:r>
                        <a:rPr lang="en-IN" sz="2000" b="0" i="1" dirty="0" smtClean="0">
                          <a:latin typeface="Cambria Math" panose="02040503050406030204" pitchFamily="18" charset="0"/>
                        </a:rPr>
                        <m:t> − </m:t>
                      </m:r>
                      <m:r>
                        <a:rPr lang="en-IN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I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IN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IN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𝑁𝑜𝑟𝑚𝑎𝑙</m:t>
                              </m:r>
                            </m:sub>
                          </m:sSub>
                        </m:e>
                      </m:d>
                      <m:r>
                        <m:rPr>
                          <m:nor/>
                        </m:rPr>
                        <a:rPr lang="en-IN" sz="2000" dirty="0"/>
                        <m:t> ∗ </m:t>
                      </m:r>
                      <m:r>
                        <a:rPr lang="en-IN" sz="2000" i="1" dirty="0">
                          <a:latin typeface="Cambria Math" panose="02040503050406030204" pitchFamily="18" charset="0"/>
                        </a:rPr>
                        <m:t>𝐸𝑛𝑡𝑟𝑜𝑝𝑦</m:t>
                      </m:r>
                      <m:r>
                        <a:rPr lang="en-IN" sz="2000" i="1" dirty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IN" sz="2000" b="0" i="1" dirty="0" smtClean="0">
                          <a:latin typeface="Cambria Math" panose="02040503050406030204" pitchFamily="18" charset="0"/>
                        </a:rPr>
                        <m:t>𝑁𝑜𝑟𝑚𝑎𝑙</m:t>
                      </m:r>
                      <m:r>
                        <a:rPr lang="en-IN" sz="2000" i="1" dirty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IN" sz="2000" dirty="0"/>
              </a:p>
            </p:txBody>
          </p:sp>
        </mc:Choice>
        <mc:Fallback>
          <p:sp>
            <p:nvSpPr>
              <p:cNvPr id="3" name="Rectangle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2112" y="4734703"/>
                <a:ext cx="10991663" cy="447174"/>
              </a:xfrm>
              <a:prstGeom prst="rect">
                <a:avLst/>
              </a:prstGeom>
              <a:blipFill>
                <a:blip r:embed="rId7"/>
                <a:stretch>
                  <a:fillRect r="-55" b="-821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ectangle 12"/>
              <p:cNvSpPr/>
              <p:nvPr/>
            </p:nvSpPr>
            <p:spPr>
              <a:xfrm>
                <a:off x="201649" y="5844896"/>
                <a:ext cx="8260851" cy="67499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𝐼𝐺</m:t>
                      </m:r>
                      <m:d>
                        <m:dPr>
                          <m:ctrlPr>
                            <a:rPr lang="en-I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𝑆</m:t>
                          </m:r>
                          <m:r>
                            <a:rPr lang="en-I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 </m:t>
                          </m:r>
                          <m:r>
                            <a:rPr lang="en-I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𝐻𝑢𝑚𝑖𝑑𝑖𝑡𝑦</m:t>
                          </m:r>
                        </m:e>
                      </m:d>
                      <m:r>
                        <a:rPr lang="en-IN" sz="2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IN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0.940 </m:t>
                      </m:r>
                      <m:r>
                        <a:rPr lang="en-IN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d>
                        <m:dPr>
                          <m:ctrlPr>
                            <a:rPr lang="en-I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IN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IN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7</m:t>
                              </m:r>
                            </m:num>
                            <m:den>
                              <m:r>
                                <a:rPr lang="en-IN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14</m:t>
                              </m:r>
                            </m:den>
                          </m:f>
                        </m:e>
                      </m:d>
                      <m:r>
                        <a:rPr lang="en-IN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m:rPr>
                          <m:nor/>
                        </m:rPr>
                        <a:rPr lang="en-IN" sz="20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0.985228</m:t>
                      </m:r>
                      <m:r>
                        <a:rPr lang="en-IN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  <m:r>
                        <a:rPr lang="en-IN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d>
                        <m:dPr>
                          <m:ctrlPr>
                            <a:rPr lang="en-I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IN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IN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7</m:t>
                              </m:r>
                            </m:num>
                            <m:den>
                              <m:r>
                                <a:rPr lang="en-IN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14</m:t>
                              </m:r>
                            </m:den>
                          </m:f>
                        </m:e>
                      </m:d>
                      <m:r>
                        <a:rPr lang="en-IN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IN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0.591673</m:t>
                      </m:r>
                      <m:r>
                        <a:rPr lang="en-IN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  <m:r>
                        <m:rPr>
                          <m:nor/>
                        </m:rPr>
                        <a:rPr lang="en-IN" sz="20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 </m:t>
                      </m:r>
                      <m:r>
                        <m:rPr>
                          <m:nor/>
                        </m:rPr>
                        <a:rPr lang="en-IN" sz="2000" b="0" i="0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0.151</m:t>
                      </m:r>
                    </m:oMath>
                  </m:oMathPara>
                </a14:m>
                <a:endParaRPr lang="en-IN" sz="20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3" name="Rectangle 1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1649" y="5844896"/>
                <a:ext cx="8260851" cy="674993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ectangle 6"/>
          <p:cNvSpPr/>
          <p:nvPr/>
        </p:nvSpPr>
        <p:spPr>
          <a:xfrm>
            <a:off x="201648" y="5844896"/>
            <a:ext cx="8576592" cy="875944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aphicFrame>
        <p:nvGraphicFramePr>
          <p:cNvPr id="14" name="Google Shape;260;p29"/>
          <p:cNvGraphicFramePr/>
          <p:nvPr>
            <p:extLst>
              <p:ext uri="{D42A27DB-BD31-4B8C-83A1-F6EECF244321}">
                <p14:modId xmlns:p14="http://schemas.microsoft.com/office/powerpoint/2010/main" val="2629549843"/>
              </p:ext>
            </p:extLst>
          </p:nvPr>
        </p:nvGraphicFramePr>
        <p:xfrm>
          <a:off x="8462500" y="262238"/>
          <a:ext cx="2701275" cy="2452375"/>
        </p:xfrm>
        <a:graphic>
          <a:graphicData uri="http://schemas.openxmlformats.org/drawingml/2006/table">
            <a:tbl>
              <a:tblPr firstRow="1" bandRow="1">
                <a:noFill/>
                <a:tableStyleId>{AE0CDCE9-8EFF-456A-BFA7-76C2DBC4E188}</a:tableStyleId>
              </a:tblPr>
              <a:tblGrid>
                <a:gridCol w="900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004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004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4800">
                <a:tc gridSpan="3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Calibri"/>
                        <a:buNone/>
                      </a:pPr>
                      <a:r>
                        <a:rPr lang="en-US" sz="2000" b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Humidity</a:t>
                      </a:r>
                      <a:endParaRPr sz="2000" b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53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SzPts val="2000"/>
                        <a:buFont typeface="Calibri"/>
                        <a:buNone/>
                      </a:pPr>
                      <a:endParaRPr sz="2000" b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Calibri"/>
                        <a:buNone/>
                      </a:pPr>
                      <a:r>
                        <a:rPr lang="en-US" sz="2000" b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Yes</a:t>
                      </a:r>
                      <a:endParaRPr sz="2000" b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Calibri"/>
                        <a:buNone/>
                      </a:pPr>
                      <a:r>
                        <a:rPr lang="en-US" sz="2000" b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</a:t>
                      </a:r>
                      <a:endParaRPr sz="2000" b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73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Calibri"/>
                        <a:buNone/>
                      </a:pPr>
                      <a:r>
                        <a:rPr lang="en-US" sz="2000" b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High</a:t>
                      </a:r>
                      <a:endParaRPr sz="2000" b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Calibri"/>
                        <a:buNone/>
                      </a:pPr>
                      <a:r>
                        <a:rPr lang="en-US" sz="2000" b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 sz="2000" b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Calibri"/>
                        <a:buNone/>
                      </a:pPr>
                      <a:r>
                        <a:rPr lang="en-US" sz="2000" b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 sz="2000" b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146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Calibri"/>
                        <a:buNone/>
                      </a:pPr>
                      <a:r>
                        <a:rPr lang="en-US" sz="2000" b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Normal</a:t>
                      </a:r>
                      <a:endParaRPr sz="2000" b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Calibri"/>
                        <a:buNone/>
                      </a:pPr>
                      <a:r>
                        <a:rPr lang="en-US" sz="2000" b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</a:t>
                      </a:r>
                      <a:endParaRPr sz="2000" b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Calibri"/>
                        <a:buNone/>
                      </a:pPr>
                      <a:r>
                        <a:rPr lang="en-US" sz="2000" b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2000" b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102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Calibri"/>
                        <a:buNone/>
                      </a:pPr>
                      <a:r>
                        <a:rPr lang="en-US" sz="2000" b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Total</a:t>
                      </a:r>
                      <a:endParaRPr sz="2000" b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Calibri"/>
                        <a:buNone/>
                      </a:pPr>
                      <a:r>
                        <a:rPr lang="en-US" sz="2000" b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</a:t>
                      </a:r>
                      <a:endParaRPr sz="2000" b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Calibri"/>
                        <a:buNone/>
                      </a:pPr>
                      <a:r>
                        <a:rPr lang="en-US" sz="2000" b="0" u="none" strike="noStrike" cap="none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</a:t>
                      </a:r>
                      <a:endParaRPr sz="2000" b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8778240" y="2816978"/>
                <a:ext cx="2255554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IN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𝐸𝑛𝑡𝑟𝑜𝑝𝑦</m:t>
                    </m:r>
                    <m:d>
                      <m:dPr>
                        <m:ctrlPr>
                          <a:rPr lang="en-I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𝑆</m:t>
                        </m:r>
                      </m:e>
                    </m:d>
                    <m:r>
                      <a:rPr lang="en-IN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IN" sz="20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0.940</a:t>
                </a:r>
                <a:endParaRPr lang="en-IN" sz="20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8240" y="2816978"/>
                <a:ext cx="2255554" cy="307777"/>
              </a:xfrm>
              <a:prstGeom prst="rect">
                <a:avLst/>
              </a:prstGeom>
              <a:blipFill>
                <a:blip r:embed="rId9"/>
                <a:stretch>
                  <a:fillRect l="-5135" t="-25490" r="-5676" b="-4902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71337962"/>
      </p:ext>
    </p:extLst>
  </p:cSld>
  <p:clrMapOvr>
    <a:masterClrMapping/>
  </p:clrMapOvr>
  <p:transition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2" grpId="0"/>
      <p:bldP spid="9" grpId="0"/>
      <p:bldP spid="10" grpId="0"/>
      <p:bldP spid="3" grpId="0"/>
      <p:bldP spid="13" grpId="0"/>
      <p:bldP spid="7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35"/>
          <p:cNvSpPr txBox="1"/>
          <p:nvPr/>
        </p:nvSpPr>
        <p:spPr>
          <a:xfrm>
            <a:off x="304799" y="381000"/>
            <a:ext cx="8454189" cy="689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/>
            <a:r>
              <a:rPr lang="en-US" sz="4400" b="0" i="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Decision Tree: </a:t>
            </a:r>
            <a:r>
              <a:rPr lang="en-US" sz="4400" dirty="0"/>
              <a:t>Information Gain</a:t>
            </a:r>
            <a:endParaRPr sz="4400" b="0" i="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" name="Group 1"/>
          <p:cNvGrpSpPr/>
          <p:nvPr/>
        </p:nvGrpSpPr>
        <p:grpSpPr>
          <a:xfrm>
            <a:off x="7234988" y="2918540"/>
            <a:ext cx="4114800" cy="3299727"/>
            <a:chOff x="7234988" y="2918540"/>
            <a:chExt cx="4114800" cy="3299727"/>
          </a:xfrm>
        </p:grpSpPr>
        <p:sp>
          <p:nvSpPr>
            <p:cNvPr id="18" name="Google Shape;290;p34"/>
            <p:cNvSpPr/>
            <p:nvPr/>
          </p:nvSpPr>
          <p:spPr>
            <a:xfrm>
              <a:off x="8263688" y="2918540"/>
              <a:ext cx="2057400" cy="1066800"/>
            </a:xfrm>
            <a:prstGeom prst="roundRect">
              <a:avLst>
                <a:gd name="adj" fmla="val 16667"/>
              </a:avLst>
            </a:prstGeom>
            <a:noFill/>
            <a:ln w="25400" cap="flat" cmpd="sng">
              <a:solidFill>
                <a:srgbClr val="395E8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Outlook</a:t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9" name="Google Shape;293;p34"/>
            <p:cNvCxnSpPr>
              <a:stCxn id="18" idx="2"/>
            </p:cNvCxnSpPr>
            <p:nvPr/>
          </p:nvCxnSpPr>
          <p:spPr>
            <a:xfrm flipH="1">
              <a:off x="7234988" y="3985340"/>
              <a:ext cx="2057400" cy="1574700"/>
            </a:xfrm>
            <a:prstGeom prst="straightConnector1">
              <a:avLst/>
            </a:prstGeom>
            <a:noFill/>
            <a:ln w="9525" cap="flat" cmpd="sng">
              <a:solidFill>
                <a:srgbClr val="4A7DBA"/>
              </a:solidFill>
              <a:prstDash val="solid"/>
              <a:round/>
              <a:headEnd type="none" w="sm" len="sm"/>
              <a:tailEnd type="stealth" w="med" len="med"/>
            </a:ln>
          </p:spPr>
        </p:cxnSp>
        <p:cxnSp>
          <p:nvCxnSpPr>
            <p:cNvPr id="20" name="Google Shape;294;p34"/>
            <p:cNvCxnSpPr>
              <a:stCxn id="18" idx="2"/>
            </p:cNvCxnSpPr>
            <p:nvPr/>
          </p:nvCxnSpPr>
          <p:spPr>
            <a:xfrm>
              <a:off x="9292388" y="3985340"/>
              <a:ext cx="2057400" cy="1574700"/>
            </a:xfrm>
            <a:prstGeom prst="straightConnector1">
              <a:avLst/>
            </a:prstGeom>
            <a:noFill/>
            <a:ln w="9525" cap="flat" cmpd="sng">
              <a:solidFill>
                <a:srgbClr val="4A7DBA"/>
              </a:solidFill>
              <a:prstDash val="solid"/>
              <a:round/>
              <a:headEnd type="none" w="sm" len="sm"/>
              <a:tailEnd type="stealth" w="med" len="med"/>
            </a:ln>
          </p:spPr>
        </p:cxnSp>
        <p:cxnSp>
          <p:nvCxnSpPr>
            <p:cNvPr id="21" name="Google Shape;295;p34"/>
            <p:cNvCxnSpPr>
              <a:endCxn id="24" idx="0"/>
            </p:cNvCxnSpPr>
            <p:nvPr/>
          </p:nvCxnSpPr>
          <p:spPr>
            <a:xfrm>
              <a:off x="9292388" y="3980895"/>
              <a:ext cx="0" cy="1856372"/>
            </a:xfrm>
            <a:prstGeom prst="straightConnector1">
              <a:avLst/>
            </a:prstGeom>
            <a:noFill/>
            <a:ln w="9525" cap="flat" cmpd="sng">
              <a:solidFill>
                <a:srgbClr val="4A7DBA"/>
              </a:solidFill>
              <a:prstDash val="solid"/>
              <a:round/>
              <a:headEnd type="none" w="sm" len="sm"/>
              <a:tailEnd type="stealth" w="med" len="med"/>
            </a:ln>
          </p:spPr>
        </p:cxnSp>
        <p:sp>
          <p:nvSpPr>
            <p:cNvPr id="22" name="Google Shape;304;p34"/>
            <p:cNvSpPr txBox="1"/>
            <p:nvPr/>
          </p:nvSpPr>
          <p:spPr>
            <a:xfrm>
              <a:off x="7850303" y="4588590"/>
              <a:ext cx="826135" cy="368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Sunny</a:t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" name="Google Shape;305;p34"/>
            <p:cNvSpPr txBox="1"/>
            <p:nvPr/>
          </p:nvSpPr>
          <p:spPr>
            <a:xfrm>
              <a:off x="10001048" y="4588590"/>
              <a:ext cx="732790" cy="369291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dirty="0" smtClean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Rainy</a:t>
              </a:r>
              <a:endParaRPr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" name="Google Shape;311;p34"/>
            <p:cNvSpPr/>
            <p:nvPr/>
          </p:nvSpPr>
          <p:spPr>
            <a:xfrm>
              <a:off x="8758988" y="5837267"/>
              <a:ext cx="1066800" cy="381000"/>
            </a:xfrm>
            <a:prstGeom prst="flowChartTerminator">
              <a:avLst/>
            </a:prstGeom>
            <a:noFill/>
            <a:ln w="25400" cap="flat" cmpd="sng">
              <a:solidFill>
                <a:srgbClr val="395E8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Yes</a:t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9" name="TextBox 8"/>
          <p:cNvSpPr txBox="1"/>
          <p:nvPr/>
        </p:nvSpPr>
        <p:spPr>
          <a:xfrm>
            <a:off x="7055106" y="1576365"/>
            <a:ext cx="377699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sz="2000" dirty="0" smtClean="0"/>
              <a:t>Highest Information Gain </a:t>
            </a:r>
          </a:p>
          <a:p>
            <a:pPr algn="ctr"/>
            <a:r>
              <a:rPr lang="en-IN" sz="2000" dirty="0" smtClean="0"/>
              <a:t>Shall be selected as Root Node</a:t>
            </a:r>
            <a:endParaRPr lang="en-IN" sz="2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Rectangle 14"/>
              <p:cNvSpPr/>
              <p:nvPr/>
            </p:nvSpPr>
            <p:spPr>
              <a:xfrm>
                <a:off x="304799" y="2851074"/>
                <a:ext cx="2519792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𝐼𝐺</m:t>
                      </m:r>
                      <m:d>
                        <m:dPr>
                          <m:ctrlPr>
                            <a:rPr lang="en-I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𝑆</m:t>
                          </m:r>
                          <m:r>
                            <a:rPr lang="en-I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 </m:t>
                          </m:r>
                          <m:r>
                            <a:rPr lang="en-I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𝑊𝑖𝑛𝑑</m:t>
                          </m:r>
                        </m:e>
                      </m:d>
                      <m:r>
                        <m:rPr>
                          <m:nor/>
                        </m:rPr>
                        <a:rPr lang="en-IN" sz="20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IN" sz="20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 </m:t>
                      </m:r>
                      <m:r>
                        <m:rPr>
                          <m:nor/>
                        </m:rPr>
                        <a:rPr lang="en-IN" sz="2000" b="0" i="0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0.048</m:t>
                      </m:r>
                    </m:oMath>
                  </m:oMathPara>
                </a14:m>
                <a:endParaRPr lang="en-IN" sz="20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5" name="Rectangle 1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799" y="2851074"/>
                <a:ext cx="2519792" cy="40011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Rectangle 16"/>
              <p:cNvSpPr/>
              <p:nvPr/>
            </p:nvSpPr>
            <p:spPr>
              <a:xfrm>
                <a:off x="304799" y="3619267"/>
                <a:ext cx="3030381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𝐼𝐺</m:t>
                      </m:r>
                      <m:d>
                        <m:dPr>
                          <m:ctrlPr>
                            <a:rPr lang="en-I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𝑆</m:t>
                          </m:r>
                          <m:r>
                            <a:rPr lang="en-I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 </m:t>
                          </m:r>
                          <m:r>
                            <a:rPr lang="en-I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𝐻𝑢𝑚𝑖𝑑𝑖𝑡𝑦</m:t>
                          </m:r>
                        </m:e>
                      </m:d>
                      <m:r>
                        <a:rPr lang="en-IN" sz="2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m:rPr>
                          <m:nor/>
                        </m:rPr>
                        <a:rPr lang="en-IN" sz="2000" b="0" i="0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0.151</m:t>
                      </m:r>
                    </m:oMath>
                  </m:oMathPara>
                </a14:m>
                <a:endParaRPr lang="en-IN" sz="20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7" name="Rectangle 1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799" y="3619267"/>
                <a:ext cx="3030381" cy="400110"/>
              </a:xfrm>
              <a:prstGeom prst="rect">
                <a:avLst/>
              </a:prstGeom>
              <a:blipFill>
                <a:blip r:embed="rId4"/>
                <a:stretch>
                  <a:fillRect b="-18462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Rectangle 29"/>
              <p:cNvSpPr/>
              <p:nvPr/>
            </p:nvSpPr>
            <p:spPr>
              <a:xfrm>
                <a:off x="304799" y="2145264"/>
                <a:ext cx="2653259" cy="40011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𝐼𝐺</m:t>
                      </m:r>
                      <m:d>
                        <m:dPr>
                          <m:ctrlPr>
                            <a:rPr lang="en-I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𝑆</m:t>
                          </m:r>
                          <m:r>
                            <a:rPr lang="en-I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 </m:t>
                          </m:r>
                          <m:r>
                            <a:rPr lang="en-I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𝑇𝑒𝑚𝑝</m:t>
                          </m:r>
                        </m:e>
                      </m:d>
                      <m:r>
                        <a:rPr lang="en-IN" sz="2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m:rPr>
                          <m:nor/>
                        </m:rPr>
                        <a:rPr lang="en-IN" sz="2000" b="0" i="0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0.029</m:t>
                      </m:r>
                    </m:oMath>
                  </m:oMathPara>
                </a14:m>
                <a:endParaRPr lang="en-IN" sz="20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0" name="Rectangle 2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799" y="2145264"/>
                <a:ext cx="2653259" cy="400110"/>
              </a:xfrm>
              <a:prstGeom prst="rect">
                <a:avLst/>
              </a:prstGeom>
              <a:blipFill>
                <a:blip r:embed="rId5"/>
                <a:stretch>
                  <a:fillRect b="-15152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Rectangle 30"/>
              <p:cNvSpPr/>
              <p:nvPr/>
            </p:nvSpPr>
            <p:spPr>
              <a:xfrm>
                <a:off x="304799" y="1393709"/>
                <a:ext cx="3030381" cy="40011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𝐼𝐺</m:t>
                      </m:r>
                      <m:d>
                        <m:dPr>
                          <m:ctrlPr>
                            <a:rPr lang="en-I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𝑆</m:t>
                          </m:r>
                          <m:r>
                            <a:rPr lang="en-I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 </m:t>
                          </m:r>
                          <m:r>
                            <a:rPr lang="en-I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𝑂𝑣𝑒𝑟𝑐𝑎𝑠𝑡</m:t>
                          </m:r>
                        </m:e>
                      </m:d>
                      <m:r>
                        <a:rPr lang="en-IN" sz="2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m:rPr>
                          <m:nor/>
                        </m:rPr>
                        <a:rPr lang="en-IN" sz="2000" b="0" i="0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0.246</m:t>
                      </m:r>
                    </m:oMath>
                  </m:oMathPara>
                </a14:m>
                <a:endParaRPr lang="en-IN" sz="20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1" name="Rectangle 3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799" y="1393709"/>
                <a:ext cx="3030381" cy="40011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67771953"/>
      </p:ext>
    </p:extLst>
  </p:cSld>
  <p:clrMapOvr>
    <a:masterClrMapping/>
  </p:clrMapOvr>
  <p:transition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5" grpId="0"/>
      <p:bldP spid="17" grpId="0"/>
      <p:bldP spid="30" grpId="0"/>
      <p:bldP spid="31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35"/>
          <p:cNvSpPr txBox="1"/>
          <p:nvPr/>
        </p:nvSpPr>
        <p:spPr>
          <a:xfrm>
            <a:off x="304799" y="381000"/>
            <a:ext cx="8454189" cy="689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0" i="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Decision Tree: </a:t>
            </a:r>
            <a:r>
              <a:rPr lang="en-US" sz="4400" b="0" i="0" dirty="0" smtClea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Gini Index</a:t>
            </a:r>
            <a:endParaRPr sz="4400" b="0" i="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04799" y="1540630"/>
          <a:ext cx="6849980" cy="4975275"/>
        </p:xfrm>
        <a:graphic>
          <a:graphicData uri="http://schemas.openxmlformats.org/drawingml/2006/table">
            <a:tbl>
              <a:tblPr/>
              <a:tblGrid>
                <a:gridCol w="765434">
                  <a:extLst>
                    <a:ext uri="{9D8B030D-6E8A-4147-A177-3AD203B41FA5}">
                      <a16:colId xmlns:a16="http://schemas.microsoft.com/office/drawing/2014/main" val="166730754"/>
                    </a:ext>
                  </a:extLst>
                </a:gridCol>
                <a:gridCol w="1159620">
                  <a:extLst>
                    <a:ext uri="{9D8B030D-6E8A-4147-A177-3AD203B41FA5}">
                      <a16:colId xmlns:a16="http://schemas.microsoft.com/office/drawing/2014/main" val="3705911863"/>
                    </a:ext>
                  </a:extLst>
                </a:gridCol>
                <a:gridCol w="1155031">
                  <a:extLst>
                    <a:ext uri="{9D8B030D-6E8A-4147-A177-3AD203B41FA5}">
                      <a16:colId xmlns:a16="http://schemas.microsoft.com/office/drawing/2014/main" val="401773213"/>
                    </a:ext>
                  </a:extLst>
                </a:gridCol>
                <a:gridCol w="1379621">
                  <a:extLst>
                    <a:ext uri="{9D8B030D-6E8A-4147-A177-3AD203B41FA5}">
                      <a16:colId xmlns:a16="http://schemas.microsoft.com/office/drawing/2014/main" val="4272906104"/>
                    </a:ext>
                  </a:extLst>
                </a:gridCol>
                <a:gridCol w="1395663">
                  <a:extLst>
                    <a:ext uri="{9D8B030D-6E8A-4147-A177-3AD203B41FA5}">
                      <a16:colId xmlns:a16="http://schemas.microsoft.com/office/drawing/2014/main" val="4125339830"/>
                    </a:ext>
                  </a:extLst>
                </a:gridCol>
                <a:gridCol w="994611">
                  <a:extLst>
                    <a:ext uri="{9D8B030D-6E8A-4147-A177-3AD203B41FA5}">
                      <a16:colId xmlns:a16="http://schemas.microsoft.com/office/drawing/2014/main" val="803712746"/>
                    </a:ext>
                  </a:extLst>
                </a:gridCol>
              </a:tblGrid>
              <a:tr h="203517"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Sl. No.</a:t>
                      </a:r>
                    </a:p>
                  </a:txBody>
                  <a:tcPr marL="6565" marR="6565" marT="65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Outlook</a:t>
                      </a:r>
                    </a:p>
                  </a:txBody>
                  <a:tcPr marL="6565" marR="6565" marT="65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Temp</a:t>
                      </a:r>
                    </a:p>
                  </a:txBody>
                  <a:tcPr marL="6565" marR="6565" marT="65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Humidity</a:t>
                      </a:r>
                    </a:p>
                  </a:txBody>
                  <a:tcPr marL="6565" marR="6565" marT="65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Windy</a:t>
                      </a:r>
                    </a:p>
                  </a:txBody>
                  <a:tcPr marL="6565" marR="6565" marT="65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Play Golf</a:t>
                      </a:r>
                    </a:p>
                  </a:txBody>
                  <a:tcPr marL="6565" marR="6565" marT="65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56919871"/>
                  </a:ext>
                </a:extLst>
              </a:tr>
              <a:tr h="203517"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6565" marR="6565" marT="65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Rainy</a:t>
                      </a:r>
                    </a:p>
                  </a:txBody>
                  <a:tcPr marL="6565" marR="6565" marT="65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Hot</a:t>
                      </a:r>
                    </a:p>
                  </a:txBody>
                  <a:tcPr marL="6565" marR="6565" marT="65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High</a:t>
                      </a:r>
                    </a:p>
                  </a:txBody>
                  <a:tcPr marL="6565" marR="6565" marT="65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Weak</a:t>
                      </a:r>
                    </a:p>
                  </a:txBody>
                  <a:tcPr marL="6565" marR="6565" marT="65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</a:t>
                      </a:r>
                    </a:p>
                  </a:txBody>
                  <a:tcPr marL="6565" marR="6565" marT="65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9502385"/>
                  </a:ext>
                </a:extLst>
              </a:tr>
              <a:tr h="203517"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6565" marR="6565" marT="65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Rainy</a:t>
                      </a:r>
                    </a:p>
                  </a:txBody>
                  <a:tcPr marL="6565" marR="6565" marT="65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Hot</a:t>
                      </a:r>
                    </a:p>
                  </a:txBody>
                  <a:tcPr marL="6565" marR="6565" marT="65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High</a:t>
                      </a:r>
                    </a:p>
                  </a:txBody>
                  <a:tcPr marL="6565" marR="6565" marT="65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Strong</a:t>
                      </a:r>
                    </a:p>
                  </a:txBody>
                  <a:tcPr marL="6565" marR="6565" marT="65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</a:t>
                      </a:r>
                    </a:p>
                  </a:txBody>
                  <a:tcPr marL="6565" marR="6565" marT="65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662295"/>
                  </a:ext>
                </a:extLst>
              </a:tr>
              <a:tr h="203517"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L="6565" marR="6565" marT="65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Overcast</a:t>
                      </a:r>
                    </a:p>
                  </a:txBody>
                  <a:tcPr marL="6565" marR="6565" marT="65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Hot</a:t>
                      </a:r>
                    </a:p>
                  </a:txBody>
                  <a:tcPr marL="6565" marR="6565" marT="65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High</a:t>
                      </a:r>
                    </a:p>
                  </a:txBody>
                  <a:tcPr marL="6565" marR="6565" marT="65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Weak</a:t>
                      </a:r>
                    </a:p>
                  </a:txBody>
                  <a:tcPr marL="6565" marR="6565" marT="65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Yes</a:t>
                      </a:r>
                    </a:p>
                  </a:txBody>
                  <a:tcPr marL="6565" marR="6565" marT="65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38145677"/>
                  </a:ext>
                </a:extLst>
              </a:tr>
              <a:tr h="203517"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marL="6565" marR="6565" marT="65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Sunny</a:t>
                      </a:r>
                    </a:p>
                  </a:txBody>
                  <a:tcPr marL="6565" marR="6565" marT="65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Mild</a:t>
                      </a:r>
                    </a:p>
                  </a:txBody>
                  <a:tcPr marL="6565" marR="6565" marT="65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High</a:t>
                      </a:r>
                    </a:p>
                  </a:txBody>
                  <a:tcPr marL="6565" marR="6565" marT="65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Weak</a:t>
                      </a:r>
                    </a:p>
                  </a:txBody>
                  <a:tcPr marL="6565" marR="6565" marT="65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Yes</a:t>
                      </a:r>
                    </a:p>
                  </a:txBody>
                  <a:tcPr marL="6565" marR="6565" marT="65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693404"/>
                  </a:ext>
                </a:extLst>
              </a:tr>
              <a:tr h="203517"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 marL="6565" marR="6565" marT="65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Sunny</a:t>
                      </a:r>
                    </a:p>
                  </a:txBody>
                  <a:tcPr marL="6565" marR="6565" marT="65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Cool</a:t>
                      </a:r>
                    </a:p>
                  </a:txBody>
                  <a:tcPr marL="6565" marR="6565" marT="65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Normal</a:t>
                      </a:r>
                    </a:p>
                  </a:txBody>
                  <a:tcPr marL="6565" marR="6565" marT="65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Weak</a:t>
                      </a:r>
                    </a:p>
                  </a:txBody>
                  <a:tcPr marL="6565" marR="6565" marT="65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Yes</a:t>
                      </a:r>
                    </a:p>
                  </a:txBody>
                  <a:tcPr marL="6565" marR="6565" marT="65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00931757"/>
                  </a:ext>
                </a:extLst>
              </a:tr>
              <a:tr h="203517"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</a:p>
                  </a:txBody>
                  <a:tcPr marL="6565" marR="6565" marT="65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Sunny</a:t>
                      </a:r>
                    </a:p>
                  </a:txBody>
                  <a:tcPr marL="6565" marR="6565" marT="65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Cool</a:t>
                      </a:r>
                    </a:p>
                  </a:txBody>
                  <a:tcPr marL="6565" marR="6565" marT="65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Normal</a:t>
                      </a:r>
                    </a:p>
                  </a:txBody>
                  <a:tcPr marL="6565" marR="6565" marT="65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Strong</a:t>
                      </a:r>
                    </a:p>
                  </a:txBody>
                  <a:tcPr marL="6565" marR="6565" marT="65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</a:t>
                      </a:r>
                    </a:p>
                  </a:txBody>
                  <a:tcPr marL="6565" marR="6565" marT="65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5776579"/>
                  </a:ext>
                </a:extLst>
              </a:tr>
              <a:tr h="203517"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</a:p>
                  </a:txBody>
                  <a:tcPr marL="6565" marR="6565" marT="65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Overcast</a:t>
                      </a:r>
                    </a:p>
                  </a:txBody>
                  <a:tcPr marL="6565" marR="6565" marT="65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Cool</a:t>
                      </a:r>
                    </a:p>
                  </a:txBody>
                  <a:tcPr marL="6565" marR="6565" marT="65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Normal</a:t>
                      </a:r>
                    </a:p>
                  </a:txBody>
                  <a:tcPr marL="6565" marR="6565" marT="65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Strong</a:t>
                      </a:r>
                    </a:p>
                  </a:txBody>
                  <a:tcPr marL="6565" marR="6565" marT="65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Yes</a:t>
                      </a:r>
                    </a:p>
                  </a:txBody>
                  <a:tcPr marL="6565" marR="6565" marT="65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69177"/>
                  </a:ext>
                </a:extLst>
              </a:tr>
              <a:tr h="203517"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</a:p>
                  </a:txBody>
                  <a:tcPr marL="6565" marR="6565" marT="65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Rainy</a:t>
                      </a:r>
                    </a:p>
                  </a:txBody>
                  <a:tcPr marL="6565" marR="6565" marT="65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Mild</a:t>
                      </a:r>
                    </a:p>
                  </a:txBody>
                  <a:tcPr marL="6565" marR="6565" marT="65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High</a:t>
                      </a:r>
                    </a:p>
                  </a:txBody>
                  <a:tcPr marL="6565" marR="6565" marT="65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Weak</a:t>
                      </a:r>
                    </a:p>
                  </a:txBody>
                  <a:tcPr marL="6565" marR="6565" marT="65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</a:t>
                      </a:r>
                    </a:p>
                  </a:txBody>
                  <a:tcPr marL="6565" marR="6565" marT="65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7887860"/>
                  </a:ext>
                </a:extLst>
              </a:tr>
              <a:tr h="203517"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</a:p>
                  </a:txBody>
                  <a:tcPr marL="6565" marR="6565" marT="65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Rainy</a:t>
                      </a:r>
                    </a:p>
                  </a:txBody>
                  <a:tcPr marL="6565" marR="6565" marT="65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Cool</a:t>
                      </a:r>
                    </a:p>
                  </a:txBody>
                  <a:tcPr marL="6565" marR="6565" marT="65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Normal</a:t>
                      </a:r>
                    </a:p>
                  </a:txBody>
                  <a:tcPr marL="6565" marR="6565" marT="65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Weak</a:t>
                      </a:r>
                    </a:p>
                  </a:txBody>
                  <a:tcPr marL="6565" marR="6565" marT="65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Yes</a:t>
                      </a:r>
                    </a:p>
                  </a:txBody>
                  <a:tcPr marL="6565" marR="6565" marT="65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4097314"/>
                  </a:ext>
                </a:extLst>
              </a:tr>
              <a:tr h="203517"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</a:p>
                  </a:txBody>
                  <a:tcPr marL="6565" marR="6565" marT="65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Sunny</a:t>
                      </a:r>
                    </a:p>
                  </a:txBody>
                  <a:tcPr marL="6565" marR="6565" marT="65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Mild</a:t>
                      </a:r>
                    </a:p>
                  </a:txBody>
                  <a:tcPr marL="6565" marR="6565" marT="65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Normal</a:t>
                      </a:r>
                    </a:p>
                  </a:txBody>
                  <a:tcPr marL="6565" marR="6565" marT="65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Weak</a:t>
                      </a:r>
                    </a:p>
                  </a:txBody>
                  <a:tcPr marL="6565" marR="6565" marT="65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Yes</a:t>
                      </a:r>
                    </a:p>
                  </a:txBody>
                  <a:tcPr marL="6565" marR="6565" marT="65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58984871"/>
                  </a:ext>
                </a:extLst>
              </a:tr>
              <a:tr h="203517"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</a:t>
                      </a:r>
                    </a:p>
                  </a:txBody>
                  <a:tcPr marL="6565" marR="6565" marT="65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Rainy</a:t>
                      </a:r>
                    </a:p>
                  </a:txBody>
                  <a:tcPr marL="6565" marR="6565" marT="65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Mild</a:t>
                      </a:r>
                    </a:p>
                  </a:txBody>
                  <a:tcPr marL="6565" marR="6565" marT="65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Normal</a:t>
                      </a:r>
                    </a:p>
                  </a:txBody>
                  <a:tcPr marL="6565" marR="6565" marT="65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Strong</a:t>
                      </a:r>
                    </a:p>
                  </a:txBody>
                  <a:tcPr marL="6565" marR="6565" marT="65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Yes</a:t>
                      </a:r>
                    </a:p>
                  </a:txBody>
                  <a:tcPr marL="6565" marR="6565" marT="65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30320933"/>
                  </a:ext>
                </a:extLst>
              </a:tr>
              <a:tr h="203517"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</a:t>
                      </a:r>
                    </a:p>
                  </a:txBody>
                  <a:tcPr marL="6565" marR="6565" marT="65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Overcast</a:t>
                      </a:r>
                    </a:p>
                  </a:txBody>
                  <a:tcPr marL="6565" marR="6565" marT="65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Mild</a:t>
                      </a:r>
                    </a:p>
                  </a:txBody>
                  <a:tcPr marL="6565" marR="6565" marT="65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High</a:t>
                      </a:r>
                    </a:p>
                  </a:txBody>
                  <a:tcPr marL="6565" marR="6565" marT="65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Strong</a:t>
                      </a:r>
                    </a:p>
                  </a:txBody>
                  <a:tcPr marL="6565" marR="6565" marT="65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Yes</a:t>
                      </a:r>
                    </a:p>
                  </a:txBody>
                  <a:tcPr marL="6565" marR="6565" marT="65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7588799"/>
                  </a:ext>
                </a:extLst>
              </a:tr>
              <a:tr h="203517"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13</a:t>
                      </a:r>
                    </a:p>
                  </a:txBody>
                  <a:tcPr marL="6565" marR="6565" marT="65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Overcast</a:t>
                      </a:r>
                    </a:p>
                  </a:txBody>
                  <a:tcPr marL="6565" marR="6565" marT="65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Hot</a:t>
                      </a:r>
                    </a:p>
                  </a:txBody>
                  <a:tcPr marL="6565" marR="6565" marT="65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Normal</a:t>
                      </a:r>
                    </a:p>
                  </a:txBody>
                  <a:tcPr marL="6565" marR="6565" marT="65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Weak</a:t>
                      </a:r>
                    </a:p>
                  </a:txBody>
                  <a:tcPr marL="6565" marR="6565" marT="65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Yes</a:t>
                      </a:r>
                    </a:p>
                  </a:txBody>
                  <a:tcPr marL="6565" marR="6565" marT="65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6908151"/>
                  </a:ext>
                </a:extLst>
              </a:tr>
              <a:tr h="203517"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14</a:t>
                      </a:r>
                    </a:p>
                  </a:txBody>
                  <a:tcPr marL="6565" marR="6565" marT="65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Sunny</a:t>
                      </a:r>
                    </a:p>
                  </a:txBody>
                  <a:tcPr marL="6565" marR="6565" marT="65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Mild</a:t>
                      </a:r>
                    </a:p>
                  </a:txBody>
                  <a:tcPr marL="6565" marR="6565" marT="65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High</a:t>
                      </a:r>
                    </a:p>
                  </a:txBody>
                  <a:tcPr marL="6565" marR="6565" marT="65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Strong</a:t>
                      </a:r>
                    </a:p>
                  </a:txBody>
                  <a:tcPr marL="6565" marR="6565" marT="65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</a:t>
                      </a:r>
                    </a:p>
                  </a:txBody>
                  <a:tcPr marL="6565" marR="6565" marT="65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0965319"/>
                  </a:ext>
                </a:extLst>
              </a:tr>
            </a:tbl>
          </a:graphicData>
        </a:graphic>
      </p:graphicFrame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868317" y="1540630"/>
          <a:ext cx="4179303" cy="2000250"/>
        </p:xfrm>
        <a:graphic>
          <a:graphicData uri="http://schemas.openxmlformats.org/drawingml/2006/table">
            <a:tbl>
              <a:tblPr firstRow="1" bandRow="1"/>
              <a:tblGrid>
                <a:gridCol w="653442">
                  <a:extLst>
                    <a:ext uri="{9D8B030D-6E8A-4147-A177-3AD203B41FA5}">
                      <a16:colId xmlns:a16="http://schemas.microsoft.com/office/drawing/2014/main" val="2318816424"/>
                    </a:ext>
                  </a:extLst>
                </a:gridCol>
                <a:gridCol w="721508">
                  <a:extLst>
                    <a:ext uri="{9D8B030D-6E8A-4147-A177-3AD203B41FA5}">
                      <a16:colId xmlns:a16="http://schemas.microsoft.com/office/drawing/2014/main" val="3367808708"/>
                    </a:ext>
                  </a:extLst>
                </a:gridCol>
                <a:gridCol w="1089069">
                  <a:extLst>
                    <a:ext uri="{9D8B030D-6E8A-4147-A177-3AD203B41FA5}">
                      <a16:colId xmlns:a16="http://schemas.microsoft.com/office/drawing/2014/main" val="784862834"/>
                    </a:ext>
                  </a:extLst>
                </a:gridCol>
                <a:gridCol w="830415">
                  <a:extLst>
                    <a:ext uri="{9D8B030D-6E8A-4147-A177-3AD203B41FA5}">
                      <a16:colId xmlns:a16="http://schemas.microsoft.com/office/drawing/2014/main" val="426997944"/>
                    </a:ext>
                  </a:extLst>
                </a:gridCol>
                <a:gridCol w="884869">
                  <a:extLst>
                    <a:ext uri="{9D8B030D-6E8A-4147-A177-3AD203B41FA5}">
                      <a16:colId xmlns:a16="http://schemas.microsoft.com/office/drawing/2014/main" val="1156686500"/>
                    </a:ext>
                  </a:extLst>
                </a:gridCol>
              </a:tblGrid>
              <a:tr h="333375"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Sl. No.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Temp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Humidity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Windy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Play Golf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5179887"/>
                  </a:ext>
                </a:extLst>
              </a:tr>
              <a:tr h="333375"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Mild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High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Weak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Yes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8837873"/>
                  </a:ext>
                </a:extLst>
              </a:tr>
              <a:tr h="333375"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Cool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Normal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Weak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Yes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32270368"/>
                  </a:ext>
                </a:extLst>
              </a:tr>
              <a:tr h="333375"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Cool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Normal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Strong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No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21107773"/>
                  </a:ext>
                </a:extLst>
              </a:tr>
              <a:tr h="333375"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Mild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Normal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Weak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Yes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5888743"/>
                  </a:ext>
                </a:extLst>
              </a:tr>
              <a:tr h="333375"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Mild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High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Strong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No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7872923"/>
                  </a:ext>
                </a:extLst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716250" y="4515655"/>
          <a:ext cx="4331370" cy="2000250"/>
        </p:xfrm>
        <a:graphic>
          <a:graphicData uri="http://schemas.openxmlformats.org/drawingml/2006/table">
            <a:tbl>
              <a:tblPr/>
              <a:tblGrid>
                <a:gridCol w="753983">
                  <a:extLst>
                    <a:ext uri="{9D8B030D-6E8A-4147-A177-3AD203B41FA5}">
                      <a16:colId xmlns:a16="http://schemas.microsoft.com/office/drawing/2014/main" val="1610272526"/>
                    </a:ext>
                  </a:extLst>
                </a:gridCol>
                <a:gridCol w="705852">
                  <a:extLst>
                    <a:ext uri="{9D8B030D-6E8A-4147-A177-3AD203B41FA5}">
                      <a16:colId xmlns:a16="http://schemas.microsoft.com/office/drawing/2014/main" val="2346627700"/>
                    </a:ext>
                  </a:extLst>
                </a:gridCol>
                <a:gridCol w="1138987">
                  <a:extLst>
                    <a:ext uri="{9D8B030D-6E8A-4147-A177-3AD203B41FA5}">
                      <a16:colId xmlns:a16="http://schemas.microsoft.com/office/drawing/2014/main" val="1936642703"/>
                    </a:ext>
                  </a:extLst>
                </a:gridCol>
                <a:gridCol w="786066">
                  <a:extLst>
                    <a:ext uri="{9D8B030D-6E8A-4147-A177-3AD203B41FA5}">
                      <a16:colId xmlns:a16="http://schemas.microsoft.com/office/drawing/2014/main" val="3442511686"/>
                    </a:ext>
                  </a:extLst>
                </a:gridCol>
                <a:gridCol w="946482">
                  <a:extLst>
                    <a:ext uri="{9D8B030D-6E8A-4147-A177-3AD203B41FA5}">
                      <a16:colId xmlns:a16="http://schemas.microsoft.com/office/drawing/2014/main" val="467252229"/>
                    </a:ext>
                  </a:extLst>
                </a:gridCol>
              </a:tblGrid>
              <a:tr h="333375"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Sl. No.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Temp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Humidity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Windy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Play Golf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7274180"/>
                  </a:ext>
                </a:extLst>
              </a:tr>
              <a:tr h="333375"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Hot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High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Weak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No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47341132"/>
                  </a:ext>
                </a:extLst>
              </a:tr>
              <a:tr h="333375"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9525" marR="9525" marT="9525" marB="0" anchor="b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Hot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High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Strong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No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16648245"/>
                  </a:ext>
                </a:extLst>
              </a:tr>
              <a:tr h="333375"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9525" marR="9525" marT="9525" marB="0" anchor="b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Mild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High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Weak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No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00802690"/>
                  </a:ext>
                </a:extLst>
              </a:tr>
              <a:tr h="333375"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9525" marR="9525" marT="9525" marB="0" anchor="b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Cool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Normal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Weak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Yes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6849211"/>
                  </a:ext>
                </a:extLst>
              </a:tr>
              <a:tr h="333375"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</a:t>
                      </a:r>
                    </a:p>
                  </a:txBody>
                  <a:tcPr marL="9525" marR="9525" marT="9525" marB="0" anchor="b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Mild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Normal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Strong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Yes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2737126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9425720" y="905510"/>
            <a:ext cx="91242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000" dirty="0" smtClean="0"/>
              <a:t>Sunny</a:t>
            </a:r>
            <a:endParaRPr lang="en-IN" sz="2000" dirty="0"/>
          </a:p>
        </p:txBody>
      </p:sp>
      <p:sp>
        <p:nvSpPr>
          <p:cNvPr id="9" name="TextBox 8"/>
          <p:cNvSpPr txBox="1"/>
          <p:nvPr/>
        </p:nvSpPr>
        <p:spPr>
          <a:xfrm>
            <a:off x="9425720" y="4028267"/>
            <a:ext cx="84189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000" dirty="0" smtClean="0"/>
              <a:t>Rainy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2177461730"/>
      </p:ext>
    </p:extLst>
  </p:cSld>
  <p:clrMapOvr>
    <a:masterClrMapping/>
  </p:clrMapOvr>
  <p:transition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9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36"/>
          <p:cNvSpPr txBox="1">
            <a:spLocks noGrp="1"/>
          </p:cNvSpPr>
          <p:nvPr>
            <p:ph type="sldNum" idx="12"/>
          </p:nvPr>
        </p:nvSpPr>
        <p:spPr>
          <a:xfrm>
            <a:off x="8778240" y="6536690"/>
            <a:ext cx="2804160" cy="184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ahoma"/>
              <a:buNone/>
            </a:pPr>
            <a:fld id="{00000000-1234-1234-1234-123412341234}" type="slidenum">
              <a:rPr lang="en-US" sz="12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11</a:t>
            </a:fld>
            <a:endParaRPr sz="1200" b="0" i="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201649" y="174414"/>
                <a:ext cx="6287747" cy="46063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IN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𝐸𝑛𝑡𝑟𝑜𝑝𝑦</m:t>
                    </m:r>
                    <m:d>
                      <m:dPr>
                        <m:ctrlPr>
                          <a:rPr lang="en-I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𝑆𝑢𝑛𝑛𝑦</m:t>
                        </m:r>
                      </m:e>
                    </m:d>
                    <m:r>
                      <a:rPr lang="en-IN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=−</m:t>
                    </m:r>
                    <m:d>
                      <m:dPr>
                        <m:ctrlPr>
                          <a:rPr lang="en-IN" sz="2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I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5</m:t>
                            </m:r>
                          </m:den>
                        </m:f>
                      </m:e>
                    </m:d>
                    <m:sSub>
                      <m:sSubPr>
                        <m:ctrlPr>
                          <a:rPr lang="en-IN" sz="2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𝑙𝑜𝑔</m:t>
                        </m:r>
                      </m:e>
                      <m:sub>
                        <m:r>
                          <a:rPr lang="en-I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d>
                      <m:dPr>
                        <m:ctrlPr>
                          <a:rPr lang="en-I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5</m:t>
                            </m:r>
                          </m:den>
                        </m:f>
                      </m:e>
                    </m:d>
                    <m:r>
                      <a:rPr lang="en-IN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d>
                      <m:dPr>
                        <m:ctrlPr>
                          <a:rPr lang="en-I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a:rPr lang="en-I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5</m:t>
                            </m:r>
                          </m:den>
                        </m:f>
                      </m:e>
                    </m:d>
                    <m:sSub>
                      <m:sSubPr>
                        <m:ctrlPr>
                          <a:rPr lang="en-I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𝑙𝑜𝑔</m:t>
                        </m:r>
                      </m:e>
                      <m:sub>
                        <m:r>
                          <a:rPr lang="en-I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d>
                      <m:dPr>
                        <m:ctrlPr>
                          <a:rPr lang="en-I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5</m:t>
                            </m:r>
                          </m:den>
                        </m:f>
                      </m:e>
                    </m:d>
                  </m:oMath>
                </a14:m>
                <a:r>
                  <a:rPr lang="en-IN" sz="20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0.970</a:t>
                </a:r>
                <a:endParaRPr lang="en-IN" sz="20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1649" y="174414"/>
                <a:ext cx="6287747" cy="460639"/>
              </a:xfrm>
              <a:prstGeom prst="rect">
                <a:avLst/>
              </a:prstGeom>
              <a:blipFill>
                <a:blip r:embed="rId3"/>
                <a:stretch>
                  <a:fillRect t="-2667" r="-1453" b="-1466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201649" y="2816978"/>
                <a:ext cx="5736827" cy="46063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IN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𝐸𝑛𝑡𝑟𝑜𝑝𝑦</m:t>
                    </m:r>
                    <m:d>
                      <m:dPr>
                        <m:ctrlPr>
                          <a:rPr lang="en-I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I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𝑊𝑒𝑎𝑘</m:t>
                            </m:r>
                          </m:sub>
                        </m:sSub>
                      </m:e>
                    </m:d>
                    <m:r>
                      <a:rPr lang="en-IN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=−</m:t>
                    </m:r>
                    <m:d>
                      <m:dPr>
                        <m:ctrlPr>
                          <a:rPr lang="en-IN" sz="2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I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  <m:sSub>
                      <m:sSubPr>
                        <m:ctrlPr>
                          <a:rPr lang="en-IN" sz="2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𝑙𝑜𝑔</m:t>
                        </m:r>
                      </m:e>
                      <m:sub>
                        <m:r>
                          <a:rPr lang="en-I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d>
                      <m:dPr>
                        <m:ctrlPr>
                          <a:rPr lang="en-I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I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  <m:r>
                      <a:rPr lang="en-IN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d>
                      <m:dPr>
                        <m:ctrlPr>
                          <a:rPr lang="en-I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0</m:t>
                            </m:r>
                          </m:num>
                          <m:den>
                            <m:r>
                              <a:rPr lang="en-I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0</m:t>
                            </m:r>
                          </m:den>
                        </m:f>
                      </m:e>
                    </m:d>
                    <m:sSub>
                      <m:sSubPr>
                        <m:ctrlPr>
                          <a:rPr lang="en-I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𝑙𝑜𝑔</m:t>
                        </m:r>
                      </m:e>
                      <m:sub>
                        <m:r>
                          <a:rPr lang="en-I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d>
                      <m:dPr>
                        <m:ctrlPr>
                          <a:rPr lang="en-I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0</m:t>
                            </m:r>
                          </m:num>
                          <m:den>
                            <m:r>
                              <a:rPr lang="en-I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0</m:t>
                            </m:r>
                          </m:den>
                        </m:f>
                      </m:e>
                    </m:d>
                  </m:oMath>
                </a14:m>
                <a:r>
                  <a:rPr lang="en-IN" sz="20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0</a:t>
                </a:r>
                <a:endParaRPr lang="en-IN" sz="20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1649" y="2816978"/>
                <a:ext cx="5736827" cy="460639"/>
              </a:xfrm>
              <a:prstGeom prst="rect">
                <a:avLst/>
              </a:prstGeom>
              <a:blipFill>
                <a:blip r:embed="rId4"/>
                <a:stretch>
                  <a:fillRect t="-2632" r="-1700" b="-1447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1"/>
              <p:cNvSpPr/>
              <p:nvPr/>
            </p:nvSpPr>
            <p:spPr>
              <a:xfrm>
                <a:off x="201649" y="839782"/>
                <a:ext cx="3967240" cy="78386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I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IN" sz="20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IN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𝑊𝑒𝑎𝑘</m:t>
                              </m:r>
                            </m:sub>
                          </m:sSub>
                        </m:e>
                      </m:d>
                      <m:r>
                        <a:rPr lang="en-IN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𝑁𝑜</m:t>
                          </m:r>
                          <m:r>
                            <a:rPr lang="en-I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. </m:t>
                          </m:r>
                          <m:r>
                            <a:rPr lang="en-I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𝑜𝑓</m:t>
                          </m:r>
                          <m:r>
                            <a:rPr lang="en-I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en-I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𝑊𝑒𝑎𝑘</m:t>
                          </m:r>
                        </m:num>
                        <m:den>
                          <m:r>
                            <a:rPr lang="en-I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𝑇𝑜𝑡𝑎𝑙</m:t>
                          </m:r>
                        </m:den>
                      </m:f>
                      <m:r>
                        <a:rPr lang="en-IN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I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IN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IN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3</m:t>
                              </m:r>
                            </m:num>
                            <m:den>
                              <m:r>
                                <a:rPr lang="en-IN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5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IN" sz="2000" dirty="0"/>
              </a:p>
            </p:txBody>
          </p:sp>
        </mc:Choice>
        <mc:Fallback xmlns="">
          <p:sp>
            <p:nvSpPr>
              <p:cNvPr id="2" name="Rectangle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1649" y="839782"/>
                <a:ext cx="3967240" cy="78386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/>
              <p:cNvSpPr/>
              <p:nvPr/>
            </p:nvSpPr>
            <p:spPr>
              <a:xfrm>
                <a:off x="201649" y="1828380"/>
                <a:ext cx="4242956" cy="78386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I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IN" sz="20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IN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𝑆𝑡𝑟𝑜𝑛𝑔</m:t>
                              </m:r>
                            </m:sub>
                          </m:sSub>
                        </m:e>
                      </m:d>
                      <m:r>
                        <a:rPr lang="en-IN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𝑁𝑜</m:t>
                          </m:r>
                          <m:r>
                            <a:rPr lang="en-I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. </m:t>
                          </m:r>
                          <m:r>
                            <a:rPr lang="en-I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𝑜𝑓</m:t>
                          </m:r>
                          <m:r>
                            <a:rPr lang="en-I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en-I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𝑆𝑡𝑟𝑜𝑛𝑔</m:t>
                          </m:r>
                        </m:num>
                        <m:den>
                          <m:r>
                            <a:rPr lang="en-I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𝑇𝑜𝑡𝑎𝑙</m:t>
                          </m:r>
                        </m:den>
                      </m:f>
                      <m:r>
                        <a:rPr lang="en-IN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I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IN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IN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num>
                            <m:den>
                              <m:r>
                                <a:rPr lang="en-IN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5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IN" sz="2000" dirty="0"/>
              </a:p>
            </p:txBody>
          </p:sp>
        </mc:Choice>
        <mc:Fallback xmlns="">
          <p:sp>
            <p:nvSpPr>
              <p:cNvPr id="9" name="Rectangle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1649" y="1828380"/>
                <a:ext cx="4242956" cy="783869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201649" y="3482346"/>
                <a:ext cx="5869812" cy="46063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IN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𝐸𝑛𝑡𝑟𝑜𝑝𝑦</m:t>
                    </m:r>
                    <m:d>
                      <m:dPr>
                        <m:ctrlPr>
                          <a:rPr lang="en-I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I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𝑆𝑡𝑟𝑜𝑛𝑔</m:t>
                            </m:r>
                          </m:sub>
                        </m:sSub>
                      </m:e>
                    </m:d>
                    <m:r>
                      <a:rPr lang="en-IN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=−</m:t>
                    </m:r>
                    <m:d>
                      <m:dPr>
                        <m:ctrlPr>
                          <a:rPr lang="en-IN" sz="2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0</m:t>
                            </m:r>
                          </m:num>
                          <m:den>
                            <m:r>
                              <a:rPr lang="en-I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0</m:t>
                            </m:r>
                          </m:den>
                        </m:f>
                      </m:e>
                    </m:d>
                    <m:sSub>
                      <m:sSubPr>
                        <m:ctrlPr>
                          <a:rPr lang="en-IN" sz="2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𝑙𝑜𝑔</m:t>
                        </m:r>
                      </m:e>
                      <m:sub>
                        <m:r>
                          <a:rPr lang="en-I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d>
                      <m:dPr>
                        <m:ctrlPr>
                          <a:rPr lang="en-I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0</m:t>
                            </m:r>
                          </m:num>
                          <m:den>
                            <m: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0</m:t>
                            </m:r>
                          </m:den>
                        </m:f>
                      </m:e>
                    </m:d>
                    <m:r>
                      <a:rPr lang="en-IN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d>
                      <m:dPr>
                        <m:ctrlPr>
                          <a:rPr lang="en-I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a:rPr lang="en-I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sSub>
                      <m:sSubPr>
                        <m:ctrlPr>
                          <a:rPr lang="en-I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𝑙𝑜𝑔</m:t>
                        </m:r>
                      </m:e>
                      <m:sub>
                        <m:r>
                          <a:rPr lang="en-I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d>
                      <m:dPr>
                        <m:ctrlPr>
                          <a:rPr lang="en-I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lang="en-IN" sz="20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0</a:t>
                </a:r>
                <a:endParaRPr lang="en-IN" sz="20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1649" y="3482346"/>
                <a:ext cx="5869812" cy="460639"/>
              </a:xfrm>
              <a:prstGeom prst="rect">
                <a:avLst/>
              </a:prstGeom>
              <a:blipFill>
                <a:blip r:embed="rId7"/>
                <a:stretch>
                  <a:fillRect t="-2632" r="-1661" b="-1447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201649" y="4147714"/>
                <a:ext cx="7026667" cy="84055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𝐼𝐺</m:t>
                      </m:r>
                      <m:d>
                        <m:dPr>
                          <m:ctrlPr>
                            <a:rPr lang="en-I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𝑆𝑢𝑛𝑛𝑦</m:t>
                          </m:r>
                          <m:r>
                            <a:rPr lang="en-I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 </m:t>
                          </m:r>
                          <m:r>
                            <a:rPr lang="en-I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𝑊𝑖𝑛𝑑</m:t>
                          </m:r>
                        </m:e>
                      </m:d>
                      <m:r>
                        <a:rPr lang="en-IN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IN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𝐸𝑛𝑡𝑟𝑜𝑝𝑦</m:t>
                      </m:r>
                      <m:d>
                        <m:dPr>
                          <m:ctrlPr>
                            <a:rPr lang="en-I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𝑆𝑢𝑛𝑛𝑦</m:t>
                          </m:r>
                        </m:e>
                      </m:d>
                      <m:r>
                        <a:rPr lang="en-IN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 </m:t>
                      </m:r>
                      <m:nary>
                        <m:naryPr>
                          <m:chr m:val="∑"/>
                          <m:ctrlPr>
                            <a:rPr lang="en-I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I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  <m:r>
                            <a:rPr lang="en-I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en-I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r>
                            <a:rPr lang="en-I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en-IN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IN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en-I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∗</m:t>
                          </m:r>
                          <m:r>
                            <a:rPr lang="en-I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𝐸𝑛𝑡𝑟𝑜𝑝𝑦</m:t>
                          </m:r>
                          <m:d>
                            <m:dPr>
                              <m:ctrlPr>
                                <a:rPr lang="en-IN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IN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e>
                      </m:nary>
                    </m:oMath>
                  </m:oMathPara>
                </a14:m>
                <a:endParaRPr lang="en-IN" sz="20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1649" y="4147714"/>
                <a:ext cx="7026667" cy="840551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/>
              <p:cNvSpPr/>
              <p:nvPr/>
            </p:nvSpPr>
            <p:spPr>
              <a:xfrm>
                <a:off x="201649" y="5192994"/>
                <a:ext cx="11191205" cy="44717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𝐼𝐺</m:t>
                      </m:r>
                      <m:d>
                        <m:dPr>
                          <m:ctrlPr>
                            <a:rPr lang="en-I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𝑆</m:t>
                          </m:r>
                          <m:r>
                            <a:rPr lang="en-I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𝑢𝑛𝑛𝑦</m:t>
                          </m:r>
                          <m:r>
                            <a:rPr lang="en-I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 </m:t>
                          </m:r>
                          <m:r>
                            <a:rPr lang="en-I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𝑊𝑖𝑛𝑑</m:t>
                          </m:r>
                        </m:e>
                      </m:d>
                      <m:r>
                        <a:rPr lang="en-IN" sz="2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IN" sz="2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𝐸𝑛𝑡𝑟𝑜𝑝𝑦</m:t>
                      </m:r>
                      <m:d>
                        <m:dPr>
                          <m:ctrlPr>
                            <a:rPr lang="en-I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𝑆</m:t>
                          </m:r>
                        </m:e>
                      </m:d>
                      <m:r>
                        <a:rPr lang="en-IN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− </m:t>
                      </m:r>
                      <m:r>
                        <a:rPr lang="en-IN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I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IN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IN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𝑊𝑒𝑎𝑘</m:t>
                              </m:r>
                            </m:sub>
                          </m:sSub>
                        </m:e>
                      </m:d>
                      <m:r>
                        <m:rPr>
                          <m:nor/>
                        </m:rPr>
                        <a:rPr lang="en-IN" sz="2000" dirty="0"/>
                        <m:t> ∗ </m:t>
                      </m:r>
                      <m:r>
                        <a:rPr lang="en-IN" sz="2000" b="0" i="1" dirty="0" smtClean="0">
                          <a:latin typeface="Cambria Math" panose="02040503050406030204" pitchFamily="18" charset="0"/>
                        </a:rPr>
                        <m:t>𝐸𝑛𝑡𝑟𝑜𝑝𝑦</m:t>
                      </m:r>
                      <m:d>
                        <m:dPr>
                          <m:ctrlPr>
                            <a:rPr lang="en-IN" sz="20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000" b="0" i="1" dirty="0" smtClean="0">
                              <a:latin typeface="Cambria Math" panose="02040503050406030204" pitchFamily="18" charset="0"/>
                            </a:rPr>
                            <m:t>𝑊𝑒𝑎𝑘</m:t>
                          </m:r>
                        </m:e>
                      </m:d>
                      <m:r>
                        <a:rPr lang="en-IN" sz="2000" b="0" i="1" dirty="0" smtClean="0">
                          <a:latin typeface="Cambria Math" panose="02040503050406030204" pitchFamily="18" charset="0"/>
                        </a:rPr>
                        <m:t> − </m:t>
                      </m:r>
                      <m:r>
                        <a:rPr lang="en-IN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I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IN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IN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𝑆𝑡𝑟𝑜𝑛𝑔</m:t>
                              </m:r>
                            </m:sub>
                          </m:sSub>
                        </m:e>
                      </m:d>
                      <m:r>
                        <m:rPr>
                          <m:nor/>
                        </m:rPr>
                        <a:rPr lang="en-IN" sz="2000" dirty="0"/>
                        <m:t> ∗ </m:t>
                      </m:r>
                      <m:r>
                        <a:rPr lang="en-IN" sz="2000" i="1" dirty="0">
                          <a:latin typeface="Cambria Math" panose="02040503050406030204" pitchFamily="18" charset="0"/>
                        </a:rPr>
                        <m:t>𝐸𝑛𝑡𝑟𝑜𝑝𝑦</m:t>
                      </m:r>
                      <m:r>
                        <a:rPr lang="en-IN" sz="2000" i="1" dirty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IN" sz="2000" b="0" i="1" dirty="0" smtClean="0">
                          <a:latin typeface="Cambria Math" panose="02040503050406030204" pitchFamily="18" charset="0"/>
                        </a:rPr>
                        <m:t>𝑆𝑡𝑟𝑜𝑛𝑔</m:t>
                      </m:r>
                      <m:r>
                        <a:rPr lang="en-IN" sz="2000" i="1" dirty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IN" sz="2000" dirty="0"/>
              </a:p>
            </p:txBody>
          </p:sp>
        </mc:Choice>
        <mc:Fallback xmlns="">
          <p:sp>
            <p:nvSpPr>
              <p:cNvPr id="3" name="Rectangle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1649" y="5192994"/>
                <a:ext cx="11191205" cy="447174"/>
              </a:xfrm>
              <a:prstGeom prst="rect">
                <a:avLst/>
              </a:prstGeom>
              <a:blipFill>
                <a:blip r:embed="rId9"/>
                <a:stretch>
                  <a:fillRect b="-821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ectangle 12"/>
              <p:cNvSpPr/>
              <p:nvPr/>
            </p:nvSpPr>
            <p:spPr>
              <a:xfrm>
                <a:off x="201649" y="5844896"/>
                <a:ext cx="6345007" cy="78386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𝐼𝐺</m:t>
                      </m:r>
                      <m:d>
                        <m:dPr>
                          <m:ctrlPr>
                            <a:rPr lang="en-I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𝑆</m:t>
                          </m:r>
                          <m:r>
                            <a:rPr lang="en-I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𝑢𝑛𝑛𝑦</m:t>
                          </m:r>
                          <m:r>
                            <a:rPr lang="en-I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 </m:t>
                          </m:r>
                          <m:r>
                            <a:rPr lang="en-I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𝑊𝑖𝑛𝑑</m:t>
                          </m:r>
                        </m:e>
                      </m:d>
                      <m:r>
                        <a:rPr lang="en-IN" sz="2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IN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0.970 </m:t>
                      </m:r>
                      <m:r>
                        <a:rPr lang="en-IN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d>
                        <m:dPr>
                          <m:ctrlPr>
                            <a:rPr lang="en-I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IN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IN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3</m:t>
                              </m:r>
                            </m:num>
                            <m:den>
                              <m:r>
                                <a:rPr lang="en-IN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5</m:t>
                              </m:r>
                            </m:den>
                          </m:f>
                        </m:e>
                      </m:d>
                      <m:r>
                        <a:rPr lang="en-IN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(0)</m:t>
                      </m:r>
                      <m:r>
                        <a:rPr lang="en-IN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d>
                        <m:dPr>
                          <m:ctrlPr>
                            <a:rPr lang="en-I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IN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IN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num>
                            <m:den>
                              <m:r>
                                <a:rPr lang="en-IN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5</m:t>
                              </m:r>
                            </m:den>
                          </m:f>
                        </m:e>
                      </m:d>
                      <m:r>
                        <a:rPr lang="en-IN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(0)</m:t>
                      </m:r>
                      <m:r>
                        <m:rPr>
                          <m:nor/>
                        </m:rPr>
                        <a:rPr lang="en-IN" sz="20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 </m:t>
                      </m:r>
                      <m:r>
                        <m:rPr>
                          <m:nor/>
                        </m:rPr>
                        <a:rPr lang="en-IN" sz="2000" b="0" i="0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0.970</m:t>
                      </m:r>
                    </m:oMath>
                  </m:oMathPara>
                </a14:m>
                <a:endParaRPr lang="en-IN" sz="20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3" name="Rectangle 1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1649" y="5844896"/>
                <a:ext cx="6345007" cy="783869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ectangle 6"/>
          <p:cNvSpPr/>
          <p:nvPr/>
        </p:nvSpPr>
        <p:spPr>
          <a:xfrm>
            <a:off x="201649" y="5844896"/>
            <a:ext cx="6525184" cy="875944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45438267"/>
              </p:ext>
            </p:extLst>
          </p:nvPr>
        </p:nvGraphicFramePr>
        <p:xfrm>
          <a:off x="8672122" y="234806"/>
          <a:ext cx="2630169" cy="2667000"/>
        </p:xfrm>
        <a:graphic>
          <a:graphicData uri="http://schemas.openxmlformats.org/drawingml/2006/table">
            <a:tbl>
              <a:tblPr firstRow="1" bandRow="1">
                <a:tableStyleId>{AE0CDCE9-8EFF-456A-BFA7-76C2DBC4E188}</a:tableStyleId>
              </a:tblPr>
              <a:tblGrid>
                <a:gridCol w="942292">
                  <a:extLst>
                    <a:ext uri="{9D8B030D-6E8A-4147-A177-3AD203B41FA5}">
                      <a16:colId xmlns:a16="http://schemas.microsoft.com/office/drawing/2014/main" val="125267026"/>
                    </a:ext>
                  </a:extLst>
                </a:gridCol>
                <a:gridCol w="672613">
                  <a:extLst>
                    <a:ext uri="{9D8B030D-6E8A-4147-A177-3AD203B41FA5}">
                      <a16:colId xmlns:a16="http://schemas.microsoft.com/office/drawing/2014/main" val="1589228354"/>
                    </a:ext>
                  </a:extLst>
                </a:gridCol>
                <a:gridCol w="1015264">
                  <a:extLst>
                    <a:ext uri="{9D8B030D-6E8A-4147-A177-3AD203B41FA5}">
                      <a16:colId xmlns:a16="http://schemas.microsoft.com/office/drawing/2014/main" val="64947398"/>
                    </a:ext>
                  </a:extLst>
                </a:gridCol>
              </a:tblGrid>
              <a:tr h="333375">
                <a:tc gridSpan="3">
                  <a:txBody>
                    <a:bodyPr/>
                    <a:lstStyle/>
                    <a:p>
                      <a:pPr algn="ctr" rtl="0" fontAlgn="ctr"/>
                      <a:r>
                        <a:rPr lang="en-IN" sz="2000" u="none" strike="noStrike">
                          <a:effectLst/>
                        </a:rPr>
                        <a:t>Wind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27714662"/>
                  </a:ext>
                </a:extLst>
              </a:tr>
              <a:tr h="333375">
                <a:tc>
                  <a:txBody>
                    <a:bodyPr/>
                    <a:lstStyle/>
                    <a:p>
                      <a:pPr algn="l" fontAlgn="ctr"/>
                      <a:r>
                        <a:rPr lang="en-IN" sz="1800" u="none" strike="noStrike">
                          <a:effectLst/>
                        </a:rPr>
                        <a:t> 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2000" u="none" strike="noStrike">
                          <a:effectLst/>
                        </a:rPr>
                        <a:t>Yes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2000" u="none" strike="noStrike">
                          <a:effectLst/>
                        </a:rPr>
                        <a:t>No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825942882"/>
                  </a:ext>
                </a:extLst>
              </a:tr>
              <a:tr h="66675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2000" u="none" strike="noStrike">
                          <a:effectLst/>
                        </a:rPr>
                        <a:t>Weak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2000" u="none" strike="noStrike">
                          <a:effectLst/>
                        </a:rPr>
                        <a:t>3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2000" u="none" strike="noStrike">
                          <a:effectLst/>
                        </a:rPr>
                        <a:t>0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4053688152"/>
                  </a:ext>
                </a:extLst>
              </a:tr>
              <a:tr h="66675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2000" u="none" strike="noStrike">
                          <a:effectLst/>
                        </a:rPr>
                        <a:t>Strong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2000" u="none" strike="noStrike">
                          <a:effectLst/>
                        </a:rPr>
                        <a:t>0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2000" u="none" strike="noStrike">
                          <a:effectLst/>
                        </a:rPr>
                        <a:t>2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308357250"/>
                  </a:ext>
                </a:extLst>
              </a:tr>
              <a:tr h="66675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2000" u="none" strike="noStrike">
                          <a:effectLst/>
                        </a:rPr>
                        <a:t>Total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2000" u="none" strike="noStrike">
                          <a:effectLst/>
                        </a:rPr>
                        <a:t>3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2000" u="none" strike="noStrike" dirty="0">
                          <a:effectLst/>
                        </a:rPr>
                        <a:t>2</a:t>
                      </a:r>
                      <a:endParaRPr lang="en-IN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3217734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39953791"/>
      </p:ext>
    </p:extLst>
  </p:cSld>
  <p:clrMapOvr>
    <a:masterClrMapping/>
  </p:clrMapOvr>
  <p:transition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500"/>
                            </p:stCondLst>
                            <p:childTnLst>
                              <p:par>
                                <p:cTn id="4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2" grpId="0"/>
      <p:bldP spid="9" grpId="0"/>
      <p:bldP spid="10" grpId="0"/>
      <p:bldP spid="11" grpId="0"/>
      <p:bldP spid="3" grpId="0"/>
      <p:bldP spid="13" grpId="0"/>
      <p:bldP spid="7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36"/>
          <p:cNvSpPr txBox="1">
            <a:spLocks noGrp="1"/>
          </p:cNvSpPr>
          <p:nvPr>
            <p:ph type="sldNum" idx="12"/>
          </p:nvPr>
        </p:nvSpPr>
        <p:spPr>
          <a:xfrm>
            <a:off x="8778240" y="6536690"/>
            <a:ext cx="2804160" cy="184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ahoma"/>
              <a:buNone/>
            </a:pPr>
            <a:fld id="{00000000-1234-1234-1234-123412341234}" type="slidenum">
              <a:rPr lang="en-US" sz="12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12</a:t>
            </a:fld>
            <a:endParaRPr sz="1200" b="0" i="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8612987" y="2413586"/>
                <a:ext cx="2255554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IN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𝐸𝑛𝑡𝑟𝑜𝑝𝑦</m:t>
                    </m:r>
                    <m:d>
                      <m:dPr>
                        <m:ctrlPr>
                          <a:rPr lang="en-I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𝑆</m:t>
                        </m:r>
                      </m:e>
                    </m:d>
                    <m:r>
                      <a:rPr lang="en-IN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IN" sz="20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0.970</a:t>
                </a:r>
                <a:endParaRPr lang="en-IN" sz="20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12987" y="2413586"/>
                <a:ext cx="2255554" cy="307777"/>
              </a:xfrm>
              <a:prstGeom prst="rect">
                <a:avLst/>
              </a:prstGeom>
              <a:blipFill>
                <a:blip r:embed="rId3"/>
                <a:stretch>
                  <a:fillRect l="-5135" t="-26000" r="-5676" b="-5000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/>
              <p:cNvSpPr/>
              <p:nvPr/>
            </p:nvSpPr>
            <p:spPr>
              <a:xfrm>
                <a:off x="53146" y="163825"/>
                <a:ext cx="3745513" cy="78386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I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IN" sz="20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IN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𝑀𝑖𝑙𝑑</m:t>
                              </m:r>
                            </m:sub>
                          </m:sSub>
                        </m:e>
                      </m:d>
                      <m:r>
                        <a:rPr lang="en-IN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𝑁𝑜</m:t>
                          </m:r>
                          <m:r>
                            <a:rPr lang="en-I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. </m:t>
                          </m:r>
                          <m:r>
                            <a:rPr lang="en-I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𝑜𝑓</m:t>
                          </m:r>
                          <m:r>
                            <a:rPr lang="en-I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en-I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𝑀𝑖𝑙𝑑</m:t>
                          </m:r>
                        </m:num>
                        <m:den>
                          <m:r>
                            <a:rPr lang="en-I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𝑇𝑜𝑡𝑎𝑙</m:t>
                          </m:r>
                        </m:den>
                      </m:f>
                      <m:r>
                        <a:rPr lang="en-IN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I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IN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IN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3</m:t>
                              </m:r>
                            </m:num>
                            <m:den>
                              <m:r>
                                <a:rPr lang="en-IN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5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IN" sz="2000" dirty="0"/>
              </a:p>
            </p:txBody>
          </p:sp>
        </mc:Choice>
        <mc:Fallback xmlns="">
          <p:sp>
            <p:nvSpPr>
              <p:cNvPr id="9" name="Rectangle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146" y="163825"/>
                <a:ext cx="3745513" cy="78386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80175" y="2692415"/>
                <a:ext cx="10426376" cy="46063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IN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𝐸𝑛𝑡𝑟𝑜𝑝𝑦</m:t>
                    </m:r>
                    <m:d>
                      <m:dPr>
                        <m:ctrlPr>
                          <a:rPr lang="en-I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𝑀𝑖𝑙𝑑</m:t>
                            </m:r>
                          </m:sub>
                        </m:sSub>
                      </m:e>
                    </m:d>
                    <m:r>
                      <a:rPr lang="en-IN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=−</m:t>
                    </m:r>
                    <m:d>
                      <m:dPr>
                        <m:ctrlPr>
                          <a:rPr lang="en-I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a:rPr lang="en-I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  <m:sSub>
                      <m:sSubPr>
                        <m:ctrlPr>
                          <a:rPr lang="en-I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𝑙𝑜𝑔</m:t>
                        </m:r>
                      </m:e>
                      <m:sub>
                        <m:r>
                          <a:rPr lang="en-I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d>
                      <m:dPr>
                        <m:ctrlPr>
                          <a:rPr lang="en-I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a:rPr lang="en-I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  <m:r>
                      <a:rPr lang="en-IN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d>
                      <m:dPr>
                        <m:ctrlPr>
                          <a:rPr lang="en-I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  <m:sSub>
                      <m:sSubPr>
                        <m:ctrlPr>
                          <a:rPr lang="en-I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𝑙𝑜𝑔</m:t>
                        </m:r>
                      </m:e>
                      <m:sub>
                        <m:r>
                          <a:rPr lang="en-I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d>
                      <m:dPr>
                        <m:ctrlPr>
                          <a:rPr lang="en-I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</m:oMath>
                </a14:m>
                <a:r>
                  <a:rPr lang="en-IN" sz="20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0.88975</a:t>
                </a:r>
                <a:endParaRPr lang="en-IN" sz="20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175" y="2692415"/>
                <a:ext cx="10426376" cy="460639"/>
              </a:xfrm>
              <a:prstGeom prst="rect">
                <a:avLst/>
              </a:prstGeom>
              <a:blipFill>
                <a:blip r:embed="rId5"/>
                <a:stretch>
                  <a:fillRect t="-2667" b="-1466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/>
              <p:cNvSpPr/>
              <p:nvPr/>
            </p:nvSpPr>
            <p:spPr>
              <a:xfrm>
                <a:off x="0" y="4702576"/>
                <a:ext cx="9230797" cy="64633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IN" sz="18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𝐼𝐺</m:t>
                    </m:r>
                    <m:d>
                      <m:dPr>
                        <m:ctrlPr>
                          <a:rPr lang="en-IN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𝑆</m:t>
                        </m:r>
                        <m:r>
                          <a:rPr lang="en-IN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𝑢𝑛𝑛𝑦</m:t>
                        </m:r>
                        <m:r>
                          <a:rPr lang="en-IN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 </m:t>
                        </m:r>
                        <m:r>
                          <a:rPr lang="en-IN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𝑇𝑒𝑚𝑝</m:t>
                        </m:r>
                      </m:e>
                    </m:d>
                    <m:r>
                      <a:rPr lang="en-IN" sz="18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IN" sz="18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𝐸𝑛𝑡𝑟𝑜𝑝𝑦</m:t>
                    </m:r>
                    <m:d>
                      <m:dPr>
                        <m:ctrlPr>
                          <a:rPr lang="en-IN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𝑆</m:t>
                        </m:r>
                      </m:e>
                    </m:d>
                    <m:r>
                      <a:rPr lang="en-IN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IN" sz="18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 </m:t>
                    </m:r>
                    <m:r>
                      <a:rPr lang="en-IN" sz="1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IN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IN" sz="1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1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IN" sz="1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𝑀𝑖𝑙𝑑</m:t>
                            </m:r>
                          </m:sub>
                        </m:sSub>
                      </m:e>
                    </m:d>
                    <m:r>
                      <m:rPr>
                        <m:nor/>
                      </m:rPr>
                      <a:rPr lang="en-IN" sz="1800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∗ </m:t>
                    </m:r>
                    <m:r>
                      <a:rPr lang="en-IN" sz="18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𝐸𝑛𝑡𝑟𝑜𝑝𝑦</m:t>
                    </m:r>
                    <m:r>
                      <a:rPr lang="en-IN" sz="18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IN" sz="18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𝑀𝑖𝑙𝑑</m:t>
                    </m:r>
                    <m:r>
                      <a:rPr lang="en-IN" sz="18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IN" sz="18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IN" sz="18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 </m:t>
                    </m:r>
                    <m:r>
                      <a:rPr lang="en-IN" sz="1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IN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IN" sz="1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1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IN" sz="1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𝐶𝑜𝑜𝑙</m:t>
                            </m:r>
                          </m:sub>
                        </m:sSub>
                      </m:e>
                    </m:d>
                    <m:r>
                      <m:rPr>
                        <m:nor/>
                      </m:rPr>
                      <a:rPr lang="en-IN" sz="1800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∗ </m:t>
                    </m:r>
                    <m:r>
                      <a:rPr lang="en-IN" sz="18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𝐸𝑛𝑡𝑟𝑜𝑝𝑦</m:t>
                    </m:r>
                    <m:r>
                      <a:rPr lang="en-IN" sz="18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IN" sz="18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𝐶𝑜𝑜𝑙</m:t>
                    </m:r>
                    <m:r>
                      <a:rPr lang="en-IN" sz="18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en-IN" sz="18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endParaRPr lang="en-IN" sz="18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" name="Rectangle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4702576"/>
                <a:ext cx="9230797" cy="646331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Rectangle 12"/>
              <p:cNvSpPr/>
              <p:nvPr/>
            </p:nvSpPr>
            <p:spPr>
              <a:xfrm>
                <a:off x="-1235504" y="5936971"/>
                <a:ext cx="10068326" cy="78386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𝐼𝐺</m:t>
                      </m:r>
                      <m:d>
                        <m:dPr>
                          <m:ctrlPr>
                            <a:rPr lang="en-I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𝑆</m:t>
                          </m:r>
                          <m:r>
                            <a:rPr lang="en-I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𝑢𝑛𝑛𝑦</m:t>
                          </m:r>
                          <m:r>
                            <a:rPr lang="en-I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 </m:t>
                          </m:r>
                          <m:r>
                            <a:rPr lang="en-I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𝑇𝑒𝑚𝑝</m:t>
                          </m:r>
                        </m:e>
                      </m:d>
                      <m:r>
                        <a:rPr lang="en-IN" sz="2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IN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0.970 </m:t>
                      </m:r>
                      <m:r>
                        <a:rPr lang="en-IN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d>
                        <m:dPr>
                          <m:ctrlPr>
                            <a:rPr lang="en-I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IN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IN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3</m:t>
                              </m:r>
                            </m:num>
                            <m:den>
                              <m:r>
                                <a:rPr lang="en-IN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5</m:t>
                              </m:r>
                            </m:den>
                          </m:f>
                        </m:e>
                      </m:d>
                      <m:d>
                        <m:dPr>
                          <m:ctrlPr>
                            <a:rPr lang="en-I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nor/>
                            </m:rPr>
                            <a:rPr lang="en-IN" sz="20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0.88975</m:t>
                          </m:r>
                        </m:e>
                      </m:d>
                      <m:r>
                        <a:rPr lang="en-IN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d>
                        <m:dPr>
                          <m:ctrlPr>
                            <a:rPr lang="en-I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IN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IN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num>
                            <m:den>
                              <m:r>
                                <a:rPr lang="en-IN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5</m:t>
                              </m:r>
                            </m:den>
                          </m:f>
                        </m:e>
                      </m:d>
                      <m:d>
                        <m:dPr>
                          <m:ctrlPr>
                            <a:rPr lang="en-I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nor/>
                            </m:rPr>
                            <a:rPr lang="en-IN" sz="2000" b="0" i="0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m:rPr>
                          <m:nor/>
                        </m:rPr>
                        <a:rPr lang="en-IN" sz="20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IN" sz="20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m:rPr>
                          <m:nor/>
                        </m:rPr>
                        <a:rPr lang="en-IN" sz="2000" b="0" i="0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0.036966</m:t>
                      </m:r>
                    </m:oMath>
                  </m:oMathPara>
                </a14:m>
                <a:endParaRPr lang="en-IN" sz="20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13" name="Rectangle 1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235504" y="5936971"/>
                <a:ext cx="10068326" cy="783869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ectangle 6"/>
          <p:cNvSpPr/>
          <p:nvPr/>
        </p:nvSpPr>
        <p:spPr>
          <a:xfrm>
            <a:off x="80175" y="5850143"/>
            <a:ext cx="10068327" cy="875944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Rectangle 15"/>
              <p:cNvSpPr/>
              <p:nvPr/>
            </p:nvSpPr>
            <p:spPr>
              <a:xfrm>
                <a:off x="80175" y="1278308"/>
                <a:ext cx="3563220" cy="78386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I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IN" sz="20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IN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𝐶𝑜𝑜𝑙</m:t>
                              </m:r>
                            </m:sub>
                          </m:sSub>
                        </m:e>
                      </m:d>
                      <m:r>
                        <a:rPr lang="en-IN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𝑁𝑜</m:t>
                          </m:r>
                          <m:r>
                            <a:rPr lang="en-I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. </m:t>
                          </m:r>
                          <m:r>
                            <a:rPr lang="en-I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𝑜𝑓</m:t>
                          </m:r>
                          <m:r>
                            <a:rPr lang="en-I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en-I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𝐶𝑜𝑜𝑙</m:t>
                          </m:r>
                        </m:num>
                        <m:den>
                          <m:r>
                            <a:rPr lang="en-I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𝑇𝑜𝑡𝑎𝑙</m:t>
                          </m:r>
                        </m:den>
                      </m:f>
                      <m:r>
                        <a:rPr lang="en-IN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I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IN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IN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num>
                            <m:den>
                              <m:r>
                                <a:rPr lang="en-IN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5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IN" sz="2000" dirty="0"/>
              </a:p>
            </p:txBody>
          </p:sp>
        </mc:Choice>
        <mc:Fallback xmlns="">
          <p:sp>
            <p:nvSpPr>
              <p:cNvPr id="16" name="Rectangle 1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175" y="1278308"/>
                <a:ext cx="3563220" cy="783869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/>
              <p:cNvSpPr txBox="1"/>
              <p:nvPr/>
            </p:nvSpPr>
            <p:spPr>
              <a:xfrm>
                <a:off x="80175" y="3515051"/>
                <a:ext cx="6014660" cy="69153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𝐸𝑛𝑡𝑟𝑜𝑝𝑦</m:t>
                      </m:r>
                      <m:d>
                        <m:dPr>
                          <m:ctrlPr>
                            <a:rPr lang="en-I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IN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IN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𝐶𝑜𝑜𝑙</m:t>
                              </m:r>
                            </m:sub>
                          </m:sSub>
                        </m:e>
                      </m:d>
                      <m:r>
                        <a:rPr lang="en-IN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=−</m:t>
                      </m:r>
                      <m:d>
                        <m:dPr>
                          <m:ctrlPr>
                            <a:rPr lang="en-IN" sz="20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IN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IN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IN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e>
                      </m:d>
                      <m:sSub>
                        <m:sSubPr>
                          <m:ctrlPr>
                            <a:rPr lang="en-IN" sz="20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𝑙𝑜𝑔</m:t>
                          </m:r>
                        </m:e>
                        <m:sub>
                          <m:r>
                            <a:rPr lang="en-I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en-I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IN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IN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IN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e>
                      </m:d>
                      <m:r>
                        <a:rPr lang="en-IN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d>
                        <m:dPr>
                          <m:ctrlPr>
                            <a:rPr lang="en-I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IN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IN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IN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e>
                      </m:d>
                      <m:sSub>
                        <m:sSubPr>
                          <m:ctrlPr>
                            <a:rPr lang="en-I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𝑙𝑜𝑔</m:t>
                          </m:r>
                        </m:e>
                        <m:sub>
                          <m:r>
                            <a:rPr lang="en-I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en-I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IN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IN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IN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e>
                      </m:d>
                      <m:r>
                        <a:rPr lang="en-IN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n-IN" sz="20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7" name="Text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175" y="3515051"/>
                <a:ext cx="6014660" cy="691536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99194432"/>
              </p:ext>
            </p:extLst>
          </p:nvPr>
        </p:nvGraphicFramePr>
        <p:xfrm>
          <a:off x="8425679" y="555760"/>
          <a:ext cx="2630169" cy="1666875"/>
        </p:xfrm>
        <a:graphic>
          <a:graphicData uri="http://schemas.openxmlformats.org/drawingml/2006/table">
            <a:tbl>
              <a:tblPr firstRow="1" bandRow="1">
                <a:tableStyleId>{AE0CDCE9-8EFF-456A-BFA7-76C2DBC4E188}</a:tableStyleId>
              </a:tblPr>
              <a:tblGrid>
                <a:gridCol w="942292">
                  <a:extLst>
                    <a:ext uri="{9D8B030D-6E8A-4147-A177-3AD203B41FA5}">
                      <a16:colId xmlns:a16="http://schemas.microsoft.com/office/drawing/2014/main" val="1197831194"/>
                    </a:ext>
                  </a:extLst>
                </a:gridCol>
                <a:gridCol w="672613">
                  <a:extLst>
                    <a:ext uri="{9D8B030D-6E8A-4147-A177-3AD203B41FA5}">
                      <a16:colId xmlns:a16="http://schemas.microsoft.com/office/drawing/2014/main" val="3898869026"/>
                    </a:ext>
                  </a:extLst>
                </a:gridCol>
                <a:gridCol w="1015264">
                  <a:extLst>
                    <a:ext uri="{9D8B030D-6E8A-4147-A177-3AD203B41FA5}">
                      <a16:colId xmlns:a16="http://schemas.microsoft.com/office/drawing/2014/main" val="2868426250"/>
                    </a:ext>
                  </a:extLst>
                </a:gridCol>
              </a:tblGrid>
              <a:tr h="333375">
                <a:tc gridSpan="3">
                  <a:txBody>
                    <a:bodyPr/>
                    <a:lstStyle/>
                    <a:p>
                      <a:pPr algn="ctr" rtl="0" fontAlgn="ctr"/>
                      <a:r>
                        <a:rPr lang="en-IN" sz="2000" u="none" strike="noStrike">
                          <a:effectLst/>
                        </a:rPr>
                        <a:t>Temperature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02774288"/>
                  </a:ext>
                </a:extLst>
              </a:tr>
              <a:tr h="333375">
                <a:tc>
                  <a:txBody>
                    <a:bodyPr/>
                    <a:lstStyle/>
                    <a:p>
                      <a:pPr algn="l" fontAlgn="ctr"/>
                      <a:r>
                        <a:rPr lang="en-IN" sz="1800" u="none" strike="noStrike">
                          <a:effectLst/>
                        </a:rPr>
                        <a:t> 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2000" u="none" strike="noStrike">
                          <a:effectLst/>
                        </a:rPr>
                        <a:t>Yes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2000" u="none" strike="noStrike">
                          <a:effectLst/>
                        </a:rPr>
                        <a:t>No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41081075"/>
                  </a:ext>
                </a:extLst>
              </a:tr>
              <a:tr h="33337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2000" u="none" strike="noStrike">
                          <a:effectLst/>
                        </a:rPr>
                        <a:t>Mild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2000" u="none" strike="noStrike">
                          <a:effectLst/>
                        </a:rPr>
                        <a:t>2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2000" u="none" strike="noStrike">
                          <a:effectLst/>
                        </a:rPr>
                        <a:t>1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98538634"/>
                  </a:ext>
                </a:extLst>
              </a:tr>
              <a:tr h="33337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2000" u="none" strike="noStrike">
                          <a:effectLst/>
                        </a:rPr>
                        <a:t>Cool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2000" u="none" strike="noStrike">
                          <a:effectLst/>
                        </a:rPr>
                        <a:t>1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2000" u="none" strike="noStrike">
                          <a:effectLst/>
                        </a:rPr>
                        <a:t>1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232540486"/>
                  </a:ext>
                </a:extLst>
              </a:tr>
              <a:tr h="33337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2000" u="none" strike="noStrike">
                          <a:effectLst/>
                        </a:rPr>
                        <a:t>Total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2000" u="none" strike="noStrike">
                          <a:effectLst/>
                        </a:rPr>
                        <a:t>3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2000" u="none" strike="noStrike" dirty="0">
                          <a:effectLst/>
                        </a:rPr>
                        <a:t>2</a:t>
                      </a:r>
                      <a:endParaRPr lang="en-IN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78314208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20160514"/>
      </p:ext>
    </p:extLst>
  </p:cSld>
  <p:clrMapOvr>
    <a:masterClrMapping/>
  </p:clrMapOvr>
  <p:transition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  <p:bldP spid="3" grpId="0"/>
      <p:bldP spid="13" grpId="0"/>
      <p:bldP spid="7" grpId="0" animBg="1"/>
      <p:bldP spid="16" grpId="0"/>
      <p:bldP spid="17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36"/>
          <p:cNvSpPr txBox="1">
            <a:spLocks noGrp="1"/>
          </p:cNvSpPr>
          <p:nvPr>
            <p:ph type="sldNum" idx="12"/>
          </p:nvPr>
        </p:nvSpPr>
        <p:spPr>
          <a:xfrm>
            <a:off x="8778240" y="6536690"/>
            <a:ext cx="2804160" cy="184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ahoma"/>
              <a:buNone/>
            </a:pPr>
            <a:fld id="{00000000-1234-1234-1234-123412341234}" type="slidenum">
              <a:rPr lang="en-US" sz="12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13</a:t>
            </a:fld>
            <a:endParaRPr sz="1200" b="0" i="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95016" y="2454382"/>
                <a:ext cx="5684698" cy="46063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IN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𝐸𝑛𝑡𝑟𝑜𝑝𝑦</m:t>
                    </m:r>
                    <m:d>
                      <m:dPr>
                        <m:ctrlPr>
                          <a:rPr lang="en-I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𝐻𝑖𝑔h</m:t>
                            </m:r>
                          </m:sub>
                        </m:sSub>
                      </m:e>
                    </m:d>
                    <m:r>
                      <a:rPr lang="en-IN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=−</m:t>
                    </m:r>
                    <m:d>
                      <m:dPr>
                        <m:ctrlPr>
                          <a:rPr lang="en-IN" sz="2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sSub>
                      <m:sSubPr>
                        <m:ctrlPr>
                          <a:rPr lang="en-IN" sz="2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𝑙𝑜𝑔</m:t>
                        </m:r>
                      </m:e>
                      <m:sub>
                        <m:r>
                          <a:rPr lang="en-I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d>
                      <m:dPr>
                        <m:ctrlPr>
                          <a:rPr lang="en-I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a:rPr lang="en-IN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d>
                      <m:dPr>
                        <m:ctrlPr>
                          <a:rPr lang="en-I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sSub>
                      <m:sSubPr>
                        <m:ctrlPr>
                          <a:rPr lang="en-I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𝑙𝑜𝑔</m:t>
                        </m:r>
                      </m:e>
                      <m:sub>
                        <m:r>
                          <a:rPr lang="en-I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d>
                      <m:dPr>
                        <m:ctrlPr>
                          <a:rPr lang="en-I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lang="en-IN" sz="20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1</a:t>
                </a:r>
                <a:endParaRPr lang="en-IN" sz="20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016" y="2454382"/>
                <a:ext cx="5684698" cy="460639"/>
              </a:xfrm>
              <a:prstGeom prst="rect">
                <a:avLst/>
              </a:prstGeom>
              <a:blipFill>
                <a:blip r:embed="rId3"/>
                <a:stretch>
                  <a:fillRect t="-2667" r="-1717" b="-1466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1"/>
              <p:cNvSpPr/>
              <p:nvPr/>
            </p:nvSpPr>
            <p:spPr>
              <a:xfrm>
                <a:off x="201649" y="452308"/>
                <a:ext cx="3825406" cy="78386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I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IN" sz="20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IN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𝐻𝑖𝑔h</m:t>
                              </m:r>
                            </m:sub>
                          </m:sSub>
                        </m:e>
                      </m:d>
                      <m:r>
                        <a:rPr lang="en-IN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𝑁𝑜</m:t>
                          </m:r>
                          <m:r>
                            <a:rPr lang="en-I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. </m:t>
                          </m:r>
                          <m:r>
                            <a:rPr lang="en-I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𝑜𝑓</m:t>
                          </m:r>
                          <m:r>
                            <a:rPr lang="en-I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en-I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𝐻𝑖𝑔h</m:t>
                          </m:r>
                        </m:num>
                        <m:den>
                          <m:r>
                            <a:rPr lang="en-I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𝑇𝑜𝑡𝑎𝑙</m:t>
                          </m:r>
                        </m:den>
                      </m:f>
                      <m:r>
                        <a:rPr lang="en-IN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I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IN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IN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num>
                            <m:den>
                              <m:r>
                                <a:rPr lang="en-IN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5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IN" sz="2000" dirty="0"/>
              </a:p>
            </p:txBody>
          </p:sp>
        </mc:Choice>
        <mc:Fallback xmlns="">
          <p:sp>
            <p:nvSpPr>
              <p:cNvPr id="2" name="Rectangle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1649" y="452308"/>
                <a:ext cx="3825406" cy="78386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/>
              <p:cNvSpPr/>
              <p:nvPr/>
            </p:nvSpPr>
            <p:spPr>
              <a:xfrm>
                <a:off x="201649" y="1230772"/>
                <a:ext cx="4391972" cy="78386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I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IN" sz="20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IN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𝑁𝑜𝑟𝑚𝑎𝑙</m:t>
                              </m:r>
                            </m:sub>
                          </m:sSub>
                        </m:e>
                      </m:d>
                      <m:r>
                        <a:rPr lang="en-IN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𝑁𝑜</m:t>
                          </m:r>
                          <m:r>
                            <a:rPr lang="en-I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. </m:t>
                          </m:r>
                          <m:r>
                            <a:rPr lang="en-I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𝑜𝑓</m:t>
                          </m:r>
                          <m:r>
                            <a:rPr lang="en-I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en-I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𝑁𝑜𝑟𝑚𝑎𝑙</m:t>
                          </m:r>
                        </m:num>
                        <m:den>
                          <m:r>
                            <a:rPr lang="en-I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𝑇𝑜𝑡𝑎𝑙</m:t>
                          </m:r>
                        </m:den>
                      </m:f>
                      <m:r>
                        <a:rPr lang="en-IN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I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IN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IN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3</m:t>
                              </m:r>
                            </m:num>
                            <m:den>
                              <m:r>
                                <a:rPr lang="en-IN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5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IN" sz="2000" dirty="0"/>
              </a:p>
            </p:txBody>
          </p:sp>
        </mc:Choice>
        <mc:Fallback xmlns="">
          <p:sp>
            <p:nvSpPr>
              <p:cNvPr id="9" name="Rectangle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1649" y="1230772"/>
                <a:ext cx="4391972" cy="78386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201649" y="3482346"/>
                <a:ext cx="6925357" cy="46063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IN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𝐸𝑛𝑡𝑟𝑜𝑝𝑦</m:t>
                    </m:r>
                    <m:d>
                      <m:dPr>
                        <m:ctrlPr>
                          <a:rPr lang="en-I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I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𝑁𝑜𝑟𝑚𝑎𝑙</m:t>
                            </m:r>
                          </m:sub>
                        </m:sSub>
                      </m:e>
                    </m:d>
                    <m:r>
                      <a:rPr lang="en-IN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=−</m:t>
                    </m:r>
                    <m:d>
                      <m:dPr>
                        <m:ctrlPr>
                          <a:rPr lang="en-IN" sz="2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a:rPr lang="en-I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  <m:sSub>
                      <m:sSubPr>
                        <m:ctrlPr>
                          <a:rPr lang="en-IN" sz="2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𝑙𝑜𝑔</m:t>
                        </m:r>
                      </m:e>
                      <m:sub>
                        <m:r>
                          <a:rPr lang="en-I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d>
                      <m:dPr>
                        <m:ctrlPr>
                          <a:rPr lang="en-I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  <m:r>
                      <a:rPr lang="en-IN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d>
                      <m:dPr>
                        <m:ctrlPr>
                          <a:rPr lang="en-I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  <m:sSub>
                      <m:sSubPr>
                        <m:ctrlPr>
                          <a:rPr lang="en-I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𝑙𝑜𝑔</m:t>
                        </m:r>
                      </m:e>
                      <m:sub>
                        <m:r>
                          <a:rPr lang="en-I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d>
                      <m:dPr>
                        <m:ctrlPr>
                          <a:rPr lang="en-I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  <m:r>
                      <a:rPr lang="en-IN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=0.591673</m:t>
                    </m:r>
                  </m:oMath>
                </a14:m>
                <a:r>
                  <a:rPr lang="en-IN" sz="20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endParaRPr lang="en-IN" sz="20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1649" y="3482346"/>
                <a:ext cx="6925357" cy="460639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/>
              <p:cNvSpPr/>
              <p:nvPr/>
            </p:nvSpPr>
            <p:spPr>
              <a:xfrm>
                <a:off x="0" y="4510310"/>
                <a:ext cx="11678710" cy="44717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𝐼𝐺</m:t>
                      </m:r>
                      <m:d>
                        <m:dPr>
                          <m:ctrlPr>
                            <a:rPr lang="en-I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𝑆</m:t>
                          </m:r>
                          <m:r>
                            <a:rPr lang="en-I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𝑢𝑛𝑛𝑦</m:t>
                          </m:r>
                          <m:r>
                            <a:rPr lang="en-I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 </m:t>
                          </m:r>
                          <m:r>
                            <a:rPr lang="en-I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𝐻𝑢𝑚𝑖𝑑𝑖𝑡𝑦</m:t>
                          </m:r>
                        </m:e>
                      </m:d>
                      <m:r>
                        <a:rPr lang="en-IN" sz="2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IN" sz="2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𝐸𝑛𝑡𝑟𝑜𝑝𝑦</m:t>
                      </m:r>
                      <m:d>
                        <m:dPr>
                          <m:ctrlPr>
                            <a:rPr lang="en-I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𝑆</m:t>
                          </m:r>
                        </m:e>
                      </m:d>
                      <m:r>
                        <a:rPr lang="en-IN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− </m:t>
                      </m:r>
                      <m:r>
                        <a:rPr lang="en-IN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I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IN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IN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𝐻𝑖𝑔h</m:t>
                              </m:r>
                            </m:sub>
                          </m:sSub>
                        </m:e>
                      </m:d>
                      <m:r>
                        <m:rPr>
                          <m:nor/>
                        </m:rPr>
                        <a:rPr lang="en-IN" sz="2000" dirty="0"/>
                        <m:t> ∗ </m:t>
                      </m:r>
                      <m:r>
                        <a:rPr lang="en-IN" sz="2000" b="0" i="1" dirty="0" smtClean="0">
                          <a:latin typeface="Cambria Math" panose="02040503050406030204" pitchFamily="18" charset="0"/>
                        </a:rPr>
                        <m:t>𝐸𝑛𝑡𝑟𝑜𝑝𝑦</m:t>
                      </m:r>
                      <m:d>
                        <m:dPr>
                          <m:ctrlPr>
                            <a:rPr lang="en-IN" sz="20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000" b="0" i="1" dirty="0" smtClean="0">
                              <a:latin typeface="Cambria Math" panose="02040503050406030204" pitchFamily="18" charset="0"/>
                            </a:rPr>
                            <m:t>𝐻𝑖𝑔h</m:t>
                          </m:r>
                        </m:e>
                      </m:d>
                      <m:r>
                        <a:rPr lang="en-IN" sz="2000" b="0" i="1" dirty="0" smtClean="0">
                          <a:latin typeface="Cambria Math" panose="02040503050406030204" pitchFamily="18" charset="0"/>
                        </a:rPr>
                        <m:t> − </m:t>
                      </m:r>
                      <m:r>
                        <a:rPr lang="en-IN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I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IN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IN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𝑁𝑜𝑟𝑚𝑎𝑙</m:t>
                              </m:r>
                            </m:sub>
                          </m:sSub>
                        </m:e>
                      </m:d>
                      <m:r>
                        <m:rPr>
                          <m:nor/>
                        </m:rPr>
                        <a:rPr lang="en-IN" sz="2000" dirty="0"/>
                        <m:t> ∗ </m:t>
                      </m:r>
                      <m:r>
                        <a:rPr lang="en-IN" sz="2000" i="1" dirty="0">
                          <a:latin typeface="Cambria Math" panose="02040503050406030204" pitchFamily="18" charset="0"/>
                        </a:rPr>
                        <m:t>𝐸𝑛𝑡𝑟𝑜𝑝𝑦</m:t>
                      </m:r>
                      <m:r>
                        <a:rPr lang="en-IN" sz="2000" i="1" dirty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IN" sz="2000" b="0" i="1" dirty="0" smtClean="0">
                          <a:latin typeface="Cambria Math" panose="02040503050406030204" pitchFamily="18" charset="0"/>
                        </a:rPr>
                        <m:t>𝑁𝑜𝑟𝑚𝑎𝑙</m:t>
                      </m:r>
                      <m:r>
                        <a:rPr lang="en-IN" sz="2000" i="1" dirty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IN" sz="2000" dirty="0"/>
              </a:p>
            </p:txBody>
          </p:sp>
        </mc:Choice>
        <mc:Fallback xmlns="">
          <p:sp>
            <p:nvSpPr>
              <p:cNvPr id="3" name="Rectangle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4510310"/>
                <a:ext cx="11678710" cy="447174"/>
              </a:xfrm>
              <a:prstGeom prst="rect">
                <a:avLst/>
              </a:prstGeom>
              <a:blipFill>
                <a:blip r:embed="rId7"/>
                <a:stretch>
                  <a:fillRect b="-821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ectangle 12"/>
              <p:cNvSpPr/>
              <p:nvPr/>
            </p:nvSpPr>
            <p:spPr>
              <a:xfrm>
                <a:off x="201649" y="5844896"/>
                <a:ext cx="8162234" cy="78386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𝐼𝐺</m:t>
                      </m:r>
                      <m:d>
                        <m:dPr>
                          <m:ctrlPr>
                            <a:rPr lang="en-I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𝑆</m:t>
                          </m:r>
                          <m:r>
                            <a:rPr lang="en-I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𝑢𝑛𝑛𝑦</m:t>
                          </m:r>
                          <m:r>
                            <a:rPr lang="en-I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 </m:t>
                          </m:r>
                          <m:r>
                            <a:rPr lang="en-I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𝐻𝑢𝑚𝑖𝑑𝑖𝑡𝑦</m:t>
                          </m:r>
                        </m:e>
                      </m:d>
                      <m:r>
                        <a:rPr lang="en-IN" sz="2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IN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0.970 </m:t>
                      </m:r>
                      <m:r>
                        <a:rPr lang="en-IN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d>
                        <m:dPr>
                          <m:ctrlPr>
                            <a:rPr lang="en-I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IN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IN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num>
                            <m:den>
                              <m:r>
                                <a:rPr lang="en-IN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5</m:t>
                              </m:r>
                            </m:den>
                          </m:f>
                        </m:e>
                      </m:d>
                      <m:r>
                        <a:rPr lang="en-IN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m:rPr>
                          <m:nor/>
                        </m:rPr>
                        <a:rPr lang="en-IN" sz="2000" b="0" i="0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</m:t>
                      </m:r>
                      <m:r>
                        <a:rPr lang="en-IN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  <m:r>
                        <a:rPr lang="en-IN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d>
                        <m:dPr>
                          <m:ctrlPr>
                            <a:rPr lang="en-I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IN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IN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3</m:t>
                              </m:r>
                            </m:num>
                            <m:den>
                              <m:r>
                                <a:rPr lang="en-IN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5</m:t>
                              </m:r>
                            </m:den>
                          </m:f>
                        </m:e>
                      </m:d>
                      <m:r>
                        <a:rPr lang="en-IN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IN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0.591673</m:t>
                      </m:r>
                      <m:r>
                        <a:rPr lang="en-IN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  <m:r>
                        <m:rPr>
                          <m:nor/>
                        </m:rPr>
                        <a:rPr lang="en-IN" sz="20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 </m:t>
                      </m:r>
                      <m:r>
                        <m:rPr>
                          <m:nor/>
                        </m:rPr>
                        <a:rPr lang="en-IN" sz="2000" b="0" i="0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0.014961</m:t>
                      </m:r>
                    </m:oMath>
                  </m:oMathPara>
                </a14:m>
                <a:endParaRPr lang="en-IN" sz="20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3" name="Rectangle 1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1649" y="5844896"/>
                <a:ext cx="8162234" cy="783869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ectangle 6"/>
          <p:cNvSpPr/>
          <p:nvPr/>
        </p:nvSpPr>
        <p:spPr>
          <a:xfrm>
            <a:off x="201648" y="5844896"/>
            <a:ext cx="8576592" cy="875944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8778240" y="2816978"/>
                <a:ext cx="2255554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IN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𝐸𝑛𝑡𝑟𝑜𝑝𝑦</m:t>
                    </m:r>
                    <m:d>
                      <m:dPr>
                        <m:ctrlPr>
                          <a:rPr lang="en-I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𝑆</m:t>
                        </m:r>
                      </m:e>
                    </m:d>
                    <m:r>
                      <a:rPr lang="en-IN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IN" sz="20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0.970</a:t>
                </a:r>
                <a:endParaRPr lang="en-IN" sz="20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8240" y="2816978"/>
                <a:ext cx="2255554" cy="307777"/>
              </a:xfrm>
              <a:prstGeom prst="rect">
                <a:avLst/>
              </a:prstGeom>
              <a:blipFill>
                <a:blip r:embed="rId9"/>
                <a:stretch>
                  <a:fillRect l="-5135" t="-25490" r="-5676" b="-4902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37718468"/>
              </p:ext>
            </p:extLst>
          </p:nvPr>
        </p:nvGraphicFramePr>
        <p:xfrm>
          <a:off x="8590932" y="405911"/>
          <a:ext cx="2630169" cy="2333625"/>
        </p:xfrm>
        <a:graphic>
          <a:graphicData uri="http://schemas.openxmlformats.org/drawingml/2006/table">
            <a:tbl>
              <a:tblPr firstRow="1" bandRow="1">
                <a:tableStyleId>{AE0CDCE9-8EFF-456A-BFA7-76C2DBC4E188}</a:tableStyleId>
              </a:tblPr>
              <a:tblGrid>
                <a:gridCol w="942292">
                  <a:extLst>
                    <a:ext uri="{9D8B030D-6E8A-4147-A177-3AD203B41FA5}">
                      <a16:colId xmlns:a16="http://schemas.microsoft.com/office/drawing/2014/main" val="4287698830"/>
                    </a:ext>
                  </a:extLst>
                </a:gridCol>
                <a:gridCol w="672613">
                  <a:extLst>
                    <a:ext uri="{9D8B030D-6E8A-4147-A177-3AD203B41FA5}">
                      <a16:colId xmlns:a16="http://schemas.microsoft.com/office/drawing/2014/main" val="4229326153"/>
                    </a:ext>
                  </a:extLst>
                </a:gridCol>
                <a:gridCol w="1015264">
                  <a:extLst>
                    <a:ext uri="{9D8B030D-6E8A-4147-A177-3AD203B41FA5}">
                      <a16:colId xmlns:a16="http://schemas.microsoft.com/office/drawing/2014/main" val="570252210"/>
                    </a:ext>
                  </a:extLst>
                </a:gridCol>
              </a:tblGrid>
              <a:tr h="333375">
                <a:tc gridSpan="3">
                  <a:txBody>
                    <a:bodyPr/>
                    <a:lstStyle/>
                    <a:p>
                      <a:pPr algn="ctr" rtl="0" fontAlgn="ctr"/>
                      <a:r>
                        <a:rPr lang="en-IN" sz="2000" u="none" strike="noStrike">
                          <a:effectLst/>
                        </a:rPr>
                        <a:t>Humidity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86028434"/>
                  </a:ext>
                </a:extLst>
              </a:tr>
              <a:tr h="333375">
                <a:tc>
                  <a:txBody>
                    <a:bodyPr/>
                    <a:lstStyle/>
                    <a:p>
                      <a:pPr algn="l" fontAlgn="ctr"/>
                      <a:r>
                        <a:rPr lang="en-IN" sz="1800" u="none" strike="noStrike">
                          <a:effectLst/>
                        </a:rPr>
                        <a:t> 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2000" u="none" strike="noStrike">
                          <a:effectLst/>
                        </a:rPr>
                        <a:t>Yes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2000" u="none" strike="noStrike">
                          <a:effectLst/>
                        </a:rPr>
                        <a:t>No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4105470809"/>
                  </a:ext>
                </a:extLst>
              </a:tr>
              <a:tr h="33337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2000" u="none" strike="noStrike">
                          <a:effectLst/>
                        </a:rPr>
                        <a:t>High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2000" u="none" strike="noStrike">
                          <a:effectLst/>
                        </a:rPr>
                        <a:t>1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2000" u="none" strike="noStrike">
                          <a:effectLst/>
                        </a:rPr>
                        <a:t>1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463802472"/>
                  </a:ext>
                </a:extLst>
              </a:tr>
              <a:tr h="66675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2000" u="none" strike="noStrike">
                          <a:effectLst/>
                        </a:rPr>
                        <a:t>Normal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2000" u="none" strike="noStrike">
                          <a:effectLst/>
                        </a:rPr>
                        <a:t>2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2000" u="none" strike="noStrike">
                          <a:effectLst/>
                        </a:rPr>
                        <a:t>1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941406328"/>
                  </a:ext>
                </a:extLst>
              </a:tr>
              <a:tr h="66675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2000" u="none" strike="noStrike">
                          <a:effectLst/>
                        </a:rPr>
                        <a:t>Total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2000" u="none" strike="noStrike">
                          <a:effectLst/>
                        </a:rPr>
                        <a:t>3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2000" u="none" strike="noStrike" dirty="0">
                          <a:effectLst/>
                        </a:rPr>
                        <a:t>2</a:t>
                      </a:r>
                      <a:endParaRPr lang="en-IN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37748366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79166966"/>
      </p:ext>
    </p:extLst>
  </p:cSld>
  <p:clrMapOvr>
    <a:masterClrMapping/>
  </p:clrMapOvr>
  <p:transition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2" grpId="0"/>
      <p:bldP spid="9" grpId="0"/>
      <p:bldP spid="10" grpId="0"/>
      <p:bldP spid="3" grpId="0"/>
      <p:bldP spid="13" grpId="0"/>
      <p:bldP spid="7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35"/>
          <p:cNvSpPr txBox="1"/>
          <p:nvPr/>
        </p:nvSpPr>
        <p:spPr>
          <a:xfrm>
            <a:off x="304799" y="381000"/>
            <a:ext cx="8454189" cy="689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0" i="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Decision Tree: </a:t>
            </a:r>
            <a:r>
              <a:rPr lang="en-US" sz="4400" b="0" i="0" dirty="0" smtClea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Information Gain</a:t>
            </a:r>
            <a:endParaRPr sz="4400" b="0" i="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146582" y="833527"/>
            <a:ext cx="377699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sz="2000" dirty="0" smtClean="0"/>
              <a:t>Highest Information Gain </a:t>
            </a:r>
          </a:p>
          <a:p>
            <a:pPr algn="ctr"/>
            <a:r>
              <a:rPr lang="en-IN" sz="2000" dirty="0" smtClean="0"/>
              <a:t>Shall be selected as Root Node</a:t>
            </a:r>
            <a:endParaRPr lang="en-IN" sz="2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Rectangle 15"/>
              <p:cNvSpPr/>
              <p:nvPr/>
            </p:nvSpPr>
            <p:spPr>
              <a:xfrm>
                <a:off x="0" y="1317867"/>
                <a:ext cx="3136115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𝐼𝐺</m:t>
                      </m:r>
                      <m:d>
                        <m:dPr>
                          <m:ctrlPr>
                            <a:rPr lang="en-I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𝑆</m:t>
                          </m:r>
                          <m:r>
                            <a:rPr lang="en-I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𝑢𝑛𝑛𝑦</m:t>
                          </m:r>
                          <m:r>
                            <a:rPr lang="en-I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 </m:t>
                          </m:r>
                          <m:r>
                            <a:rPr lang="en-I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𝑊𝑖𝑛𝑑</m:t>
                          </m:r>
                        </m:e>
                      </m:d>
                      <m:r>
                        <a:rPr lang="en-IN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m:rPr>
                          <m:nor/>
                        </m:rPr>
                        <a:rPr lang="en-IN" sz="2000" b="0" i="0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0.970</m:t>
                      </m:r>
                    </m:oMath>
                  </m:oMathPara>
                </a14:m>
                <a:endParaRPr lang="en-IN" sz="20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6" name="Rectangle 1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1317867"/>
                <a:ext cx="3136115" cy="400110"/>
              </a:xfrm>
              <a:prstGeom prst="rect">
                <a:avLst/>
              </a:prstGeom>
              <a:blipFill>
                <a:blip r:embed="rId3"/>
                <a:stretch>
                  <a:fillRect b="-1060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Rectangle 24"/>
              <p:cNvSpPr/>
              <p:nvPr/>
            </p:nvSpPr>
            <p:spPr>
              <a:xfrm>
                <a:off x="0" y="2313051"/>
                <a:ext cx="4044441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𝐼𝐺</m:t>
                      </m:r>
                      <m:d>
                        <m:dPr>
                          <m:ctrlPr>
                            <a:rPr lang="en-I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𝑆</m:t>
                          </m:r>
                          <m:r>
                            <a:rPr lang="en-I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𝑢𝑛𝑛𝑦</m:t>
                          </m:r>
                          <m:r>
                            <a:rPr lang="en-I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 </m:t>
                          </m:r>
                          <m:r>
                            <a:rPr lang="en-I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𝐻𝑢𝑚𝑖𝑑𝑖𝑡𝑦</m:t>
                          </m:r>
                        </m:e>
                      </m:d>
                      <m:r>
                        <a:rPr lang="en-IN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m:rPr>
                          <m:nor/>
                        </m:rPr>
                        <a:rPr lang="en-IN" sz="2000" b="0" i="0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0.014961</m:t>
                      </m:r>
                    </m:oMath>
                  </m:oMathPara>
                </a14:m>
                <a:endParaRPr lang="en-IN" sz="20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5" name="Rectangle 2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2313051"/>
                <a:ext cx="4044441" cy="400110"/>
              </a:xfrm>
              <a:prstGeom prst="rect">
                <a:avLst/>
              </a:prstGeom>
              <a:blipFill>
                <a:blip r:embed="rId4"/>
                <a:stretch>
                  <a:fillRect b="-1666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Rectangle 25"/>
              <p:cNvSpPr/>
              <p:nvPr/>
            </p:nvSpPr>
            <p:spPr>
              <a:xfrm>
                <a:off x="0" y="3251885"/>
                <a:ext cx="3732551" cy="40011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𝐼𝐺</m:t>
                      </m:r>
                      <m:d>
                        <m:dPr>
                          <m:ctrlPr>
                            <a:rPr lang="en-I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𝑆</m:t>
                          </m:r>
                          <m:r>
                            <a:rPr lang="en-I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𝑢𝑛𝑛𝑦</m:t>
                          </m:r>
                          <m:r>
                            <a:rPr lang="en-I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 </m:t>
                          </m:r>
                          <m:r>
                            <a:rPr lang="en-I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𝑇𝑒𝑚𝑝</m:t>
                          </m:r>
                        </m:e>
                      </m:d>
                      <m:r>
                        <a:rPr lang="en-IN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m:rPr>
                          <m:nor/>
                        </m:rPr>
                        <a:rPr lang="en-IN" sz="2000" b="0" i="0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0.036966</m:t>
                      </m:r>
                    </m:oMath>
                  </m:oMathPara>
                </a14:m>
                <a:endParaRPr lang="en-IN" sz="20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6" name="Rectangle 2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3251885"/>
                <a:ext cx="3732551" cy="400110"/>
              </a:xfrm>
              <a:prstGeom prst="rect">
                <a:avLst/>
              </a:prstGeom>
              <a:blipFill>
                <a:blip r:embed="rId5"/>
                <a:stretch>
                  <a:fillRect b="-1666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7" name="Group 26"/>
          <p:cNvGrpSpPr/>
          <p:nvPr/>
        </p:nvGrpSpPr>
        <p:grpSpPr>
          <a:xfrm>
            <a:off x="7331241" y="1617070"/>
            <a:ext cx="4114800" cy="3299727"/>
            <a:chOff x="7234988" y="2918540"/>
            <a:chExt cx="4114800" cy="3299727"/>
          </a:xfrm>
        </p:grpSpPr>
        <p:sp>
          <p:nvSpPr>
            <p:cNvPr id="28" name="Google Shape;290;p34"/>
            <p:cNvSpPr/>
            <p:nvPr/>
          </p:nvSpPr>
          <p:spPr>
            <a:xfrm>
              <a:off x="8263688" y="2918540"/>
              <a:ext cx="2057400" cy="1066800"/>
            </a:xfrm>
            <a:prstGeom prst="roundRect">
              <a:avLst>
                <a:gd name="adj" fmla="val 16667"/>
              </a:avLst>
            </a:prstGeom>
            <a:noFill/>
            <a:ln w="25400" cap="flat" cmpd="sng">
              <a:solidFill>
                <a:srgbClr val="395E8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Outlook</a:t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29" name="Google Shape;293;p34"/>
            <p:cNvCxnSpPr>
              <a:stCxn id="28" idx="2"/>
            </p:cNvCxnSpPr>
            <p:nvPr/>
          </p:nvCxnSpPr>
          <p:spPr>
            <a:xfrm flipH="1">
              <a:off x="7234988" y="3985340"/>
              <a:ext cx="2057400" cy="1574700"/>
            </a:xfrm>
            <a:prstGeom prst="straightConnector1">
              <a:avLst/>
            </a:prstGeom>
            <a:noFill/>
            <a:ln w="9525" cap="flat" cmpd="sng">
              <a:solidFill>
                <a:srgbClr val="4A7DBA"/>
              </a:solidFill>
              <a:prstDash val="solid"/>
              <a:round/>
              <a:headEnd type="none" w="sm" len="sm"/>
              <a:tailEnd type="stealth" w="med" len="med"/>
            </a:ln>
          </p:spPr>
        </p:cxnSp>
        <p:cxnSp>
          <p:nvCxnSpPr>
            <p:cNvPr id="32" name="Google Shape;294;p34"/>
            <p:cNvCxnSpPr>
              <a:stCxn id="28" idx="2"/>
            </p:cNvCxnSpPr>
            <p:nvPr/>
          </p:nvCxnSpPr>
          <p:spPr>
            <a:xfrm>
              <a:off x="9292388" y="3985340"/>
              <a:ext cx="2057400" cy="1574700"/>
            </a:xfrm>
            <a:prstGeom prst="straightConnector1">
              <a:avLst/>
            </a:prstGeom>
            <a:noFill/>
            <a:ln w="9525" cap="flat" cmpd="sng">
              <a:solidFill>
                <a:srgbClr val="4A7DBA"/>
              </a:solidFill>
              <a:prstDash val="solid"/>
              <a:round/>
              <a:headEnd type="none" w="sm" len="sm"/>
              <a:tailEnd type="stealth" w="med" len="med"/>
            </a:ln>
          </p:spPr>
        </p:cxnSp>
        <p:cxnSp>
          <p:nvCxnSpPr>
            <p:cNvPr id="33" name="Google Shape;295;p34"/>
            <p:cNvCxnSpPr>
              <a:endCxn id="36" idx="0"/>
            </p:cNvCxnSpPr>
            <p:nvPr/>
          </p:nvCxnSpPr>
          <p:spPr>
            <a:xfrm>
              <a:off x="9292388" y="3980895"/>
              <a:ext cx="0" cy="1856372"/>
            </a:xfrm>
            <a:prstGeom prst="straightConnector1">
              <a:avLst/>
            </a:prstGeom>
            <a:noFill/>
            <a:ln w="9525" cap="flat" cmpd="sng">
              <a:solidFill>
                <a:srgbClr val="4A7DBA"/>
              </a:solidFill>
              <a:prstDash val="solid"/>
              <a:round/>
              <a:headEnd type="none" w="sm" len="sm"/>
              <a:tailEnd type="stealth" w="med" len="med"/>
            </a:ln>
          </p:spPr>
        </p:cxnSp>
        <p:sp>
          <p:nvSpPr>
            <p:cNvPr id="34" name="Google Shape;304;p34"/>
            <p:cNvSpPr txBox="1"/>
            <p:nvPr/>
          </p:nvSpPr>
          <p:spPr>
            <a:xfrm>
              <a:off x="7850303" y="4588590"/>
              <a:ext cx="826135" cy="368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Sunny</a:t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" name="Google Shape;305;p34"/>
            <p:cNvSpPr txBox="1"/>
            <p:nvPr/>
          </p:nvSpPr>
          <p:spPr>
            <a:xfrm>
              <a:off x="10001047" y="4588590"/>
              <a:ext cx="863467" cy="369291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dirty="0" smtClean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Rainy</a:t>
              </a:r>
              <a:endParaRPr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" name="Google Shape;311;p34"/>
            <p:cNvSpPr/>
            <p:nvPr/>
          </p:nvSpPr>
          <p:spPr>
            <a:xfrm>
              <a:off x="8758988" y="5837267"/>
              <a:ext cx="1066800" cy="381000"/>
            </a:xfrm>
            <a:prstGeom prst="flowChartTerminator">
              <a:avLst/>
            </a:prstGeom>
            <a:noFill/>
            <a:ln w="25400" cap="flat" cmpd="sng">
              <a:solidFill>
                <a:srgbClr val="395E8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Yes</a:t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" name="Group 2"/>
          <p:cNvGrpSpPr/>
          <p:nvPr/>
        </p:nvGrpSpPr>
        <p:grpSpPr>
          <a:xfrm>
            <a:off x="5459897" y="4302578"/>
            <a:ext cx="3220085" cy="2306955"/>
            <a:chOff x="5459897" y="4302578"/>
            <a:chExt cx="3220085" cy="2306955"/>
          </a:xfrm>
        </p:grpSpPr>
        <p:sp>
          <p:nvSpPr>
            <p:cNvPr id="37" name="Google Shape;292;p34"/>
            <p:cNvSpPr/>
            <p:nvPr/>
          </p:nvSpPr>
          <p:spPr>
            <a:xfrm>
              <a:off x="6089182" y="4302578"/>
              <a:ext cx="2057400" cy="1066800"/>
            </a:xfrm>
            <a:prstGeom prst="roundRect">
              <a:avLst>
                <a:gd name="adj" fmla="val 16667"/>
              </a:avLst>
            </a:prstGeom>
            <a:noFill/>
            <a:ln w="25400" cap="flat" cmpd="sng">
              <a:solidFill>
                <a:srgbClr val="395E8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dirty="0" smtClean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Windy</a:t>
              </a:r>
              <a:endParaRPr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38" name="Google Shape;296;p34"/>
            <p:cNvCxnSpPr>
              <a:stCxn id="37" idx="2"/>
              <a:endCxn id="40" idx="0"/>
            </p:cNvCxnSpPr>
            <p:nvPr/>
          </p:nvCxnSpPr>
          <p:spPr>
            <a:xfrm flipH="1">
              <a:off x="5993182" y="5369378"/>
              <a:ext cx="1124700" cy="859200"/>
            </a:xfrm>
            <a:prstGeom prst="straightConnector1">
              <a:avLst/>
            </a:prstGeom>
            <a:noFill/>
            <a:ln w="9525" cap="flat" cmpd="sng">
              <a:solidFill>
                <a:srgbClr val="4A7DBA"/>
              </a:solidFill>
              <a:prstDash val="solid"/>
              <a:round/>
              <a:headEnd type="none" w="sm" len="sm"/>
              <a:tailEnd type="stealth" w="med" len="med"/>
            </a:ln>
          </p:spPr>
        </p:cxnSp>
        <p:cxnSp>
          <p:nvCxnSpPr>
            <p:cNvPr id="39" name="Google Shape;298;p34"/>
            <p:cNvCxnSpPr>
              <a:endCxn id="41" idx="0"/>
            </p:cNvCxnSpPr>
            <p:nvPr/>
          </p:nvCxnSpPr>
          <p:spPr>
            <a:xfrm>
              <a:off x="7117882" y="5369333"/>
              <a:ext cx="1028700" cy="859200"/>
            </a:xfrm>
            <a:prstGeom prst="straightConnector1">
              <a:avLst/>
            </a:prstGeom>
            <a:noFill/>
            <a:ln w="9525" cap="flat" cmpd="sng">
              <a:solidFill>
                <a:srgbClr val="4A7DBA"/>
              </a:solidFill>
              <a:prstDash val="solid"/>
              <a:round/>
              <a:headEnd type="none" w="sm" len="sm"/>
              <a:tailEnd type="stealth" w="med" len="med"/>
            </a:ln>
          </p:spPr>
        </p:cxnSp>
        <p:sp>
          <p:nvSpPr>
            <p:cNvPr id="40" name="Google Shape;297;p34"/>
            <p:cNvSpPr/>
            <p:nvPr/>
          </p:nvSpPr>
          <p:spPr>
            <a:xfrm>
              <a:off x="5459897" y="6228533"/>
              <a:ext cx="1066800" cy="381000"/>
            </a:xfrm>
            <a:prstGeom prst="flowChartTerminator">
              <a:avLst/>
            </a:prstGeom>
            <a:noFill/>
            <a:ln w="25400" cap="flat" cmpd="sng">
              <a:solidFill>
                <a:srgbClr val="395E8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dirty="0" smtClean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Yes</a:t>
              </a:r>
              <a:endParaRPr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" name="Google Shape;299;p34"/>
            <p:cNvSpPr/>
            <p:nvPr/>
          </p:nvSpPr>
          <p:spPr>
            <a:xfrm>
              <a:off x="7613182" y="6228533"/>
              <a:ext cx="1066800" cy="381000"/>
            </a:xfrm>
            <a:prstGeom prst="flowChartTerminator">
              <a:avLst/>
            </a:prstGeom>
            <a:noFill/>
            <a:ln w="25400" cap="flat" cmpd="sng">
              <a:solidFill>
                <a:srgbClr val="395E8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dirty="0" smtClean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No</a:t>
              </a:r>
              <a:endParaRPr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" name="Google Shape;307;p34"/>
            <p:cNvSpPr txBox="1"/>
            <p:nvPr/>
          </p:nvSpPr>
          <p:spPr>
            <a:xfrm>
              <a:off x="6226977" y="5614488"/>
              <a:ext cx="795020" cy="369291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dirty="0" smtClean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Weak</a:t>
              </a:r>
              <a:endParaRPr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" name="Google Shape;307;p34"/>
            <p:cNvSpPr txBox="1"/>
            <p:nvPr/>
          </p:nvSpPr>
          <p:spPr>
            <a:xfrm>
              <a:off x="7161563" y="5614287"/>
              <a:ext cx="795020" cy="369291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dirty="0" smtClean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Strong</a:t>
              </a:r>
              <a:endParaRPr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055185088"/>
      </p:ext>
    </p:extLst>
  </p:cSld>
  <p:clrMapOvr>
    <a:masterClrMapping/>
  </p:clrMapOvr>
  <p:transition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6" grpId="0"/>
      <p:bldP spid="25" grpId="0"/>
      <p:bldP spid="26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36"/>
          <p:cNvSpPr txBox="1">
            <a:spLocks noGrp="1"/>
          </p:cNvSpPr>
          <p:nvPr>
            <p:ph type="sldNum" idx="12"/>
          </p:nvPr>
        </p:nvSpPr>
        <p:spPr>
          <a:xfrm>
            <a:off x="8778240" y="6536690"/>
            <a:ext cx="2804160" cy="184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ahoma"/>
              <a:buNone/>
            </a:pPr>
            <a:fld id="{00000000-1234-1234-1234-123412341234}" type="slidenum">
              <a:rPr lang="en-US" sz="12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15</a:t>
            </a:fld>
            <a:endParaRPr sz="1200" b="0" i="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201649" y="174414"/>
                <a:ext cx="6244466" cy="46063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IN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𝐸𝑛𝑡𝑟𝑜𝑝𝑦</m:t>
                    </m:r>
                    <m:d>
                      <m:dPr>
                        <m:ctrlPr>
                          <a:rPr lang="en-I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𝑅𝑎𝑖𝑛𝑦</m:t>
                        </m:r>
                      </m:e>
                    </m:d>
                    <m:r>
                      <a:rPr lang="en-IN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=−</m:t>
                    </m:r>
                    <m:d>
                      <m:dPr>
                        <m:ctrlPr>
                          <a:rPr lang="en-IN" sz="2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I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5</m:t>
                            </m:r>
                          </m:den>
                        </m:f>
                      </m:e>
                    </m:d>
                    <m:sSub>
                      <m:sSubPr>
                        <m:ctrlPr>
                          <a:rPr lang="en-IN" sz="2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𝑙𝑜𝑔</m:t>
                        </m:r>
                      </m:e>
                      <m:sub>
                        <m:r>
                          <a:rPr lang="en-I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d>
                      <m:dPr>
                        <m:ctrlPr>
                          <a:rPr lang="en-I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5</m:t>
                            </m:r>
                          </m:den>
                        </m:f>
                      </m:e>
                    </m:d>
                    <m:r>
                      <a:rPr lang="en-IN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d>
                      <m:dPr>
                        <m:ctrlPr>
                          <a:rPr lang="en-I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a:rPr lang="en-I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5</m:t>
                            </m:r>
                          </m:den>
                        </m:f>
                      </m:e>
                    </m:d>
                    <m:sSub>
                      <m:sSubPr>
                        <m:ctrlPr>
                          <a:rPr lang="en-I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𝑙𝑜𝑔</m:t>
                        </m:r>
                      </m:e>
                      <m:sub>
                        <m:r>
                          <a:rPr lang="en-I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d>
                      <m:dPr>
                        <m:ctrlPr>
                          <a:rPr lang="en-I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5</m:t>
                            </m:r>
                          </m:den>
                        </m:f>
                      </m:e>
                    </m:d>
                  </m:oMath>
                </a14:m>
                <a:r>
                  <a:rPr lang="en-IN" sz="20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0.970</a:t>
                </a:r>
                <a:endParaRPr lang="en-IN" sz="20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1649" y="174414"/>
                <a:ext cx="6244466" cy="460639"/>
              </a:xfrm>
              <a:prstGeom prst="rect">
                <a:avLst/>
              </a:prstGeom>
              <a:blipFill>
                <a:blip r:embed="rId3"/>
                <a:stretch>
                  <a:fillRect t="-2667" r="-1563" b="-1466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201649" y="2816978"/>
                <a:ext cx="6645730" cy="46063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IN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𝐸𝑛𝑡𝑟𝑜𝑝𝑦</m:t>
                    </m:r>
                    <m:d>
                      <m:dPr>
                        <m:ctrlPr>
                          <a:rPr lang="en-I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I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𝑊𝑒𝑎𝑘</m:t>
                            </m:r>
                          </m:sub>
                        </m:sSub>
                      </m:e>
                    </m:d>
                    <m:r>
                      <a:rPr lang="en-IN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=−</m:t>
                    </m:r>
                    <m:d>
                      <m:dPr>
                        <m:ctrlPr>
                          <a:rPr lang="en-IN" sz="2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  <m:sSub>
                      <m:sSubPr>
                        <m:ctrlPr>
                          <a:rPr lang="en-IN" sz="2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𝑙𝑜𝑔</m:t>
                        </m:r>
                      </m:e>
                      <m:sub>
                        <m:r>
                          <a:rPr lang="en-I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d>
                      <m:dPr>
                        <m:ctrlPr>
                          <a:rPr lang="en-I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  <m:r>
                      <a:rPr lang="en-IN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d>
                      <m:dPr>
                        <m:ctrlPr>
                          <a:rPr lang="en-I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a:rPr lang="en-I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  <m:sSub>
                      <m:sSubPr>
                        <m:ctrlPr>
                          <a:rPr lang="en-I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𝑙𝑜𝑔</m:t>
                        </m:r>
                      </m:e>
                      <m:sub>
                        <m:r>
                          <a:rPr lang="en-I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d>
                      <m:dPr>
                        <m:ctrlPr>
                          <a:rPr lang="en-I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a:rPr lang="en-I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</m:oMath>
                </a14:m>
                <a:r>
                  <a:rPr lang="en-IN" sz="20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0.723308</a:t>
                </a:r>
                <a:endParaRPr lang="en-IN" sz="20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1649" y="2816978"/>
                <a:ext cx="6645730" cy="460639"/>
              </a:xfrm>
              <a:prstGeom prst="rect">
                <a:avLst/>
              </a:prstGeom>
              <a:blipFill>
                <a:blip r:embed="rId4"/>
                <a:stretch>
                  <a:fillRect t="-2632" r="-1284" b="-1447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1"/>
              <p:cNvSpPr/>
              <p:nvPr/>
            </p:nvSpPr>
            <p:spPr>
              <a:xfrm>
                <a:off x="201649" y="839782"/>
                <a:ext cx="3967240" cy="78386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I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IN" sz="20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IN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𝑊𝑒𝑎𝑘</m:t>
                              </m:r>
                            </m:sub>
                          </m:sSub>
                        </m:e>
                      </m:d>
                      <m:r>
                        <a:rPr lang="en-IN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𝑁𝑜</m:t>
                          </m:r>
                          <m:r>
                            <a:rPr lang="en-I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. </m:t>
                          </m:r>
                          <m:r>
                            <a:rPr lang="en-I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𝑜𝑓</m:t>
                          </m:r>
                          <m:r>
                            <a:rPr lang="en-I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en-I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𝑊𝑒𝑎𝑘</m:t>
                          </m:r>
                        </m:num>
                        <m:den>
                          <m:r>
                            <a:rPr lang="en-I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𝑇𝑜𝑡𝑎𝑙</m:t>
                          </m:r>
                        </m:den>
                      </m:f>
                      <m:r>
                        <a:rPr lang="en-IN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I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IN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IN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3</m:t>
                              </m:r>
                            </m:num>
                            <m:den>
                              <m:r>
                                <a:rPr lang="en-IN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5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IN" sz="2000" dirty="0"/>
              </a:p>
            </p:txBody>
          </p:sp>
        </mc:Choice>
        <mc:Fallback xmlns="">
          <p:sp>
            <p:nvSpPr>
              <p:cNvPr id="2" name="Rectangle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1649" y="839782"/>
                <a:ext cx="3967240" cy="78386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/>
              <p:cNvSpPr/>
              <p:nvPr/>
            </p:nvSpPr>
            <p:spPr>
              <a:xfrm>
                <a:off x="201649" y="1828380"/>
                <a:ext cx="4242956" cy="78386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I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IN" sz="20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IN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𝑆𝑡𝑟𝑜𝑛𝑔</m:t>
                              </m:r>
                            </m:sub>
                          </m:sSub>
                        </m:e>
                      </m:d>
                      <m:r>
                        <a:rPr lang="en-IN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𝑁𝑜</m:t>
                          </m:r>
                          <m:r>
                            <a:rPr lang="en-I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. </m:t>
                          </m:r>
                          <m:r>
                            <a:rPr lang="en-I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𝑜𝑓</m:t>
                          </m:r>
                          <m:r>
                            <a:rPr lang="en-I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en-I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𝑆𝑡𝑟𝑜𝑛𝑔</m:t>
                          </m:r>
                        </m:num>
                        <m:den>
                          <m:r>
                            <a:rPr lang="en-I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𝑇𝑜𝑡𝑎𝑙</m:t>
                          </m:r>
                        </m:den>
                      </m:f>
                      <m:r>
                        <a:rPr lang="en-IN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I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IN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IN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num>
                            <m:den>
                              <m:r>
                                <a:rPr lang="en-IN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5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IN" sz="2000" dirty="0"/>
              </a:p>
            </p:txBody>
          </p:sp>
        </mc:Choice>
        <mc:Fallback xmlns="">
          <p:sp>
            <p:nvSpPr>
              <p:cNvPr id="9" name="Rectangle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1649" y="1828380"/>
                <a:ext cx="4242956" cy="783869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201649" y="3482346"/>
                <a:ext cx="5869812" cy="46063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IN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𝐸𝑛𝑡𝑟𝑜𝑝𝑦</m:t>
                    </m:r>
                    <m:d>
                      <m:dPr>
                        <m:ctrlPr>
                          <a:rPr lang="en-I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I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𝑆𝑡𝑟𝑜𝑛𝑔</m:t>
                            </m:r>
                          </m:sub>
                        </m:sSub>
                      </m:e>
                    </m:d>
                    <m:r>
                      <a:rPr lang="en-IN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=−</m:t>
                    </m:r>
                    <m:d>
                      <m:dPr>
                        <m:ctrlPr>
                          <a:rPr lang="en-IN" sz="2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sSub>
                      <m:sSubPr>
                        <m:ctrlPr>
                          <a:rPr lang="en-IN" sz="2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𝑙𝑜𝑔</m:t>
                        </m:r>
                      </m:e>
                      <m:sub>
                        <m:r>
                          <a:rPr lang="en-I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d>
                      <m:dPr>
                        <m:ctrlPr>
                          <a:rPr lang="en-I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a:rPr lang="en-IN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d>
                      <m:dPr>
                        <m:ctrlPr>
                          <a:rPr lang="en-I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sSub>
                      <m:sSubPr>
                        <m:ctrlPr>
                          <a:rPr lang="en-I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𝑙𝑜𝑔</m:t>
                        </m:r>
                      </m:e>
                      <m:sub>
                        <m:r>
                          <a:rPr lang="en-I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d>
                      <m:dPr>
                        <m:ctrlPr>
                          <a:rPr lang="en-I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lang="en-IN" sz="20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1</a:t>
                </a:r>
                <a:endParaRPr lang="en-IN" sz="20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1649" y="3482346"/>
                <a:ext cx="5869812" cy="460639"/>
              </a:xfrm>
              <a:prstGeom prst="rect">
                <a:avLst/>
              </a:prstGeom>
              <a:blipFill>
                <a:blip r:embed="rId7"/>
                <a:stretch>
                  <a:fillRect t="-2632" r="-1661" b="-1447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201649" y="4147714"/>
                <a:ext cx="6940105" cy="84055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𝐼𝐺</m:t>
                      </m:r>
                      <m:d>
                        <m:dPr>
                          <m:ctrlPr>
                            <a:rPr lang="en-I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𝑅𝑎𝑖𝑛𝑦</m:t>
                          </m:r>
                          <m:r>
                            <a:rPr lang="en-I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 </m:t>
                          </m:r>
                          <m:r>
                            <a:rPr lang="en-I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𝑊𝑖𝑛𝑑</m:t>
                          </m:r>
                        </m:e>
                      </m:d>
                      <m:r>
                        <a:rPr lang="en-IN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IN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𝐸𝑛𝑡𝑟𝑜𝑝𝑦</m:t>
                      </m:r>
                      <m:d>
                        <m:dPr>
                          <m:ctrlPr>
                            <a:rPr lang="en-I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𝑅𝑎𝑖𝑛𝑦</m:t>
                          </m:r>
                        </m:e>
                      </m:d>
                      <m:r>
                        <a:rPr lang="en-IN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 </m:t>
                      </m:r>
                      <m:nary>
                        <m:naryPr>
                          <m:chr m:val="∑"/>
                          <m:ctrlPr>
                            <a:rPr lang="en-I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I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  <m:r>
                            <a:rPr lang="en-I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en-I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r>
                            <a:rPr lang="en-I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en-IN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IN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en-I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∗</m:t>
                          </m:r>
                          <m:r>
                            <a:rPr lang="en-I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𝐸𝑛𝑡𝑟𝑜𝑝𝑦</m:t>
                          </m:r>
                          <m:d>
                            <m:dPr>
                              <m:ctrlPr>
                                <a:rPr lang="en-IN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IN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e>
                      </m:nary>
                    </m:oMath>
                  </m:oMathPara>
                </a14:m>
                <a:endParaRPr lang="en-IN" sz="20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1649" y="4147714"/>
                <a:ext cx="6940105" cy="840551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/>
              <p:cNvSpPr/>
              <p:nvPr/>
            </p:nvSpPr>
            <p:spPr>
              <a:xfrm>
                <a:off x="201649" y="5192994"/>
                <a:ext cx="11147924" cy="44717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𝐼𝐺</m:t>
                      </m:r>
                      <m:d>
                        <m:dPr>
                          <m:ctrlPr>
                            <a:rPr lang="en-I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𝑅𝑎𝑖𝑛𝑦</m:t>
                          </m:r>
                          <m:r>
                            <a:rPr lang="en-I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 </m:t>
                          </m:r>
                          <m:r>
                            <a:rPr lang="en-I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𝑊𝑖𝑛𝑑</m:t>
                          </m:r>
                        </m:e>
                      </m:d>
                      <m:r>
                        <a:rPr lang="en-IN" sz="2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IN" sz="2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𝐸𝑛𝑡𝑟𝑜𝑝𝑦</m:t>
                      </m:r>
                      <m:d>
                        <m:dPr>
                          <m:ctrlPr>
                            <a:rPr lang="en-I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𝑆</m:t>
                          </m:r>
                        </m:e>
                      </m:d>
                      <m:r>
                        <a:rPr lang="en-IN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− </m:t>
                      </m:r>
                      <m:r>
                        <a:rPr lang="en-IN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I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IN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IN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𝑊𝑒𝑎𝑘</m:t>
                              </m:r>
                            </m:sub>
                          </m:sSub>
                        </m:e>
                      </m:d>
                      <m:r>
                        <m:rPr>
                          <m:nor/>
                        </m:rPr>
                        <a:rPr lang="en-IN" sz="2000" dirty="0"/>
                        <m:t> ∗ </m:t>
                      </m:r>
                      <m:r>
                        <a:rPr lang="en-IN" sz="2000" b="0" i="1" dirty="0" smtClean="0">
                          <a:latin typeface="Cambria Math" panose="02040503050406030204" pitchFamily="18" charset="0"/>
                        </a:rPr>
                        <m:t>𝐸𝑛𝑡𝑟𝑜𝑝𝑦</m:t>
                      </m:r>
                      <m:d>
                        <m:dPr>
                          <m:ctrlPr>
                            <a:rPr lang="en-IN" sz="20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000" b="0" i="1" dirty="0" smtClean="0">
                              <a:latin typeface="Cambria Math" panose="02040503050406030204" pitchFamily="18" charset="0"/>
                            </a:rPr>
                            <m:t>𝑊𝑒𝑎𝑘</m:t>
                          </m:r>
                        </m:e>
                      </m:d>
                      <m:r>
                        <a:rPr lang="en-IN" sz="2000" b="0" i="1" dirty="0" smtClean="0">
                          <a:latin typeface="Cambria Math" panose="02040503050406030204" pitchFamily="18" charset="0"/>
                        </a:rPr>
                        <m:t> − </m:t>
                      </m:r>
                      <m:r>
                        <a:rPr lang="en-IN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I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IN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IN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𝑆𝑡𝑟𝑜𝑛𝑔</m:t>
                              </m:r>
                            </m:sub>
                          </m:sSub>
                        </m:e>
                      </m:d>
                      <m:r>
                        <m:rPr>
                          <m:nor/>
                        </m:rPr>
                        <a:rPr lang="en-IN" sz="2000" dirty="0"/>
                        <m:t> ∗ </m:t>
                      </m:r>
                      <m:r>
                        <a:rPr lang="en-IN" sz="2000" i="1" dirty="0">
                          <a:latin typeface="Cambria Math" panose="02040503050406030204" pitchFamily="18" charset="0"/>
                        </a:rPr>
                        <m:t>𝐸𝑛𝑡𝑟𝑜𝑝𝑦</m:t>
                      </m:r>
                      <m:r>
                        <a:rPr lang="en-IN" sz="2000" i="1" dirty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IN" sz="2000" b="0" i="1" dirty="0" smtClean="0">
                          <a:latin typeface="Cambria Math" panose="02040503050406030204" pitchFamily="18" charset="0"/>
                        </a:rPr>
                        <m:t>𝑆𝑡𝑟𝑜𝑛𝑔</m:t>
                      </m:r>
                      <m:r>
                        <a:rPr lang="en-IN" sz="2000" i="1" dirty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IN" sz="2000" dirty="0"/>
              </a:p>
            </p:txBody>
          </p:sp>
        </mc:Choice>
        <mc:Fallback xmlns="">
          <p:sp>
            <p:nvSpPr>
              <p:cNvPr id="3" name="Rectangle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1649" y="5192994"/>
                <a:ext cx="11147924" cy="447174"/>
              </a:xfrm>
              <a:prstGeom prst="rect">
                <a:avLst/>
              </a:prstGeom>
              <a:blipFill>
                <a:blip r:embed="rId9"/>
                <a:stretch>
                  <a:fillRect b="-821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ectangle 12"/>
              <p:cNvSpPr/>
              <p:nvPr/>
            </p:nvSpPr>
            <p:spPr>
              <a:xfrm>
                <a:off x="201649" y="5844896"/>
                <a:ext cx="7638630" cy="78386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𝐼𝐺</m:t>
                      </m:r>
                      <m:d>
                        <m:dPr>
                          <m:ctrlPr>
                            <a:rPr lang="en-I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𝑅𝑎𝑖𝑛𝑦</m:t>
                          </m:r>
                          <m:r>
                            <a:rPr lang="en-I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 </m:t>
                          </m:r>
                          <m:r>
                            <a:rPr lang="en-I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𝑊𝑖𝑛𝑑</m:t>
                          </m:r>
                        </m:e>
                      </m:d>
                      <m:r>
                        <a:rPr lang="en-IN" sz="2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IN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0.970 </m:t>
                      </m:r>
                      <m:r>
                        <a:rPr lang="en-IN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d>
                        <m:dPr>
                          <m:ctrlPr>
                            <a:rPr lang="en-I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IN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IN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3</m:t>
                              </m:r>
                            </m:num>
                            <m:den>
                              <m:r>
                                <a:rPr lang="en-IN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5</m:t>
                              </m:r>
                            </m:den>
                          </m:f>
                        </m:e>
                      </m:d>
                      <m:r>
                        <a:rPr lang="en-IN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m:rPr>
                          <m:nor/>
                        </m:rPr>
                        <a:rPr lang="en-IN" sz="20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0.723308</m:t>
                      </m:r>
                      <m:r>
                        <a:rPr lang="en-IN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  <m:r>
                        <a:rPr lang="en-IN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d>
                        <m:dPr>
                          <m:ctrlPr>
                            <a:rPr lang="en-I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IN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IN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num>
                            <m:den>
                              <m:r>
                                <a:rPr lang="en-IN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5</m:t>
                              </m:r>
                            </m:den>
                          </m:f>
                        </m:e>
                      </m:d>
                      <m:r>
                        <a:rPr lang="en-IN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(1)</m:t>
                      </m:r>
                      <m:r>
                        <m:rPr>
                          <m:nor/>
                        </m:rPr>
                        <a:rPr lang="en-IN" sz="20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 </m:t>
                      </m:r>
                      <m:r>
                        <m:rPr>
                          <m:nor/>
                        </m:rPr>
                        <a:rPr lang="en-IN" sz="2000" b="0" i="0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0.136966</m:t>
                      </m:r>
                    </m:oMath>
                  </m:oMathPara>
                </a14:m>
                <a:endParaRPr lang="en-IN" sz="20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3" name="Rectangle 1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1649" y="5844896"/>
                <a:ext cx="7638630" cy="783869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ectangle 6"/>
          <p:cNvSpPr/>
          <p:nvPr/>
        </p:nvSpPr>
        <p:spPr>
          <a:xfrm>
            <a:off x="201649" y="5844896"/>
            <a:ext cx="7638630" cy="875944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4519278"/>
              </p:ext>
            </p:extLst>
          </p:nvPr>
        </p:nvGraphicFramePr>
        <p:xfrm>
          <a:off x="8460420" y="174414"/>
          <a:ext cx="2610955" cy="1841400"/>
        </p:xfrm>
        <a:graphic>
          <a:graphicData uri="http://schemas.openxmlformats.org/drawingml/2006/table">
            <a:tbl>
              <a:tblPr firstRow="1" bandRow="1">
                <a:tableStyleId>{AE0CDCE9-8EFF-456A-BFA7-76C2DBC4E188}</a:tableStyleId>
              </a:tblPr>
              <a:tblGrid>
                <a:gridCol w="794391">
                  <a:extLst>
                    <a:ext uri="{9D8B030D-6E8A-4147-A177-3AD203B41FA5}">
                      <a16:colId xmlns:a16="http://schemas.microsoft.com/office/drawing/2014/main" val="3428926598"/>
                    </a:ext>
                  </a:extLst>
                </a:gridCol>
                <a:gridCol w="836951">
                  <a:extLst>
                    <a:ext uri="{9D8B030D-6E8A-4147-A177-3AD203B41FA5}">
                      <a16:colId xmlns:a16="http://schemas.microsoft.com/office/drawing/2014/main" val="424638348"/>
                    </a:ext>
                  </a:extLst>
                </a:gridCol>
                <a:gridCol w="979613">
                  <a:extLst>
                    <a:ext uri="{9D8B030D-6E8A-4147-A177-3AD203B41FA5}">
                      <a16:colId xmlns:a16="http://schemas.microsoft.com/office/drawing/2014/main" val="1145115001"/>
                    </a:ext>
                  </a:extLst>
                </a:gridCol>
              </a:tblGrid>
              <a:tr h="256328">
                <a:tc gridSpan="3">
                  <a:txBody>
                    <a:bodyPr/>
                    <a:lstStyle/>
                    <a:p>
                      <a:pPr algn="ctr" rtl="0" fontAlgn="ctr"/>
                      <a:r>
                        <a:rPr lang="en-IN" sz="2000" u="none" strike="noStrike">
                          <a:effectLst/>
                        </a:rPr>
                        <a:t>Wind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9121591"/>
                  </a:ext>
                </a:extLst>
              </a:tr>
              <a:tr h="256328">
                <a:tc>
                  <a:txBody>
                    <a:bodyPr/>
                    <a:lstStyle/>
                    <a:p>
                      <a:pPr algn="l" fontAlgn="ctr"/>
                      <a:r>
                        <a:rPr lang="en-IN" sz="1800" u="none" strike="noStrike">
                          <a:effectLst/>
                        </a:rPr>
                        <a:t> 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2000" u="none" strike="noStrike">
                          <a:effectLst/>
                        </a:rPr>
                        <a:t>Yes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2000" u="none" strike="noStrike">
                          <a:effectLst/>
                        </a:rPr>
                        <a:t>No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238356661"/>
                  </a:ext>
                </a:extLst>
              </a:tr>
              <a:tr h="40425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2000" u="none" strike="noStrike">
                          <a:effectLst/>
                        </a:rPr>
                        <a:t>Weak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2000" u="none" strike="noStrike">
                          <a:effectLst/>
                        </a:rPr>
                        <a:t>1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2000" u="none" strike="noStrike">
                          <a:effectLst/>
                        </a:rPr>
                        <a:t>2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702966342"/>
                  </a:ext>
                </a:extLst>
              </a:tr>
              <a:tr h="40425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2000" u="none" strike="noStrike">
                          <a:effectLst/>
                        </a:rPr>
                        <a:t>Strong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2000" u="none" strike="noStrike">
                          <a:effectLst/>
                        </a:rPr>
                        <a:t>1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2000" u="none" strike="noStrike">
                          <a:effectLst/>
                        </a:rPr>
                        <a:t>1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939447528"/>
                  </a:ext>
                </a:extLst>
              </a:tr>
              <a:tr h="40425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2000" u="none" strike="noStrike">
                          <a:effectLst/>
                        </a:rPr>
                        <a:t>Total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2000" u="none" strike="noStrike">
                          <a:effectLst/>
                        </a:rPr>
                        <a:t>2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2000" u="none" strike="noStrike" dirty="0">
                          <a:effectLst/>
                        </a:rPr>
                        <a:t>3</a:t>
                      </a:r>
                      <a:endParaRPr lang="en-IN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47686915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71854318"/>
      </p:ext>
    </p:extLst>
  </p:cSld>
  <p:clrMapOvr>
    <a:masterClrMapping/>
  </p:clrMapOvr>
  <p:transition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500"/>
                            </p:stCondLst>
                            <p:childTnLst>
                              <p:par>
                                <p:cTn id="4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2" grpId="0"/>
      <p:bldP spid="9" grpId="0"/>
      <p:bldP spid="10" grpId="0"/>
      <p:bldP spid="11" grpId="0"/>
      <p:bldP spid="3" grpId="0"/>
      <p:bldP spid="13" grpId="0"/>
      <p:bldP spid="7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36"/>
          <p:cNvSpPr txBox="1">
            <a:spLocks noGrp="1"/>
          </p:cNvSpPr>
          <p:nvPr>
            <p:ph type="sldNum" idx="12"/>
          </p:nvPr>
        </p:nvSpPr>
        <p:spPr>
          <a:xfrm>
            <a:off x="8778240" y="6536690"/>
            <a:ext cx="2804160" cy="184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ahoma"/>
              <a:buNone/>
            </a:pPr>
            <a:fld id="{00000000-1234-1234-1234-123412341234}" type="slidenum">
              <a:rPr lang="en-US" sz="12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16</a:t>
            </a:fld>
            <a:endParaRPr sz="1200" b="0" i="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8612987" y="2413586"/>
                <a:ext cx="2255554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IN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𝐸𝑛𝑡𝑟𝑜𝑝𝑦</m:t>
                    </m:r>
                    <m:d>
                      <m:dPr>
                        <m:ctrlPr>
                          <a:rPr lang="en-I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𝑆</m:t>
                        </m:r>
                      </m:e>
                    </m:d>
                    <m:r>
                      <a:rPr lang="en-IN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IN" sz="20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0.970</a:t>
                </a:r>
                <a:endParaRPr lang="en-IN" sz="20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12987" y="2413586"/>
                <a:ext cx="2255554" cy="307777"/>
              </a:xfrm>
              <a:prstGeom prst="rect">
                <a:avLst/>
              </a:prstGeom>
              <a:blipFill>
                <a:blip r:embed="rId3"/>
                <a:stretch>
                  <a:fillRect l="-5135" t="-26000" r="-5676" b="-5000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3774" y="2651611"/>
                <a:ext cx="5945923" cy="69153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𝐸𝑛𝑡𝑟𝑜𝑝𝑦</m:t>
                      </m:r>
                      <m:d>
                        <m:dPr>
                          <m:ctrlPr>
                            <a:rPr lang="en-I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IN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IN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𝐻𝑜𝑡</m:t>
                              </m:r>
                            </m:sub>
                          </m:sSub>
                        </m:e>
                      </m:d>
                      <m:r>
                        <a:rPr lang="en-IN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=−</m:t>
                      </m:r>
                      <m:d>
                        <m:dPr>
                          <m:ctrlPr>
                            <a:rPr lang="en-IN" sz="20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IN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IN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</m:num>
                            <m:den>
                              <m:r>
                                <a:rPr lang="en-IN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e>
                      </m:d>
                      <m:sSub>
                        <m:sSubPr>
                          <m:ctrlPr>
                            <a:rPr lang="en-IN" sz="20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𝑙𝑜𝑔</m:t>
                          </m:r>
                        </m:e>
                        <m:sub>
                          <m:r>
                            <a:rPr lang="en-I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en-I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IN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IN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</m:num>
                            <m:den>
                              <m:r>
                                <a:rPr lang="en-IN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e>
                      </m:d>
                      <m:r>
                        <a:rPr lang="en-IN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d>
                        <m:dPr>
                          <m:ctrlPr>
                            <a:rPr lang="en-I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IN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IN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num>
                            <m:den>
                              <m:r>
                                <a:rPr lang="en-IN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e>
                      </m:d>
                      <m:sSub>
                        <m:sSubPr>
                          <m:ctrlPr>
                            <a:rPr lang="en-I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𝑙𝑜𝑔</m:t>
                          </m:r>
                        </m:e>
                        <m:sub>
                          <m:r>
                            <a:rPr lang="en-I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en-I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IN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IN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num>
                            <m:den>
                              <m:r>
                                <a:rPr lang="en-IN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e>
                      </m:d>
                      <m:r>
                        <a:rPr lang="en-IN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IN" sz="20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74" y="2651611"/>
                <a:ext cx="5945923" cy="69153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1"/>
              <p:cNvSpPr/>
              <p:nvPr/>
            </p:nvSpPr>
            <p:spPr>
              <a:xfrm>
                <a:off x="3774" y="61010"/>
                <a:ext cx="3551934" cy="78386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I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IN" sz="20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IN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𝐻𝑜𝑡</m:t>
                              </m:r>
                            </m:sub>
                          </m:sSub>
                        </m:e>
                      </m:d>
                      <m:r>
                        <a:rPr lang="en-IN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𝑁𝑜</m:t>
                          </m:r>
                          <m:r>
                            <a:rPr lang="en-I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. </m:t>
                          </m:r>
                          <m:r>
                            <a:rPr lang="en-I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𝑜𝑓</m:t>
                          </m:r>
                          <m:r>
                            <a:rPr lang="en-I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en-I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𝐻𝑜𝑡</m:t>
                          </m:r>
                        </m:num>
                        <m:den>
                          <m:r>
                            <a:rPr lang="en-I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𝑇𝑜𝑡𝑎𝑙</m:t>
                          </m:r>
                        </m:den>
                      </m:f>
                      <m:r>
                        <a:rPr lang="en-IN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I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IN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IN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num>
                            <m:den>
                              <m:r>
                                <a:rPr lang="en-IN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14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IN" sz="2000" dirty="0"/>
              </a:p>
            </p:txBody>
          </p:sp>
        </mc:Choice>
        <mc:Fallback xmlns="">
          <p:sp>
            <p:nvSpPr>
              <p:cNvPr id="2" name="Rectangle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74" y="61010"/>
                <a:ext cx="3551934" cy="78386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/>
              <p:cNvSpPr/>
              <p:nvPr/>
            </p:nvSpPr>
            <p:spPr>
              <a:xfrm>
                <a:off x="3774" y="997264"/>
                <a:ext cx="3745513" cy="78386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I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IN" sz="20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IN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𝑀𝑖𝑙𝑑</m:t>
                              </m:r>
                            </m:sub>
                          </m:sSub>
                        </m:e>
                      </m:d>
                      <m:r>
                        <a:rPr lang="en-IN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𝑁𝑜</m:t>
                          </m:r>
                          <m:r>
                            <a:rPr lang="en-I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. </m:t>
                          </m:r>
                          <m:r>
                            <a:rPr lang="en-I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𝑜𝑓</m:t>
                          </m:r>
                          <m:r>
                            <a:rPr lang="en-I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en-I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𝑀𝑖𝑙𝑑</m:t>
                          </m:r>
                        </m:num>
                        <m:den>
                          <m:r>
                            <a:rPr lang="en-I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𝑇𝑜𝑡𝑎𝑙</m:t>
                          </m:r>
                        </m:den>
                      </m:f>
                      <m:r>
                        <a:rPr lang="en-IN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I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IN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IN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num>
                            <m:den>
                              <m:r>
                                <a:rPr lang="en-IN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14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IN" sz="2000" dirty="0"/>
              </a:p>
            </p:txBody>
          </p:sp>
        </mc:Choice>
        <mc:Fallback xmlns="">
          <p:sp>
            <p:nvSpPr>
              <p:cNvPr id="9" name="Rectangle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74" y="997264"/>
                <a:ext cx="3745513" cy="783869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53146" y="3620614"/>
                <a:ext cx="10426376" cy="46063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IN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𝐸𝑛𝑡𝑟𝑜𝑝𝑦</m:t>
                    </m:r>
                    <m:d>
                      <m:dPr>
                        <m:ctrlPr>
                          <a:rPr lang="en-I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𝑀𝑖𝑙𝑑</m:t>
                            </m:r>
                          </m:sub>
                        </m:sSub>
                      </m:e>
                    </m:d>
                    <m:r>
                      <a:rPr lang="en-IN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=−</m:t>
                    </m:r>
                    <m:d>
                      <m:dPr>
                        <m:ctrlPr>
                          <a:rPr lang="en-I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sSub>
                      <m:sSubPr>
                        <m:ctrlPr>
                          <a:rPr lang="en-I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𝑙𝑜𝑔</m:t>
                        </m:r>
                      </m:e>
                      <m:sub>
                        <m:r>
                          <a:rPr lang="en-I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d>
                      <m:dPr>
                        <m:ctrlPr>
                          <a:rPr lang="en-I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a:rPr lang="en-IN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d>
                      <m:dPr>
                        <m:ctrlPr>
                          <a:rPr lang="en-I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sSub>
                      <m:sSubPr>
                        <m:ctrlPr>
                          <a:rPr lang="en-I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𝑙𝑜𝑔</m:t>
                        </m:r>
                      </m:e>
                      <m:sub>
                        <m:r>
                          <a:rPr lang="en-I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d>
                      <m:dPr>
                        <m:ctrlPr>
                          <a:rPr lang="en-I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lang="en-IN" sz="20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1</a:t>
                </a:r>
                <a:endParaRPr lang="en-IN" sz="20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146" y="3620614"/>
                <a:ext cx="10426376" cy="460639"/>
              </a:xfrm>
              <a:prstGeom prst="rect">
                <a:avLst/>
              </a:prstGeom>
              <a:blipFill>
                <a:blip r:embed="rId7"/>
                <a:stretch>
                  <a:fillRect t="-2667" b="-1466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/>
              <p:cNvSpPr/>
              <p:nvPr/>
            </p:nvSpPr>
            <p:spPr>
              <a:xfrm>
                <a:off x="3774" y="5260121"/>
                <a:ext cx="11491544" cy="64633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IN" sz="18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𝐼𝐺</m:t>
                    </m:r>
                    <m:d>
                      <m:dPr>
                        <m:ctrlPr>
                          <a:rPr lang="en-IN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𝑆</m:t>
                        </m:r>
                        <m:r>
                          <a:rPr lang="en-IN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 </m:t>
                        </m:r>
                        <m:r>
                          <a:rPr lang="en-IN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𝑇𝑒𝑚𝑝</m:t>
                        </m:r>
                      </m:e>
                    </m:d>
                    <m:r>
                      <a:rPr lang="en-IN" sz="18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IN" sz="18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𝐸𝑛𝑡𝑟𝑜𝑝𝑦</m:t>
                    </m:r>
                    <m:d>
                      <m:dPr>
                        <m:ctrlPr>
                          <a:rPr lang="en-IN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𝑆</m:t>
                        </m:r>
                      </m:e>
                    </m:d>
                    <m:r>
                      <a:rPr lang="en-IN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− </m:t>
                    </m:r>
                    <m:r>
                      <a:rPr lang="en-IN" sz="1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IN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IN" sz="1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1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IN" sz="1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𝐻𝑜𝑡</m:t>
                            </m:r>
                          </m:sub>
                        </m:sSub>
                      </m:e>
                    </m:d>
                    <m:r>
                      <m:rPr>
                        <m:nor/>
                      </m:rPr>
                      <a:rPr lang="en-IN" sz="1800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∗ </m:t>
                    </m:r>
                    <m:r>
                      <a:rPr lang="en-IN" sz="18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𝐸𝑛𝑡𝑟𝑜𝑝𝑦</m:t>
                    </m:r>
                    <m:d>
                      <m:dPr>
                        <m:ctrlPr>
                          <a:rPr lang="en-IN" sz="18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18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𝐻𝑜𝑡</m:t>
                        </m:r>
                      </m:e>
                    </m:d>
                    <m:r>
                      <a:rPr lang="en-IN" sz="18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− </m:t>
                    </m:r>
                    <m:r>
                      <a:rPr lang="en-IN" sz="1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IN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IN" sz="1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1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IN" sz="1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𝑀𝑖𝑙𝑑</m:t>
                            </m:r>
                          </m:sub>
                        </m:sSub>
                      </m:e>
                    </m:d>
                    <m:r>
                      <m:rPr>
                        <m:nor/>
                      </m:rPr>
                      <a:rPr lang="en-IN" sz="1800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∗ </m:t>
                    </m:r>
                    <m:r>
                      <a:rPr lang="en-IN" sz="18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𝐸𝑛𝑡𝑟𝑜𝑝𝑦</m:t>
                    </m:r>
                    <m:r>
                      <a:rPr lang="en-IN" sz="18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IN" sz="18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𝑀𝑖𝑙𝑑</m:t>
                    </m:r>
                    <m:r>
                      <a:rPr lang="en-IN" sz="18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IN" sz="18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IN" sz="18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 </m:t>
                    </m:r>
                    <m:r>
                      <a:rPr lang="en-IN" sz="1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IN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IN" sz="1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1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IN" sz="1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𝐶𝑜𝑜𝑙</m:t>
                            </m:r>
                          </m:sub>
                        </m:sSub>
                      </m:e>
                    </m:d>
                    <m:r>
                      <m:rPr>
                        <m:nor/>
                      </m:rPr>
                      <a:rPr lang="en-IN" sz="1800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∗ </m:t>
                    </m:r>
                    <m:r>
                      <a:rPr lang="en-IN" sz="18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𝐸𝑛𝑡𝑟𝑜𝑝𝑦</m:t>
                    </m:r>
                    <m:r>
                      <a:rPr lang="en-IN" sz="18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IN" sz="18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𝐶𝑜𝑜𝑙</m:t>
                    </m:r>
                    <m:r>
                      <a:rPr lang="en-IN" sz="18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en-IN" sz="18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endParaRPr lang="en-IN" sz="18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" name="Rectangle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74" y="5260121"/>
                <a:ext cx="11491544" cy="646331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Rectangle 12"/>
              <p:cNvSpPr/>
              <p:nvPr/>
            </p:nvSpPr>
            <p:spPr>
              <a:xfrm>
                <a:off x="-143297" y="5844896"/>
                <a:ext cx="10068326" cy="78386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𝐼𝐺</m:t>
                      </m:r>
                      <m:d>
                        <m:dPr>
                          <m:ctrlPr>
                            <a:rPr lang="en-I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𝑆</m:t>
                          </m:r>
                          <m:r>
                            <a:rPr lang="en-I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 </m:t>
                          </m:r>
                          <m:r>
                            <a:rPr lang="en-I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𝑇𝑒𝑚𝑝</m:t>
                          </m:r>
                        </m:e>
                      </m:d>
                      <m:r>
                        <a:rPr lang="en-IN" sz="2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IN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0.970 </m:t>
                      </m:r>
                      <m:r>
                        <a:rPr lang="en-IN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d>
                        <m:dPr>
                          <m:ctrlPr>
                            <a:rPr lang="en-I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IN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IN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num>
                            <m:den>
                              <m:r>
                                <a:rPr lang="en-IN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14</m:t>
                              </m:r>
                            </m:den>
                          </m:f>
                        </m:e>
                      </m:d>
                      <m:d>
                        <m:dPr>
                          <m:ctrlPr>
                            <a:rPr lang="en-I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nor/>
                            </m:rPr>
                            <a:rPr lang="en-IN" sz="20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e>
                      </m:d>
                      <m:r>
                        <a:rPr lang="en-IN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d>
                        <m:dPr>
                          <m:ctrlPr>
                            <a:rPr lang="en-I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IN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IN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num>
                            <m:den>
                              <m:r>
                                <a:rPr lang="en-IN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14</m:t>
                              </m:r>
                            </m:den>
                          </m:f>
                        </m:e>
                      </m:d>
                      <m:d>
                        <m:dPr>
                          <m:ctrlPr>
                            <a:rPr lang="en-I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nor/>
                            </m:rPr>
                            <a:rPr lang="en-IN" sz="2000" b="0" i="0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en-IN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d>
                        <m:dPr>
                          <m:ctrlPr>
                            <a:rPr lang="en-I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IN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IN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IN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14</m:t>
                              </m:r>
                            </m:den>
                          </m:f>
                        </m:e>
                      </m:d>
                      <m:r>
                        <a:rPr lang="en-IN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IN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</m:t>
                      </m:r>
                      <m:r>
                        <a:rPr lang="en-IN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  <m:r>
                        <m:rPr>
                          <m:nor/>
                        </m:rPr>
                        <a:rPr lang="en-IN" sz="20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IN" sz="20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m:rPr>
                          <m:nor/>
                        </m:rPr>
                        <a:rPr lang="en-IN" sz="2000" b="0" i="0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0.828093</m:t>
                      </m:r>
                    </m:oMath>
                  </m:oMathPara>
                </a14:m>
                <a:endParaRPr lang="en-IN" sz="20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13" name="Rectangle 1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43297" y="5844896"/>
                <a:ext cx="10068326" cy="783869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ectangle 6"/>
          <p:cNvSpPr/>
          <p:nvPr/>
        </p:nvSpPr>
        <p:spPr>
          <a:xfrm>
            <a:off x="80175" y="5850143"/>
            <a:ext cx="10068327" cy="875944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Rectangle 15"/>
              <p:cNvSpPr/>
              <p:nvPr/>
            </p:nvSpPr>
            <p:spPr>
              <a:xfrm>
                <a:off x="3774" y="1833554"/>
                <a:ext cx="3665106" cy="68390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I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IN" sz="20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IN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𝐶𝑜𝑜𝑙</m:t>
                              </m:r>
                            </m:sub>
                          </m:sSub>
                        </m:e>
                      </m:d>
                      <m:r>
                        <a:rPr lang="en-IN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𝑁𝑜</m:t>
                          </m:r>
                          <m:r>
                            <a:rPr lang="en-I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. </m:t>
                          </m:r>
                          <m:r>
                            <a:rPr lang="en-I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𝑜𝑓</m:t>
                          </m:r>
                          <m:r>
                            <a:rPr lang="en-I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en-I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𝐶𝑜𝑜𝑙</m:t>
                          </m:r>
                        </m:num>
                        <m:den>
                          <m:r>
                            <a:rPr lang="en-I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𝑇𝑜𝑡𝑎𝑙</m:t>
                          </m:r>
                        </m:den>
                      </m:f>
                      <m:r>
                        <a:rPr lang="en-IN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I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IN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IN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4</m:t>
                              </m:r>
                            </m:num>
                            <m:den>
                              <m:r>
                                <a:rPr lang="en-IN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14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IN" sz="2000" dirty="0"/>
              </a:p>
            </p:txBody>
          </p:sp>
        </mc:Choice>
        <mc:Fallback xmlns="">
          <p:sp>
            <p:nvSpPr>
              <p:cNvPr id="16" name="Rectangle 1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74" y="1833554"/>
                <a:ext cx="3665106" cy="683905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/>
              <p:cNvSpPr txBox="1"/>
              <p:nvPr/>
            </p:nvSpPr>
            <p:spPr>
              <a:xfrm>
                <a:off x="53146" y="4281791"/>
                <a:ext cx="6014660" cy="69153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𝐸𝑛𝑡𝑟𝑜𝑝𝑦</m:t>
                      </m:r>
                      <m:d>
                        <m:dPr>
                          <m:ctrlPr>
                            <a:rPr lang="en-I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IN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IN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𝐶𝑜𝑜𝑙</m:t>
                              </m:r>
                            </m:sub>
                          </m:sSub>
                        </m:e>
                      </m:d>
                      <m:r>
                        <a:rPr lang="en-IN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=−</m:t>
                      </m:r>
                      <m:d>
                        <m:dPr>
                          <m:ctrlPr>
                            <a:rPr lang="en-IN" sz="20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IN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IN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IN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den>
                          </m:f>
                        </m:e>
                      </m:d>
                      <m:sSub>
                        <m:sSubPr>
                          <m:ctrlPr>
                            <a:rPr lang="en-IN" sz="20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𝑙𝑜𝑔</m:t>
                          </m:r>
                        </m:e>
                        <m:sub>
                          <m:r>
                            <a:rPr lang="en-I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en-I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IN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IN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IN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den>
                          </m:f>
                        </m:e>
                      </m:d>
                      <m:r>
                        <a:rPr lang="en-IN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d>
                        <m:dPr>
                          <m:ctrlPr>
                            <a:rPr lang="en-I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IN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IN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</m:num>
                            <m:den>
                              <m:r>
                                <a:rPr lang="en-IN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den>
                          </m:f>
                        </m:e>
                      </m:d>
                      <m:sSub>
                        <m:sSubPr>
                          <m:ctrlPr>
                            <a:rPr lang="en-I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𝑙𝑜𝑔</m:t>
                          </m:r>
                        </m:e>
                        <m:sub>
                          <m:r>
                            <a:rPr lang="en-I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en-I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IN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IN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</m:num>
                            <m:den>
                              <m:r>
                                <a:rPr lang="en-IN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den>
                          </m:f>
                        </m:e>
                      </m:d>
                      <m:r>
                        <a:rPr lang="en-IN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IN" sz="20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7" name="Text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146" y="4281791"/>
                <a:ext cx="6014660" cy="691536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6852677"/>
              </p:ext>
            </p:extLst>
          </p:nvPr>
        </p:nvGraphicFramePr>
        <p:xfrm>
          <a:off x="8528136" y="33243"/>
          <a:ext cx="2425256" cy="2333625"/>
        </p:xfrm>
        <a:graphic>
          <a:graphicData uri="http://schemas.openxmlformats.org/drawingml/2006/table">
            <a:tbl>
              <a:tblPr firstRow="1" bandRow="1">
                <a:tableStyleId>{AE0CDCE9-8EFF-456A-BFA7-76C2DBC4E188}</a:tableStyleId>
              </a:tblPr>
              <a:tblGrid>
                <a:gridCol w="608692">
                  <a:extLst>
                    <a:ext uri="{9D8B030D-6E8A-4147-A177-3AD203B41FA5}">
                      <a16:colId xmlns:a16="http://schemas.microsoft.com/office/drawing/2014/main" val="2709560890"/>
                    </a:ext>
                  </a:extLst>
                </a:gridCol>
                <a:gridCol w="836951">
                  <a:extLst>
                    <a:ext uri="{9D8B030D-6E8A-4147-A177-3AD203B41FA5}">
                      <a16:colId xmlns:a16="http://schemas.microsoft.com/office/drawing/2014/main" val="1950852357"/>
                    </a:ext>
                  </a:extLst>
                </a:gridCol>
                <a:gridCol w="979613">
                  <a:extLst>
                    <a:ext uri="{9D8B030D-6E8A-4147-A177-3AD203B41FA5}">
                      <a16:colId xmlns:a16="http://schemas.microsoft.com/office/drawing/2014/main" val="811324126"/>
                    </a:ext>
                  </a:extLst>
                </a:gridCol>
              </a:tblGrid>
              <a:tr h="333375">
                <a:tc gridSpan="3">
                  <a:txBody>
                    <a:bodyPr/>
                    <a:lstStyle/>
                    <a:p>
                      <a:pPr algn="ctr" rtl="0" fontAlgn="ctr"/>
                      <a:r>
                        <a:rPr lang="en-IN" sz="2000" u="none" strike="noStrike">
                          <a:effectLst/>
                        </a:rPr>
                        <a:t>Temperature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48111882"/>
                  </a:ext>
                </a:extLst>
              </a:tr>
              <a:tr h="333375">
                <a:tc>
                  <a:txBody>
                    <a:bodyPr/>
                    <a:lstStyle/>
                    <a:p>
                      <a:pPr algn="l" fontAlgn="ctr"/>
                      <a:r>
                        <a:rPr lang="en-IN" sz="1800" u="none" strike="noStrike">
                          <a:effectLst/>
                        </a:rPr>
                        <a:t> 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2000" u="none" strike="noStrike">
                          <a:effectLst/>
                        </a:rPr>
                        <a:t>Yes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2000" u="none" strike="noStrike">
                          <a:effectLst/>
                        </a:rPr>
                        <a:t>No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618222633"/>
                  </a:ext>
                </a:extLst>
              </a:tr>
              <a:tr h="33337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2000" u="none" strike="noStrike">
                          <a:effectLst/>
                        </a:rPr>
                        <a:t>Hot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2000" u="none" strike="noStrike">
                          <a:effectLst/>
                        </a:rPr>
                        <a:t>0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2000" u="none" strike="noStrike">
                          <a:effectLst/>
                        </a:rPr>
                        <a:t>2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521086717"/>
                  </a:ext>
                </a:extLst>
              </a:tr>
              <a:tr h="33337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2000" u="none" strike="noStrike">
                          <a:effectLst/>
                        </a:rPr>
                        <a:t>Mild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2000" u="none" strike="noStrike">
                          <a:effectLst/>
                        </a:rPr>
                        <a:t>1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2000" u="none" strike="noStrike">
                          <a:effectLst/>
                        </a:rPr>
                        <a:t>1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725182376"/>
                  </a:ext>
                </a:extLst>
              </a:tr>
              <a:tr h="33337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2000" u="none" strike="noStrike">
                          <a:effectLst/>
                        </a:rPr>
                        <a:t>Cool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2000" u="none" strike="noStrike">
                          <a:effectLst/>
                        </a:rPr>
                        <a:t>1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2000" u="none" strike="noStrike">
                          <a:effectLst/>
                        </a:rPr>
                        <a:t>0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225566400"/>
                  </a:ext>
                </a:extLst>
              </a:tr>
              <a:tr h="66675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2000" u="none" strike="noStrike">
                          <a:effectLst/>
                        </a:rPr>
                        <a:t>Total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2000" u="none" strike="noStrike">
                          <a:effectLst/>
                        </a:rPr>
                        <a:t>2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2000" u="none" strike="noStrike" dirty="0">
                          <a:effectLst/>
                        </a:rPr>
                        <a:t>3</a:t>
                      </a:r>
                      <a:endParaRPr lang="en-IN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35050773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78750027"/>
      </p:ext>
    </p:extLst>
  </p:cSld>
  <p:clrMapOvr>
    <a:masterClrMapping/>
  </p:clrMapOvr>
  <p:transition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500"/>
                            </p:stCondLst>
                            <p:childTnLst>
                              <p:par>
                                <p:cTn id="4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2" grpId="0"/>
      <p:bldP spid="9" grpId="0"/>
      <p:bldP spid="3" grpId="0"/>
      <p:bldP spid="13" grpId="0"/>
      <p:bldP spid="7" grpId="0" animBg="1"/>
      <p:bldP spid="16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36"/>
          <p:cNvSpPr txBox="1">
            <a:spLocks noGrp="1"/>
          </p:cNvSpPr>
          <p:nvPr>
            <p:ph type="sldNum" idx="12"/>
          </p:nvPr>
        </p:nvSpPr>
        <p:spPr>
          <a:xfrm>
            <a:off x="8778240" y="6536690"/>
            <a:ext cx="2804160" cy="184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ahoma"/>
              <a:buNone/>
            </a:pPr>
            <a:fld id="{00000000-1234-1234-1234-123412341234}" type="slidenum">
              <a:rPr lang="en-US" sz="12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17</a:t>
            </a:fld>
            <a:endParaRPr sz="1200" b="0" i="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95016" y="2454382"/>
                <a:ext cx="5684698" cy="46063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IN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𝐸𝑛𝑡𝑟𝑜𝑝𝑦</m:t>
                    </m:r>
                    <m:d>
                      <m:dPr>
                        <m:ctrlPr>
                          <a:rPr lang="en-I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𝐻𝑖𝑔h</m:t>
                            </m:r>
                          </m:sub>
                        </m:sSub>
                      </m:e>
                    </m:d>
                    <m:r>
                      <a:rPr lang="en-IN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=−</m:t>
                    </m:r>
                    <m:d>
                      <m:dPr>
                        <m:ctrlPr>
                          <a:rPr lang="en-IN" sz="2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0</m:t>
                            </m:r>
                          </m:num>
                          <m:den>
                            <m:r>
                              <a:rPr lang="en-I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  <m:sSub>
                      <m:sSubPr>
                        <m:ctrlPr>
                          <a:rPr lang="en-IN" sz="2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𝑙𝑜𝑔</m:t>
                        </m:r>
                      </m:e>
                      <m:sub>
                        <m:r>
                          <a:rPr lang="en-I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d>
                      <m:dPr>
                        <m:ctrlPr>
                          <a:rPr lang="en-I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0</m:t>
                            </m:r>
                          </m:num>
                          <m:den>
                            <m:r>
                              <a:rPr lang="en-I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  <m:r>
                      <a:rPr lang="en-IN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d>
                      <m:dPr>
                        <m:ctrlPr>
                          <a:rPr lang="en-I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I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  <m:sSub>
                      <m:sSubPr>
                        <m:ctrlPr>
                          <a:rPr lang="en-I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𝑙𝑜𝑔</m:t>
                        </m:r>
                      </m:e>
                      <m:sub>
                        <m:r>
                          <a:rPr lang="en-I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d>
                      <m:dPr>
                        <m:ctrlPr>
                          <a:rPr lang="en-I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I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</m:oMath>
                </a14:m>
                <a:r>
                  <a:rPr lang="en-IN" sz="20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0</a:t>
                </a:r>
                <a:endParaRPr lang="en-IN" sz="20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016" y="2454382"/>
                <a:ext cx="5684698" cy="460639"/>
              </a:xfrm>
              <a:prstGeom prst="rect">
                <a:avLst/>
              </a:prstGeom>
              <a:blipFill>
                <a:blip r:embed="rId3"/>
                <a:stretch>
                  <a:fillRect t="-2667" r="-1717" b="-1466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1"/>
              <p:cNvSpPr/>
              <p:nvPr/>
            </p:nvSpPr>
            <p:spPr>
              <a:xfrm>
                <a:off x="201649" y="452308"/>
                <a:ext cx="3825406" cy="78386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I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IN" sz="20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IN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𝐻𝑖𝑔h</m:t>
                              </m:r>
                            </m:sub>
                          </m:sSub>
                        </m:e>
                      </m:d>
                      <m:r>
                        <a:rPr lang="en-IN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𝑁𝑜</m:t>
                          </m:r>
                          <m:r>
                            <a:rPr lang="en-I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. </m:t>
                          </m:r>
                          <m:r>
                            <a:rPr lang="en-I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𝑜𝑓</m:t>
                          </m:r>
                          <m:r>
                            <a:rPr lang="en-I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en-I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𝐻𝑖𝑔h</m:t>
                          </m:r>
                        </m:num>
                        <m:den>
                          <m:r>
                            <a:rPr lang="en-I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𝑇𝑜𝑡𝑎𝑙</m:t>
                          </m:r>
                        </m:den>
                      </m:f>
                      <m:r>
                        <a:rPr lang="en-IN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I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IN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IN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3</m:t>
                              </m:r>
                            </m:num>
                            <m:den>
                              <m:r>
                                <a:rPr lang="en-IN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5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IN" sz="2000" dirty="0"/>
              </a:p>
            </p:txBody>
          </p:sp>
        </mc:Choice>
        <mc:Fallback xmlns="">
          <p:sp>
            <p:nvSpPr>
              <p:cNvPr id="2" name="Rectangle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1649" y="452308"/>
                <a:ext cx="3825406" cy="78386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/>
              <p:cNvSpPr/>
              <p:nvPr/>
            </p:nvSpPr>
            <p:spPr>
              <a:xfrm>
                <a:off x="201649" y="1230772"/>
                <a:ext cx="4391972" cy="78386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I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IN" sz="20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IN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𝑁𝑜𝑟𝑚𝑎𝑙</m:t>
                              </m:r>
                            </m:sub>
                          </m:sSub>
                        </m:e>
                      </m:d>
                      <m:r>
                        <a:rPr lang="en-IN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𝑁𝑜</m:t>
                          </m:r>
                          <m:r>
                            <a:rPr lang="en-I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. </m:t>
                          </m:r>
                          <m:r>
                            <a:rPr lang="en-I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𝑜𝑓</m:t>
                          </m:r>
                          <m:r>
                            <a:rPr lang="en-I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en-I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𝑁𝑜𝑟𝑚𝑎𝑙</m:t>
                          </m:r>
                        </m:num>
                        <m:den>
                          <m:r>
                            <a:rPr lang="en-I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𝑇𝑜𝑡𝑎𝑙</m:t>
                          </m:r>
                        </m:den>
                      </m:f>
                      <m:r>
                        <a:rPr lang="en-IN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I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IN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IN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num>
                            <m:den>
                              <m:r>
                                <a:rPr lang="en-IN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5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IN" sz="2000" dirty="0"/>
              </a:p>
            </p:txBody>
          </p:sp>
        </mc:Choice>
        <mc:Fallback xmlns="">
          <p:sp>
            <p:nvSpPr>
              <p:cNvPr id="9" name="Rectangle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1649" y="1230772"/>
                <a:ext cx="4391972" cy="78386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201649" y="3482346"/>
                <a:ext cx="6016455" cy="46063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IN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𝐸𝑛𝑡𝑟𝑜𝑝𝑦</m:t>
                    </m:r>
                    <m:d>
                      <m:dPr>
                        <m:ctrlPr>
                          <a:rPr lang="en-I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I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𝑁𝑜𝑟𝑚𝑎𝑙</m:t>
                            </m:r>
                          </m:sub>
                        </m:sSub>
                      </m:e>
                    </m:d>
                    <m:r>
                      <a:rPr lang="en-IN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=−</m:t>
                    </m:r>
                    <m:d>
                      <m:dPr>
                        <m:ctrlPr>
                          <a:rPr lang="en-IN" sz="2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a:rPr lang="en-I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sSub>
                      <m:sSubPr>
                        <m:ctrlPr>
                          <a:rPr lang="en-IN" sz="2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𝑙𝑜𝑔</m:t>
                        </m:r>
                      </m:e>
                      <m:sub>
                        <m:r>
                          <a:rPr lang="en-I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d>
                      <m:dPr>
                        <m:ctrlPr>
                          <a:rPr lang="en-I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a:rPr lang="en-I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a:rPr lang="en-IN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d>
                      <m:dPr>
                        <m:ctrlPr>
                          <a:rPr lang="en-I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0</m:t>
                            </m:r>
                          </m:num>
                          <m:den>
                            <m:r>
                              <a:rPr lang="en-I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sSub>
                      <m:sSubPr>
                        <m:ctrlPr>
                          <a:rPr lang="en-I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𝑙𝑜𝑔</m:t>
                        </m:r>
                      </m:e>
                      <m:sub>
                        <m:r>
                          <a:rPr lang="en-I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d>
                      <m:dPr>
                        <m:ctrlPr>
                          <a:rPr lang="en-I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0</m:t>
                            </m:r>
                          </m:num>
                          <m:den>
                            <m:r>
                              <a:rPr lang="en-I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a:rPr lang="en-IN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IN" sz="20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endParaRPr lang="en-IN" sz="20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1649" y="3482346"/>
                <a:ext cx="6016455" cy="460639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/>
              <p:cNvSpPr/>
              <p:nvPr/>
            </p:nvSpPr>
            <p:spPr>
              <a:xfrm>
                <a:off x="0" y="4510310"/>
                <a:ext cx="11678710" cy="44717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𝐼𝐺</m:t>
                      </m:r>
                      <m:d>
                        <m:dPr>
                          <m:ctrlPr>
                            <a:rPr lang="en-I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𝑅𝑎𝑖𝑛𝑦</m:t>
                          </m:r>
                          <m:r>
                            <a:rPr lang="en-I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 </m:t>
                          </m:r>
                          <m:r>
                            <a:rPr lang="en-I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𝐻𝑢𝑚𝑖𝑑𝑖𝑡𝑦</m:t>
                          </m:r>
                        </m:e>
                      </m:d>
                      <m:r>
                        <a:rPr lang="en-IN" sz="2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IN" sz="2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𝐸𝑛𝑡𝑟𝑜𝑝𝑦</m:t>
                      </m:r>
                      <m:d>
                        <m:dPr>
                          <m:ctrlPr>
                            <a:rPr lang="en-I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𝑆</m:t>
                          </m:r>
                        </m:e>
                      </m:d>
                      <m:r>
                        <a:rPr lang="en-IN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− </m:t>
                      </m:r>
                      <m:r>
                        <a:rPr lang="en-IN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I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IN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IN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𝐻𝑖𝑔h</m:t>
                              </m:r>
                            </m:sub>
                          </m:sSub>
                        </m:e>
                      </m:d>
                      <m:r>
                        <m:rPr>
                          <m:nor/>
                        </m:rPr>
                        <a:rPr lang="en-IN" sz="2000" dirty="0"/>
                        <m:t> ∗ </m:t>
                      </m:r>
                      <m:r>
                        <a:rPr lang="en-IN" sz="2000" b="0" i="1" dirty="0" smtClean="0">
                          <a:latin typeface="Cambria Math" panose="02040503050406030204" pitchFamily="18" charset="0"/>
                        </a:rPr>
                        <m:t>𝐸𝑛𝑡𝑟𝑜𝑝𝑦</m:t>
                      </m:r>
                      <m:d>
                        <m:dPr>
                          <m:ctrlPr>
                            <a:rPr lang="en-IN" sz="20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000" b="0" i="1" dirty="0" smtClean="0">
                              <a:latin typeface="Cambria Math" panose="02040503050406030204" pitchFamily="18" charset="0"/>
                            </a:rPr>
                            <m:t>𝐻𝑖𝑔h</m:t>
                          </m:r>
                        </m:e>
                      </m:d>
                      <m:r>
                        <a:rPr lang="en-IN" sz="2000" b="0" i="1" dirty="0" smtClean="0">
                          <a:latin typeface="Cambria Math" panose="02040503050406030204" pitchFamily="18" charset="0"/>
                        </a:rPr>
                        <m:t> − </m:t>
                      </m:r>
                      <m:r>
                        <a:rPr lang="en-IN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I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IN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IN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𝑁𝑜𝑟𝑚𝑎𝑙</m:t>
                              </m:r>
                            </m:sub>
                          </m:sSub>
                        </m:e>
                      </m:d>
                      <m:r>
                        <m:rPr>
                          <m:nor/>
                        </m:rPr>
                        <a:rPr lang="en-IN" sz="2000" dirty="0"/>
                        <m:t> ∗ </m:t>
                      </m:r>
                      <m:r>
                        <a:rPr lang="en-IN" sz="2000" i="1" dirty="0">
                          <a:latin typeface="Cambria Math" panose="02040503050406030204" pitchFamily="18" charset="0"/>
                        </a:rPr>
                        <m:t>𝐸𝑛𝑡𝑟𝑜𝑝𝑦</m:t>
                      </m:r>
                      <m:r>
                        <a:rPr lang="en-IN" sz="2000" i="1" dirty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IN" sz="2000" b="0" i="1" dirty="0" smtClean="0">
                          <a:latin typeface="Cambria Math" panose="02040503050406030204" pitchFamily="18" charset="0"/>
                        </a:rPr>
                        <m:t>𝑁𝑜𝑟𝑚𝑎𝑙</m:t>
                      </m:r>
                      <m:r>
                        <a:rPr lang="en-IN" sz="2000" i="1" dirty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IN" sz="2000" dirty="0"/>
              </a:p>
            </p:txBody>
          </p:sp>
        </mc:Choice>
        <mc:Fallback xmlns="">
          <p:sp>
            <p:nvSpPr>
              <p:cNvPr id="3" name="Rectangle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4510310"/>
                <a:ext cx="11678710" cy="447174"/>
              </a:xfrm>
              <a:prstGeom prst="rect">
                <a:avLst/>
              </a:prstGeom>
              <a:blipFill>
                <a:blip r:embed="rId7"/>
                <a:stretch>
                  <a:fillRect b="-821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ectangle 12"/>
              <p:cNvSpPr/>
              <p:nvPr/>
            </p:nvSpPr>
            <p:spPr>
              <a:xfrm>
                <a:off x="201649" y="5844896"/>
                <a:ext cx="6725944" cy="78386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𝐼𝐺</m:t>
                      </m:r>
                      <m:d>
                        <m:dPr>
                          <m:ctrlPr>
                            <a:rPr lang="en-I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𝑅𝑎𝑖𝑛𝑦</m:t>
                          </m:r>
                          <m:r>
                            <a:rPr lang="en-I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 </m:t>
                          </m:r>
                          <m:r>
                            <a:rPr lang="en-I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𝐻𝑢𝑚𝑖𝑑𝑖𝑡𝑦</m:t>
                          </m:r>
                        </m:e>
                      </m:d>
                      <m:r>
                        <a:rPr lang="en-IN" sz="2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IN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0.970 </m:t>
                      </m:r>
                      <m:r>
                        <a:rPr lang="en-IN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d>
                        <m:dPr>
                          <m:ctrlPr>
                            <a:rPr lang="en-I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IN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IN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3</m:t>
                              </m:r>
                            </m:num>
                            <m:den>
                              <m:r>
                                <a:rPr lang="en-IN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5</m:t>
                              </m:r>
                            </m:den>
                          </m:f>
                        </m:e>
                      </m:d>
                      <m:r>
                        <a:rPr lang="en-IN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m:rPr>
                          <m:nor/>
                        </m:rPr>
                        <a:rPr lang="en-IN" sz="2000" b="0" i="0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</m:t>
                      </m:r>
                      <m:r>
                        <a:rPr lang="en-IN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  <m:r>
                        <a:rPr lang="en-IN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d>
                        <m:dPr>
                          <m:ctrlPr>
                            <a:rPr lang="en-I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IN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IN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num>
                            <m:den>
                              <m:r>
                                <a:rPr lang="en-IN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5</m:t>
                              </m:r>
                            </m:den>
                          </m:f>
                        </m:e>
                      </m:d>
                      <m:r>
                        <a:rPr lang="en-IN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(0)</m:t>
                      </m:r>
                      <m:r>
                        <m:rPr>
                          <m:nor/>
                        </m:rPr>
                        <a:rPr lang="en-IN" sz="20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IN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0.970</m:t>
                      </m:r>
                    </m:oMath>
                  </m:oMathPara>
                </a14:m>
                <a:endParaRPr lang="en-IN" sz="20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3" name="Rectangle 1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1649" y="5844896"/>
                <a:ext cx="6725944" cy="783869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ectangle 6"/>
          <p:cNvSpPr/>
          <p:nvPr/>
        </p:nvSpPr>
        <p:spPr>
          <a:xfrm>
            <a:off x="201648" y="5844896"/>
            <a:ext cx="6725945" cy="875944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8778240" y="2816978"/>
                <a:ext cx="2255554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IN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𝐸𝑛𝑡𝑟𝑜𝑝𝑦</m:t>
                    </m:r>
                    <m:d>
                      <m:dPr>
                        <m:ctrlPr>
                          <a:rPr lang="en-I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𝑆</m:t>
                        </m:r>
                      </m:e>
                    </m:d>
                    <m:r>
                      <a:rPr lang="en-IN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IN" sz="20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0.970</a:t>
                </a:r>
                <a:endParaRPr lang="en-IN" sz="20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8240" y="2816978"/>
                <a:ext cx="2255554" cy="307777"/>
              </a:xfrm>
              <a:prstGeom prst="rect">
                <a:avLst/>
              </a:prstGeom>
              <a:blipFill>
                <a:blip r:embed="rId9"/>
                <a:stretch>
                  <a:fillRect l="-5135" t="-25490" r="-5676" b="-4902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97569829"/>
              </p:ext>
            </p:extLst>
          </p:nvPr>
        </p:nvGraphicFramePr>
        <p:xfrm>
          <a:off x="7424210" y="317095"/>
          <a:ext cx="4254500" cy="2333625"/>
        </p:xfrm>
        <a:graphic>
          <a:graphicData uri="http://schemas.openxmlformats.org/drawingml/2006/table">
            <a:tbl>
              <a:tblPr firstRow="1" bandRow="1">
                <a:tableStyleId>{AE0CDCE9-8EFF-456A-BFA7-76C2DBC4E188}</a:tableStyleId>
              </a:tblPr>
              <a:tblGrid>
                <a:gridCol w="608692">
                  <a:extLst>
                    <a:ext uri="{9D8B030D-6E8A-4147-A177-3AD203B41FA5}">
                      <a16:colId xmlns:a16="http://schemas.microsoft.com/office/drawing/2014/main" val="2524920463"/>
                    </a:ext>
                  </a:extLst>
                </a:gridCol>
                <a:gridCol w="836951">
                  <a:extLst>
                    <a:ext uri="{9D8B030D-6E8A-4147-A177-3AD203B41FA5}">
                      <a16:colId xmlns:a16="http://schemas.microsoft.com/office/drawing/2014/main" val="1182412115"/>
                    </a:ext>
                  </a:extLst>
                </a:gridCol>
                <a:gridCol w="979613">
                  <a:extLst>
                    <a:ext uri="{9D8B030D-6E8A-4147-A177-3AD203B41FA5}">
                      <a16:colId xmlns:a16="http://schemas.microsoft.com/office/drawing/2014/main" val="982166578"/>
                    </a:ext>
                  </a:extLst>
                </a:gridCol>
                <a:gridCol w="773545">
                  <a:extLst>
                    <a:ext uri="{9D8B030D-6E8A-4147-A177-3AD203B41FA5}">
                      <a16:colId xmlns:a16="http://schemas.microsoft.com/office/drawing/2014/main" val="3822703028"/>
                    </a:ext>
                  </a:extLst>
                </a:gridCol>
                <a:gridCol w="1055699">
                  <a:extLst>
                    <a:ext uri="{9D8B030D-6E8A-4147-A177-3AD203B41FA5}">
                      <a16:colId xmlns:a16="http://schemas.microsoft.com/office/drawing/2014/main" val="47449240"/>
                    </a:ext>
                  </a:extLst>
                </a:gridCol>
              </a:tblGrid>
              <a:tr h="333375">
                <a:tc gridSpan="5">
                  <a:txBody>
                    <a:bodyPr/>
                    <a:lstStyle/>
                    <a:p>
                      <a:pPr algn="ctr" rtl="0" fontAlgn="ctr"/>
                      <a:r>
                        <a:rPr lang="en-IN" sz="2000" u="none" strike="noStrike">
                          <a:effectLst/>
                        </a:rPr>
                        <a:t>Humidity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13189894"/>
                  </a:ext>
                </a:extLst>
              </a:tr>
              <a:tr h="333375">
                <a:tc>
                  <a:txBody>
                    <a:bodyPr/>
                    <a:lstStyle/>
                    <a:p>
                      <a:pPr algn="l" fontAlgn="ctr"/>
                      <a:r>
                        <a:rPr lang="en-IN" sz="1800" u="none" strike="noStrike">
                          <a:effectLst/>
                        </a:rPr>
                        <a:t> 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2000" u="none" strike="noStrike">
                          <a:effectLst/>
                        </a:rPr>
                        <a:t>Yes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2000" u="none" strike="noStrike">
                          <a:effectLst/>
                        </a:rPr>
                        <a:t>No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2000" u="none" strike="noStrike">
                          <a:effectLst/>
                        </a:rPr>
                        <a:t>Count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2000" u="none" strike="noStrike">
                          <a:effectLst/>
                        </a:rPr>
                        <a:t>P(No)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546221211"/>
                  </a:ext>
                </a:extLst>
              </a:tr>
              <a:tr h="33337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2000" u="none" strike="noStrike">
                          <a:effectLst/>
                        </a:rPr>
                        <a:t>High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2000" u="none" strike="noStrike">
                          <a:effectLst/>
                        </a:rPr>
                        <a:t>0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2000" u="none" strike="noStrike">
                          <a:effectLst/>
                        </a:rPr>
                        <a:t>3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2000" u="none" strike="noStrike">
                          <a:effectLst/>
                        </a:rPr>
                        <a:t>3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2000" u="none" strike="noStrike">
                          <a:effectLst/>
                        </a:rPr>
                        <a:t> 4/5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424648291"/>
                  </a:ext>
                </a:extLst>
              </a:tr>
              <a:tr h="66675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2000" u="none" strike="noStrike">
                          <a:effectLst/>
                        </a:rPr>
                        <a:t>Normal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2000" u="none" strike="noStrike">
                          <a:effectLst/>
                        </a:rPr>
                        <a:t>2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2000" u="none" strike="noStrike">
                          <a:effectLst/>
                        </a:rPr>
                        <a:t>0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2000" u="none" strike="noStrike">
                          <a:effectLst/>
                        </a:rPr>
                        <a:t>2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2000" u="none" strike="noStrike">
                          <a:effectLst/>
                        </a:rPr>
                        <a:t> 1/5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991506490"/>
                  </a:ext>
                </a:extLst>
              </a:tr>
              <a:tr h="66675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2000" u="none" strike="noStrike">
                          <a:effectLst/>
                        </a:rPr>
                        <a:t>Total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2000" u="none" strike="noStrike">
                          <a:effectLst/>
                        </a:rPr>
                        <a:t>2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2000" u="none" strike="noStrike">
                          <a:effectLst/>
                        </a:rPr>
                        <a:t>3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2000" u="none" strike="noStrike">
                          <a:effectLst/>
                        </a:rPr>
                        <a:t>100%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2000" u="none" strike="noStrike" dirty="0">
                          <a:effectLst/>
                        </a:rPr>
                        <a:t>100%</a:t>
                      </a:r>
                      <a:endParaRPr lang="en-IN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373530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90840738"/>
      </p:ext>
    </p:extLst>
  </p:cSld>
  <p:clrMapOvr>
    <a:masterClrMapping/>
  </p:clrMapOvr>
  <p:transition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2" grpId="0"/>
      <p:bldP spid="9" grpId="0"/>
      <p:bldP spid="10" grpId="0"/>
      <p:bldP spid="3" grpId="0"/>
      <p:bldP spid="13" grpId="0"/>
      <p:bldP spid="7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35"/>
          <p:cNvSpPr txBox="1"/>
          <p:nvPr/>
        </p:nvSpPr>
        <p:spPr>
          <a:xfrm>
            <a:off x="304799" y="381000"/>
            <a:ext cx="8454189" cy="689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0" i="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Decision Tree: </a:t>
            </a:r>
            <a:r>
              <a:rPr lang="en-US" sz="4400" b="0" i="0" dirty="0" smtClea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Information Gain</a:t>
            </a:r>
            <a:endParaRPr sz="4400" b="0" i="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146582" y="833527"/>
            <a:ext cx="377699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sz="2000" dirty="0" smtClean="0"/>
              <a:t>Highest Information Gain </a:t>
            </a:r>
          </a:p>
          <a:p>
            <a:pPr algn="ctr"/>
            <a:r>
              <a:rPr lang="en-IN" sz="2000" dirty="0" smtClean="0"/>
              <a:t>Shall be selected as Root Node</a:t>
            </a:r>
            <a:endParaRPr lang="en-IN" sz="2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Rectangle 15"/>
              <p:cNvSpPr/>
              <p:nvPr/>
            </p:nvSpPr>
            <p:spPr>
              <a:xfrm>
                <a:off x="0" y="1317867"/>
                <a:ext cx="3520836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𝐼𝐺</m:t>
                      </m:r>
                      <m:d>
                        <m:dPr>
                          <m:ctrlPr>
                            <a:rPr lang="en-I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𝑅𝑎𝑖𝑛𝑦</m:t>
                          </m:r>
                          <m:r>
                            <a:rPr lang="en-I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 </m:t>
                          </m:r>
                          <m:r>
                            <a:rPr lang="en-I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𝑊𝑖𝑛𝑑</m:t>
                          </m:r>
                        </m:e>
                      </m:d>
                      <m:r>
                        <a:rPr lang="en-IN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m:rPr>
                          <m:nor/>
                        </m:rPr>
                        <a:rPr lang="en-IN" sz="20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0.136966</m:t>
                      </m:r>
                    </m:oMath>
                  </m:oMathPara>
                </a14:m>
                <a:endParaRPr lang="en-IN" sz="20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6" name="Rectangle 1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1317867"/>
                <a:ext cx="3520836" cy="400110"/>
              </a:xfrm>
              <a:prstGeom prst="rect">
                <a:avLst/>
              </a:prstGeom>
              <a:blipFill>
                <a:blip r:embed="rId3"/>
                <a:stretch>
                  <a:fillRect b="-1666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Rectangle 24"/>
              <p:cNvSpPr/>
              <p:nvPr/>
            </p:nvSpPr>
            <p:spPr>
              <a:xfrm>
                <a:off x="0" y="2313051"/>
                <a:ext cx="3573158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𝐼𝐺</m:t>
                      </m:r>
                      <m:d>
                        <m:dPr>
                          <m:ctrlPr>
                            <a:rPr lang="en-I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𝑅𝑎𝑖𝑛𝑦</m:t>
                          </m:r>
                          <m:r>
                            <a:rPr lang="en-I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 </m:t>
                          </m:r>
                          <m:r>
                            <a:rPr lang="en-I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𝐻𝑢𝑚𝑖𝑑𝑖𝑡𝑦</m:t>
                          </m:r>
                        </m:e>
                      </m:d>
                      <m:r>
                        <a:rPr lang="en-IN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IN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0.970</m:t>
                      </m:r>
                    </m:oMath>
                  </m:oMathPara>
                </a14:m>
                <a:endParaRPr lang="en-IN" sz="20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5" name="Rectangle 2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2313051"/>
                <a:ext cx="3573158" cy="400110"/>
              </a:xfrm>
              <a:prstGeom prst="rect">
                <a:avLst/>
              </a:prstGeom>
              <a:blipFill>
                <a:blip r:embed="rId4"/>
                <a:stretch>
                  <a:fillRect b="-1666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Rectangle 25"/>
              <p:cNvSpPr/>
              <p:nvPr/>
            </p:nvSpPr>
            <p:spPr>
              <a:xfrm>
                <a:off x="0" y="3251885"/>
                <a:ext cx="3732551" cy="40011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𝐼𝐺</m:t>
                      </m:r>
                      <m:d>
                        <m:dPr>
                          <m:ctrlPr>
                            <a:rPr lang="en-I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𝑅𝑎𝑖𝑛𝑦</m:t>
                          </m:r>
                          <m:r>
                            <a:rPr lang="en-I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 </m:t>
                          </m:r>
                          <m:r>
                            <a:rPr lang="en-I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𝑇𝑒𝑚𝑝</m:t>
                          </m:r>
                        </m:e>
                      </m:d>
                      <m:r>
                        <a:rPr lang="en-IN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m:rPr>
                          <m:nor/>
                        </m:rPr>
                        <a:rPr lang="en-IN" sz="20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0.828093</m:t>
                      </m:r>
                    </m:oMath>
                  </m:oMathPara>
                </a14:m>
                <a:endParaRPr lang="en-IN" sz="20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6" name="Rectangle 2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3251885"/>
                <a:ext cx="3732551" cy="400110"/>
              </a:xfrm>
              <a:prstGeom prst="rect">
                <a:avLst/>
              </a:prstGeom>
              <a:blipFill>
                <a:blip r:embed="rId5"/>
                <a:stretch>
                  <a:fillRect b="-1666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4" name="Google Shape;292;p34"/>
          <p:cNvSpPr/>
          <p:nvPr/>
        </p:nvSpPr>
        <p:spPr>
          <a:xfrm>
            <a:off x="8655341" y="4330759"/>
            <a:ext cx="2057400" cy="1066800"/>
          </a:xfrm>
          <a:prstGeom prst="roundRect">
            <a:avLst>
              <a:gd name="adj" fmla="val 16667"/>
            </a:avLst>
          </a:prstGeom>
          <a:noFill/>
          <a:ln w="2540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Humidity</a:t>
            </a:r>
            <a:endParaRPr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297;p34"/>
          <p:cNvSpPr/>
          <p:nvPr/>
        </p:nvSpPr>
        <p:spPr>
          <a:xfrm>
            <a:off x="8026056" y="6256714"/>
            <a:ext cx="1066800" cy="381000"/>
          </a:xfrm>
          <a:prstGeom prst="flowChartTerminator">
            <a:avLst/>
          </a:prstGeom>
          <a:noFill/>
          <a:ln w="2540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Yes</a:t>
            </a:r>
            <a:endParaRPr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299;p34"/>
          <p:cNvSpPr/>
          <p:nvPr/>
        </p:nvSpPr>
        <p:spPr>
          <a:xfrm>
            <a:off x="10179341" y="6256714"/>
            <a:ext cx="1066800" cy="381000"/>
          </a:xfrm>
          <a:prstGeom prst="flowChartTerminator">
            <a:avLst/>
          </a:prstGeom>
          <a:noFill/>
          <a:ln w="2540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</a:t>
            </a:r>
            <a:endParaRPr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" name="Group 3"/>
          <p:cNvGrpSpPr/>
          <p:nvPr/>
        </p:nvGrpSpPr>
        <p:grpSpPr>
          <a:xfrm>
            <a:off x="8515660" y="5397514"/>
            <a:ext cx="2197081" cy="859245"/>
            <a:chOff x="8515660" y="5397514"/>
            <a:chExt cx="2197081" cy="859245"/>
          </a:xfrm>
        </p:grpSpPr>
        <p:cxnSp>
          <p:nvCxnSpPr>
            <p:cNvPr id="55" name="Google Shape;296;p34"/>
            <p:cNvCxnSpPr>
              <a:stCxn id="54" idx="2"/>
              <a:endCxn id="57" idx="0"/>
            </p:cNvCxnSpPr>
            <p:nvPr/>
          </p:nvCxnSpPr>
          <p:spPr>
            <a:xfrm flipH="1">
              <a:off x="8559341" y="5397559"/>
              <a:ext cx="1124700" cy="859200"/>
            </a:xfrm>
            <a:prstGeom prst="straightConnector1">
              <a:avLst/>
            </a:prstGeom>
            <a:noFill/>
            <a:ln w="9525" cap="flat" cmpd="sng">
              <a:solidFill>
                <a:srgbClr val="4A7DBA"/>
              </a:solidFill>
              <a:prstDash val="solid"/>
              <a:round/>
              <a:headEnd type="none" w="sm" len="sm"/>
              <a:tailEnd type="stealth" w="med" len="med"/>
            </a:ln>
          </p:spPr>
        </p:cxnSp>
        <p:cxnSp>
          <p:nvCxnSpPr>
            <p:cNvPr id="56" name="Google Shape;298;p34"/>
            <p:cNvCxnSpPr>
              <a:endCxn id="58" idx="0"/>
            </p:cNvCxnSpPr>
            <p:nvPr/>
          </p:nvCxnSpPr>
          <p:spPr>
            <a:xfrm>
              <a:off x="9684041" y="5397514"/>
              <a:ext cx="1028700" cy="859200"/>
            </a:xfrm>
            <a:prstGeom prst="straightConnector1">
              <a:avLst/>
            </a:prstGeom>
            <a:noFill/>
            <a:ln w="9525" cap="flat" cmpd="sng">
              <a:solidFill>
                <a:srgbClr val="4A7DBA"/>
              </a:solidFill>
              <a:prstDash val="solid"/>
              <a:round/>
              <a:headEnd type="none" w="sm" len="sm"/>
              <a:tailEnd type="stealth" w="med" len="med"/>
            </a:ln>
          </p:spPr>
        </p:cxnSp>
        <p:sp>
          <p:nvSpPr>
            <p:cNvPr id="59" name="Google Shape;307;p34"/>
            <p:cNvSpPr txBox="1"/>
            <p:nvPr/>
          </p:nvSpPr>
          <p:spPr>
            <a:xfrm>
              <a:off x="8515660" y="5642669"/>
              <a:ext cx="1072496" cy="369291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dirty="0" smtClean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Normal</a:t>
              </a:r>
              <a:endParaRPr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" name="Google Shape;307;p34"/>
            <p:cNvSpPr txBox="1"/>
            <p:nvPr/>
          </p:nvSpPr>
          <p:spPr>
            <a:xfrm>
              <a:off x="9800881" y="5614287"/>
              <a:ext cx="795020" cy="369291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dirty="0" smtClean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High</a:t>
              </a:r>
              <a:endParaRPr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" name="Group 4"/>
          <p:cNvGrpSpPr/>
          <p:nvPr/>
        </p:nvGrpSpPr>
        <p:grpSpPr>
          <a:xfrm>
            <a:off x="3659797" y="1617070"/>
            <a:ext cx="5986144" cy="4992463"/>
            <a:chOff x="3659797" y="1617070"/>
            <a:chExt cx="5986144" cy="4992463"/>
          </a:xfrm>
        </p:grpSpPr>
        <p:grpSp>
          <p:nvGrpSpPr>
            <p:cNvPr id="3" name="Group 2"/>
            <p:cNvGrpSpPr/>
            <p:nvPr/>
          </p:nvGrpSpPr>
          <p:grpSpPr>
            <a:xfrm>
              <a:off x="3659797" y="1617070"/>
              <a:ext cx="5986144" cy="4992463"/>
              <a:chOff x="3659797" y="1617070"/>
              <a:chExt cx="5986144" cy="4992463"/>
            </a:xfrm>
          </p:grpSpPr>
          <p:grpSp>
            <p:nvGrpSpPr>
              <p:cNvPr id="22" name="Group 21"/>
              <p:cNvGrpSpPr/>
              <p:nvPr/>
            </p:nvGrpSpPr>
            <p:grpSpPr>
              <a:xfrm>
                <a:off x="5531141" y="1617070"/>
                <a:ext cx="4114800" cy="3299727"/>
                <a:chOff x="7234988" y="2918540"/>
                <a:chExt cx="4114800" cy="3299727"/>
              </a:xfrm>
            </p:grpSpPr>
            <p:sp>
              <p:nvSpPr>
                <p:cNvPr id="23" name="Google Shape;290;p34"/>
                <p:cNvSpPr/>
                <p:nvPr/>
              </p:nvSpPr>
              <p:spPr>
                <a:xfrm>
                  <a:off x="8263688" y="2918540"/>
                  <a:ext cx="2057400" cy="1066800"/>
                </a:xfrm>
                <a:prstGeom prst="roundRect">
                  <a:avLst>
                    <a:gd name="adj" fmla="val 16667"/>
                  </a:avLst>
                </a:prstGeom>
                <a:noFill/>
                <a:ln w="25400" cap="flat" cmpd="sng">
                  <a:solidFill>
                    <a:srgbClr val="395E89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Outlook</a:t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cxnSp>
              <p:nvCxnSpPr>
                <p:cNvPr id="24" name="Google Shape;293;p34"/>
                <p:cNvCxnSpPr>
                  <a:stCxn id="23" idx="2"/>
                </p:cNvCxnSpPr>
                <p:nvPr/>
              </p:nvCxnSpPr>
              <p:spPr>
                <a:xfrm flipH="1">
                  <a:off x="7234988" y="3985340"/>
                  <a:ext cx="2057400" cy="15747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rgbClr val="4A7DBA"/>
                  </a:solidFill>
                  <a:prstDash val="solid"/>
                  <a:round/>
                  <a:headEnd type="none" w="sm" len="sm"/>
                  <a:tailEnd type="stealth" w="med" len="med"/>
                </a:ln>
              </p:spPr>
            </p:cxnSp>
            <p:cxnSp>
              <p:nvCxnSpPr>
                <p:cNvPr id="30" name="Google Shape;294;p34"/>
                <p:cNvCxnSpPr>
                  <a:stCxn id="23" idx="2"/>
                </p:cNvCxnSpPr>
                <p:nvPr/>
              </p:nvCxnSpPr>
              <p:spPr>
                <a:xfrm>
                  <a:off x="9292388" y="3985340"/>
                  <a:ext cx="2057400" cy="15747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rgbClr val="4A7DBA"/>
                  </a:solidFill>
                  <a:prstDash val="solid"/>
                  <a:round/>
                  <a:headEnd type="none" w="sm" len="sm"/>
                  <a:tailEnd type="stealth" w="med" len="med"/>
                </a:ln>
              </p:spPr>
            </p:cxnSp>
            <p:cxnSp>
              <p:nvCxnSpPr>
                <p:cNvPr id="31" name="Google Shape;295;p34"/>
                <p:cNvCxnSpPr>
                  <a:endCxn id="46" idx="0"/>
                </p:cNvCxnSpPr>
                <p:nvPr/>
              </p:nvCxnSpPr>
              <p:spPr>
                <a:xfrm>
                  <a:off x="9292388" y="3980895"/>
                  <a:ext cx="0" cy="1856372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rgbClr val="4A7DBA"/>
                  </a:solidFill>
                  <a:prstDash val="solid"/>
                  <a:round/>
                  <a:headEnd type="none" w="sm" len="sm"/>
                  <a:tailEnd type="stealth" w="med" len="med"/>
                </a:ln>
              </p:spPr>
            </p:cxnSp>
            <p:sp>
              <p:nvSpPr>
                <p:cNvPr id="44" name="Google Shape;304;p34"/>
                <p:cNvSpPr txBox="1"/>
                <p:nvPr/>
              </p:nvSpPr>
              <p:spPr>
                <a:xfrm>
                  <a:off x="7850303" y="4588590"/>
                  <a:ext cx="826135" cy="368300"/>
                </a:xfrm>
                <a:prstGeom prst="rect">
                  <a:avLst/>
                </a:pr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sp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Sunny</a:t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5" name="Google Shape;305;p34"/>
                <p:cNvSpPr txBox="1"/>
                <p:nvPr/>
              </p:nvSpPr>
              <p:spPr>
                <a:xfrm>
                  <a:off x="10001048" y="4588590"/>
                  <a:ext cx="640080" cy="368300"/>
                </a:xfrm>
                <a:prstGeom prst="rect">
                  <a:avLst/>
                </a:pr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sp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Rain</a:t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6" name="Google Shape;311;p34"/>
                <p:cNvSpPr/>
                <p:nvPr/>
              </p:nvSpPr>
              <p:spPr>
                <a:xfrm>
                  <a:off x="8758988" y="5837267"/>
                  <a:ext cx="1066800" cy="381000"/>
                </a:xfrm>
                <a:prstGeom prst="flowChartTerminator">
                  <a:avLst/>
                </a:prstGeom>
                <a:noFill/>
                <a:ln w="25400" cap="flat" cmpd="sng">
                  <a:solidFill>
                    <a:srgbClr val="395E89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Yes</a:t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2" name="Group 1"/>
              <p:cNvGrpSpPr/>
              <p:nvPr/>
            </p:nvGrpSpPr>
            <p:grpSpPr>
              <a:xfrm>
                <a:off x="3659797" y="4302578"/>
                <a:ext cx="3220085" cy="2306955"/>
                <a:chOff x="3659797" y="4302578"/>
                <a:chExt cx="3220085" cy="2306955"/>
              </a:xfrm>
            </p:grpSpPr>
            <p:sp>
              <p:nvSpPr>
                <p:cNvPr id="47" name="Google Shape;292;p34"/>
                <p:cNvSpPr/>
                <p:nvPr/>
              </p:nvSpPr>
              <p:spPr>
                <a:xfrm>
                  <a:off x="4289082" y="4302578"/>
                  <a:ext cx="2057400" cy="1066800"/>
                </a:xfrm>
                <a:prstGeom prst="roundRect">
                  <a:avLst>
                    <a:gd name="adj" fmla="val 16667"/>
                  </a:avLst>
                </a:prstGeom>
                <a:noFill/>
                <a:ln w="25400" cap="flat" cmpd="sng">
                  <a:solidFill>
                    <a:srgbClr val="395E89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800" dirty="0" smtClean="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Windy</a:t>
                  </a:r>
                  <a:endParaRPr sz="1800" dirty="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cxnSp>
              <p:nvCxnSpPr>
                <p:cNvPr id="48" name="Google Shape;296;p34"/>
                <p:cNvCxnSpPr>
                  <a:stCxn id="47" idx="2"/>
                  <a:endCxn id="50" idx="0"/>
                </p:cNvCxnSpPr>
                <p:nvPr/>
              </p:nvCxnSpPr>
              <p:spPr>
                <a:xfrm flipH="1">
                  <a:off x="4193082" y="5369378"/>
                  <a:ext cx="1124700" cy="859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rgbClr val="4A7DBA"/>
                  </a:solidFill>
                  <a:prstDash val="solid"/>
                  <a:round/>
                  <a:headEnd type="none" w="sm" len="sm"/>
                  <a:tailEnd type="stealth" w="med" len="med"/>
                </a:ln>
              </p:spPr>
            </p:cxnSp>
            <p:cxnSp>
              <p:nvCxnSpPr>
                <p:cNvPr id="49" name="Google Shape;298;p34"/>
                <p:cNvCxnSpPr>
                  <a:endCxn id="51" idx="0"/>
                </p:cNvCxnSpPr>
                <p:nvPr/>
              </p:nvCxnSpPr>
              <p:spPr>
                <a:xfrm>
                  <a:off x="5317782" y="5369333"/>
                  <a:ext cx="1028700" cy="859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rgbClr val="4A7DBA"/>
                  </a:solidFill>
                  <a:prstDash val="solid"/>
                  <a:round/>
                  <a:headEnd type="none" w="sm" len="sm"/>
                  <a:tailEnd type="stealth" w="med" len="med"/>
                </a:ln>
              </p:spPr>
            </p:cxnSp>
            <p:sp>
              <p:nvSpPr>
                <p:cNvPr id="50" name="Google Shape;297;p34"/>
                <p:cNvSpPr/>
                <p:nvPr/>
              </p:nvSpPr>
              <p:spPr>
                <a:xfrm>
                  <a:off x="3659797" y="6228533"/>
                  <a:ext cx="1066800" cy="381000"/>
                </a:xfrm>
                <a:prstGeom prst="flowChartTerminator">
                  <a:avLst/>
                </a:prstGeom>
                <a:noFill/>
                <a:ln w="25400" cap="flat" cmpd="sng">
                  <a:solidFill>
                    <a:srgbClr val="395E89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800" dirty="0" smtClean="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Yes</a:t>
                  </a:r>
                  <a:endParaRPr sz="1800" dirty="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1" name="Google Shape;299;p34"/>
                <p:cNvSpPr/>
                <p:nvPr/>
              </p:nvSpPr>
              <p:spPr>
                <a:xfrm>
                  <a:off x="5813082" y="6228533"/>
                  <a:ext cx="1066800" cy="381000"/>
                </a:xfrm>
                <a:prstGeom prst="flowChartTerminator">
                  <a:avLst/>
                </a:prstGeom>
                <a:noFill/>
                <a:ln w="25400" cap="flat" cmpd="sng">
                  <a:solidFill>
                    <a:srgbClr val="395E89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800" dirty="0" smtClean="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No</a:t>
                  </a:r>
                  <a:endParaRPr sz="1800" dirty="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2" name="Google Shape;307;p34"/>
                <p:cNvSpPr txBox="1"/>
                <p:nvPr/>
              </p:nvSpPr>
              <p:spPr>
                <a:xfrm>
                  <a:off x="4426877" y="5614488"/>
                  <a:ext cx="795020" cy="369291"/>
                </a:xfrm>
                <a:prstGeom prst="rect">
                  <a:avLst/>
                </a:pr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sp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800" dirty="0" smtClean="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Weak</a:t>
                  </a:r>
                  <a:endParaRPr sz="1800" dirty="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sp>
          <p:nvSpPr>
            <p:cNvPr id="53" name="Google Shape;307;p34"/>
            <p:cNvSpPr txBox="1"/>
            <p:nvPr/>
          </p:nvSpPr>
          <p:spPr>
            <a:xfrm>
              <a:off x="5361463" y="5614287"/>
              <a:ext cx="795020" cy="369291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dirty="0" smtClean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Strong</a:t>
              </a:r>
              <a:endParaRPr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" name="Google Shape;304;p34"/>
            <p:cNvSpPr txBox="1"/>
            <p:nvPr/>
          </p:nvSpPr>
          <p:spPr>
            <a:xfrm>
              <a:off x="7132859" y="3889279"/>
              <a:ext cx="1029018" cy="369291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dirty="0" smtClean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Overcast</a:t>
              </a:r>
              <a:endParaRPr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031252797"/>
      </p:ext>
    </p:extLst>
  </p:cSld>
  <p:clrMapOvr>
    <a:masterClrMapping/>
  </p:clrMapOvr>
  <p:transition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1000"/>
                            </p:stCondLst>
                            <p:childTnLst>
                              <p:par>
                                <p:cTn id="3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150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6" grpId="0"/>
      <p:bldP spid="25" grpId="0"/>
      <p:bldP spid="26" grpId="0"/>
      <p:bldP spid="54" grpId="0" animBg="1"/>
      <p:bldP spid="57" grpId="0" animBg="1"/>
      <p:bldP spid="58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31"/>
          <p:cNvSpPr/>
          <p:nvPr/>
        </p:nvSpPr>
        <p:spPr>
          <a:xfrm>
            <a:off x="0" y="0"/>
            <a:ext cx="12191999" cy="6857996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31"/>
          <p:cNvSpPr/>
          <p:nvPr/>
        </p:nvSpPr>
        <p:spPr>
          <a:xfrm>
            <a:off x="5013959" y="1475232"/>
            <a:ext cx="2353056" cy="2641092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31"/>
          <p:cNvSpPr txBox="1">
            <a:spLocks noGrp="1"/>
          </p:cNvSpPr>
          <p:nvPr>
            <p:ph type="title"/>
          </p:nvPr>
        </p:nvSpPr>
        <p:spPr>
          <a:xfrm>
            <a:off x="2729530" y="3083716"/>
            <a:ext cx="7152407" cy="6905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Decision </a:t>
            </a:r>
            <a:r>
              <a:rPr lang="en-US" dirty="0" smtClean="0"/>
              <a:t>Tree: Gini Index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5545911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35"/>
          <p:cNvSpPr txBox="1"/>
          <p:nvPr/>
        </p:nvSpPr>
        <p:spPr>
          <a:xfrm>
            <a:off x="304799" y="381000"/>
            <a:ext cx="8454189" cy="689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0" i="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Decision Tree: </a:t>
            </a:r>
            <a:r>
              <a:rPr lang="en-US" sz="4400" b="0" i="0" dirty="0" smtClea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Gini Index Sunny</a:t>
            </a:r>
            <a:endParaRPr sz="4400" b="0" i="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1"/>
              <p:cNvSpPr/>
              <p:nvPr/>
            </p:nvSpPr>
            <p:spPr>
              <a:xfrm>
                <a:off x="673767" y="4731197"/>
                <a:ext cx="4417427" cy="110055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𝐺𝑖𝑛𝑖</m:t>
                      </m:r>
                      <m:r>
                        <a:rPr lang="en-IN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IN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𝐼𝑚𝑝𝑢𝑟𝑖𝑡𝑦</m:t>
                      </m:r>
                      <m:r>
                        <a:rPr lang="en-IN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1=1− </m:t>
                      </m:r>
                      <m:nary>
                        <m:naryPr>
                          <m:chr m:val="∑"/>
                          <m:ctrlPr>
                            <a:rPr lang="en-IN" sz="2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IN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  <m:r>
                            <a:rPr lang="en-IN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 1</m:t>
                          </m:r>
                        </m:sub>
                        <m:sup>
                          <m:r>
                            <a:rPr lang="en-IN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p>
                            <m:sSupPr>
                              <m:ctrlPr>
                                <a:rPr lang="en-IN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sSub>
                                <m:sSubPr>
                                  <m:ctrlPr>
                                    <a:rPr lang="en-IN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n-IN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IN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IN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IN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n-IN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" name="Rectangle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3767" y="4731197"/>
                <a:ext cx="4417427" cy="110055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ectangle 5"/>
          <p:cNvSpPr/>
          <p:nvPr/>
        </p:nvSpPr>
        <p:spPr>
          <a:xfrm>
            <a:off x="304799" y="1561098"/>
            <a:ext cx="11470106" cy="31700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Gini Index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Faster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compute compared to other impurity measures like 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entropy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More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sensitive to changes in class probabilities, which can be beneficial for certain 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datasets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Can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 biased towards attributes with more categories, which might not always be 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desirable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Entropy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(Information Gain)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Interpretability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 Provides a clear measure of the amount of information needed to classify data points, making it easier to understand the 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splits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Balanced Splits: Tends to produce more balanced splits compared to the Gini 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Index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Computationally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Intensive: More complex and time-consuming to calculate than the Gini 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Index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Rectangle 18"/>
              <p:cNvSpPr/>
              <p:nvPr/>
            </p:nvSpPr>
            <p:spPr>
              <a:xfrm>
                <a:off x="5400040" y="4803386"/>
                <a:ext cx="6066020" cy="110055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𝐺𝑖𝑛𝑖</m:t>
                      </m:r>
                      <m:r>
                        <a:rPr lang="en-IN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IN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𝐼𝑚𝑝𝑢𝑟𝑖𝑡𝑦</m:t>
                      </m:r>
                      <m:r>
                        <a:rPr lang="en-IN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2=1− </m:t>
                      </m:r>
                      <m:nary>
                        <m:naryPr>
                          <m:chr m:val="∑"/>
                          <m:ctrlPr>
                            <a:rPr lang="en-IN" sz="2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IN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  <m:r>
                            <a:rPr lang="en-IN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 1</m:t>
                          </m:r>
                        </m:sub>
                        <m:sup>
                          <m:r>
                            <a:rPr lang="en-IN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b>
                            <m:sSubPr>
                              <m:ctrlPr>
                                <a:rPr lang="en-IN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IN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IN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IN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I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  <m:r>
                            <a:rPr lang="en-IN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∗(1−</m:t>
                          </m:r>
                          <m:sSub>
                            <m:sSubPr>
                              <m:ctrlPr>
                                <a:rPr lang="en-IN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IN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IN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I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  <m:r>
                            <a:rPr lang="en-IN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en-IN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9" name="Rectangle 1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00040" y="4803386"/>
                <a:ext cx="6066020" cy="110055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/>
              <p:cNvSpPr/>
              <p:nvPr/>
            </p:nvSpPr>
            <p:spPr>
              <a:xfrm>
                <a:off x="2977915" y="6219081"/>
                <a:ext cx="6113405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𝐺𝑖𝑛𝑖</m:t>
                      </m:r>
                      <m:r>
                        <a:rPr lang="en-IN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IN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𝐼𝑛𝑑𝑒𝑥</m:t>
                      </m:r>
                      <m:r>
                        <a:rPr lang="en-IN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IN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𝐺𝑖𝑛𝑖</m:t>
                      </m:r>
                      <m:r>
                        <a:rPr lang="en-IN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IN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𝑆</m:t>
                      </m:r>
                      <m:r>
                        <a:rPr lang="en-IN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)−</m:t>
                      </m:r>
                      <m:r>
                        <a:rPr lang="en-IN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𝐺𝑖𝑛𝑖</m:t>
                      </m:r>
                      <m:r>
                        <a:rPr lang="en-IN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IN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𝐼𝑚𝑝𝑢𝑟𝑖𝑡𝑦</m:t>
                      </m:r>
                      <m:r>
                        <a:rPr lang="en-IN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IN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𝑆</m:t>
                      </m:r>
                      <m:r>
                        <a:rPr lang="en-IN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r>
                        <a:rPr lang="en-IN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𝑋</m:t>
                      </m:r>
                      <m:r>
                        <a:rPr lang="en-IN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IN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7" name="Rectangle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77915" y="6219081"/>
                <a:ext cx="6113405" cy="461665"/>
              </a:xfrm>
              <a:prstGeom prst="rect">
                <a:avLst/>
              </a:prstGeom>
              <a:blipFill>
                <a:blip r:embed="rId5"/>
                <a:stretch>
                  <a:fillRect b="-1973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16600181"/>
      </p:ext>
    </p:extLst>
  </p:cSld>
  <p:clrMapOvr>
    <a:masterClrMapping/>
  </p:clrMapOvr>
  <p:transition>
    <p:fade thruBlk="1"/>
  </p:transition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35"/>
          <p:cNvSpPr txBox="1"/>
          <p:nvPr/>
        </p:nvSpPr>
        <p:spPr>
          <a:xfrm>
            <a:off x="304799" y="381000"/>
            <a:ext cx="8454189" cy="689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0" i="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Decision Tree: </a:t>
            </a:r>
            <a:r>
              <a:rPr lang="en-US" sz="4400" b="0" i="0" dirty="0" smtClea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Gini Index</a:t>
            </a:r>
            <a:endParaRPr sz="4400" b="0" i="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33257900"/>
              </p:ext>
            </p:extLst>
          </p:nvPr>
        </p:nvGraphicFramePr>
        <p:xfrm>
          <a:off x="1652336" y="1556672"/>
          <a:ext cx="8470232" cy="4670475"/>
        </p:xfrm>
        <a:graphic>
          <a:graphicData uri="http://schemas.openxmlformats.org/drawingml/2006/table">
            <a:tbl>
              <a:tblPr/>
              <a:tblGrid>
                <a:gridCol w="1372779">
                  <a:extLst>
                    <a:ext uri="{9D8B030D-6E8A-4147-A177-3AD203B41FA5}">
                      <a16:colId xmlns:a16="http://schemas.microsoft.com/office/drawing/2014/main" val="166730754"/>
                    </a:ext>
                  </a:extLst>
                </a:gridCol>
                <a:gridCol w="1372779">
                  <a:extLst>
                    <a:ext uri="{9D8B030D-6E8A-4147-A177-3AD203B41FA5}">
                      <a16:colId xmlns:a16="http://schemas.microsoft.com/office/drawing/2014/main" val="3705911863"/>
                    </a:ext>
                  </a:extLst>
                </a:gridCol>
                <a:gridCol w="1449044">
                  <a:extLst>
                    <a:ext uri="{9D8B030D-6E8A-4147-A177-3AD203B41FA5}">
                      <a16:colId xmlns:a16="http://schemas.microsoft.com/office/drawing/2014/main" val="401773213"/>
                    </a:ext>
                  </a:extLst>
                </a:gridCol>
                <a:gridCol w="1468111">
                  <a:extLst>
                    <a:ext uri="{9D8B030D-6E8A-4147-A177-3AD203B41FA5}">
                      <a16:colId xmlns:a16="http://schemas.microsoft.com/office/drawing/2014/main" val="4272906104"/>
                    </a:ext>
                  </a:extLst>
                </a:gridCol>
                <a:gridCol w="1391843">
                  <a:extLst>
                    <a:ext uri="{9D8B030D-6E8A-4147-A177-3AD203B41FA5}">
                      <a16:colId xmlns:a16="http://schemas.microsoft.com/office/drawing/2014/main" val="4125339830"/>
                    </a:ext>
                  </a:extLst>
                </a:gridCol>
                <a:gridCol w="1415676">
                  <a:extLst>
                    <a:ext uri="{9D8B030D-6E8A-4147-A177-3AD203B41FA5}">
                      <a16:colId xmlns:a16="http://schemas.microsoft.com/office/drawing/2014/main" val="803712746"/>
                    </a:ext>
                  </a:extLst>
                </a:gridCol>
              </a:tblGrid>
              <a:tr h="203517"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Sl. No.</a:t>
                      </a:r>
                    </a:p>
                  </a:txBody>
                  <a:tcPr marL="6565" marR="6565" marT="65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Outlook</a:t>
                      </a:r>
                    </a:p>
                  </a:txBody>
                  <a:tcPr marL="6565" marR="6565" marT="65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Temp</a:t>
                      </a:r>
                    </a:p>
                  </a:txBody>
                  <a:tcPr marL="6565" marR="6565" marT="65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Humidity</a:t>
                      </a:r>
                    </a:p>
                  </a:txBody>
                  <a:tcPr marL="6565" marR="6565" marT="65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Windy</a:t>
                      </a:r>
                    </a:p>
                  </a:txBody>
                  <a:tcPr marL="6565" marR="6565" marT="65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Play Golf</a:t>
                      </a:r>
                    </a:p>
                  </a:txBody>
                  <a:tcPr marL="6565" marR="6565" marT="65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56919871"/>
                  </a:ext>
                </a:extLst>
              </a:tr>
              <a:tr h="203517"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6565" marR="6565" marT="65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Rainy</a:t>
                      </a:r>
                    </a:p>
                  </a:txBody>
                  <a:tcPr marL="6565" marR="6565" marT="65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Hot</a:t>
                      </a:r>
                    </a:p>
                  </a:txBody>
                  <a:tcPr marL="6565" marR="6565" marT="65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High</a:t>
                      </a:r>
                    </a:p>
                  </a:txBody>
                  <a:tcPr marL="6565" marR="6565" marT="65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Weak</a:t>
                      </a:r>
                    </a:p>
                  </a:txBody>
                  <a:tcPr marL="6565" marR="6565" marT="65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</a:t>
                      </a:r>
                    </a:p>
                  </a:txBody>
                  <a:tcPr marL="6565" marR="6565" marT="65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9502385"/>
                  </a:ext>
                </a:extLst>
              </a:tr>
              <a:tr h="203517"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6565" marR="6565" marT="65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Rainy</a:t>
                      </a:r>
                    </a:p>
                  </a:txBody>
                  <a:tcPr marL="6565" marR="6565" marT="65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Hot</a:t>
                      </a:r>
                    </a:p>
                  </a:txBody>
                  <a:tcPr marL="6565" marR="6565" marT="65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High</a:t>
                      </a:r>
                    </a:p>
                  </a:txBody>
                  <a:tcPr marL="6565" marR="6565" marT="65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Strong</a:t>
                      </a:r>
                    </a:p>
                  </a:txBody>
                  <a:tcPr marL="6565" marR="6565" marT="65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</a:t>
                      </a:r>
                    </a:p>
                  </a:txBody>
                  <a:tcPr marL="6565" marR="6565" marT="65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662295"/>
                  </a:ext>
                </a:extLst>
              </a:tr>
              <a:tr h="203517"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L="6565" marR="6565" marT="65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Overcast</a:t>
                      </a:r>
                    </a:p>
                  </a:txBody>
                  <a:tcPr marL="6565" marR="6565" marT="65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Hot</a:t>
                      </a:r>
                    </a:p>
                  </a:txBody>
                  <a:tcPr marL="6565" marR="6565" marT="65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High</a:t>
                      </a:r>
                    </a:p>
                  </a:txBody>
                  <a:tcPr marL="6565" marR="6565" marT="65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Weak</a:t>
                      </a:r>
                    </a:p>
                  </a:txBody>
                  <a:tcPr marL="6565" marR="6565" marT="65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Yes</a:t>
                      </a:r>
                    </a:p>
                  </a:txBody>
                  <a:tcPr marL="6565" marR="6565" marT="65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38145677"/>
                  </a:ext>
                </a:extLst>
              </a:tr>
              <a:tr h="203517"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marL="6565" marR="6565" marT="65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Sunny</a:t>
                      </a:r>
                    </a:p>
                  </a:txBody>
                  <a:tcPr marL="6565" marR="6565" marT="65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Mild</a:t>
                      </a:r>
                    </a:p>
                  </a:txBody>
                  <a:tcPr marL="6565" marR="6565" marT="65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High</a:t>
                      </a:r>
                    </a:p>
                  </a:txBody>
                  <a:tcPr marL="6565" marR="6565" marT="65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Weak</a:t>
                      </a:r>
                    </a:p>
                  </a:txBody>
                  <a:tcPr marL="6565" marR="6565" marT="65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Yes</a:t>
                      </a:r>
                    </a:p>
                  </a:txBody>
                  <a:tcPr marL="6565" marR="6565" marT="65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693404"/>
                  </a:ext>
                </a:extLst>
              </a:tr>
              <a:tr h="203517"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 marL="6565" marR="6565" marT="65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Sunny</a:t>
                      </a:r>
                    </a:p>
                  </a:txBody>
                  <a:tcPr marL="6565" marR="6565" marT="65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Cool</a:t>
                      </a:r>
                    </a:p>
                  </a:txBody>
                  <a:tcPr marL="6565" marR="6565" marT="65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Normal</a:t>
                      </a:r>
                    </a:p>
                  </a:txBody>
                  <a:tcPr marL="6565" marR="6565" marT="65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Weak</a:t>
                      </a:r>
                    </a:p>
                  </a:txBody>
                  <a:tcPr marL="6565" marR="6565" marT="65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Yes</a:t>
                      </a:r>
                    </a:p>
                  </a:txBody>
                  <a:tcPr marL="6565" marR="6565" marT="65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00931757"/>
                  </a:ext>
                </a:extLst>
              </a:tr>
              <a:tr h="203517"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</a:p>
                  </a:txBody>
                  <a:tcPr marL="6565" marR="6565" marT="65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Sunny</a:t>
                      </a:r>
                    </a:p>
                  </a:txBody>
                  <a:tcPr marL="6565" marR="6565" marT="65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Cool</a:t>
                      </a:r>
                    </a:p>
                  </a:txBody>
                  <a:tcPr marL="6565" marR="6565" marT="65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Normal</a:t>
                      </a:r>
                    </a:p>
                  </a:txBody>
                  <a:tcPr marL="6565" marR="6565" marT="65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Strong</a:t>
                      </a:r>
                    </a:p>
                  </a:txBody>
                  <a:tcPr marL="6565" marR="6565" marT="65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</a:t>
                      </a:r>
                    </a:p>
                  </a:txBody>
                  <a:tcPr marL="6565" marR="6565" marT="65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5776579"/>
                  </a:ext>
                </a:extLst>
              </a:tr>
              <a:tr h="203517"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</a:p>
                  </a:txBody>
                  <a:tcPr marL="6565" marR="6565" marT="65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Overcast</a:t>
                      </a:r>
                    </a:p>
                  </a:txBody>
                  <a:tcPr marL="6565" marR="6565" marT="65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Cool</a:t>
                      </a:r>
                    </a:p>
                  </a:txBody>
                  <a:tcPr marL="6565" marR="6565" marT="65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Normal</a:t>
                      </a:r>
                    </a:p>
                  </a:txBody>
                  <a:tcPr marL="6565" marR="6565" marT="65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Strong</a:t>
                      </a:r>
                    </a:p>
                  </a:txBody>
                  <a:tcPr marL="6565" marR="6565" marT="65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Yes</a:t>
                      </a:r>
                    </a:p>
                  </a:txBody>
                  <a:tcPr marL="6565" marR="6565" marT="65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69177"/>
                  </a:ext>
                </a:extLst>
              </a:tr>
              <a:tr h="203517"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</a:p>
                  </a:txBody>
                  <a:tcPr marL="6565" marR="6565" marT="65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Rainy</a:t>
                      </a:r>
                    </a:p>
                  </a:txBody>
                  <a:tcPr marL="6565" marR="6565" marT="65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Mild</a:t>
                      </a:r>
                    </a:p>
                  </a:txBody>
                  <a:tcPr marL="6565" marR="6565" marT="65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High</a:t>
                      </a:r>
                    </a:p>
                  </a:txBody>
                  <a:tcPr marL="6565" marR="6565" marT="65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Weak</a:t>
                      </a:r>
                    </a:p>
                  </a:txBody>
                  <a:tcPr marL="6565" marR="6565" marT="65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</a:t>
                      </a:r>
                    </a:p>
                  </a:txBody>
                  <a:tcPr marL="6565" marR="6565" marT="65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7887860"/>
                  </a:ext>
                </a:extLst>
              </a:tr>
              <a:tr h="203517"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</a:p>
                  </a:txBody>
                  <a:tcPr marL="6565" marR="6565" marT="65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Rainy</a:t>
                      </a:r>
                    </a:p>
                  </a:txBody>
                  <a:tcPr marL="6565" marR="6565" marT="65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Cool</a:t>
                      </a:r>
                    </a:p>
                  </a:txBody>
                  <a:tcPr marL="6565" marR="6565" marT="65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Normal</a:t>
                      </a:r>
                    </a:p>
                  </a:txBody>
                  <a:tcPr marL="6565" marR="6565" marT="65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Weak</a:t>
                      </a:r>
                    </a:p>
                  </a:txBody>
                  <a:tcPr marL="6565" marR="6565" marT="65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Yes</a:t>
                      </a:r>
                    </a:p>
                  </a:txBody>
                  <a:tcPr marL="6565" marR="6565" marT="65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4097314"/>
                  </a:ext>
                </a:extLst>
              </a:tr>
              <a:tr h="203517"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</a:p>
                  </a:txBody>
                  <a:tcPr marL="6565" marR="6565" marT="65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Sunny</a:t>
                      </a:r>
                    </a:p>
                  </a:txBody>
                  <a:tcPr marL="6565" marR="6565" marT="65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Mild</a:t>
                      </a:r>
                    </a:p>
                  </a:txBody>
                  <a:tcPr marL="6565" marR="6565" marT="65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Normal</a:t>
                      </a:r>
                    </a:p>
                  </a:txBody>
                  <a:tcPr marL="6565" marR="6565" marT="65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Weak</a:t>
                      </a:r>
                    </a:p>
                  </a:txBody>
                  <a:tcPr marL="6565" marR="6565" marT="65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Yes</a:t>
                      </a:r>
                    </a:p>
                  </a:txBody>
                  <a:tcPr marL="6565" marR="6565" marT="65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58984871"/>
                  </a:ext>
                </a:extLst>
              </a:tr>
              <a:tr h="203517"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</a:t>
                      </a:r>
                    </a:p>
                  </a:txBody>
                  <a:tcPr marL="6565" marR="6565" marT="65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Rainy</a:t>
                      </a:r>
                    </a:p>
                  </a:txBody>
                  <a:tcPr marL="6565" marR="6565" marT="65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Mild</a:t>
                      </a:r>
                    </a:p>
                  </a:txBody>
                  <a:tcPr marL="6565" marR="6565" marT="65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Normal</a:t>
                      </a:r>
                    </a:p>
                  </a:txBody>
                  <a:tcPr marL="6565" marR="6565" marT="65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Strong</a:t>
                      </a:r>
                    </a:p>
                  </a:txBody>
                  <a:tcPr marL="6565" marR="6565" marT="65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Yes</a:t>
                      </a:r>
                    </a:p>
                  </a:txBody>
                  <a:tcPr marL="6565" marR="6565" marT="65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30320933"/>
                  </a:ext>
                </a:extLst>
              </a:tr>
              <a:tr h="203517"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</a:t>
                      </a:r>
                    </a:p>
                  </a:txBody>
                  <a:tcPr marL="6565" marR="6565" marT="65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Overcast</a:t>
                      </a:r>
                    </a:p>
                  </a:txBody>
                  <a:tcPr marL="6565" marR="6565" marT="65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Mild</a:t>
                      </a:r>
                    </a:p>
                  </a:txBody>
                  <a:tcPr marL="6565" marR="6565" marT="65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High</a:t>
                      </a:r>
                    </a:p>
                  </a:txBody>
                  <a:tcPr marL="6565" marR="6565" marT="65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Strong</a:t>
                      </a:r>
                    </a:p>
                  </a:txBody>
                  <a:tcPr marL="6565" marR="6565" marT="65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Yes</a:t>
                      </a:r>
                    </a:p>
                  </a:txBody>
                  <a:tcPr marL="6565" marR="6565" marT="65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7588799"/>
                  </a:ext>
                </a:extLst>
              </a:tr>
              <a:tr h="203517"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13</a:t>
                      </a:r>
                    </a:p>
                  </a:txBody>
                  <a:tcPr marL="6565" marR="6565" marT="65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Overcast</a:t>
                      </a:r>
                    </a:p>
                  </a:txBody>
                  <a:tcPr marL="6565" marR="6565" marT="65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Hot</a:t>
                      </a:r>
                    </a:p>
                  </a:txBody>
                  <a:tcPr marL="6565" marR="6565" marT="65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Normal</a:t>
                      </a:r>
                    </a:p>
                  </a:txBody>
                  <a:tcPr marL="6565" marR="6565" marT="65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Weak</a:t>
                      </a:r>
                    </a:p>
                  </a:txBody>
                  <a:tcPr marL="6565" marR="6565" marT="65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Yes</a:t>
                      </a:r>
                    </a:p>
                  </a:txBody>
                  <a:tcPr marL="6565" marR="6565" marT="65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6908151"/>
                  </a:ext>
                </a:extLst>
              </a:tr>
              <a:tr h="203517"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14</a:t>
                      </a:r>
                    </a:p>
                  </a:txBody>
                  <a:tcPr marL="6565" marR="6565" marT="65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Sunny</a:t>
                      </a:r>
                    </a:p>
                  </a:txBody>
                  <a:tcPr marL="6565" marR="6565" marT="65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Mild</a:t>
                      </a:r>
                    </a:p>
                  </a:txBody>
                  <a:tcPr marL="6565" marR="6565" marT="65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High</a:t>
                      </a:r>
                    </a:p>
                  </a:txBody>
                  <a:tcPr marL="6565" marR="6565" marT="65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Strong</a:t>
                      </a:r>
                    </a:p>
                  </a:txBody>
                  <a:tcPr marL="6565" marR="6565" marT="65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</a:t>
                      </a:r>
                    </a:p>
                  </a:txBody>
                  <a:tcPr marL="6565" marR="6565" marT="65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096531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73453490"/>
      </p:ext>
    </p:extLst>
  </p:cSld>
  <p:clrMapOvr>
    <a:masterClrMapping/>
  </p:clrMapOvr>
  <p:transition>
    <p:fade thruBlk="1"/>
  </p:transition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35"/>
          <p:cNvSpPr txBox="1"/>
          <p:nvPr/>
        </p:nvSpPr>
        <p:spPr>
          <a:xfrm>
            <a:off x="304799" y="381000"/>
            <a:ext cx="8454189" cy="689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0" i="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Decision Tree: </a:t>
            </a:r>
            <a:r>
              <a:rPr lang="en-US" sz="4400" b="0" i="0" dirty="0" smtClea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Gini Index</a:t>
            </a:r>
            <a:endParaRPr sz="4400" b="0" i="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" name="Group 3"/>
          <p:cNvGrpSpPr/>
          <p:nvPr/>
        </p:nvGrpSpPr>
        <p:grpSpPr>
          <a:xfrm>
            <a:off x="176463" y="1194657"/>
            <a:ext cx="4074642" cy="1003652"/>
            <a:chOff x="858513" y="2454779"/>
            <a:chExt cx="4074642" cy="100365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" name="TextBox 1"/>
                <p:cNvSpPr txBox="1"/>
                <p:nvPr/>
              </p:nvSpPr>
              <p:spPr>
                <a:xfrm>
                  <a:off x="858513" y="2937006"/>
                  <a:ext cx="4074642" cy="521425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en-IN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𝐺</m:t>
                      </m:r>
                      <m:d>
                        <m:dPr>
                          <m:ctrlPr>
                            <a:rPr lang="en-I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𝑆</m:t>
                          </m:r>
                        </m:e>
                      </m:d>
                      <m:r>
                        <a:rPr lang="en-IN" sz="2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IN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1− [</m:t>
                      </m:r>
                      <m:sSup>
                        <m:sSupPr>
                          <m:ctrlPr>
                            <a:rPr lang="en-I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IN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IN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IN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9</m:t>
                                  </m:r>
                                </m:num>
                                <m:den>
                                  <m:r>
                                    <a:rPr lang="en-IN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14</m:t>
                                  </m:r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en-I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a14:m>
                  <a:r>
                    <a:rPr lang="en-IN" sz="2000" dirty="0" smtClean="0">
                      <a:latin typeface="Cambria Math" panose="02040503050406030204" pitchFamily="18" charset="0"/>
                      <a:ea typeface="Cambria Math" panose="02040503050406030204" pitchFamily="18" charset="0"/>
                    </a:rPr>
                    <a:t> +</a:t>
                  </a:r>
                  <a14:m>
                    <m:oMath xmlns:m="http://schemas.openxmlformats.org/officeDocument/2006/math">
                      <m:sSup>
                        <m:sSupPr>
                          <m:ctrlPr>
                            <a:rPr lang="en-I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IN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IN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IN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5</m:t>
                                  </m:r>
                                </m:num>
                                <m:den>
                                  <m:r>
                                    <a:rPr lang="en-IN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14</m:t>
                                  </m:r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en-I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IN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]=0.4591</m:t>
                      </m:r>
                    </m:oMath>
                  </a14:m>
                  <a:endParaRPr lang="en-IN" sz="2000" dirty="0">
                    <a:latin typeface="Cambria Math" panose="02040503050406030204" pitchFamily="18" charset="0"/>
                    <a:ea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2" name="TextBox 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58513" y="2937006"/>
                  <a:ext cx="4074642" cy="521425"/>
                </a:xfrm>
                <a:prstGeom prst="rect">
                  <a:avLst/>
                </a:prstGeom>
                <a:blipFill>
                  <a:blip r:embed="rId3"/>
                  <a:stretch>
                    <a:fillRect b="-12791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" name="TextBox 2"/>
            <p:cNvSpPr txBox="1"/>
            <p:nvPr/>
          </p:nvSpPr>
          <p:spPr>
            <a:xfrm>
              <a:off x="863561" y="2454779"/>
              <a:ext cx="3342582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sz="2000" dirty="0" smtClean="0">
                  <a:latin typeface="Cambria Math" panose="02040503050406030204" pitchFamily="18" charset="0"/>
                  <a:ea typeface="Cambria Math" panose="02040503050406030204" pitchFamily="18" charset="0"/>
                </a:rPr>
                <a:t>Entropy of the Class Variable</a:t>
              </a:r>
              <a:endParaRPr lang="en-IN" sz="2000" dirty="0">
                <a:latin typeface="Cambria Math" panose="02040503050406030204" pitchFamily="18" charset="0"/>
                <a:ea typeface="Cambria Math" panose="02040503050406030204" pitchFamily="18" charset="0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11894" y="2489970"/>
                <a:ext cx="11496481" cy="46063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IN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𝐺</m:t>
                    </m:r>
                    <m:d>
                      <m:dPr>
                        <m:ctrlPr>
                          <a:rPr lang="en-I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𝑆</m:t>
                        </m:r>
                        <m:r>
                          <a:rPr lang="en-I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 </m:t>
                        </m:r>
                        <m:r>
                          <a:rPr lang="en-I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𝑜𝑢𝑡𝑙𝑜𝑜𝑘</m:t>
                        </m:r>
                      </m:e>
                    </m:d>
                    <m:r>
                      <a:rPr lang="en-IN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IN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1 −[</m:t>
                    </m:r>
                    <m:d>
                      <m:dPr>
                        <m:ctrlPr>
                          <a:rPr lang="en-I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I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5</m:t>
                            </m:r>
                          </m:num>
                          <m:den>
                            <m:r>
                              <a:rPr lang="en-I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14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0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G</m:t>
                    </m:r>
                    <m:d>
                      <m:dPr>
                        <m:ctrlPr>
                          <a:rPr lang="en-I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𝑂𝑢𝑡𝑙𝑙𝑜𝑜𝑘</m:t>
                        </m:r>
                        <m:r>
                          <a:rPr lang="en-I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I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𝑆𝑢𝑛𝑛𝑦</m:t>
                        </m:r>
                      </m:e>
                    </m:d>
                  </m:oMath>
                </a14:m>
                <a:r>
                  <a:rPr lang="en-IN" sz="20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+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I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4</m:t>
                            </m:r>
                          </m:num>
                          <m:den>
                            <m: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14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0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G</m:t>
                    </m:r>
                    <m:d>
                      <m:dPr>
                        <m:ctrlPr>
                          <a:rPr lang="en-I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𝑂𝑢𝑡𝑙𝑙𝑜𝑜𝑘</m:t>
                        </m:r>
                        <m:r>
                          <a:rPr lang="en-I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I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𝑂𝑣𝑒𝑟𝑐𝑎𝑠𝑡</m:t>
                        </m:r>
                      </m:e>
                    </m:d>
                  </m:oMath>
                </a14:m>
                <a:r>
                  <a:rPr lang="en-IN" sz="20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+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I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5</m:t>
                            </m:r>
                          </m:num>
                          <m:den>
                            <m: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14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0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G</m:t>
                    </m:r>
                    <m:d>
                      <m:dPr>
                        <m:ctrlPr>
                          <a:rPr lang="en-I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𝑂𝑢𝑡𝑙𝑙𝑜𝑜𝑘</m:t>
                        </m:r>
                        <m:r>
                          <a:rPr lang="en-I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I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𝑅𝑎𝑖𝑛𝑦</m:t>
                        </m:r>
                      </m:e>
                    </m:d>
                  </m:oMath>
                </a14:m>
                <a:r>
                  <a:rPr lang="en-IN" sz="20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]</a:t>
                </a:r>
                <a:endParaRPr lang="en-IN" sz="20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894" y="2489970"/>
                <a:ext cx="11496481" cy="460639"/>
              </a:xfrm>
              <a:prstGeom prst="rect">
                <a:avLst/>
              </a:prstGeom>
              <a:blipFill>
                <a:blip r:embed="rId4"/>
                <a:stretch>
                  <a:fillRect t="-2632" r="-371" b="-1447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7" name="Group 6"/>
          <p:cNvGrpSpPr/>
          <p:nvPr/>
        </p:nvGrpSpPr>
        <p:grpSpPr>
          <a:xfrm>
            <a:off x="93123" y="3242270"/>
            <a:ext cx="6740210" cy="2755708"/>
            <a:chOff x="864201" y="3715231"/>
            <a:chExt cx="6740210" cy="275570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TextBox 10"/>
                <p:cNvSpPr txBox="1"/>
                <p:nvPr/>
              </p:nvSpPr>
              <p:spPr>
                <a:xfrm>
                  <a:off x="864201" y="3715231"/>
                  <a:ext cx="5242782" cy="80425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I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𝐺</m:t>
                        </m:r>
                        <m:d>
                          <m:dPr>
                            <m:ctrlP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𝑆</m:t>
                            </m:r>
                            <m: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 </m:t>
                            </m:r>
                            <m: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𝑜𝑢𝑡𝑙𝑜𝑜𝑘</m:t>
                            </m:r>
                          </m:e>
                        </m:d>
                        <m:r>
                          <a:rPr lang="en-I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=1 −</m:t>
                        </m:r>
                        <m:d>
                          <m:dPr>
                            <m:ctrlPr>
                              <a:rPr lang="en-IN" sz="20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IN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5</m:t>
                                </m:r>
                              </m:num>
                              <m:den>
                                <m:r>
                                  <a:rPr lang="en-IN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14</m:t>
                                </m:r>
                              </m:den>
                            </m:f>
                          </m:e>
                        </m:d>
                        <m:d>
                          <m:dPr>
                            <m:ctrlP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1 −</m:t>
                            </m:r>
                            <m:sSup>
                              <m:sSupPr>
                                <m:ctrlPr>
                                  <a:rPr lang="en-IN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en-IN" sz="20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ctrlPr>
                                          <a:rPr lang="en-IN" sz="20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IN" sz="20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num>
                                      <m:den>
                                        <m:r>
                                          <a:rPr lang="en-IN" sz="20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5</m:t>
                                        </m:r>
                                      </m:den>
                                    </m:f>
                                  </m:e>
                                </m:d>
                              </m:e>
                              <m:sup>
                                <m:r>
                                  <a:rPr lang="en-IN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nor/>
                              </m:rPr>
                              <a:rPr lang="en-IN" sz="2000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</m:t>
                            </m:r>
                            <m:r>
                              <m:rPr>
                                <m:nor/>
                              </m:rPr>
                              <a:rPr lang="en-IN" sz="2000" b="0" i="0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 </m:t>
                            </m:r>
                            <m:sSup>
                              <m:sSupPr>
                                <m:ctrlPr>
                                  <a:rPr lang="en-IN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en-IN" sz="20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ctrlPr>
                                          <a:rPr lang="en-IN" sz="20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IN" sz="20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num>
                                      <m:den>
                                        <m:r>
                                          <a:rPr lang="en-IN" sz="20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5</m:t>
                                        </m:r>
                                      </m:den>
                                    </m:f>
                                  </m:e>
                                </m:d>
                              </m:e>
                              <m:sup>
                                <m:r>
                                  <a:rPr lang="en-IN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d>
                      </m:oMath>
                    </m:oMathPara>
                  </a14:m>
                  <a:endParaRPr lang="en-IN" sz="2000" dirty="0">
                    <a:latin typeface="Cambria Math" panose="02040503050406030204" pitchFamily="18" charset="0"/>
                    <a:ea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11" name="TextBox 1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64201" y="3715231"/>
                  <a:ext cx="5242782" cy="804259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TextBox 11"/>
                <p:cNvSpPr txBox="1"/>
                <p:nvPr/>
              </p:nvSpPr>
              <p:spPr>
                <a:xfrm>
                  <a:off x="3017343" y="4702262"/>
                  <a:ext cx="3045834" cy="80425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I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d>
                          <m:dPr>
                            <m:ctrlPr>
                              <a:rPr lang="en-IN" sz="20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IN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4</m:t>
                                </m:r>
                              </m:num>
                              <m:den>
                                <m:r>
                                  <a:rPr lang="en-IN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14</m:t>
                                </m:r>
                              </m:den>
                            </m:f>
                          </m:e>
                        </m:d>
                        <m:d>
                          <m:dPr>
                            <m:ctrlP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1 −</m:t>
                            </m:r>
                            <m:sSup>
                              <m:sSupPr>
                                <m:ctrlPr>
                                  <a:rPr lang="en-IN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en-IN" sz="20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ctrlPr>
                                          <a:rPr lang="en-IN" sz="20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IN" sz="20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4</m:t>
                                        </m:r>
                                      </m:num>
                                      <m:den>
                                        <m:r>
                                          <a:rPr lang="en-IN" sz="20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4</m:t>
                                        </m:r>
                                      </m:den>
                                    </m:f>
                                  </m:e>
                                </m:d>
                              </m:e>
                              <m:sup>
                                <m:r>
                                  <a:rPr lang="en-IN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nor/>
                              </m:rPr>
                              <a:rPr lang="en-IN" sz="2000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</m:t>
                            </m:r>
                            <m:r>
                              <m:rPr>
                                <m:nor/>
                              </m:rPr>
                              <a:rPr lang="en-IN" sz="2000" b="0" i="0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  <m:r>
                              <m:rPr>
                                <m:nor/>
                              </m:rPr>
                              <a:rPr lang="en-IN" sz="2000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</m:t>
                            </m:r>
                            <m:sSup>
                              <m:sSupPr>
                                <m:ctrlPr>
                                  <a:rPr lang="en-IN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en-IN" sz="20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ctrlPr>
                                          <a:rPr lang="en-IN" sz="20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IN" sz="20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num>
                                      <m:den>
                                        <m:r>
                                          <a:rPr lang="en-IN" sz="20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4</m:t>
                                        </m:r>
                                      </m:den>
                                    </m:f>
                                  </m:e>
                                </m:d>
                              </m:e>
                              <m:sup>
                                <m:r>
                                  <a:rPr lang="en-IN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d>
                      </m:oMath>
                    </m:oMathPara>
                  </a14:m>
                  <a:endParaRPr lang="en-IN" sz="2000" dirty="0">
                    <a:latin typeface="Cambria Math" panose="02040503050406030204" pitchFamily="18" charset="0"/>
                    <a:ea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12" name="TextBox 1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017343" y="4702262"/>
                  <a:ext cx="3045834" cy="804259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TextBox 12"/>
                <p:cNvSpPr txBox="1"/>
                <p:nvPr/>
              </p:nvSpPr>
              <p:spPr>
                <a:xfrm>
                  <a:off x="2976563" y="5666680"/>
                  <a:ext cx="3127395" cy="80425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I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d>
                          <m:dPr>
                            <m:ctrlPr>
                              <a:rPr lang="en-IN" sz="20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IN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5</m:t>
                                </m:r>
                              </m:num>
                              <m:den>
                                <m:r>
                                  <a:rPr lang="en-IN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14</m:t>
                                </m:r>
                              </m:den>
                            </m:f>
                          </m:e>
                        </m:d>
                        <m:d>
                          <m:dPr>
                            <m:ctrlP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1 −</m:t>
                            </m:r>
                            <m:sSup>
                              <m:sSupPr>
                                <m:ctrlPr>
                                  <a:rPr lang="en-IN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en-IN" sz="20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ctrlPr>
                                          <a:rPr lang="en-IN" sz="20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IN" sz="20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num>
                                      <m:den>
                                        <m:r>
                                          <a:rPr lang="en-IN" sz="20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5</m:t>
                                        </m:r>
                                      </m:den>
                                    </m:f>
                                  </m:e>
                                </m:d>
                              </m:e>
                              <m:sup>
                                <m:r>
                                  <a:rPr lang="en-IN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nor/>
                              </m:rPr>
                              <a:rPr lang="en-IN" sz="2000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</m:t>
                            </m:r>
                            <m:r>
                              <m:rPr>
                                <m:nor/>
                              </m:rPr>
                              <a:rPr lang="en-IN" sz="2000" b="0" i="0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  <m:r>
                              <m:rPr>
                                <m:nor/>
                              </m:rPr>
                              <a:rPr lang="en-IN" sz="2000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</m:t>
                            </m:r>
                            <m:sSup>
                              <m:sSupPr>
                                <m:ctrlPr>
                                  <a:rPr lang="en-IN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en-IN" sz="20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ctrlPr>
                                          <a:rPr lang="en-IN" sz="20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IN" sz="20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num>
                                      <m:den>
                                        <m:r>
                                          <a:rPr lang="en-IN" sz="20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5</m:t>
                                        </m:r>
                                      </m:den>
                                    </m:f>
                                  </m:e>
                                </m:d>
                              </m:e>
                              <m:sup>
                                <m:r>
                                  <a:rPr lang="en-IN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d>
                      </m:oMath>
                    </m:oMathPara>
                  </a14:m>
                  <a:endParaRPr lang="en-IN" sz="2000" dirty="0">
                    <a:latin typeface="Cambria Math" panose="02040503050406030204" pitchFamily="18" charset="0"/>
                    <a:ea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13" name="TextBox 1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76563" y="5666680"/>
                  <a:ext cx="3127395" cy="804259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Rectangle 4"/>
                <p:cNvSpPr/>
                <p:nvPr/>
              </p:nvSpPr>
              <p:spPr>
                <a:xfrm>
                  <a:off x="6048472" y="4932857"/>
                  <a:ext cx="1555939" cy="40011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en-IN" sz="2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IN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0.657143</m:t>
                      </m:r>
                    </m:oMath>
                  </a14:m>
                  <a:r>
                    <a:rPr lang="en-IN" sz="2000" dirty="0" smtClean="0">
                      <a:latin typeface="Cambria Math" panose="02040503050406030204" pitchFamily="18" charset="0"/>
                      <a:ea typeface="Cambria Math" panose="02040503050406030204" pitchFamily="18" charset="0"/>
                    </a:rPr>
                    <a:t> </a:t>
                  </a:r>
                  <a:endParaRPr lang="en-IN" sz="2000" dirty="0">
                    <a:latin typeface="Cambria Math" panose="02040503050406030204" pitchFamily="18" charset="0"/>
                    <a:ea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5" name="Rectangle 4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048472" y="4932857"/>
                  <a:ext cx="1555939" cy="400110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</p:grpSp>
      <p:graphicFrame>
        <p:nvGraphicFramePr>
          <p:cNvPr id="18" name="Google Shape;258;p29"/>
          <p:cNvGraphicFramePr/>
          <p:nvPr>
            <p:extLst>
              <p:ext uri="{D42A27DB-BD31-4B8C-83A1-F6EECF244321}">
                <p14:modId xmlns:p14="http://schemas.microsoft.com/office/powerpoint/2010/main" val="3098440247"/>
              </p:ext>
            </p:extLst>
          </p:nvPr>
        </p:nvGraphicFramePr>
        <p:xfrm>
          <a:off x="8457250" y="3478435"/>
          <a:ext cx="3479125" cy="3110250"/>
        </p:xfrm>
        <a:graphic>
          <a:graphicData uri="http://schemas.openxmlformats.org/drawingml/2006/table">
            <a:tbl>
              <a:tblPr firstRow="1" bandRow="1">
                <a:noFill/>
                <a:tableStyleId>{AE0CDCE9-8EFF-456A-BFA7-76C2DBC4E188}</a:tableStyleId>
              </a:tblPr>
              <a:tblGrid>
                <a:gridCol w="11055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91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1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91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11150">
                <a:tc gridSpan="4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Calibri"/>
                        <a:buNone/>
                      </a:pPr>
                      <a:r>
                        <a:rPr lang="en-US" sz="2000" b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Overcast</a:t>
                      </a:r>
                      <a:endParaRPr sz="2000" b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23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SzPts val="2000"/>
                        <a:buFont typeface="Calibri"/>
                        <a:buNone/>
                      </a:pPr>
                      <a:endParaRPr sz="2000" b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Calibri"/>
                        <a:buNone/>
                      </a:pPr>
                      <a:r>
                        <a:rPr lang="en-US" sz="2000" b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Yes</a:t>
                      </a:r>
                      <a:endParaRPr sz="2000" b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Calibri"/>
                        <a:buNone/>
                      </a:pPr>
                      <a:r>
                        <a:rPr lang="en-US" sz="2000" b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</a:t>
                      </a:r>
                      <a:endParaRPr sz="2000" b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Calibri"/>
                        <a:buNone/>
                      </a:pPr>
                      <a:r>
                        <a:rPr lang="en-US" sz="2000" b="0" u="none" strike="noStrike" cap="none" dirty="0" smtClean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Count</a:t>
                      </a:r>
                      <a:endParaRPr sz="2000" b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16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Calibri"/>
                        <a:buNone/>
                      </a:pPr>
                      <a:r>
                        <a:rPr lang="en-US" sz="2000" b="0" u="none" strike="noStrike" cap="none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Sunny</a:t>
                      </a:r>
                      <a:endParaRPr sz="2000" b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Calibri"/>
                        <a:buNone/>
                      </a:pPr>
                      <a:r>
                        <a:rPr lang="en-US" sz="2000" b="0" u="none" strike="noStrike" cap="none" dirty="0" smtClean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 sz="2000" b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Calibri"/>
                        <a:buNone/>
                      </a:pPr>
                      <a:r>
                        <a:rPr lang="en-US" sz="2000" b="0" u="none" strike="noStrike" cap="none" dirty="0" smtClean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 sz="2000" b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Calibri"/>
                        <a:buNone/>
                      </a:pPr>
                      <a:r>
                        <a:rPr lang="en-US" sz="2000" b="0" u="none" strike="noStrike" cap="none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r>
                        <a:rPr lang="en-US" sz="2000" b="0" u="none" strike="noStrike" cap="none" dirty="0" smtClean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</a:t>
                      </a:r>
                      <a:endParaRPr sz="2000" b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16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Calibri"/>
                        <a:buNone/>
                      </a:pPr>
                      <a:r>
                        <a:rPr lang="en-US" sz="2000" b="0" u="none" strike="noStrike" cap="none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Overcast</a:t>
                      </a:r>
                      <a:endParaRPr sz="2000" b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Calibri"/>
                        <a:buNone/>
                      </a:pPr>
                      <a:r>
                        <a:rPr lang="en-US" sz="2000" b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 sz="2000" b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Calibri"/>
                        <a:buNone/>
                      </a:pPr>
                      <a:r>
                        <a:rPr lang="en-US" sz="2000" b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2000" b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Calibri"/>
                        <a:buNone/>
                      </a:pPr>
                      <a:r>
                        <a:rPr lang="en-US" sz="2000" b="0" u="none" strike="noStrike" cap="none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r>
                        <a:rPr lang="en-US" sz="2000" b="0" u="none" strike="noStrike" cap="none" dirty="0" smtClean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 sz="2000" b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17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Calibri"/>
                        <a:buNone/>
                      </a:pPr>
                      <a:r>
                        <a:rPr lang="en-US" sz="2000" b="0" u="none" strike="noStrike" cap="none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Rainy</a:t>
                      </a:r>
                      <a:endParaRPr sz="2000" b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Calibri"/>
                        <a:buNone/>
                      </a:pPr>
                      <a:r>
                        <a:rPr lang="en-US" sz="2000" b="0" u="none" strike="noStrike" cap="none" dirty="0" smtClean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 sz="2000" b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Calibri"/>
                        <a:buNone/>
                      </a:pPr>
                      <a:r>
                        <a:rPr lang="en-US" sz="2000" b="0" u="none" strike="noStrike" cap="none" dirty="0" smtClean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 sz="2000" b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Calibri"/>
                        <a:buNone/>
                      </a:pPr>
                      <a:r>
                        <a:rPr lang="en-US" sz="2000" b="0" u="none" strike="noStrike" cap="none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r>
                        <a:rPr lang="en-US" sz="2000" b="0" u="none" strike="noStrike" cap="none" dirty="0" smtClean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</a:t>
                      </a:r>
                      <a:endParaRPr sz="2000" b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216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Calibri"/>
                        <a:buNone/>
                      </a:pPr>
                      <a:r>
                        <a:rPr lang="en-US" sz="2000" b="0" u="none" strike="noStrike" cap="none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Total</a:t>
                      </a:r>
                      <a:endParaRPr sz="2000" b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Calibri"/>
                        <a:buNone/>
                      </a:pPr>
                      <a:r>
                        <a:rPr lang="en-US" sz="2000" b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</a:t>
                      </a:r>
                      <a:endParaRPr sz="2000" b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Calibri"/>
                        <a:buNone/>
                      </a:pPr>
                      <a:r>
                        <a:rPr lang="en-US" sz="2000" b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</a:t>
                      </a:r>
                      <a:endParaRPr sz="2000" b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Calibri"/>
                        <a:buNone/>
                      </a:pPr>
                      <a:r>
                        <a:rPr lang="en-US" sz="2000" b="0" u="none" strike="noStrike" cap="none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100%</a:t>
                      </a:r>
                      <a:endParaRPr sz="2000" b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/>
              <p:cNvSpPr txBox="1"/>
              <p:nvPr/>
            </p:nvSpPr>
            <p:spPr>
              <a:xfrm>
                <a:off x="457251" y="6180750"/>
                <a:ext cx="6420155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𝐺𝑖𝑛𝑖</m:t>
                      </m:r>
                      <m:r>
                        <a:rPr lang="en-IN" sz="2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IN" sz="2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𝐼𝑛𝑑𝑒𝑥</m:t>
                      </m:r>
                      <m:d>
                        <m:dPr>
                          <m:ctrlPr>
                            <a:rPr lang="en-I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𝑆</m:t>
                          </m:r>
                          <m:r>
                            <a:rPr lang="en-I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I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𝑂𝑢𝑡𝑙𝑜𝑜𝑘</m:t>
                          </m:r>
                        </m:e>
                      </m:d>
                      <m:r>
                        <a:rPr lang="en-IN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=0.4591−0.657143</m:t>
                      </m:r>
                      <m:r>
                        <a:rPr lang="en-IN" sz="2000" i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m:rPr>
                          <m:nor/>
                        </m:rPr>
                        <a:rPr lang="en-IN" sz="200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−0.19804</m:t>
                      </m:r>
                    </m:oMath>
                  </m:oMathPara>
                </a14:m>
                <a:endParaRPr lang="en-IN" sz="20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9" name="Text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51" y="6180750"/>
                <a:ext cx="6420155" cy="307777"/>
              </a:xfrm>
              <a:prstGeom prst="rect">
                <a:avLst/>
              </a:prstGeom>
              <a:blipFill>
                <a:blip r:embed="rId9"/>
                <a:stretch>
                  <a:fillRect l="-380" r="-475" b="-1200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26652184"/>
      </p:ext>
    </p:extLst>
  </p:cSld>
  <p:clrMapOvr>
    <a:masterClrMapping/>
  </p:clrMapOvr>
  <p:transition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9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35"/>
          <p:cNvSpPr txBox="1"/>
          <p:nvPr/>
        </p:nvSpPr>
        <p:spPr>
          <a:xfrm>
            <a:off x="304799" y="381000"/>
            <a:ext cx="8454189" cy="689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0" i="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Decision Tree: </a:t>
            </a:r>
            <a:r>
              <a:rPr lang="en-US" sz="4400" b="0" i="0" dirty="0" smtClea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Gini Index</a:t>
            </a:r>
            <a:endParaRPr sz="4400" b="0" i="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176463" y="1596537"/>
                <a:ext cx="9086013" cy="46063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IN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𝐺</m:t>
                    </m:r>
                    <m:d>
                      <m:dPr>
                        <m:ctrlPr>
                          <a:rPr lang="en-I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𝑆</m:t>
                        </m:r>
                        <m:r>
                          <a:rPr lang="en-I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 </m:t>
                        </m:r>
                        <m:r>
                          <a:rPr lang="en-I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𝑇𝑒𝑚𝑝</m:t>
                        </m:r>
                      </m:e>
                    </m:d>
                    <m:r>
                      <a:rPr lang="en-IN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IN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1 −[</m:t>
                    </m:r>
                    <m:d>
                      <m:dPr>
                        <m:ctrlPr>
                          <a:rPr lang="en-I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I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4</m:t>
                            </m:r>
                          </m:num>
                          <m:den>
                            <m:r>
                              <a:rPr lang="en-I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14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0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G</m:t>
                    </m:r>
                    <m:d>
                      <m:dPr>
                        <m:ctrlPr>
                          <a:rPr lang="en-I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𝑇𝑒𝑚𝑝</m:t>
                        </m:r>
                        <m:r>
                          <a:rPr lang="en-I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I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𝐻𝑜𝑡</m:t>
                        </m:r>
                      </m:e>
                    </m:d>
                  </m:oMath>
                </a14:m>
                <a:r>
                  <a:rPr lang="en-IN" sz="20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+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I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6</m:t>
                            </m:r>
                          </m:num>
                          <m:den>
                            <m: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14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0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G</m:t>
                    </m:r>
                    <m:d>
                      <m:dPr>
                        <m:ctrlPr>
                          <a:rPr lang="en-I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𝑇𝑒𝑚𝑝</m:t>
                        </m:r>
                        <m:r>
                          <a:rPr lang="en-I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I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𝑀𝑖𝑙𝑑</m:t>
                        </m:r>
                      </m:e>
                    </m:d>
                  </m:oMath>
                </a14:m>
                <a:r>
                  <a:rPr lang="en-IN" sz="20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+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I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4</m:t>
                            </m:r>
                          </m:num>
                          <m:den>
                            <m: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14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0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G</m:t>
                    </m:r>
                    <m:d>
                      <m:dPr>
                        <m:ctrlPr>
                          <a:rPr lang="en-I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𝑇𝑒𝑚𝑝</m:t>
                        </m:r>
                        <m:r>
                          <a:rPr lang="en-I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I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𝐶𝑜𝑜𝑙</m:t>
                        </m:r>
                      </m:e>
                    </m:d>
                  </m:oMath>
                </a14:m>
                <a:r>
                  <a:rPr lang="en-IN" sz="20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]</a:t>
                </a:r>
                <a:endParaRPr lang="en-IN" sz="20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63" y="1596537"/>
                <a:ext cx="9086013" cy="460639"/>
              </a:xfrm>
              <a:prstGeom prst="rect">
                <a:avLst/>
              </a:prstGeom>
              <a:blipFill>
                <a:blip r:embed="rId3"/>
                <a:stretch>
                  <a:fillRect t="-2667" r="-1678" b="-1466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7" name="Group 6"/>
          <p:cNvGrpSpPr/>
          <p:nvPr/>
        </p:nvGrpSpPr>
        <p:grpSpPr>
          <a:xfrm>
            <a:off x="176463" y="2583103"/>
            <a:ext cx="6740210" cy="2670922"/>
            <a:chOff x="864201" y="3715231"/>
            <a:chExt cx="6740210" cy="267092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TextBox 10"/>
                <p:cNvSpPr txBox="1"/>
                <p:nvPr/>
              </p:nvSpPr>
              <p:spPr>
                <a:xfrm>
                  <a:off x="864201" y="3715231"/>
                  <a:ext cx="4953985" cy="80425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I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𝐺</m:t>
                        </m:r>
                        <m:d>
                          <m:dPr>
                            <m:ctrlP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𝑆</m:t>
                            </m:r>
                            <m: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 </m:t>
                            </m:r>
                            <m:r>
                              <a:rPr lang="en-I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𝑇𝑒𝑚𝑝</m:t>
                            </m:r>
                          </m:e>
                        </m:d>
                        <m:r>
                          <a:rPr lang="en-I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=1 −</m:t>
                        </m:r>
                        <m:d>
                          <m:dPr>
                            <m:ctrlPr>
                              <a:rPr lang="en-IN" sz="20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IN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4</m:t>
                                </m:r>
                              </m:num>
                              <m:den>
                                <m:r>
                                  <a:rPr lang="en-IN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14</m:t>
                                </m:r>
                              </m:den>
                            </m:f>
                          </m:e>
                        </m:d>
                        <m:d>
                          <m:dPr>
                            <m:ctrlP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1 −</m:t>
                            </m:r>
                            <m:sSup>
                              <m:sSupPr>
                                <m:ctrlPr>
                                  <a:rPr lang="en-IN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en-IN" sz="20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ctrlPr>
                                          <a:rPr lang="en-IN" sz="20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IN" sz="20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num>
                                      <m:den>
                                        <m:r>
                                          <a:rPr lang="en-IN" sz="20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4</m:t>
                                        </m:r>
                                      </m:den>
                                    </m:f>
                                  </m:e>
                                </m:d>
                              </m:e>
                              <m:sup>
                                <m:r>
                                  <a:rPr lang="en-IN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nor/>
                              </m:rPr>
                              <a:rPr lang="en-IN" sz="2000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</m:t>
                            </m:r>
                            <m:r>
                              <m:rPr>
                                <m:nor/>
                              </m:rPr>
                              <a:rPr lang="en-IN" sz="2000" b="0" i="0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 </m:t>
                            </m:r>
                            <m:sSup>
                              <m:sSupPr>
                                <m:ctrlPr>
                                  <a:rPr lang="en-IN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en-IN" sz="20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ctrlPr>
                                          <a:rPr lang="en-IN" sz="20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IN" sz="20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num>
                                      <m:den>
                                        <m:r>
                                          <a:rPr lang="en-IN" sz="20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4</m:t>
                                        </m:r>
                                      </m:den>
                                    </m:f>
                                  </m:e>
                                </m:d>
                              </m:e>
                              <m:sup>
                                <m:r>
                                  <a:rPr lang="en-IN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d>
                      </m:oMath>
                    </m:oMathPara>
                  </a14:m>
                  <a:endParaRPr lang="en-IN" sz="2000" dirty="0">
                    <a:latin typeface="Cambria Math" panose="02040503050406030204" pitchFamily="18" charset="0"/>
                    <a:ea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11" name="TextBox 1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64201" y="3715231"/>
                  <a:ext cx="4953985" cy="804259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TextBox 11"/>
                <p:cNvSpPr txBox="1"/>
                <p:nvPr/>
              </p:nvSpPr>
              <p:spPr>
                <a:xfrm>
                  <a:off x="2854457" y="4653838"/>
                  <a:ext cx="3194015" cy="80425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I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d>
                          <m:dPr>
                            <m:ctrlPr>
                              <a:rPr lang="en-IN" sz="20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IN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6</m:t>
                                </m:r>
                              </m:num>
                              <m:den>
                                <m:r>
                                  <a:rPr lang="en-IN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14</m:t>
                                </m:r>
                              </m:den>
                            </m:f>
                          </m:e>
                        </m:d>
                        <m:d>
                          <m:dPr>
                            <m:ctrlP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1 −</m:t>
                            </m:r>
                            <m:sSup>
                              <m:sSupPr>
                                <m:ctrlPr>
                                  <a:rPr lang="en-IN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en-IN" sz="20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ctrlPr>
                                          <a:rPr lang="en-IN" sz="20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IN" sz="20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4</m:t>
                                        </m:r>
                                      </m:num>
                                      <m:den>
                                        <m:r>
                                          <a:rPr lang="en-IN" sz="20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6</m:t>
                                        </m:r>
                                      </m:den>
                                    </m:f>
                                  </m:e>
                                </m:d>
                              </m:e>
                              <m:sup>
                                <m:r>
                                  <a:rPr lang="en-IN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nor/>
                              </m:rPr>
                              <a:rPr lang="en-IN" sz="2000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</m:t>
                            </m:r>
                            <m:r>
                              <m:rPr>
                                <m:nor/>
                              </m:rPr>
                              <a:rPr lang="en-IN" sz="2000" b="0" i="0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  <m:r>
                              <m:rPr>
                                <m:nor/>
                              </m:rPr>
                              <a:rPr lang="en-IN" sz="2000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</m:t>
                            </m:r>
                            <m:sSup>
                              <m:sSupPr>
                                <m:ctrlPr>
                                  <a:rPr lang="en-IN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en-IN" sz="20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ctrlPr>
                                          <a:rPr lang="en-IN" sz="20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IN" sz="20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num>
                                      <m:den>
                                        <m:r>
                                          <a:rPr lang="en-IN" sz="20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6</m:t>
                                        </m:r>
                                      </m:den>
                                    </m:f>
                                  </m:e>
                                </m:d>
                              </m:e>
                              <m:sup>
                                <m:r>
                                  <a:rPr lang="en-IN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d>
                      </m:oMath>
                    </m:oMathPara>
                  </a14:m>
                  <a:endParaRPr lang="en-IN" sz="2000" dirty="0">
                    <a:latin typeface="Cambria Math" panose="02040503050406030204" pitchFamily="18" charset="0"/>
                    <a:ea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12" name="TextBox 1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854457" y="4653838"/>
                  <a:ext cx="3194015" cy="804259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TextBox 12"/>
                <p:cNvSpPr txBox="1"/>
                <p:nvPr/>
              </p:nvSpPr>
              <p:spPr>
                <a:xfrm>
                  <a:off x="2908157" y="5581894"/>
                  <a:ext cx="3086614" cy="80425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I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d>
                          <m:dPr>
                            <m:ctrlPr>
                              <a:rPr lang="en-IN" sz="20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IN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4</m:t>
                                </m:r>
                              </m:num>
                              <m:den>
                                <m:r>
                                  <a:rPr lang="en-IN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14</m:t>
                                </m:r>
                              </m:den>
                            </m:f>
                          </m:e>
                        </m:d>
                        <m:d>
                          <m:dPr>
                            <m:ctrlP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1 −</m:t>
                            </m:r>
                            <m:sSup>
                              <m:sSupPr>
                                <m:ctrlPr>
                                  <a:rPr lang="en-IN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en-IN" sz="20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ctrlPr>
                                          <a:rPr lang="en-IN" sz="20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IN" sz="20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num>
                                      <m:den>
                                        <m:r>
                                          <a:rPr lang="en-IN" sz="20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4</m:t>
                                        </m:r>
                                      </m:den>
                                    </m:f>
                                  </m:e>
                                </m:d>
                              </m:e>
                              <m:sup>
                                <m:r>
                                  <a:rPr lang="en-IN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nor/>
                              </m:rPr>
                              <a:rPr lang="en-IN" sz="2000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</m:t>
                            </m:r>
                            <m:r>
                              <m:rPr>
                                <m:nor/>
                              </m:rPr>
                              <a:rPr lang="en-IN" sz="2000" b="0" i="0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  <m:r>
                              <m:rPr>
                                <m:nor/>
                              </m:rPr>
                              <a:rPr lang="en-IN" sz="2000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</m:t>
                            </m:r>
                            <m:sSup>
                              <m:sSupPr>
                                <m:ctrlPr>
                                  <a:rPr lang="en-IN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en-IN" sz="20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ctrlPr>
                                          <a:rPr lang="en-IN" sz="20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IN" sz="20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num>
                                      <m:den>
                                        <m:r>
                                          <a:rPr lang="en-IN" sz="20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4</m:t>
                                        </m:r>
                                      </m:den>
                                    </m:f>
                                  </m:e>
                                </m:d>
                              </m:e>
                              <m:sup>
                                <m:r>
                                  <a:rPr lang="en-IN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d>
                      </m:oMath>
                    </m:oMathPara>
                  </a14:m>
                  <a:endParaRPr lang="en-IN" sz="2000" dirty="0">
                    <a:latin typeface="Cambria Math" panose="02040503050406030204" pitchFamily="18" charset="0"/>
                    <a:ea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13" name="TextBox 1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08157" y="5581894"/>
                  <a:ext cx="3086614" cy="804259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Rectangle 4"/>
                <p:cNvSpPr/>
                <p:nvPr/>
              </p:nvSpPr>
              <p:spPr>
                <a:xfrm>
                  <a:off x="6048472" y="4932857"/>
                  <a:ext cx="1555939" cy="40011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IN" sz="2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</m:t>
                        </m:r>
                        <m:r>
                          <a:rPr lang="en-I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0.559524</m:t>
                        </m:r>
                      </m:oMath>
                    </m:oMathPara>
                  </a14:m>
                  <a:endParaRPr lang="en-IN" sz="2000" dirty="0">
                    <a:latin typeface="Cambria Math" panose="02040503050406030204" pitchFamily="18" charset="0"/>
                    <a:ea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5" name="Rectangle 4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048472" y="4932857"/>
                  <a:ext cx="1555939" cy="400110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</p:grpSp>
      <p:graphicFrame>
        <p:nvGraphicFramePr>
          <p:cNvPr id="15" name="Google Shape;259;p29"/>
          <p:cNvGraphicFramePr/>
          <p:nvPr>
            <p:extLst>
              <p:ext uri="{D42A27DB-BD31-4B8C-83A1-F6EECF244321}">
                <p14:modId xmlns:p14="http://schemas.microsoft.com/office/powerpoint/2010/main" val="1717697744"/>
              </p:ext>
            </p:extLst>
          </p:nvPr>
        </p:nvGraphicFramePr>
        <p:xfrm>
          <a:off x="7560688" y="4580398"/>
          <a:ext cx="4185900" cy="1969800"/>
        </p:xfrm>
        <a:graphic>
          <a:graphicData uri="http://schemas.openxmlformats.org/drawingml/2006/table">
            <a:tbl>
              <a:tblPr firstRow="1" bandRow="1">
                <a:noFill/>
                <a:tableStyleId>{AE0CDCE9-8EFF-456A-BFA7-76C2DBC4E188}</a:tableStyleId>
              </a:tblPr>
              <a:tblGrid>
                <a:gridCol w="1046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464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464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464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28300">
                <a:tc gridSpan="4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Calibri"/>
                        <a:buNone/>
                      </a:pPr>
                      <a:r>
                        <a:rPr lang="en-US" sz="2000" b="0" u="none" strike="noStrike" cap="none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Temperature</a:t>
                      </a:r>
                      <a:endParaRPr sz="2000" b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83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SzPts val="2000"/>
                        <a:buFont typeface="Calibri"/>
                        <a:buNone/>
                      </a:pPr>
                      <a:endParaRPr sz="2000" b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Calibri"/>
                        <a:buNone/>
                      </a:pPr>
                      <a:r>
                        <a:rPr lang="en-US" sz="2000" b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Yes</a:t>
                      </a:r>
                      <a:endParaRPr sz="2000" b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Calibri"/>
                        <a:buNone/>
                      </a:pPr>
                      <a:r>
                        <a:rPr lang="en-US" sz="2000" b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</a:t>
                      </a:r>
                      <a:endParaRPr sz="2000" b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Calibri"/>
                        <a:buNone/>
                      </a:pPr>
                      <a:r>
                        <a:rPr lang="en-US" sz="2000" b="0" u="none" strike="noStrike" cap="none" dirty="0" smtClean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Count</a:t>
                      </a:r>
                      <a:endParaRPr sz="2000" b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83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Calibri"/>
                        <a:buNone/>
                      </a:pPr>
                      <a:r>
                        <a:rPr lang="en-US" sz="2000" b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Hot</a:t>
                      </a:r>
                      <a:endParaRPr sz="2000" b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Calibri"/>
                        <a:buNone/>
                      </a:pPr>
                      <a:r>
                        <a:rPr lang="en-US" sz="2000" b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 sz="2000" b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Calibri"/>
                        <a:buNone/>
                      </a:pPr>
                      <a:r>
                        <a:rPr lang="en-US" sz="2000" b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 sz="2000" b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Calibri"/>
                        <a:buNone/>
                      </a:pPr>
                      <a:r>
                        <a:rPr lang="en-IN" sz="2000" b="0" u="none" strike="noStrike" cap="none" dirty="0" smtClean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 sz="2000" b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83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Calibri"/>
                        <a:buNone/>
                      </a:pPr>
                      <a:r>
                        <a:rPr lang="en-US" sz="2000" b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Mild</a:t>
                      </a:r>
                      <a:endParaRPr sz="2000" b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Calibri"/>
                        <a:buNone/>
                      </a:pPr>
                      <a:r>
                        <a:rPr lang="en-US" sz="2000" b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 sz="2000" b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Calibri"/>
                        <a:buNone/>
                      </a:pPr>
                      <a:r>
                        <a:rPr lang="en-US" sz="2000" b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 sz="2000" b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Calibri"/>
                        <a:buNone/>
                      </a:pPr>
                      <a:r>
                        <a:rPr lang="en-IN" sz="2000" b="0" u="none" strike="noStrike" cap="none" dirty="0" smtClean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</a:t>
                      </a:r>
                      <a:endParaRPr sz="2000" b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83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Calibri"/>
                        <a:buNone/>
                      </a:pPr>
                      <a:r>
                        <a:rPr lang="en-US" sz="2000" b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Cool</a:t>
                      </a:r>
                      <a:endParaRPr sz="2000" b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Calibri"/>
                        <a:buNone/>
                      </a:pPr>
                      <a:r>
                        <a:rPr lang="en-US" sz="2000" b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 sz="2000" b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Calibri"/>
                        <a:buNone/>
                      </a:pPr>
                      <a:r>
                        <a:rPr lang="en-US" sz="2000" b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2000" b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Calibri"/>
                        <a:buNone/>
                      </a:pPr>
                      <a:r>
                        <a:rPr lang="en-IN" sz="2000" b="0" u="none" strike="noStrike" cap="none" dirty="0" smtClean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 sz="2000" b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83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Calibri"/>
                        <a:buNone/>
                      </a:pPr>
                      <a:r>
                        <a:rPr lang="en-US" sz="2000" b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Total</a:t>
                      </a:r>
                      <a:endParaRPr sz="2000" b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Calibri"/>
                        <a:buNone/>
                      </a:pPr>
                      <a:r>
                        <a:rPr lang="en-US" sz="2000" b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</a:t>
                      </a:r>
                      <a:endParaRPr sz="2000" b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Calibri"/>
                        <a:buNone/>
                      </a:pPr>
                      <a:r>
                        <a:rPr lang="en-US" sz="2000" b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</a:t>
                      </a:r>
                      <a:endParaRPr sz="2000" b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Calibri"/>
                        <a:buNone/>
                      </a:pPr>
                      <a:r>
                        <a:rPr lang="en-US" sz="2000" b="0" u="none" strike="noStrike" cap="none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100%</a:t>
                      </a:r>
                      <a:endParaRPr sz="2000" b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/>
              <p:cNvSpPr txBox="1"/>
              <p:nvPr/>
            </p:nvSpPr>
            <p:spPr>
              <a:xfrm>
                <a:off x="457251" y="6180750"/>
                <a:ext cx="6220229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𝐺𝑖𝑛𝑖</m:t>
                      </m:r>
                      <m:r>
                        <a:rPr lang="en-IN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IN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𝐼𝑛𝑑𝑒𝑥</m:t>
                      </m:r>
                      <m:d>
                        <m:dPr>
                          <m:ctrlPr>
                            <a:rPr lang="en-I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𝑆</m:t>
                          </m:r>
                          <m:r>
                            <a:rPr lang="en-I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I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𝑇𝑒𝑚𝑝</m:t>
                          </m:r>
                        </m:e>
                      </m:d>
                      <m:r>
                        <a:rPr lang="en-IN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=0.4591−0.55952</m:t>
                      </m:r>
                      <m:r>
                        <a:rPr lang="en-IN" sz="2000" i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4=</m:t>
                      </m:r>
                      <m:r>
                        <m:rPr>
                          <m:nor/>
                        </m:rPr>
                        <a:rPr lang="en-IN" sz="200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−0.10042</m:t>
                      </m:r>
                    </m:oMath>
                  </m:oMathPara>
                </a14:m>
                <a:endParaRPr lang="en-IN" sz="20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51" y="6180750"/>
                <a:ext cx="6220229" cy="307777"/>
              </a:xfrm>
              <a:prstGeom prst="rect">
                <a:avLst/>
              </a:prstGeom>
              <a:blipFill>
                <a:blip r:embed="rId8"/>
                <a:stretch>
                  <a:fillRect b="-3800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67746695"/>
      </p:ext>
    </p:extLst>
  </p:cSld>
  <p:clrMapOvr>
    <a:masterClrMapping/>
  </p:clrMapOvr>
  <p:transition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35"/>
          <p:cNvSpPr txBox="1"/>
          <p:nvPr/>
        </p:nvSpPr>
        <p:spPr>
          <a:xfrm>
            <a:off x="304799" y="381000"/>
            <a:ext cx="8454189" cy="689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0" i="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Decision Tree: </a:t>
            </a:r>
            <a:r>
              <a:rPr lang="en-US" sz="4400" b="0" i="0" dirty="0" smtClea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Gini Index</a:t>
            </a:r>
            <a:endParaRPr sz="4400" b="0" i="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" name="Group 3"/>
          <p:cNvGrpSpPr/>
          <p:nvPr/>
        </p:nvGrpSpPr>
        <p:grpSpPr>
          <a:xfrm>
            <a:off x="176463" y="1485387"/>
            <a:ext cx="4074642" cy="1003652"/>
            <a:chOff x="858513" y="2454779"/>
            <a:chExt cx="4074642" cy="100365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" name="TextBox 1"/>
                <p:cNvSpPr txBox="1"/>
                <p:nvPr/>
              </p:nvSpPr>
              <p:spPr>
                <a:xfrm>
                  <a:off x="858513" y="2937006"/>
                  <a:ext cx="4074642" cy="521425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en-IN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𝐺</m:t>
                      </m:r>
                      <m:d>
                        <m:dPr>
                          <m:ctrlPr>
                            <a:rPr lang="en-I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𝑆</m:t>
                          </m:r>
                        </m:e>
                      </m:d>
                      <m:r>
                        <a:rPr lang="en-IN" sz="2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IN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1− [</m:t>
                      </m:r>
                      <m:sSup>
                        <m:sSupPr>
                          <m:ctrlPr>
                            <a:rPr lang="en-I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IN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IN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IN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9</m:t>
                                  </m:r>
                                </m:num>
                                <m:den>
                                  <m:r>
                                    <a:rPr lang="en-IN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14</m:t>
                                  </m:r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en-I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a14:m>
                  <a:r>
                    <a:rPr lang="en-IN" sz="2000" dirty="0" smtClean="0">
                      <a:latin typeface="Cambria Math" panose="02040503050406030204" pitchFamily="18" charset="0"/>
                      <a:ea typeface="Cambria Math" panose="02040503050406030204" pitchFamily="18" charset="0"/>
                    </a:rPr>
                    <a:t> +</a:t>
                  </a:r>
                  <a14:m>
                    <m:oMath xmlns:m="http://schemas.openxmlformats.org/officeDocument/2006/math">
                      <m:sSup>
                        <m:sSupPr>
                          <m:ctrlPr>
                            <a:rPr lang="en-I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IN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IN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IN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5</m:t>
                                  </m:r>
                                </m:num>
                                <m:den>
                                  <m:r>
                                    <a:rPr lang="en-IN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14</m:t>
                                  </m:r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en-I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IN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]=0.4591</m:t>
                      </m:r>
                    </m:oMath>
                  </a14:m>
                  <a:endParaRPr lang="en-IN" sz="2000" dirty="0">
                    <a:latin typeface="Cambria Math" panose="02040503050406030204" pitchFamily="18" charset="0"/>
                    <a:ea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2" name="TextBox 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58513" y="2937006"/>
                  <a:ext cx="4074642" cy="521425"/>
                </a:xfrm>
                <a:prstGeom prst="rect">
                  <a:avLst/>
                </a:prstGeom>
                <a:blipFill>
                  <a:blip r:embed="rId3"/>
                  <a:stretch>
                    <a:fillRect b="-12941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" name="TextBox 2"/>
            <p:cNvSpPr txBox="1"/>
            <p:nvPr/>
          </p:nvSpPr>
          <p:spPr>
            <a:xfrm>
              <a:off x="863561" y="2454779"/>
              <a:ext cx="3342582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sz="2000" dirty="0" smtClean="0">
                  <a:latin typeface="Cambria Math" panose="02040503050406030204" pitchFamily="18" charset="0"/>
                  <a:ea typeface="Cambria Math" panose="02040503050406030204" pitchFamily="18" charset="0"/>
                </a:rPr>
                <a:t>Entropy of the Class Variable</a:t>
              </a:r>
              <a:endParaRPr lang="en-IN" sz="2000" dirty="0">
                <a:latin typeface="Cambria Math" panose="02040503050406030204" pitchFamily="18" charset="0"/>
                <a:ea typeface="Cambria Math" panose="02040503050406030204" pitchFamily="18" charset="0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176463" y="2911978"/>
                <a:ext cx="8642879" cy="46063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IN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𝐺</m:t>
                    </m:r>
                    <m:d>
                      <m:dPr>
                        <m:ctrlPr>
                          <a:rPr lang="en-I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𝑆</m:t>
                        </m:r>
                        <m:r>
                          <a:rPr lang="en-I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I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𝐻𝑢𝑚𝑖𝑑𝑖𝑡𝑦</m:t>
                        </m:r>
                      </m:e>
                    </m:d>
                    <m:r>
                      <a:rPr lang="en-IN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IN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1 −[</m:t>
                    </m:r>
                    <m:d>
                      <m:dPr>
                        <m:ctrlPr>
                          <a:rPr lang="en-I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I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7</m:t>
                            </m:r>
                          </m:num>
                          <m:den>
                            <m:r>
                              <a:rPr lang="en-I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14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0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G</m:t>
                    </m:r>
                    <m:d>
                      <m:dPr>
                        <m:ctrlPr>
                          <a:rPr lang="en-I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𝐻𝑢𝑚𝑖𝑑𝑖𝑡𝑦</m:t>
                        </m:r>
                        <m:r>
                          <a:rPr lang="en-I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I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𝐻𝑖𝑔h</m:t>
                        </m:r>
                      </m:e>
                    </m:d>
                  </m:oMath>
                </a14:m>
                <a:r>
                  <a:rPr lang="en-IN" sz="20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+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I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7</m:t>
                            </m:r>
                          </m:num>
                          <m:den>
                            <m: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14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0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G</m:t>
                    </m:r>
                    <m:d>
                      <m:dPr>
                        <m:ctrlPr>
                          <a:rPr lang="en-I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𝐻𝑢𝑚𝑖𝑑𝑖𝑡𝑦</m:t>
                        </m:r>
                        <m:r>
                          <a:rPr lang="en-I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I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𝑁𝑜𝑟𝑚𝑎𝑙</m:t>
                        </m:r>
                      </m:e>
                    </m:d>
                  </m:oMath>
                </a14:m>
                <a:r>
                  <a:rPr lang="en-IN" sz="20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]</a:t>
                </a:r>
                <a:endParaRPr lang="en-IN" sz="20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63" y="2911978"/>
                <a:ext cx="8642879" cy="460639"/>
              </a:xfrm>
              <a:prstGeom prst="rect">
                <a:avLst/>
              </a:prstGeom>
              <a:blipFill>
                <a:blip r:embed="rId4"/>
                <a:stretch>
                  <a:fillRect t="-2667" r="-776" b="-1466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7" name="Group 6"/>
          <p:cNvGrpSpPr/>
          <p:nvPr/>
        </p:nvGrpSpPr>
        <p:grpSpPr>
          <a:xfrm>
            <a:off x="176463" y="3796304"/>
            <a:ext cx="7022102" cy="1724428"/>
            <a:chOff x="864201" y="3715231"/>
            <a:chExt cx="7022102" cy="172442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TextBox 10"/>
                <p:cNvSpPr txBox="1"/>
                <p:nvPr/>
              </p:nvSpPr>
              <p:spPr>
                <a:xfrm>
                  <a:off x="864201" y="3715231"/>
                  <a:ext cx="5384103" cy="80425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I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𝐺</m:t>
                        </m:r>
                        <m:d>
                          <m:dPr>
                            <m:ctrlP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𝑆</m:t>
                            </m:r>
                            <m: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 </m:t>
                            </m:r>
                            <m:r>
                              <a:rPr lang="en-I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𝐻𝑢𝑚𝑖𝑑𝑖𝑡𝑦</m:t>
                            </m:r>
                          </m:e>
                        </m:d>
                        <m:r>
                          <a:rPr lang="en-I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=1 −</m:t>
                        </m:r>
                        <m:d>
                          <m:dPr>
                            <m:ctrlPr>
                              <a:rPr lang="en-IN" sz="20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IN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7</m:t>
                                </m:r>
                              </m:num>
                              <m:den>
                                <m:r>
                                  <a:rPr lang="en-IN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14</m:t>
                                </m:r>
                              </m:den>
                            </m:f>
                          </m:e>
                        </m:d>
                        <m:d>
                          <m:dPr>
                            <m:ctrlP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1 −</m:t>
                            </m:r>
                            <m:sSup>
                              <m:sSupPr>
                                <m:ctrlPr>
                                  <a:rPr lang="en-IN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en-IN" sz="20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ctrlPr>
                                          <a:rPr lang="en-IN" sz="20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IN" sz="20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num>
                                      <m:den>
                                        <m:r>
                                          <a:rPr lang="en-IN" sz="20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7</m:t>
                                        </m:r>
                                      </m:den>
                                    </m:f>
                                  </m:e>
                                </m:d>
                              </m:e>
                              <m:sup>
                                <m:r>
                                  <a:rPr lang="en-IN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nor/>
                              </m:rPr>
                              <a:rPr lang="en-IN" sz="2000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</m:t>
                            </m:r>
                            <m:r>
                              <m:rPr>
                                <m:nor/>
                              </m:rPr>
                              <a:rPr lang="en-IN" sz="2000" b="0" i="0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 </m:t>
                            </m:r>
                            <m:sSup>
                              <m:sSupPr>
                                <m:ctrlPr>
                                  <a:rPr lang="en-IN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en-IN" sz="20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ctrlPr>
                                          <a:rPr lang="en-IN" sz="20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IN" sz="20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4</m:t>
                                        </m:r>
                                      </m:num>
                                      <m:den>
                                        <m:r>
                                          <a:rPr lang="en-IN" sz="20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7</m:t>
                                        </m:r>
                                      </m:den>
                                    </m:f>
                                  </m:e>
                                </m:d>
                              </m:e>
                              <m:sup>
                                <m:r>
                                  <a:rPr lang="en-IN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d>
                      </m:oMath>
                    </m:oMathPara>
                  </a14:m>
                  <a:endParaRPr lang="en-IN" sz="2000" dirty="0">
                    <a:latin typeface="Cambria Math" panose="02040503050406030204" pitchFamily="18" charset="0"/>
                    <a:ea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11" name="TextBox 1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64201" y="3715231"/>
                  <a:ext cx="5384103" cy="804259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TextBox 11"/>
                <p:cNvSpPr txBox="1"/>
                <p:nvPr/>
              </p:nvSpPr>
              <p:spPr>
                <a:xfrm>
                  <a:off x="3129136" y="4635400"/>
                  <a:ext cx="3194015" cy="80425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I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d>
                          <m:dPr>
                            <m:ctrlPr>
                              <a:rPr lang="en-IN" sz="20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IN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7</m:t>
                                </m:r>
                              </m:num>
                              <m:den>
                                <m:r>
                                  <a:rPr lang="en-IN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14</m:t>
                                </m:r>
                              </m:den>
                            </m:f>
                          </m:e>
                        </m:d>
                        <m:d>
                          <m:dPr>
                            <m:ctrlP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1 −</m:t>
                            </m:r>
                            <m:sSup>
                              <m:sSupPr>
                                <m:ctrlPr>
                                  <a:rPr lang="en-IN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en-IN" sz="20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ctrlPr>
                                          <a:rPr lang="en-IN" sz="20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IN" sz="20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6</m:t>
                                        </m:r>
                                      </m:num>
                                      <m:den>
                                        <m:r>
                                          <a:rPr lang="en-IN" sz="20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7</m:t>
                                        </m:r>
                                      </m:den>
                                    </m:f>
                                  </m:e>
                                </m:d>
                              </m:e>
                              <m:sup>
                                <m:r>
                                  <a:rPr lang="en-IN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nor/>
                              </m:rPr>
                              <a:rPr lang="en-IN" sz="2000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</m:t>
                            </m:r>
                            <m:r>
                              <m:rPr>
                                <m:nor/>
                              </m:rPr>
                              <a:rPr lang="en-IN" sz="2000" b="0" i="0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  <m:r>
                              <m:rPr>
                                <m:nor/>
                              </m:rPr>
                              <a:rPr lang="en-IN" sz="2000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</m:t>
                            </m:r>
                            <m:sSup>
                              <m:sSupPr>
                                <m:ctrlPr>
                                  <a:rPr lang="en-IN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en-IN" sz="20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ctrlPr>
                                          <a:rPr lang="en-IN" sz="20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IN" sz="20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num>
                                      <m:den>
                                        <m:r>
                                          <a:rPr lang="en-IN" sz="20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7</m:t>
                                        </m:r>
                                      </m:den>
                                    </m:f>
                                  </m:e>
                                </m:d>
                              </m:e>
                              <m:sup>
                                <m:r>
                                  <a:rPr lang="en-IN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d>
                      </m:oMath>
                    </m:oMathPara>
                  </a14:m>
                  <a:endParaRPr lang="en-IN" sz="2000" dirty="0">
                    <a:latin typeface="Cambria Math" panose="02040503050406030204" pitchFamily="18" charset="0"/>
                    <a:ea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12" name="TextBox 1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29136" y="4635400"/>
                  <a:ext cx="3194015" cy="804259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Rectangle 4"/>
                <p:cNvSpPr/>
                <p:nvPr/>
              </p:nvSpPr>
              <p:spPr>
                <a:xfrm>
                  <a:off x="6330364" y="4519490"/>
                  <a:ext cx="1555939" cy="40011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IN" sz="20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</m:t>
                        </m:r>
                        <m:r>
                          <m:rPr>
                            <m:nor/>
                          </m:rPr>
                          <a:rPr lang="en-IN" sz="20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0.632653</m:t>
                        </m:r>
                      </m:oMath>
                    </m:oMathPara>
                  </a14:m>
                  <a:endParaRPr lang="en-IN" sz="2000" dirty="0">
                    <a:latin typeface="Cambria Math" panose="02040503050406030204" pitchFamily="18" charset="0"/>
                    <a:ea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5" name="Rectangle 4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30364" y="4519490"/>
                  <a:ext cx="1555939" cy="400110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</p:grpSp>
      <p:graphicFrame>
        <p:nvGraphicFramePr>
          <p:cNvPr id="15" name="Google Shape;260;p29"/>
          <p:cNvGraphicFramePr/>
          <p:nvPr>
            <p:extLst>
              <p:ext uri="{D42A27DB-BD31-4B8C-83A1-F6EECF244321}">
                <p14:modId xmlns:p14="http://schemas.microsoft.com/office/powerpoint/2010/main" val="1340359659"/>
              </p:ext>
            </p:extLst>
          </p:nvPr>
        </p:nvGraphicFramePr>
        <p:xfrm>
          <a:off x="8265894" y="4198433"/>
          <a:ext cx="3601700" cy="2452375"/>
        </p:xfrm>
        <a:graphic>
          <a:graphicData uri="http://schemas.openxmlformats.org/drawingml/2006/table">
            <a:tbl>
              <a:tblPr firstRow="1" bandRow="1">
                <a:noFill/>
                <a:tableStyleId>{AE0CDCE9-8EFF-456A-BFA7-76C2DBC4E188}</a:tableStyleId>
              </a:tblPr>
              <a:tblGrid>
                <a:gridCol w="900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004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004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004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04800">
                <a:tc gridSpan="4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Calibri"/>
                        <a:buNone/>
                      </a:pPr>
                      <a:r>
                        <a:rPr lang="en-US" sz="2000" b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Humidity</a:t>
                      </a:r>
                      <a:endParaRPr sz="2000" b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53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SzPts val="2000"/>
                        <a:buFont typeface="Calibri"/>
                        <a:buNone/>
                      </a:pPr>
                      <a:endParaRPr sz="2000" b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Calibri"/>
                        <a:buNone/>
                      </a:pPr>
                      <a:r>
                        <a:rPr lang="en-US" sz="2000" b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Yes</a:t>
                      </a:r>
                      <a:endParaRPr sz="2000" b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Calibri"/>
                        <a:buNone/>
                      </a:pPr>
                      <a:r>
                        <a:rPr lang="en-US" sz="2000" b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</a:t>
                      </a:r>
                      <a:endParaRPr sz="2000" b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Calibri"/>
                        <a:buNone/>
                      </a:pPr>
                      <a:r>
                        <a:rPr lang="en-IN" sz="2000" b="0" u="none" strike="noStrike" cap="none" dirty="0" smtClean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Count</a:t>
                      </a:r>
                      <a:endParaRPr sz="2000" b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73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Calibri"/>
                        <a:buNone/>
                      </a:pPr>
                      <a:r>
                        <a:rPr lang="en-US" sz="2000" b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High</a:t>
                      </a:r>
                      <a:endParaRPr sz="2000" b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Calibri"/>
                        <a:buNone/>
                      </a:pPr>
                      <a:r>
                        <a:rPr lang="en-US" sz="2000" b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 sz="2000" b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Calibri"/>
                        <a:buNone/>
                      </a:pPr>
                      <a:r>
                        <a:rPr lang="en-US" sz="2000" b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 sz="2000" b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Calibri"/>
                        <a:buNone/>
                      </a:pPr>
                      <a:r>
                        <a:rPr lang="en-IN" sz="2000" b="0" u="none" strike="noStrike" cap="none" dirty="0" smtClean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</a:t>
                      </a:r>
                      <a:endParaRPr sz="2000" b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146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Calibri"/>
                        <a:buNone/>
                      </a:pPr>
                      <a:r>
                        <a:rPr lang="en-US" sz="2000" b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Normal</a:t>
                      </a:r>
                      <a:endParaRPr sz="2000" b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Calibri"/>
                        <a:buNone/>
                      </a:pPr>
                      <a:r>
                        <a:rPr lang="en-US" sz="2000" b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</a:t>
                      </a:r>
                      <a:endParaRPr sz="2000" b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Calibri"/>
                        <a:buNone/>
                      </a:pPr>
                      <a:r>
                        <a:rPr lang="en-US" sz="2000" b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2000" b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Calibri"/>
                        <a:buNone/>
                      </a:pPr>
                      <a:r>
                        <a:rPr lang="en-IN" sz="2000" b="0" u="none" strike="noStrike" cap="none" dirty="0" smtClean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</a:t>
                      </a:r>
                      <a:endParaRPr sz="2000" b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102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Calibri"/>
                        <a:buNone/>
                      </a:pPr>
                      <a:r>
                        <a:rPr lang="en-US" sz="2000" b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Total</a:t>
                      </a:r>
                      <a:endParaRPr sz="2000" b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Calibri"/>
                        <a:buNone/>
                      </a:pPr>
                      <a:r>
                        <a:rPr lang="en-US" sz="2000" b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</a:t>
                      </a:r>
                      <a:endParaRPr sz="2000" b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Calibri"/>
                        <a:buNone/>
                      </a:pPr>
                      <a:r>
                        <a:rPr lang="en-US" sz="2000" b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</a:t>
                      </a:r>
                      <a:endParaRPr sz="2000" b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Calibri"/>
                        <a:buNone/>
                      </a:pPr>
                      <a:r>
                        <a:rPr lang="en-US" sz="2000" b="0" u="none" strike="noStrike" cap="none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100%</a:t>
                      </a:r>
                      <a:endParaRPr sz="2000" b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/>
              <p:cNvSpPr txBox="1"/>
              <p:nvPr/>
            </p:nvSpPr>
            <p:spPr>
              <a:xfrm>
                <a:off x="304799" y="6343031"/>
                <a:ext cx="7259003" cy="30777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IN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𝐺𝑖𝑛𝑖</m:t>
                    </m:r>
                    <m:r>
                      <a:rPr lang="en-IN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IN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𝐼𝑛𝑑𝑒𝑥</m:t>
                    </m:r>
                    <m:d>
                      <m:dPr>
                        <m:ctrlPr>
                          <a:rPr lang="en-I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𝑆</m:t>
                        </m:r>
                        <m:r>
                          <a:rPr lang="en-I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I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𝐻𝑢𝑚𝑖𝑑𝑖𝑡𝑦</m:t>
                        </m:r>
                      </m:e>
                    </m:d>
                    <m:r>
                      <a:rPr lang="en-IN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=0.4591−</m:t>
                    </m:r>
                    <m:r>
                      <m:rPr>
                        <m:nor/>
                      </m:rPr>
                      <a:rPr lang="en-IN" sz="20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0.632653</m:t>
                    </m:r>
                  </m:oMath>
                </a14:m>
                <a:r>
                  <a:rPr lang="en-IN" sz="20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=-0.17355 </a:t>
                </a:r>
              </a:p>
            </p:txBody>
          </p:sp>
        </mc:Choice>
        <mc:Fallback xmlns=""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799" y="6343031"/>
                <a:ext cx="7259003" cy="307777"/>
              </a:xfrm>
              <a:prstGeom prst="rect">
                <a:avLst/>
              </a:prstGeom>
              <a:blipFill>
                <a:blip r:embed="rId8"/>
                <a:stretch>
                  <a:fillRect l="-1175" t="-26000" b="-5000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67624244"/>
      </p:ext>
    </p:extLst>
  </p:cSld>
  <p:clrMapOvr>
    <a:masterClrMapping/>
  </p:clrMapOvr>
  <p:transition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35"/>
          <p:cNvSpPr txBox="1"/>
          <p:nvPr/>
        </p:nvSpPr>
        <p:spPr>
          <a:xfrm>
            <a:off x="304799" y="381000"/>
            <a:ext cx="8454189" cy="689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0" i="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Decision Tree: </a:t>
            </a:r>
            <a:r>
              <a:rPr lang="en-US" sz="4400" b="0" i="0" dirty="0" smtClea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Gini Index</a:t>
            </a:r>
            <a:endParaRPr sz="4400" b="0" i="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" name="Group 3"/>
          <p:cNvGrpSpPr/>
          <p:nvPr/>
        </p:nvGrpSpPr>
        <p:grpSpPr>
          <a:xfrm>
            <a:off x="176463" y="1485387"/>
            <a:ext cx="4074642" cy="1003652"/>
            <a:chOff x="858513" y="2454779"/>
            <a:chExt cx="4074642" cy="100365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" name="TextBox 1"/>
                <p:cNvSpPr txBox="1"/>
                <p:nvPr/>
              </p:nvSpPr>
              <p:spPr>
                <a:xfrm>
                  <a:off x="858513" y="2937006"/>
                  <a:ext cx="4074642" cy="521425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en-IN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𝐺</m:t>
                      </m:r>
                      <m:d>
                        <m:dPr>
                          <m:ctrlPr>
                            <a:rPr lang="en-I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𝑆</m:t>
                          </m:r>
                        </m:e>
                      </m:d>
                      <m:r>
                        <a:rPr lang="en-IN" sz="2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IN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1− [</m:t>
                      </m:r>
                      <m:sSup>
                        <m:sSupPr>
                          <m:ctrlPr>
                            <a:rPr lang="en-I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IN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IN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IN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9</m:t>
                                  </m:r>
                                </m:num>
                                <m:den>
                                  <m:r>
                                    <a:rPr lang="en-IN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14</m:t>
                                  </m:r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en-I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a14:m>
                  <a:r>
                    <a:rPr lang="en-IN" sz="2000" dirty="0" smtClean="0">
                      <a:latin typeface="Cambria Math" panose="02040503050406030204" pitchFamily="18" charset="0"/>
                      <a:ea typeface="Cambria Math" panose="02040503050406030204" pitchFamily="18" charset="0"/>
                    </a:rPr>
                    <a:t> +</a:t>
                  </a:r>
                  <a14:m>
                    <m:oMath xmlns:m="http://schemas.openxmlformats.org/officeDocument/2006/math">
                      <m:sSup>
                        <m:sSupPr>
                          <m:ctrlPr>
                            <a:rPr lang="en-I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IN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IN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IN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5</m:t>
                                  </m:r>
                                </m:num>
                                <m:den>
                                  <m:r>
                                    <a:rPr lang="en-IN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14</m:t>
                                  </m:r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en-I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IN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]=0.4591</m:t>
                      </m:r>
                    </m:oMath>
                  </a14:m>
                  <a:endParaRPr lang="en-IN" sz="2000" dirty="0">
                    <a:latin typeface="Cambria Math" panose="02040503050406030204" pitchFamily="18" charset="0"/>
                    <a:ea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2" name="TextBox 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58513" y="2937006"/>
                  <a:ext cx="4074642" cy="521425"/>
                </a:xfrm>
                <a:prstGeom prst="rect">
                  <a:avLst/>
                </a:prstGeom>
                <a:blipFill>
                  <a:blip r:embed="rId3"/>
                  <a:stretch>
                    <a:fillRect b="-12941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" name="TextBox 2"/>
            <p:cNvSpPr txBox="1"/>
            <p:nvPr/>
          </p:nvSpPr>
          <p:spPr>
            <a:xfrm>
              <a:off x="863561" y="2454779"/>
              <a:ext cx="3342582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sz="2000" dirty="0" smtClean="0">
                  <a:latin typeface="Cambria Math" panose="02040503050406030204" pitchFamily="18" charset="0"/>
                  <a:ea typeface="Cambria Math" panose="02040503050406030204" pitchFamily="18" charset="0"/>
                </a:rPr>
                <a:t>Entropy of the Class Variable</a:t>
              </a:r>
              <a:endParaRPr lang="en-IN" sz="2000" dirty="0">
                <a:latin typeface="Cambria Math" panose="02040503050406030204" pitchFamily="18" charset="0"/>
                <a:ea typeface="Cambria Math" panose="02040503050406030204" pitchFamily="18" charset="0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176463" y="2911978"/>
                <a:ext cx="7680436" cy="46063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IN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𝐺</m:t>
                    </m:r>
                    <m:d>
                      <m:dPr>
                        <m:ctrlPr>
                          <a:rPr lang="en-I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𝑆</m:t>
                        </m:r>
                        <m:r>
                          <a:rPr lang="en-I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 </m:t>
                        </m:r>
                        <m:r>
                          <a:rPr lang="en-I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𝑊𝑖𝑛𝑑𝑦</m:t>
                        </m:r>
                      </m:e>
                    </m:d>
                    <m:r>
                      <a:rPr lang="en-IN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IN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1 −[</m:t>
                    </m:r>
                    <m:d>
                      <m:dPr>
                        <m:ctrlPr>
                          <a:rPr lang="en-I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I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8</m:t>
                            </m:r>
                          </m:num>
                          <m:den>
                            <m:r>
                              <a:rPr lang="en-I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14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0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G</m:t>
                    </m:r>
                    <m:d>
                      <m:dPr>
                        <m:ctrlPr>
                          <a:rPr lang="en-I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𝑊𝑖𝑛𝑑𝑦</m:t>
                        </m:r>
                        <m:r>
                          <a:rPr lang="en-I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I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𝑊𝑒𝑎𝑘</m:t>
                        </m:r>
                      </m:e>
                    </m:d>
                  </m:oMath>
                </a14:m>
                <a:r>
                  <a:rPr lang="en-IN" sz="20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+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I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6</m:t>
                            </m:r>
                          </m:num>
                          <m:den>
                            <m: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14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0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G</m:t>
                    </m:r>
                    <m:d>
                      <m:dPr>
                        <m:ctrlPr>
                          <a:rPr lang="en-I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𝑊𝑖𝑛𝑑𝑦</m:t>
                        </m:r>
                        <m:r>
                          <a:rPr lang="en-I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I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𝑆𝑡𝑟𝑜𝑛𝑔</m:t>
                        </m:r>
                      </m:e>
                    </m:d>
                  </m:oMath>
                </a14:m>
                <a:r>
                  <a:rPr lang="en-IN" sz="20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]</a:t>
                </a:r>
                <a:endParaRPr lang="en-IN" sz="20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63" y="2911978"/>
                <a:ext cx="7680436" cy="460639"/>
              </a:xfrm>
              <a:prstGeom prst="rect">
                <a:avLst/>
              </a:prstGeom>
              <a:blipFill>
                <a:blip r:embed="rId4"/>
                <a:stretch>
                  <a:fillRect t="-2667" r="-1032" b="-1466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7" name="Group 6"/>
          <p:cNvGrpSpPr/>
          <p:nvPr/>
        </p:nvGrpSpPr>
        <p:grpSpPr>
          <a:xfrm>
            <a:off x="176463" y="3796304"/>
            <a:ext cx="6932570" cy="1699904"/>
            <a:chOff x="864201" y="3715231"/>
            <a:chExt cx="6932570" cy="1699904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TextBox 10"/>
                <p:cNvSpPr txBox="1"/>
                <p:nvPr/>
              </p:nvSpPr>
              <p:spPr>
                <a:xfrm>
                  <a:off x="864201" y="3715231"/>
                  <a:ext cx="5125827" cy="80425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I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𝐺</m:t>
                        </m:r>
                        <m:d>
                          <m:dPr>
                            <m:ctrlP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𝑆</m:t>
                            </m:r>
                            <m: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𝑊𝑖𝑛𝑑𝑦</m:t>
                            </m:r>
                          </m:e>
                        </m:d>
                        <m:r>
                          <a:rPr lang="en-I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=1 −</m:t>
                        </m:r>
                        <m:d>
                          <m:dPr>
                            <m:ctrlPr>
                              <a:rPr lang="en-IN" sz="20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IN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8</m:t>
                                </m:r>
                              </m:num>
                              <m:den>
                                <m:r>
                                  <a:rPr lang="en-IN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14</m:t>
                                </m:r>
                              </m:den>
                            </m:f>
                          </m:e>
                        </m:d>
                        <m:d>
                          <m:dPr>
                            <m:ctrlP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1 −</m:t>
                            </m:r>
                            <m:sSup>
                              <m:sSupPr>
                                <m:ctrlPr>
                                  <a:rPr lang="en-IN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en-IN" sz="20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ctrlPr>
                                          <a:rPr lang="en-IN" sz="20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IN" sz="20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6</m:t>
                                        </m:r>
                                      </m:num>
                                      <m:den>
                                        <m:r>
                                          <a:rPr lang="en-IN" sz="20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8</m:t>
                                        </m:r>
                                      </m:den>
                                    </m:f>
                                  </m:e>
                                </m:d>
                              </m:e>
                              <m:sup>
                                <m:r>
                                  <a:rPr lang="en-IN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nor/>
                              </m:rPr>
                              <a:rPr lang="en-IN" sz="2000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</m:t>
                            </m:r>
                            <m:r>
                              <m:rPr>
                                <m:nor/>
                              </m:rPr>
                              <a:rPr lang="en-IN" sz="2000" b="0" i="0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 </m:t>
                            </m:r>
                            <m:sSup>
                              <m:sSupPr>
                                <m:ctrlPr>
                                  <a:rPr lang="en-IN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en-IN" sz="20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ctrlPr>
                                          <a:rPr lang="en-IN" sz="20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IN" sz="20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num>
                                      <m:den>
                                        <m:r>
                                          <a:rPr lang="en-IN" sz="20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8</m:t>
                                        </m:r>
                                      </m:den>
                                    </m:f>
                                  </m:e>
                                </m:d>
                              </m:e>
                              <m:sup>
                                <m:r>
                                  <a:rPr lang="en-IN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d>
                      </m:oMath>
                    </m:oMathPara>
                  </a14:m>
                  <a:endParaRPr lang="en-IN" sz="2000" dirty="0">
                    <a:latin typeface="Cambria Math" panose="02040503050406030204" pitchFamily="18" charset="0"/>
                    <a:ea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11" name="TextBox 1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64201" y="3715231"/>
                  <a:ext cx="5125827" cy="804259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TextBox 11"/>
                <p:cNvSpPr txBox="1"/>
                <p:nvPr/>
              </p:nvSpPr>
              <p:spPr>
                <a:xfrm>
                  <a:off x="2853343" y="4610876"/>
                  <a:ext cx="3234796" cy="80425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I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d>
                          <m:dPr>
                            <m:ctrlPr>
                              <a:rPr lang="en-IN" sz="20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IN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6</m:t>
                                </m:r>
                              </m:num>
                              <m:den>
                                <m:r>
                                  <a:rPr lang="en-IN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14</m:t>
                                </m:r>
                              </m:den>
                            </m:f>
                          </m:e>
                        </m:d>
                        <m:d>
                          <m:dPr>
                            <m:ctrlP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1 −</m:t>
                            </m:r>
                            <m:sSup>
                              <m:sSupPr>
                                <m:ctrlPr>
                                  <a:rPr lang="en-IN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en-IN" sz="20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ctrlPr>
                                          <a:rPr lang="en-IN" sz="20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IN" sz="20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num>
                                      <m:den>
                                        <m:r>
                                          <a:rPr lang="en-IN" sz="20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6</m:t>
                                        </m:r>
                                      </m:den>
                                    </m:f>
                                  </m:e>
                                </m:d>
                              </m:e>
                              <m:sup>
                                <m:r>
                                  <a:rPr lang="en-IN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nor/>
                              </m:rPr>
                              <a:rPr lang="en-IN" sz="2000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</m:t>
                            </m:r>
                            <m:r>
                              <m:rPr>
                                <m:nor/>
                              </m:rPr>
                              <a:rPr lang="en-IN" sz="2000" b="0" i="0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  <m:r>
                              <m:rPr>
                                <m:nor/>
                              </m:rPr>
                              <a:rPr lang="en-IN" sz="2000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</m:t>
                            </m:r>
                            <m:sSup>
                              <m:sSupPr>
                                <m:ctrlPr>
                                  <a:rPr lang="en-IN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en-IN" sz="20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ctrlPr>
                                          <a:rPr lang="en-IN" sz="20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IN" sz="20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num>
                                      <m:den>
                                        <m:r>
                                          <a:rPr lang="en-IN" sz="20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6</m:t>
                                        </m:r>
                                      </m:den>
                                    </m:f>
                                  </m:e>
                                </m:d>
                              </m:e>
                              <m:sup>
                                <m:r>
                                  <a:rPr lang="en-IN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d>
                      </m:oMath>
                    </m:oMathPara>
                  </a14:m>
                  <a:endParaRPr lang="en-IN" sz="2000" dirty="0">
                    <a:latin typeface="Cambria Math" panose="02040503050406030204" pitchFamily="18" charset="0"/>
                    <a:ea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12" name="TextBox 1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853343" y="4610876"/>
                  <a:ext cx="3234796" cy="804259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Rectangle 4"/>
                <p:cNvSpPr/>
                <p:nvPr/>
              </p:nvSpPr>
              <p:spPr>
                <a:xfrm>
                  <a:off x="6048472" y="4410821"/>
                  <a:ext cx="1748299" cy="40011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IN" sz="2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</m:t>
                        </m:r>
                        <m:r>
                          <a:rPr lang="en-I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−0.571429</m:t>
                        </m:r>
                      </m:oMath>
                    </m:oMathPara>
                  </a14:m>
                  <a:endParaRPr lang="en-IN" sz="2000" dirty="0">
                    <a:latin typeface="Cambria Math" panose="02040503050406030204" pitchFamily="18" charset="0"/>
                    <a:ea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5" name="Rectangle 4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048472" y="4410821"/>
                  <a:ext cx="1748299" cy="400110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</p:grpSp>
      <p:graphicFrame>
        <p:nvGraphicFramePr>
          <p:cNvPr id="15" name="Google Shape;261;p29"/>
          <p:cNvGraphicFramePr/>
          <p:nvPr>
            <p:extLst>
              <p:ext uri="{D42A27DB-BD31-4B8C-83A1-F6EECF244321}">
                <p14:modId xmlns:p14="http://schemas.microsoft.com/office/powerpoint/2010/main" val="641138448"/>
              </p:ext>
            </p:extLst>
          </p:nvPr>
        </p:nvGraphicFramePr>
        <p:xfrm>
          <a:off x="7855938" y="4061380"/>
          <a:ext cx="3784600" cy="2529800"/>
        </p:xfrm>
        <a:graphic>
          <a:graphicData uri="http://schemas.openxmlformats.org/drawingml/2006/table">
            <a:tbl>
              <a:tblPr firstRow="1" bandRow="1">
                <a:noFill/>
                <a:tableStyleId>{AE0CDCE9-8EFF-456A-BFA7-76C2DBC4E188}</a:tableStyleId>
              </a:tblPr>
              <a:tblGrid>
                <a:gridCol w="9461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461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461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461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55275">
                <a:tc gridSpan="4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Calibri"/>
                        <a:buNone/>
                      </a:pPr>
                      <a:r>
                        <a:rPr lang="en-US" sz="2000" b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Wind</a:t>
                      </a:r>
                      <a:endParaRPr sz="2000" b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356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SzPts val="2000"/>
                        <a:buFont typeface="Calibri"/>
                        <a:buNone/>
                      </a:pPr>
                      <a:endParaRPr sz="2000" b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Calibri"/>
                        <a:buNone/>
                      </a:pPr>
                      <a:r>
                        <a:rPr lang="en-US" sz="2000" b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Yes</a:t>
                      </a:r>
                      <a:endParaRPr sz="2000" b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Calibri"/>
                        <a:buNone/>
                      </a:pPr>
                      <a:r>
                        <a:rPr lang="en-US" sz="2000" b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</a:t>
                      </a:r>
                      <a:endParaRPr sz="2000" b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Calibri"/>
                        <a:buNone/>
                      </a:pPr>
                      <a:r>
                        <a:rPr lang="en-US" sz="2000" b="0" u="none" strike="noStrike" cap="none" dirty="0" smtClean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Count</a:t>
                      </a:r>
                      <a:endParaRPr sz="2000" b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81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Calibri"/>
                        <a:buNone/>
                      </a:pPr>
                      <a:r>
                        <a:rPr lang="en-US" sz="2000" b="0" u="none" strike="noStrike" cap="none" dirty="0" smtClean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Weak</a:t>
                      </a:r>
                      <a:endParaRPr sz="2000" b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Calibri"/>
                        <a:buNone/>
                      </a:pPr>
                      <a:r>
                        <a:rPr lang="en-US" sz="2000" b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</a:t>
                      </a:r>
                      <a:endParaRPr sz="2000" b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Calibri"/>
                        <a:buNone/>
                      </a:pPr>
                      <a:r>
                        <a:rPr lang="en-US" sz="2000" b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 sz="2000" b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Calibri"/>
                        <a:buNone/>
                      </a:pPr>
                      <a:r>
                        <a:rPr lang="en-US" sz="2000" b="0" u="none" strike="noStrike" cap="none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r>
                        <a:rPr lang="en-US" sz="2000" b="0" u="none" strike="noStrike" cap="none" dirty="0" smtClean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</a:t>
                      </a:r>
                      <a:endParaRPr sz="2000" b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356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Calibri"/>
                        <a:buNone/>
                      </a:pPr>
                      <a:r>
                        <a:rPr lang="en-US" sz="2000" b="0" u="none" strike="noStrike" cap="none" dirty="0" smtClean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Strong</a:t>
                      </a:r>
                      <a:endParaRPr sz="2000" b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Calibri"/>
                        <a:buNone/>
                      </a:pPr>
                      <a:r>
                        <a:rPr lang="en-US" sz="2000" b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 sz="2000" b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Calibri"/>
                        <a:buNone/>
                      </a:pPr>
                      <a:r>
                        <a:rPr lang="en-US" sz="2000" b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 sz="2000" b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Calibri"/>
                        <a:buNone/>
                      </a:pPr>
                      <a:r>
                        <a:rPr lang="en-US" sz="2000" b="0" u="none" strike="noStrike" cap="none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r>
                        <a:rPr lang="en-US" sz="2000" b="0" u="none" strike="noStrike" cap="none" dirty="0" smtClean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</a:t>
                      </a:r>
                      <a:endParaRPr sz="2000" b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356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Calibri"/>
                        <a:buNone/>
                      </a:pPr>
                      <a:r>
                        <a:rPr lang="en-US" sz="2000" b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Total</a:t>
                      </a:r>
                      <a:endParaRPr sz="2000" b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Calibri"/>
                        <a:buNone/>
                      </a:pPr>
                      <a:r>
                        <a:rPr lang="en-US" sz="2000" b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</a:t>
                      </a:r>
                      <a:endParaRPr sz="2000" b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Calibri"/>
                        <a:buNone/>
                      </a:pPr>
                      <a:r>
                        <a:rPr lang="en-US" sz="2000" b="0" u="none" strike="noStrike" cap="none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</a:t>
                      </a:r>
                      <a:endParaRPr sz="2000" b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Calibri"/>
                        <a:buNone/>
                      </a:pPr>
                      <a:r>
                        <a:rPr lang="en-US" sz="2000" b="0" u="none" strike="noStrike" cap="none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100%</a:t>
                      </a:r>
                      <a:endParaRPr sz="2000" b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/>
              <p:cNvSpPr txBox="1"/>
              <p:nvPr/>
            </p:nvSpPr>
            <p:spPr>
              <a:xfrm>
                <a:off x="304799" y="6343031"/>
                <a:ext cx="7259003" cy="30777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IN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𝐺𝑖𝑛𝑖</m:t>
                    </m:r>
                    <m:r>
                      <a:rPr lang="en-IN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IN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𝐼𝑛𝑑𝑒𝑥</m:t>
                    </m:r>
                    <m:d>
                      <m:dPr>
                        <m:ctrlPr>
                          <a:rPr lang="en-I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𝑆</m:t>
                        </m:r>
                        <m:r>
                          <a:rPr lang="en-I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I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𝑊𝑖𝑛𝑑</m:t>
                        </m:r>
                      </m:e>
                    </m:d>
                    <m:r>
                      <a:rPr lang="en-IN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=0.4591−</m:t>
                    </m:r>
                    <m:r>
                      <a:rPr lang="en-IN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0.571429</m:t>
                    </m:r>
                  </m:oMath>
                </a14:m>
                <a:r>
                  <a:rPr lang="en-IN" sz="20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=-</a:t>
                </a:r>
                <a:r>
                  <a:rPr lang="en-IN" sz="200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IN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0.11233</m:t>
                    </m:r>
                  </m:oMath>
                </a14:m>
                <a:r>
                  <a:rPr lang="en-IN" sz="20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</a:p>
            </p:txBody>
          </p:sp>
        </mc:Choice>
        <mc:Fallback xmlns=""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799" y="6343031"/>
                <a:ext cx="7259003" cy="307777"/>
              </a:xfrm>
              <a:prstGeom prst="rect">
                <a:avLst/>
              </a:prstGeom>
              <a:blipFill>
                <a:blip r:embed="rId8"/>
                <a:stretch>
                  <a:fillRect l="-1175" t="-26000" b="-5000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64497100"/>
      </p:ext>
    </p:extLst>
  </p:cSld>
  <p:clrMapOvr>
    <a:masterClrMapping/>
  </p:clrMapOvr>
  <p:transition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35"/>
          <p:cNvSpPr txBox="1"/>
          <p:nvPr/>
        </p:nvSpPr>
        <p:spPr>
          <a:xfrm>
            <a:off x="304799" y="381000"/>
            <a:ext cx="8454189" cy="689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0" i="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Decision Tree: </a:t>
            </a:r>
            <a:r>
              <a:rPr lang="en-US" sz="4400" b="0" i="0" dirty="0" smtClea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Gini Gain</a:t>
            </a:r>
            <a:endParaRPr sz="4400" b="0" i="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" name="Group 1"/>
          <p:cNvGrpSpPr/>
          <p:nvPr/>
        </p:nvGrpSpPr>
        <p:grpSpPr>
          <a:xfrm>
            <a:off x="7234988" y="2918540"/>
            <a:ext cx="4114800" cy="3299727"/>
            <a:chOff x="7234988" y="2918540"/>
            <a:chExt cx="4114800" cy="3299727"/>
          </a:xfrm>
        </p:grpSpPr>
        <p:sp>
          <p:nvSpPr>
            <p:cNvPr id="18" name="Google Shape;290;p34"/>
            <p:cNvSpPr/>
            <p:nvPr/>
          </p:nvSpPr>
          <p:spPr>
            <a:xfrm>
              <a:off x="8263688" y="2918540"/>
              <a:ext cx="2057400" cy="1066800"/>
            </a:xfrm>
            <a:prstGeom prst="roundRect">
              <a:avLst>
                <a:gd name="adj" fmla="val 16667"/>
              </a:avLst>
            </a:prstGeom>
            <a:noFill/>
            <a:ln w="25400" cap="flat" cmpd="sng">
              <a:solidFill>
                <a:srgbClr val="395E8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Outlook</a:t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9" name="Google Shape;293;p34"/>
            <p:cNvCxnSpPr>
              <a:stCxn id="18" idx="2"/>
            </p:cNvCxnSpPr>
            <p:nvPr/>
          </p:nvCxnSpPr>
          <p:spPr>
            <a:xfrm flipH="1">
              <a:off x="7234988" y="3985340"/>
              <a:ext cx="2057400" cy="1574700"/>
            </a:xfrm>
            <a:prstGeom prst="straightConnector1">
              <a:avLst/>
            </a:prstGeom>
            <a:noFill/>
            <a:ln w="9525" cap="flat" cmpd="sng">
              <a:solidFill>
                <a:srgbClr val="4A7DBA"/>
              </a:solidFill>
              <a:prstDash val="solid"/>
              <a:round/>
              <a:headEnd type="none" w="sm" len="sm"/>
              <a:tailEnd type="stealth" w="med" len="med"/>
            </a:ln>
          </p:spPr>
        </p:cxnSp>
        <p:cxnSp>
          <p:nvCxnSpPr>
            <p:cNvPr id="20" name="Google Shape;294;p34"/>
            <p:cNvCxnSpPr>
              <a:stCxn id="18" idx="2"/>
            </p:cNvCxnSpPr>
            <p:nvPr/>
          </p:nvCxnSpPr>
          <p:spPr>
            <a:xfrm>
              <a:off x="9292388" y="3985340"/>
              <a:ext cx="2057400" cy="1574700"/>
            </a:xfrm>
            <a:prstGeom prst="straightConnector1">
              <a:avLst/>
            </a:prstGeom>
            <a:noFill/>
            <a:ln w="9525" cap="flat" cmpd="sng">
              <a:solidFill>
                <a:srgbClr val="4A7DBA"/>
              </a:solidFill>
              <a:prstDash val="solid"/>
              <a:round/>
              <a:headEnd type="none" w="sm" len="sm"/>
              <a:tailEnd type="stealth" w="med" len="med"/>
            </a:ln>
          </p:spPr>
        </p:cxnSp>
        <p:cxnSp>
          <p:nvCxnSpPr>
            <p:cNvPr id="21" name="Google Shape;295;p34"/>
            <p:cNvCxnSpPr>
              <a:endCxn id="24" idx="0"/>
            </p:cNvCxnSpPr>
            <p:nvPr/>
          </p:nvCxnSpPr>
          <p:spPr>
            <a:xfrm>
              <a:off x="9292388" y="3980895"/>
              <a:ext cx="0" cy="1856372"/>
            </a:xfrm>
            <a:prstGeom prst="straightConnector1">
              <a:avLst/>
            </a:prstGeom>
            <a:noFill/>
            <a:ln w="9525" cap="flat" cmpd="sng">
              <a:solidFill>
                <a:srgbClr val="4A7DBA"/>
              </a:solidFill>
              <a:prstDash val="solid"/>
              <a:round/>
              <a:headEnd type="none" w="sm" len="sm"/>
              <a:tailEnd type="stealth" w="med" len="med"/>
            </a:ln>
          </p:spPr>
        </p:cxnSp>
        <p:sp>
          <p:nvSpPr>
            <p:cNvPr id="22" name="Google Shape;304;p34"/>
            <p:cNvSpPr txBox="1"/>
            <p:nvPr/>
          </p:nvSpPr>
          <p:spPr>
            <a:xfrm>
              <a:off x="7850303" y="4588590"/>
              <a:ext cx="826135" cy="368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Sunny</a:t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" name="Google Shape;305;p34"/>
            <p:cNvSpPr txBox="1"/>
            <p:nvPr/>
          </p:nvSpPr>
          <p:spPr>
            <a:xfrm>
              <a:off x="10001048" y="4588590"/>
              <a:ext cx="732790" cy="369291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dirty="0" smtClean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Rainy</a:t>
              </a:r>
              <a:endParaRPr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" name="Google Shape;311;p34"/>
            <p:cNvSpPr/>
            <p:nvPr/>
          </p:nvSpPr>
          <p:spPr>
            <a:xfrm>
              <a:off x="8758988" y="5837267"/>
              <a:ext cx="1066800" cy="381000"/>
            </a:xfrm>
            <a:prstGeom prst="flowChartTerminator">
              <a:avLst/>
            </a:prstGeom>
            <a:noFill/>
            <a:ln w="25400" cap="flat" cmpd="sng">
              <a:solidFill>
                <a:srgbClr val="395E8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Yes</a:t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/>
              <p:cNvSpPr txBox="1"/>
              <p:nvPr/>
            </p:nvSpPr>
            <p:spPr>
              <a:xfrm>
                <a:off x="304798" y="1532909"/>
                <a:ext cx="6420155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𝐺𝑖𝑛𝑖</m:t>
                      </m:r>
                      <m:r>
                        <a:rPr lang="en-IN" sz="2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IN" sz="2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𝐼𝑛𝑑𝑒𝑥</m:t>
                      </m:r>
                      <m:d>
                        <m:dPr>
                          <m:ctrlPr>
                            <a:rPr lang="en-I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𝑆</m:t>
                          </m:r>
                          <m:r>
                            <a:rPr lang="en-I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I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𝑂𝑢𝑡𝑙𝑜𝑜𝑘</m:t>
                          </m:r>
                        </m:e>
                      </m:d>
                      <m:r>
                        <a:rPr lang="en-IN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=0.4591−</m:t>
                      </m:r>
                      <m:r>
                        <a:rPr lang="en-IN" sz="2000" i="1" smtClean="0">
                          <a:solidFill>
                            <a:schemeClr val="accent4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0.657143</m:t>
                      </m:r>
                      <m:r>
                        <a:rPr lang="en-IN" sz="2000" i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m:rPr>
                          <m:nor/>
                        </m:rPr>
                        <a:rPr lang="en-IN" sz="200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−0.19804</m:t>
                      </m:r>
                    </m:oMath>
                  </m:oMathPara>
                </a14:m>
                <a:endParaRPr lang="en-IN" sz="20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5" name="TextBox 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798" y="1532909"/>
                <a:ext cx="6420155" cy="307777"/>
              </a:xfrm>
              <a:prstGeom prst="rect">
                <a:avLst/>
              </a:prstGeom>
              <a:blipFill>
                <a:blip r:embed="rId3"/>
                <a:stretch>
                  <a:fillRect l="-380" r="-380" b="-980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/>
              <p:cNvSpPr txBox="1"/>
              <p:nvPr/>
            </p:nvSpPr>
            <p:spPr>
              <a:xfrm>
                <a:off x="304798" y="3298051"/>
                <a:ext cx="7259003" cy="30777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IN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𝐺𝑖𝑛𝑖</m:t>
                    </m:r>
                    <m:r>
                      <a:rPr lang="en-IN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IN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𝐼𝑛𝑑𝑒𝑥</m:t>
                    </m:r>
                    <m:d>
                      <m:dPr>
                        <m:ctrlPr>
                          <a:rPr lang="en-I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𝑆</m:t>
                        </m:r>
                        <m:r>
                          <a:rPr lang="en-I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I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𝑊𝑖𝑛𝑑</m:t>
                        </m:r>
                      </m:e>
                    </m:d>
                    <m:r>
                      <a:rPr lang="en-IN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=0.4591−</m:t>
                    </m:r>
                    <m:r>
                      <a:rPr lang="en-IN" sz="2000" b="0" i="1" smtClean="0">
                        <a:solidFill>
                          <a:schemeClr val="accent4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0.571429</m:t>
                    </m:r>
                  </m:oMath>
                </a14:m>
                <a:r>
                  <a:rPr lang="en-IN" sz="20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=-</a:t>
                </a:r>
                <a:r>
                  <a:rPr lang="en-IN" sz="200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IN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0.11233</m:t>
                    </m:r>
                  </m:oMath>
                </a14:m>
                <a:r>
                  <a:rPr lang="en-IN" sz="20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</a:p>
            </p:txBody>
          </p:sp>
        </mc:Choice>
        <mc:Fallback xmlns="">
          <p:sp>
            <p:nvSpPr>
              <p:cNvPr id="26" name="TextBox 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798" y="3298051"/>
                <a:ext cx="7259003" cy="307777"/>
              </a:xfrm>
              <a:prstGeom prst="rect">
                <a:avLst/>
              </a:prstGeom>
              <a:blipFill>
                <a:blip r:embed="rId4"/>
                <a:stretch>
                  <a:fillRect l="-1175" t="-25490" b="-4902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/>
              <p:cNvSpPr txBox="1"/>
              <p:nvPr/>
            </p:nvSpPr>
            <p:spPr>
              <a:xfrm>
                <a:off x="304798" y="2709671"/>
                <a:ext cx="7259003" cy="30777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IN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𝐺𝑖𝑛𝑖</m:t>
                    </m:r>
                    <m:r>
                      <a:rPr lang="en-IN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IN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𝐼𝑛𝑑𝑒𝑥</m:t>
                    </m:r>
                    <m:d>
                      <m:dPr>
                        <m:ctrlPr>
                          <a:rPr lang="en-I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𝑆</m:t>
                        </m:r>
                        <m:r>
                          <a:rPr lang="en-I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I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𝐻𝑢𝑚𝑖𝑑𝑖𝑡𝑦</m:t>
                        </m:r>
                      </m:e>
                    </m:d>
                    <m:r>
                      <a:rPr lang="en-IN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=0.4591−</m:t>
                    </m:r>
                    <m:r>
                      <m:rPr>
                        <m:nor/>
                      </m:rPr>
                      <a:rPr lang="en-IN" sz="2000" smtClean="0">
                        <a:solidFill>
                          <a:schemeClr val="accent4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0.632653</m:t>
                    </m:r>
                  </m:oMath>
                </a14:m>
                <a:r>
                  <a:rPr lang="en-IN" sz="20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=-0.17355 </a:t>
                </a:r>
              </a:p>
            </p:txBody>
          </p:sp>
        </mc:Choice>
        <mc:Fallback xmlns="">
          <p:sp>
            <p:nvSpPr>
              <p:cNvPr id="27" name="TextBox 2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798" y="2709671"/>
                <a:ext cx="7259003" cy="307777"/>
              </a:xfrm>
              <a:prstGeom prst="rect">
                <a:avLst/>
              </a:prstGeom>
              <a:blipFill>
                <a:blip r:embed="rId5"/>
                <a:stretch>
                  <a:fillRect l="-1175" t="-23529" b="-4902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/>
              <p:cNvSpPr txBox="1"/>
              <p:nvPr/>
            </p:nvSpPr>
            <p:spPr>
              <a:xfrm>
                <a:off x="304798" y="2121290"/>
                <a:ext cx="6220229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𝐺𝑖𝑛𝑖</m:t>
                      </m:r>
                      <m:r>
                        <a:rPr lang="en-IN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IN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𝐼𝑛𝑑𝑒𝑥</m:t>
                      </m:r>
                      <m:d>
                        <m:dPr>
                          <m:ctrlPr>
                            <a:rPr lang="en-I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𝑆</m:t>
                          </m:r>
                          <m:r>
                            <a:rPr lang="en-I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I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𝑇𝑒𝑚𝑝</m:t>
                          </m:r>
                        </m:e>
                      </m:d>
                      <m:r>
                        <a:rPr lang="en-IN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=0.4591−</m:t>
                      </m:r>
                      <m:r>
                        <a:rPr lang="en-IN" sz="2000" i="1" smtClean="0">
                          <a:solidFill>
                            <a:schemeClr val="accent4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0.55952</m:t>
                      </m:r>
                      <m:r>
                        <a:rPr lang="en-IN" sz="2000" i="0">
                          <a:solidFill>
                            <a:schemeClr val="accent4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4</m:t>
                      </m:r>
                      <m:r>
                        <a:rPr lang="en-IN" sz="2000" i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m:rPr>
                          <m:nor/>
                        </m:rPr>
                        <a:rPr lang="en-IN" sz="200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−0.10042</m:t>
                      </m:r>
                    </m:oMath>
                  </m:oMathPara>
                </a14:m>
                <a:endParaRPr lang="en-IN" sz="20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8" name="TextBox 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798" y="2121290"/>
                <a:ext cx="6220229" cy="307777"/>
              </a:xfrm>
              <a:prstGeom prst="rect">
                <a:avLst/>
              </a:prstGeom>
              <a:blipFill>
                <a:blip r:embed="rId6"/>
                <a:stretch>
                  <a:fillRect b="-3800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/>
          <p:cNvSpPr txBox="1"/>
          <p:nvPr/>
        </p:nvSpPr>
        <p:spPr>
          <a:xfrm>
            <a:off x="7234988" y="2107713"/>
            <a:ext cx="390523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smtClean="0"/>
              <a:t>Minimum Gini Index or Maximum Gini Impurity </a:t>
            </a:r>
          </a:p>
          <a:p>
            <a:pPr algn="ctr"/>
            <a:r>
              <a:rPr lang="en-IN" dirty="0" smtClean="0"/>
              <a:t>Should be selected as Root Node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89102724"/>
      </p:ext>
    </p:extLst>
  </p:cSld>
  <p:clrMapOvr>
    <a:masterClrMapping/>
  </p:clrMapOvr>
  <p:transition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  <p:bldP spid="26" grpId="0"/>
      <p:bldP spid="27" grpId="0"/>
      <p:bldP spid="28" grpId="0"/>
      <p:bldP spid="9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35"/>
          <p:cNvSpPr txBox="1"/>
          <p:nvPr/>
        </p:nvSpPr>
        <p:spPr>
          <a:xfrm>
            <a:off x="304799" y="381000"/>
            <a:ext cx="8454189" cy="689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0" i="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Decision Tree: </a:t>
            </a:r>
            <a:r>
              <a:rPr lang="en-US" sz="4400" b="0" i="0" dirty="0" smtClea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Gini Index</a:t>
            </a:r>
            <a:endParaRPr sz="4400" b="0" i="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68257719"/>
              </p:ext>
            </p:extLst>
          </p:nvPr>
        </p:nvGraphicFramePr>
        <p:xfrm>
          <a:off x="304799" y="1540630"/>
          <a:ext cx="6849980" cy="4975275"/>
        </p:xfrm>
        <a:graphic>
          <a:graphicData uri="http://schemas.openxmlformats.org/drawingml/2006/table">
            <a:tbl>
              <a:tblPr/>
              <a:tblGrid>
                <a:gridCol w="765434">
                  <a:extLst>
                    <a:ext uri="{9D8B030D-6E8A-4147-A177-3AD203B41FA5}">
                      <a16:colId xmlns:a16="http://schemas.microsoft.com/office/drawing/2014/main" val="166730754"/>
                    </a:ext>
                  </a:extLst>
                </a:gridCol>
                <a:gridCol w="1159620">
                  <a:extLst>
                    <a:ext uri="{9D8B030D-6E8A-4147-A177-3AD203B41FA5}">
                      <a16:colId xmlns:a16="http://schemas.microsoft.com/office/drawing/2014/main" val="3705911863"/>
                    </a:ext>
                  </a:extLst>
                </a:gridCol>
                <a:gridCol w="1155031">
                  <a:extLst>
                    <a:ext uri="{9D8B030D-6E8A-4147-A177-3AD203B41FA5}">
                      <a16:colId xmlns:a16="http://schemas.microsoft.com/office/drawing/2014/main" val="401773213"/>
                    </a:ext>
                  </a:extLst>
                </a:gridCol>
                <a:gridCol w="1379621">
                  <a:extLst>
                    <a:ext uri="{9D8B030D-6E8A-4147-A177-3AD203B41FA5}">
                      <a16:colId xmlns:a16="http://schemas.microsoft.com/office/drawing/2014/main" val="4272906104"/>
                    </a:ext>
                  </a:extLst>
                </a:gridCol>
                <a:gridCol w="1395663">
                  <a:extLst>
                    <a:ext uri="{9D8B030D-6E8A-4147-A177-3AD203B41FA5}">
                      <a16:colId xmlns:a16="http://schemas.microsoft.com/office/drawing/2014/main" val="4125339830"/>
                    </a:ext>
                  </a:extLst>
                </a:gridCol>
                <a:gridCol w="994611">
                  <a:extLst>
                    <a:ext uri="{9D8B030D-6E8A-4147-A177-3AD203B41FA5}">
                      <a16:colId xmlns:a16="http://schemas.microsoft.com/office/drawing/2014/main" val="803712746"/>
                    </a:ext>
                  </a:extLst>
                </a:gridCol>
              </a:tblGrid>
              <a:tr h="203517"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Sl. No.</a:t>
                      </a:r>
                    </a:p>
                  </a:txBody>
                  <a:tcPr marL="6565" marR="6565" marT="65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Outlook</a:t>
                      </a:r>
                    </a:p>
                  </a:txBody>
                  <a:tcPr marL="6565" marR="6565" marT="65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Temp</a:t>
                      </a:r>
                    </a:p>
                  </a:txBody>
                  <a:tcPr marL="6565" marR="6565" marT="65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Humidity</a:t>
                      </a:r>
                    </a:p>
                  </a:txBody>
                  <a:tcPr marL="6565" marR="6565" marT="65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Windy</a:t>
                      </a:r>
                    </a:p>
                  </a:txBody>
                  <a:tcPr marL="6565" marR="6565" marT="65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Play Golf</a:t>
                      </a:r>
                    </a:p>
                  </a:txBody>
                  <a:tcPr marL="6565" marR="6565" marT="65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56919871"/>
                  </a:ext>
                </a:extLst>
              </a:tr>
              <a:tr h="203517"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6565" marR="6565" marT="65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Rainy</a:t>
                      </a:r>
                    </a:p>
                  </a:txBody>
                  <a:tcPr marL="6565" marR="6565" marT="65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Hot</a:t>
                      </a:r>
                    </a:p>
                  </a:txBody>
                  <a:tcPr marL="6565" marR="6565" marT="65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High</a:t>
                      </a:r>
                    </a:p>
                  </a:txBody>
                  <a:tcPr marL="6565" marR="6565" marT="65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Weak</a:t>
                      </a:r>
                    </a:p>
                  </a:txBody>
                  <a:tcPr marL="6565" marR="6565" marT="65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</a:t>
                      </a:r>
                    </a:p>
                  </a:txBody>
                  <a:tcPr marL="6565" marR="6565" marT="65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9502385"/>
                  </a:ext>
                </a:extLst>
              </a:tr>
              <a:tr h="203517"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6565" marR="6565" marT="65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Rainy</a:t>
                      </a:r>
                    </a:p>
                  </a:txBody>
                  <a:tcPr marL="6565" marR="6565" marT="65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Hot</a:t>
                      </a:r>
                    </a:p>
                  </a:txBody>
                  <a:tcPr marL="6565" marR="6565" marT="65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High</a:t>
                      </a:r>
                    </a:p>
                  </a:txBody>
                  <a:tcPr marL="6565" marR="6565" marT="65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Strong</a:t>
                      </a:r>
                    </a:p>
                  </a:txBody>
                  <a:tcPr marL="6565" marR="6565" marT="65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</a:t>
                      </a:r>
                    </a:p>
                  </a:txBody>
                  <a:tcPr marL="6565" marR="6565" marT="65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662295"/>
                  </a:ext>
                </a:extLst>
              </a:tr>
              <a:tr h="203517"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L="6565" marR="6565" marT="65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Overcast</a:t>
                      </a:r>
                    </a:p>
                  </a:txBody>
                  <a:tcPr marL="6565" marR="6565" marT="65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Hot</a:t>
                      </a:r>
                    </a:p>
                  </a:txBody>
                  <a:tcPr marL="6565" marR="6565" marT="65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High</a:t>
                      </a:r>
                    </a:p>
                  </a:txBody>
                  <a:tcPr marL="6565" marR="6565" marT="65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Weak</a:t>
                      </a:r>
                    </a:p>
                  </a:txBody>
                  <a:tcPr marL="6565" marR="6565" marT="65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Yes</a:t>
                      </a:r>
                    </a:p>
                  </a:txBody>
                  <a:tcPr marL="6565" marR="6565" marT="65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38145677"/>
                  </a:ext>
                </a:extLst>
              </a:tr>
              <a:tr h="203517"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marL="6565" marR="6565" marT="65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Sunny</a:t>
                      </a:r>
                    </a:p>
                  </a:txBody>
                  <a:tcPr marL="6565" marR="6565" marT="65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Mild</a:t>
                      </a:r>
                    </a:p>
                  </a:txBody>
                  <a:tcPr marL="6565" marR="6565" marT="65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High</a:t>
                      </a:r>
                    </a:p>
                  </a:txBody>
                  <a:tcPr marL="6565" marR="6565" marT="65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Weak</a:t>
                      </a:r>
                    </a:p>
                  </a:txBody>
                  <a:tcPr marL="6565" marR="6565" marT="65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Yes</a:t>
                      </a:r>
                    </a:p>
                  </a:txBody>
                  <a:tcPr marL="6565" marR="6565" marT="65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693404"/>
                  </a:ext>
                </a:extLst>
              </a:tr>
              <a:tr h="203517"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 marL="6565" marR="6565" marT="65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Sunny</a:t>
                      </a:r>
                    </a:p>
                  </a:txBody>
                  <a:tcPr marL="6565" marR="6565" marT="65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Cool</a:t>
                      </a:r>
                    </a:p>
                  </a:txBody>
                  <a:tcPr marL="6565" marR="6565" marT="65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Normal</a:t>
                      </a:r>
                    </a:p>
                  </a:txBody>
                  <a:tcPr marL="6565" marR="6565" marT="65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Weak</a:t>
                      </a:r>
                    </a:p>
                  </a:txBody>
                  <a:tcPr marL="6565" marR="6565" marT="65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Yes</a:t>
                      </a:r>
                    </a:p>
                  </a:txBody>
                  <a:tcPr marL="6565" marR="6565" marT="65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00931757"/>
                  </a:ext>
                </a:extLst>
              </a:tr>
              <a:tr h="203517"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</a:p>
                  </a:txBody>
                  <a:tcPr marL="6565" marR="6565" marT="65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Sunny</a:t>
                      </a:r>
                    </a:p>
                  </a:txBody>
                  <a:tcPr marL="6565" marR="6565" marT="65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Cool</a:t>
                      </a:r>
                    </a:p>
                  </a:txBody>
                  <a:tcPr marL="6565" marR="6565" marT="65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Normal</a:t>
                      </a:r>
                    </a:p>
                  </a:txBody>
                  <a:tcPr marL="6565" marR="6565" marT="65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Strong</a:t>
                      </a:r>
                    </a:p>
                  </a:txBody>
                  <a:tcPr marL="6565" marR="6565" marT="65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</a:t>
                      </a:r>
                    </a:p>
                  </a:txBody>
                  <a:tcPr marL="6565" marR="6565" marT="65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5776579"/>
                  </a:ext>
                </a:extLst>
              </a:tr>
              <a:tr h="203517"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</a:p>
                  </a:txBody>
                  <a:tcPr marL="6565" marR="6565" marT="65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Overcast</a:t>
                      </a:r>
                    </a:p>
                  </a:txBody>
                  <a:tcPr marL="6565" marR="6565" marT="65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Cool</a:t>
                      </a:r>
                    </a:p>
                  </a:txBody>
                  <a:tcPr marL="6565" marR="6565" marT="65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Normal</a:t>
                      </a:r>
                    </a:p>
                  </a:txBody>
                  <a:tcPr marL="6565" marR="6565" marT="65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Strong</a:t>
                      </a:r>
                    </a:p>
                  </a:txBody>
                  <a:tcPr marL="6565" marR="6565" marT="65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Yes</a:t>
                      </a:r>
                    </a:p>
                  </a:txBody>
                  <a:tcPr marL="6565" marR="6565" marT="65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69177"/>
                  </a:ext>
                </a:extLst>
              </a:tr>
              <a:tr h="203517"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</a:p>
                  </a:txBody>
                  <a:tcPr marL="6565" marR="6565" marT="65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Rainy</a:t>
                      </a:r>
                    </a:p>
                  </a:txBody>
                  <a:tcPr marL="6565" marR="6565" marT="65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Mild</a:t>
                      </a:r>
                    </a:p>
                  </a:txBody>
                  <a:tcPr marL="6565" marR="6565" marT="65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High</a:t>
                      </a:r>
                    </a:p>
                  </a:txBody>
                  <a:tcPr marL="6565" marR="6565" marT="65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Weak</a:t>
                      </a:r>
                    </a:p>
                  </a:txBody>
                  <a:tcPr marL="6565" marR="6565" marT="65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</a:t>
                      </a:r>
                    </a:p>
                  </a:txBody>
                  <a:tcPr marL="6565" marR="6565" marT="65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7887860"/>
                  </a:ext>
                </a:extLst>
              </a:tr>
              <a:tr h="203517"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</a:p>
                  </a:txBody>
                  <a:tcPr marL="6565" marR="6565" marT="65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Rainy</a:t>
                      </a:r>
                    </a:p>
                  </a:txBody>
                  <a:tcPr marL="6565" marR="6565" marT="65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Cool</a:t>
                      </a:r>
                    </a:p>
                  </a:txBody>
                  <a:tcPr marL="6565" marR="6565" marT="65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Normal</a:t>
                      </a:r>
                    </a:p>
                  </a:txBody>
                  <a:tcPr marL="6565" marR="6565" marT="65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Weak</a:t>
                      </a:r>
                    </a:p>
                  </a:txBody>
                  <a:tcPr marL="6565" marR="6565" marT="65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Yes</a:t>
                      </a:r>
                    </a:p>
                  </a:txBody>
                  <a:tcPr marL="6565" marR="6565" marT="65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4097314"/>
                  </a:ext>
                </a:extLst>
              </a:tr>
              <a:tr h="203517"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</a:p>
                  </a:txBody>
                  <a:tcPr marL="6565" marR="6565" marT="65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Sunny</a:t>
                      </a:r>
                    </a:p>
                  </a:txBody>
                  <a:tcPr marL="6565" marR="6565" marT="65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Mild</a:t>
                      </a:r>
                    </a:p>
                  </a:txBody>
                  <a:tcPr marL="6565" marR="6565" marT="65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Normal</a:t>
                      </a:r>
                    </a:p>
                  </a:txBody>
                  <a:tcPr marL="6565" marR="6565" marT="65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Weak</a:t>
                      </a:r>
                    </a:p>
                  </a:txBody>
                  <a:tcPr marL="6565" marR="6565" marT="65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Yes</a:t>
                      </a:r>
                    </a:p>
                  </a:txBody>
                  <a:tcPr marL="6565" marR="6565" marT="65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58984871"/>
                  </a:ext>
                </a:extLst>
              </a:tr>
              <a:tr h="203517"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</a:t>
                      </a:r>
                    </a:p>
                  </a:txBody>
                  <a:tcPr marL="6565" marR="6565" marT="65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Rainy</a:t>
                      </a:r>
                    </a:p>
                  </a:txBody>
                  <a:tcPr marL="6565" marR="6565" marT="65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Mild</a:t>
                      </a:r>
                    </a:p>
                  </a:txBody>
                  <a:tcPr marL="6565" marR="6565" marT="65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Normal</a:t>
                      </a:r>
                    </a:p>
                  </a:txBody>
                  <a:tcPr marL="6565" marR="6565" marT="65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Strong</a:t>
                      </a:r>
                    </a:p>
                  </a:txBody>
                  <a:tcPr marL="6565" marR="6565" marT="65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Yes</a:t>
                      </a:r>
                    </a:p>
                  </a:txBody>
                  <a:tcPr marL="6565" marR="6565" marT="65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30320933"/>
                  </a:ext>
                </a:extLst>
              </a:tr>
              <a:tr h="203517"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</a:t>
                      </a:r>
                    </a:p>
                  </a:txBody>
                  <a:tcPr marL="6565" marR="6565" marT="65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Overcast</a:t>
                      </a:r>
                    </a:p>
                  </a:txBody>
                  <a:tcPr marL="6565" marR="6565" marT="65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Mild</a:t>
                      </a:r>
                    </a:p>
                  </a:txBody>
                  <a:tcPr marL="6565" marR="6565" marT="65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High</a:t>
                      </a:r>
                    </a:p>
                  </a:txBody>
                  <a:tcPr marL="6565" marR="6565" marT="65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Strong</a:t>
                      </a:r>
                    </a:p>
                  </a:txBody>
                  <a:tcPr marL="6565" marR="6565" marT="65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Yes</a:t>
                      </a:r>
                    </a:p>
                  </a:txBody>
                  <a:tcPr marL="6565" marR="6565" marT="65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7588799"/>
                  </a:ext>
                </a:extLst>
              </a:tr>
              <a:tr h="203517"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13</a:t>
                      </a:r>
                    </a:p>
                  </a:txBody>
                  <a:tcPr marL="6565" marR="6565" marT="65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Overcast</a:t>
                      </a:r>
                    </a:p>
                  </a:txBody>
                  <a:tcPr marL="6565" marR="6565" marT="65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Hot</a:t>
                      </a:r>
                    </a:p>
                  </a:txBody>
                  <a:tcPr marL="6565" marR="6565" marT="65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Normal</a:t>
                      </a:r>
                    </a:p>
                  </a:txBody>
                  <a:tcPr marL="6565" marR="6565" marT="65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Weak</a:t>
                      </a:r>
                    </a:p>
                  </a:txBody>
                  <a:tcPr marL="6565" marR="6565" marT="65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Yes</a:t>
                      </a:r>
                    </a:p>
                  </a:txBody>
                  <a:tcPr marL="6565" marR="6565" marT="65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6908151"/>
                  </a:ext>
                </a:extLst>
              </a:tr>
              <a:tr h="203517"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14</a:t>
                      </a:r>
                    </a:p>
                  </a:txBody>
                  <a:tcPr marL="6565" marR="6565" marT="65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Sunny</a:t>
                      </a:r>
                    </a:p>
                  </a:txBody>
                  <a:tcPr marL="6565" marR="6565" marT="65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Mild</a:t>
                      </a:r>
                    </a:p>
                  </a:txBody>
                  <a:tcPr marL="6565" marR="6565" marT="65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High</a:t>
                      </a:r>
                    </a:p>
                  </a:txBody>
                  <a:tcPr marL="6565" marR="6565" marT="65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Strong</a:t>
                      </a:r>
                    </a:p>
                  </a:txBody>
                  <a:tcPr marL="6565" marR="6565" marT="65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</a:t>
                      </a:r>
                    </a:p>
                  </a:txBody>
                  <a:tcPr marL="6565" marR="6565" marT="65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0965319"/>
                  </a:ext>
                </a:extLst>
              </a:tr>
            </a:tbl>
          </a:graphicData>
        </a:graphic>
      </p:graphicFrame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98705568"/>
              </p:ext>
            </p:extLst>
          </p:nvPr>
        </p:nvGraphicFramePr>
        <p:xfrm>
          <a:off x="7868317" y="1540630"/>
          <a:ext cx="4179303" cy="2000250"/>
        </p:xfrm>
        <a:graphic>
          <a:graphicData uri="http://schemas.openxmlformats.org/drawingml/2006/table">
            <a:tbl>
              <a:tblPr firstRow="1" bandRow="1"/>
              <a:tblGrid>
                <a:gridCol w="653442">
                  <a:extLst>
                    <a:ext uri="{9D8B030D-6E8A-4147-A177-3AD203B41FA5}">
                      <a16:colId xmlns:a16="http://schemas.microsoft.com/office/drawing/2014/main" val="2318816424"/>
                    </a:ext>
                  </a:extLst>
                </a:gridCol>
                <a:gridCol w="721508">
                  <a:extLst>
                    <a:ext uri="{9D8B030D-6E8A-4147-A177-3AD203B41FA5}">
                      <a16:colId xmlns:a16="http://schemas.microsoft.com/office/drawing/2014/main" val="3367808708"/>
                    </a:ext>
                  </a:extLst>
                </a:gridCol>
                <a:gridCol w="1089069">
                  <a:extLst>
                    <a:ext uri="{9D8B030D-6E8A-4147-A177-3AD203B41FA5}">
                      <a16:colId xmlns:a16="http://schemas.microsoft.com/office/drawing/2014/main" val="784862834"/>
                    </a:ext>
                  </a:extLst>
                </a:gridCol>
                <a:gridCol w="830415">
                  <a:extLst>
                    <a:ext uri="{9D8B030D-6E8A-4147-A177-3AD203B41FA5}">
                      <a16:colId xmlns:a16="http://schemas.microsoft.com/office/drawing/2014/main" val="426997944"/>
                    </a:ext>
                  </a:extLst>
                </a:gridCol>
                <a:gridCol w="884869">
                  <a:extLst>
                    <a:ext uri="{9D8B030D-6E8A-4147-A177-3AD203B41FA5}">
                      <a16:colId xmlns:a16="http://schemas.microsoft.com/office/drawing/2014/main" val="1156686500"/>
                    </a:ext>
                  </a:extLst>
                </a:gridCol>
              </a:tblGrid>
              <a:tr h="333375"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Sl. No.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Temp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Humidity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Windy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Play Golf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5179887"/>
                  </a:ext>
                </a:extLst>
              </a:tr>
              <a:tr h="333375"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Mild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High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Weak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Yes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8837873"/>
                  </a:ext>
                </a:extLst>
              </a:tr>
              <a:tr h="333375"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Cool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Normal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Weak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Yes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32270368"/>
                  </a:ext>
                </a:extLst>
              </a:tr>
              <a:tr h="333375"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Cool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Normal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Strong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No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21107773"/>
                  </a:ext>
                </a:extLst>
              </a:tr>
              <a:tr h="333375"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Mild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Normal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Weak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Yes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5888743"/>
                  </a:ext>
                </a:extLst>
              </a:tr>
              <a:tr h="333375"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Mild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High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Strong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No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7872923"/>
                  </a:ext>
                </a:extLst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1566657"/>
              </p:ext>
            </p:extLst>
          </p:nvPr>
        </p:nvGraphicFramePr>
        <p:xfrm>
          <a:off x="7716250" y="4515655"/>
          <a:ext cx="4331370" cy="2000250"/>
        </p:xfrm>
        <a:graphic>
          <a:graphicData uri="http://schemas.openxmlformats.org/drawingml/2006/table">
            <a:tbl>
              <a:tblPr/>
              <a:tblGrid>
                <a:gridCol w="753983">
                  <a:extLst>
                    <a:ext uri="{9D8B030D-6E8A-4147-A177-3AD203B41FA5}">
                      <a16:colId xmlns:a16="http://schemas.microsoft.com/office/drawing/2014/main" val="1610272526"/>
                    </a:ext>
                  </a:extLst>
                </a:gridCol>
                <a:gridCol w="705852">
                  <a:extLst>
                    <a:ext uri="{9D8B030D-6E8A-4147-A177-3AD203B41FA5}">
                      <a16:colId xmlns:a16="http://schemas.microsoft.com/office/drawing/2014/main" val="2346627700"/>
                    </a:ext>
                  </a:extLst>
                </a:gridCol>
                <a:gridCol w="1138987">
                  <a:extLst>
                    <a:ext uri="{9D8B030D-6E8A-4147-A177-3AD203B41FA5}">
                      <a16:colId xmlns:a16="http://schemas.microsoft.com/office/drawing/2014/main" val="1936642703"/>
                    </a:ext>
                  </a:extLst>
                </a:gridCol>
                <a:gridCol w="786066">
                  <a:extLst>
                    <a:ext uri="{9D8B030D-6E8A-4147-A177-3AD203B41FA5}">
                      <a16:colId xmlns:a16="http://schemas.microsoft.com/office/drawing/2014/main" val="3442511686"/>
                    </a:ext>
                  </a:extLst>
                </a:gridCol>
                <a:gridCol w="946482">
                  <a:extLst>
                    <a:ext uri="{9D8B030D-6E8A-4147-A177-3AD203B41FA5}">
                      <a16:colId xmlns:a16="http://schemas.microsoft.com/office/drawing/2014/main" val="467252229"/>
                    </a:ext>
                  </a:extLst>
                </a:gridCol>
              </a:tblGrid>
              <a:tr h="333375"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Sl. No.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Temp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Humidity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Windy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Play Golf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7274180"/>
                  </a:ext>
                </a:extLst>
              </a:tr>
              <a:tr h="333375"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Hot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High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Weak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No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47341132"/>
                  </a:ext>
                </a:extLst>
              </a:tr>
              <a:tr h="333375"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9525" marR="9525" marT="9525" marB="0" anchor="b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Hot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High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Strong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No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16648245"/>
                  </a:ext>
                </a:extLst>
              </a:tr>
              <a:tr h="333375"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9525" marR="9525" marT="9525" marB="0" anchor="b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Mild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High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Weak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No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00802690"/>
                  </a:ext>
                </a:extLst>
              </a:tr>
              <a:tr h="333375"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9525" marR="9525" marT="9525" marB="0" anchor="b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Cool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Normal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Weak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Yes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6849211"/>
                  </a:ext>
                </a:extLst>
              </a:tr>
              <a:tr h="333375"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</a:t>
                      </a:r>
                    </a:p>
                  </a:txBody>
                  <a:tcPr marL="9525" marR="9525" marT="9525" marB="0" anchor="b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Mild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Normal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Strong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Yes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2737126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9425720" y="905510"/>
            <a:ext cx="91242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000" dirty="0" smtClean="0"/>
              <a:t>Sunny</a:t>
            </a:r>
            <a:endParaRPr lang="en-IN" sz="2000" dirty="0"/>
          </a:p>
        </p:txBody>
      </p:sp>
      <p:sp>
        <p:nvSpPr>
          <p:cNvPr id="9" name="TextBox 8"/>
          <p:cNvSpPr txBox="1"/>
          <p:nvPr/>
        </p:nvSpPr>
        <p:spPr>
          <a:xfrm>
            <a:off x="9425720" y="4028267"/>
            <a:ext cx="84189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000" dirty="0" smtClean="0"/>
              <a:t>Rainy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3792311582"/>
      </p:ext>
    </p:extLst>
  </p:cSld>
  <p:clrMapOvr>
    <a:masterClrMapping/>
  </p:clrMapOvr>
  <p:transition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9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35"/>
          <p:cNvSpPr txBox="1"/>
          <p:nvPr/>
        </p:nvSpPr>
        <p:spPr>
          <a:xfrm>
            <a:off x="304799" y="381000"/>
            <a:ext cx="8454189" cy="689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0" i="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Decision Tree: </a:t>
            </a:r>
            <a:r>
              <a:rPr lang="en-US" sz="4400" b="0" i="0" dirty="0" smtClea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Gini Index Sunny</a:t>
            </a:r>
            <a:endParaRPr sz="4400" b="0" i="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200524" y="2863621"/>
                <a:ext cx="7653314" cy="46063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IN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𝐺</m:t>
                    </m:r>
                    <m:d>
                      <m:dPr>
                        <m:ctrlPr>
                          <a:rPr lang="en-I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𝑆𝑢𝑛𝑛𝑦</m:t>
                        </m:r>
                        <m:r>
                          <a:rPr lang="en-I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 </m:t>
                        </m:r>
                        <m:r>
                          <a:rPr lang="en-I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𝑇𝑒𝑚𝑝</m:t>
                        </m:r>
                      </m:e>
                    </m:d>
                    <m:r>
                      <a:rPr lang="en-IN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IN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1 −[</m:t>
                    </m:r>
                  </m:oMath>
                </a14:m>
                <a:r>
                  <a:rPr lang="en-IN" sz="20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+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I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I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5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0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G</m:t>
                    </m:r>
                    <m:d>
                      <m:dPr>
                        <m:ctrlPr>
                          <a:rPr lang="en-I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𝑇𝑒𝑚𝑝</m:t>
                        </m:r>
                        <m:r>
                          <a:rPr lang="en-I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I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𝑀𝑖𝑙𝑑</m:t>
                        </m:r>
                      </m:e>
                    </m:d>
                  </m:oMath>
                </a14:m>
                <a:r>
                  <a:rPr lang="en-IN" sz="20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+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I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a:rPr lang="en-I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5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0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G</m:t>
                    </m:r>
                    <m:d>
                      <m:dPr>
                        <m:ctrlPr>
                          <a:rPr lang="en-I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𝑇𝑒𝑚𝑝</m:t>
                        </m:r>
                        <m:r>
                          <a:rPr lang="en-I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I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𝐶𝑜𝑜𝑙</m:t>
                        </m:r>
                      </m:e>
                    </m:d>
                  </m:oMath>
                </a14:m>
                <a:r>
                  <a:rPr lang="en-IN" sz="20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]</a:t>
                </a:r>
                <a:endParaRPr lang="en-IN" sz="20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0524" y="2863621"/>
                <a:ext cx="7653314" cy="460639"/>
              </a:xfrm>
              <a:prstGeom prst="rect">
                <a:avLst/>
              </a:prstGeom>
              <a:blipFill>
                <a:blip r:embed="rId3"/>
                <a:stretch>
                  <a:fillRect t="-2667" b="-1466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7" name="Group 6"/>
          <p:cNvGrpSpPr/>
          <p:nvPr/>
        </p:nvGrpSpPr>
        <p:grpSpPr>
          <a:xfrm>
            <a:off x="200524" y="3861487"/>
            <a:ext cx="6708759" cy="1768767"/>
            <a:chOff x="864201" y="3715231"/>
            <a:chExt cx="6708759" cy="176876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TextBox 10"/>
                <p:cNvSpPr txBox="1"/>
                <p:nvPr/>
              </p:nvSpPr>
              <p:spPr>
                <a:xfrm>
                  <a:off x="864201" y="3715231"/>
                  <a:ext cx="5438155" cy="80425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I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𝐺</m:t>
                        </m:r>
                        <m:d>
                          <m:dPr>
                            <m:ctrlP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𝑆</m:t>
                            </m:r>
                            <m:r>
                              <a:rPr lang="en-I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𝑢𝑛𝑛𝑦</m:t>
                            </m:r>
                            <m: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 </m:t>
                            </m:r>
                            <m:r>
                              <a:rPr lang="en-I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𝑇𝑒𝑚𝑝</m:t>
                            </m:r>
                          </m:e>
                        </m:d>
                        <m:r>
                          <a:rPr lang="en-I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=1 −</m:t>
                        </m:r>
                        <m:d>
                          <m:dPr>
                            <m:ctrlPr>
                              <a:rPr lang="en-IN" sz="20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IN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3</m:t>
                                </m:r>
                              </m:num>
                              <m:den>
                                <m:r>
                                  <a:rPr lang="en-IN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5</m:t>
                                </m:r>
                              </m:den>
                            </m:f>
                          </m:e>
                        </m:d>
                        <m:d>
                          <m:dPr>
                            <m:ctrlP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1 −</m:t>
                            </m:r>
                            <m:sSup>
                              <m:sSupPr>
                                <m:ctrlPr>
                                  <a:rPr lang="en-IN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en-IN" sz="20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ctrlPr>
                                          <a:rPr lang="en-IN" sz="20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IN" sz="20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num>
                                      <m:den>
                                        <m:r>
                                          <a:rPr lang="en-IN" sz="20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den>
                                    </m:f>
                                  </m:e>
                                </m:d>
                              </m:e>
                              <m:sup>
                                <m:r>
                                  <a:rPr lang="en-IN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nor/>
                              </m:rPr>
                              <a:rPr lang="en-IN" sz="2000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</m:t>
                            </m:r>
                            <m:r>
                              <m:rPr>
                                <m:nor/>
                              </m:rPr>
                              <a:rPr lang="en-IN" sz="2000" b="0" i="0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 </m:t>
                            </m:r>
                            <m:sSup>
                              <m:sSupPr>
                                <m:ctrlPr>
                                  <a:rPr lang="en-IN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en-IN" sz="20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ctrlPr>
                                          <a:rPr lang="en-IN" sz="20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IN" sz="20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num>
                                      <m:den>
                                        <m:r>
                                          <a:rPr lang="en-IN" sz="20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den>
                                    </m:f>
                                  </m:e>
                                </m:d>
                              </m:e>
                              <m:sup>
                                <m:r>
                                  <a:rPr lang="en-IN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d>
                      </m:oMath>
                    </m:oMathPara>
                  </a14:m>
                  <a:endParaRPr lang="en-IN" sz="2000" dirty="0">
                    <a:latin typeface="Cambria Math" panose="02040503050406030204" pitchFamily="18" charset="0"/>
                    <a:ea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11" name="TextBox 1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64201" y="3715231"/>
                  <a:ext cx="5438155" cy="804259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TextBox 11"/>
                <p:cNvSpPr txBox="1"/>
                <p:nvPr/>
              </p:nvSpPr>
              <p:spPr>
                <a:xfrm>
                  <a:off x="3210227" y="4679739"/>
                  <a:ext cx="3092129" cy="80425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I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d>
                          <m:dPr>
                            <m:ctrlPr>
                              <a:rPr lang="en-IN" sz="20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IN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num>
                              <m:den>
                                <m:r>
                                  <a:rPr lang="en-IN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5</m:t>
                                </m:r>
                              </m:den>
                            </m:f>
                          </m:e>
                        </m:d>
                        <m:d>
                          <m:dPr>
                            <m:ctrlP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1 −</m:t>
                            </m:r>
                            <m:sSup>
                              <m:sSupPr>
                                <m:ctrlPr>
                                  <a:rPr lang="en-IN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en-IN" sz="20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ctrlPr>
                                          <a:rPr lang="en-IN" sz="20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IN" sz="20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num>
                                      <m:den>
                                        <m:r>
                                          <a:rPr lang="en-IN" sz="20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den>
                                    </m:f>
                                  </m:e>
                                </m:d>
                              </m:e>
                              <m:sup>
                                <m:r>
                                  <a:rPr lang="en-IN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nor/>
                              </m:rPr>
                              <a:rPr lang="en-IN" sz="2000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</m:t>
                            </m:r>
                            <m:r>
                              <m:rPr>
                                <m:nor/>
                              </m:rPr>
                              <a:rPr lang="en-IN" sz="2000" b="0" i="0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  <m:r>
                              <m:rPr>
                                <m:nor/>
                              </m:rPr>
                              <a:rPr lang="en-IN" sz="2000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</m:t>
                            </m:r>
                            <m:sSup>
                              <m:sSupPr>
                                <m:ctrlPr>
                                  <a:rPr lang="en-IN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en-IN" sz="20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ctrlPr>
                                          <a:rPr lang="en-IN" sz="20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IN" sz="20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num>
                                      <m:den>
                                        <m:r>
                                          <a:rPr lang="en-IN" sz="20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den>
                                    </m:f>
                                  </m:e>
                                </m:d>
                              </m:e>
                              <m:sup>
                                <m:r>
                                  <a:rPr lang="en-IN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d>
                      </m:oMath>
                    </m:oMathPara>
                  </a14:m>
                  <a:endParaRPr lang="en-IN" sz="2000" dirty="0">
                    <a:latin typeface="Cambria Math" panose="02040503050406030204" pitchFamily="18" charset="0"/>
                    <a:ea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12" name="TextBox 1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10227" y="4679739"/>
                  <a:ext cx="3092129" cy="804259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Rectangle 4"/>
                <p:cNvSpPr/>
                <p:nvPr/>
              </p:nvSpPr>
              <p:spPr>
                <a:xfrm>
                  <a:off x="6302356" y="4416588"/>
                  <a:ext cx="1270604" cy="40011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IN" sz="2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</m:t>
                        </m:r>
                        <m:r>
                          <a:rPr lang="en-I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0.5333</m:t>
                        </m:r>
                      </m:oMath>
                    </m:oMathPara>
                  </a14:m>
                  <a:endParaRPr lang="en-IN" sz="2000" dirty="0">
                    <a:latin typeface="Cambria Math" panose="02040503050406030204" pitchFamily="18" charset="0"/>
                    <a:ea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5" name="Rectangle 4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02356" y="4416588"/>
                  <a:ext cx="1270604" cy="400110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200524" y="6032816"/>
                <a:ext cx="6187335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𝐺𝑖𝑛𝑖</m:t>
                      </m:r>
                      <m:r>
                        <a:rPr lang="en-IN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IN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𝐺𝑎𝑖𝑛</m:t>
                      </m:r>
                      <m:d>
                        <m:dPr>
                          <m:ctrlPr>
                            <a:rPr lang="en-I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𝑆𝑢𝑛𝑛𝑦</m:t>
                          </m:r>
                          <m:r>
                            <a:rPr lang="en-I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 </m:t>
                          </m:r>
                          <m:r>
                            <a:rPr lang="en-I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𝑇𝑒𝑚𝑝</m:t>
                          </m:r>
                        </m:e>
                      </m:d>
                      <m:r>
                        <a:rPr lang="en-IN" sz="2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IN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0.48</m:t>
                      </m:r>
                      <m:r>
                        <a:rPr lang="en-IN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−</m:t>
                      </m:r>
                      <m:r>
                        <a:rPr lang="en-IN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0.5333</m:t>
                      </m:r>
                      <m:r>
                        <a:rPr lang="en-IN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=−0.05333</m:t>
                      </m:r>
                    </m:oMath>
                  </m:oMathPara>
                </a14:m>
                <a:endParaRPr lang="en-IN" sz="20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0524" y="6032816"/>
                <a:ext cx="6187335" cy="307777"/>
              </a:xfrm>
              <a:prstGeom prst="rect">
                <a:avLst/>
              </a:prstGeom>
              <a:blipFill>
                <a:blip r:embed="rId7"/>
                <a:stretch>
                  <a:fillRect l="-591" r="-493" b="-3800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64682785"/>
              </p:ext>
            </p:extLst>
          </p:nvPr>
        </p:nvGraphicFramePr>
        <p:xfrm>
          <a:off x="8312817" y="4390200"/>
          <a:ext cx="3404220" cy="2000250"/>
        </p:xfrm>
        <a:graphic>
          <a:graphicData uri="http://schemas.openxmlformats.org/drawingml/2006/table">
            <a:tbl>
              <a:tblPr firstRow="1" bandRow="1"/>
              <a:tblGrid>
                <a:gridCol w="942268">
                  <a:extLst>
                    <a:ext uri="{9D8B030D-6E8A-4147-A177-3AD203B41FA5}">
                      <a16:colId xmlns:a16="http://schemas.microsoft.com/office/drawing/2014/main" val="1328561926"/>
                    </a:ext>
                  </a:extLst>
                </a:gridCol>
                <a:gridCol w="672595">
                  <a:extLst>
                    <a:ext uri="{9D8B030D-6E8A-4147-A177-3AD203B41FA5}">
                      <a16:colId xmlns:a16="http://schemas.microsoft.com/office/drawing/2014/main" val="4273917825"/>
                    </a:ext>
                  </a:extLst>
                </a:gridCol>
                <a:gridCol w="1015238">
                  <a:extLst>
                    <a:ext uri="{9D8B030D-6E8A-4147-A177-3AD203B41FA5}">
                      <a16:colId xmlns:a16="http://schemas.microsoft.com/office/drawing/2014/main" val="2135588825"/>
                    </a:ext>
                  </a:extLst>
                </a:gridCol>
                <a:gridCol w="774119">
                  <a:extLst>
                    <a:ext uri="{9D8B030D-6E8A-4147-A177-3AD203B41FA5}">
                      <a16:colId xmlns:a16="http://schemas.microsoft.com/office/drawing/2014/main" val="4161606165"/>
                    </a:ext>
                  </a:extLst>
                </a:gridCol>
              </a:tblGrid>
              <a:tr h="333375">
                <a:tc gridSpan="4">
                  <a:txBody>
                    <a:bodyPr/>
                    <a:lstStyle/>
                    <a:p>
                      <a:pPr algn="ctr" rtl="0" fontAlgn="ctr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Temperature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D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33115169"/>
                  </a:ext>
                </a:extLst>
              </a:tr>
              <a:tr h="333375">
                <a:tc>
                  <a:txBody>
                    <a:bodyPr/>
                    <a:lstStyle/>
                    <a:p>
                      <a:pPr algn="l" fontAlgn="ctr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Yes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No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Count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1052892"/>
                  </a:ext>
                </a:extLst>
              </a:tr>
              <a:tr h="33337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Mild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9221977"/>
                  </a:ext>
                </a:extLst>
              </a:tr>
              <a:tr h="33337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Cool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096319"/>
                  </a:ext>
                </a:extLst>
              </a:tr>
              <a:tr h="66675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Total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100%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4505527"/>
                  </a:ext>
                </a:extLst>
              </a:tr>
            </a:tbl>
          </a:graphicData>
        </a:graphic>
      </p:graphicFrame>
      <p:grpSp>
        <p:nvGrpSpPr>
          <p:cNvPr id="16" name="Group 15"/>
          <p:cNvGrpSpPr/>
          <p:nvPr/>
        </p:nvGrpSpPr>
        <p:grpSpPr>
          <a:xfrm>
            <a:off x="457251" y="1224927"/>
            <a:ext cx="4157357" cy="1003652"/>
            <a:chOff x="858513" y="2454779"/>
            <a:chExt cx="4157357" cy="100365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TextBox 16"/>
                <p:cNvSpPr txBox="1"/>
                <p:nvPr/>
              </p:nvSpPr>
              <p:spPr>
                <a:xfrm>
                  <a:off x="858513" y="2937006"/>
                  <a:ext cx="4157357" cy="521425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en-IN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𝐺</m:t>
                      </m:r>
                      <m:d>
                        <m:dPr>
                          <m:ctrlPr>
                            <a:rPr lang="en-I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𝑆𝑢𝑛𝑛𝑦</m:t>
                          </m:r>
                        </m:e>
                      </m:d>
                      <m:r>
                        <a:rPr lang="en-IN" sz="2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IN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1− [</m:t>
                      </m:r>
                      <m:sSup>
                        <m:sSupPr>
                          <m:ctrlPr>
                            <a:rPr lang="en-I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IN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IN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IN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3</m:t>
                                  </m:r>
                                </m:num>
                                <m:den>
                                  <m:r>
                                    <a:rPr lang="en-IN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5</m:t>
                                  </m:r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en-I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a14:m>
                  <a:r>
                    <a:rPr lang="en-IN" sz="2000" dirty="0" smtClean="0">
                      <a:latin typeface="Cambria Math" panose="02040503050406030204" pitchFamily="18" charset="0"/>
                      <a:ea typeface="Cambria Math" panose="02040503050406030204" pitchFamily="18" charset="0"/>
                    </a:rPr>
                    <a:t> +</a:t>
                  </a:r>
                  <a14:m>
                    <m:oMath xmlns:m="http://schemas.openxmlformats.org/officeDocument/2006/math">
                      <m:sSup>
                        <m:sSupPr>
                          <m:ctrlPr>
                            <a:rPr lang="en-I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IN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IN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IN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num>
                                <m:den>
                                  <m:r>
                                    <a:rPr lang="en-IN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5</m:t>
                                  </m:r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en-I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IN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]=</m:t>
                      </m:r>
                      <m:r>
                        <a:rPr lang="en-IN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0.48</m:t>
                      </m:r>
                    </m:oMath>
                  </a14:m>
                  <a:endParaRPr lang="en-IN" sz="2000" dirty="0">
                    <a:latin typeface="Cambria Math" panose="02040503050406030204" pitchFamily="18" charset="0"/>
                    <a:ea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17" name="TextBox 1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58513" y="2937006"/>
                  <a:ext cx="4157357" cy="521425"/>
                </a:xfrm>
                <a:prstGeom prst="rect">
                  <a:avLst/>
                </a:prstGeom>
                <a:blipFill>
                  <a:blip r:embed="rId8"/>
                  <a:stretch>
                    <a:fillRect b="-12791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8" name="TextBox 17"/>
            <p:cNvSpPr txBox="1"/>
            <p:nvPr/>
          </p:nvSpPr>
          <p:spPr>
            <a:xfrm>
              <a:off x="863561" y="2454779"/>
              <a:ext cx="3342582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sz="2000" dirty="0" smtClean="0">
                  <a:latin typeface="Cambria Math" panose="02040503050406030204" pitchFamily="18" charset="0"/>
                  <a:ea typeface="Cambria Math" panose="02040503050406030204" pitchFamily="18" charset="0"/>
                </a:rPr>
                <a:t>Entropy of the Class Variable</a:t>
              </a:r>
              <a:endParaRPr lang="en-IN" sz="2000" dirty="0">
                <a:latin typeface="Cambria Math" panose="02040503050406030204" pitchFamily="18" charset="0"/>
                <a:ea typeface="Cambria Math" panose="020405030504060302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022095447"/>
      </p:ext>
    </p:extLst>
  </p:cSld>
  <p:clrMapOvr>
    <a:masterClrMapping/>
  </p:clrMapOvr>
  <p:transition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4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35"/>
          <p:cNvSpPr txBox="1"/>
          <p:nvPr/>
        </p:nvSpPr>
        <p:spPr>
          <a:xfrm>
            <a:off x="304799" y="381000"/>
            <a:ext cx="8454189" cy="689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0" i="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Decision Tree: </a:t>
            </a:r>
            <a:r>
              <a:rPr lang="en-US" sz="4400" b="0" i="0" dirty="0" smtClea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Gini Index Sunny</a:t>
            </a:r>
            <a:endParaRPr sz="4400" b="0" i="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176463" y="2911978"/>
                <a:ext cx="9228937" cy="46063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IN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𝐺</m:t>
                    </m:r>
                    <m:d>
                      <m:dPr>
                        <m:ctrlPr>
                          <a:rPr lang="en-I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𝑆𝑢𝑛𝑛𝑦</m:t>
                        </m:r>
                        <m:r>
                          <a:rPr lang="en-I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I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𝐻𝑢𝑚𝑖𝑑𝑖𝑡𝑦</m:t>
                        </m:r>
                      </m:e>
                    </m:d>
                    <m:r>
                      <a:rPr lang="en-IN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IN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1 −[</m:t>
                    </m:r>
                    <m:d>
                      <m:dPr>
                        <m:ctrlPr>
                          <a:rPr lang="en-I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I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a:rPr lang="en-I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5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0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G</m:t>
                    </m:r>
                    <m:d>
                      <m:dPr>
                        <m:ctrlPr>
                          <a:rPr lang="en-I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𝐻𝑢𝑚𝑖𝑑𝑖𝑡𝑦</m:t>
                        </m:r>
                        <m:r>
                          <a:rPr lang="en-I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I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𝐻𝑖𝑔h</m:t>
                        </m:r>
                      </m:e>
                    </m:d>
                  </m:oMath>
                </a14:m>
                <a:r>
                  <a:rPr lang="en-IN" sz="20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+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I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I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5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0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G</m:t>
                    </m:r>
                    <m:d>
                      <m:dPr>
                        <m:ctrlPr>
                          <a:rPr lang="en-I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𝐻𝑢𝑚𝑖𝑑𝑖𝑡𝑦</m:t>
                        </m:r>
                        <m:r>
                          <a:rPr lang="en-I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I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𝑁𝑜𝑟𝑚𝑎𝑙</m:t>
                        </m:r>
                      </m:e>
                    </m:d>
                  </m:oMath>
                </a14:m>
                <a:r>
                  <a:rPr lang="en-IN" sz="20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]</a:t>
                </a:r>
                <a:endParaRPr lang="en-IN" sz="20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63" y="2911978"/>
                <a:ext cx="9228937" cy="460639"/>
              </a:xfrm>
              <a:prstGeom prst="rect">
                <a:avLst/>
              </a:prstGeom>
              <a:blipFill>
                <a:blip r:embed="rId3"/>
                <a:stretch>
                  <a:fillRect t="-2667" b="-1466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7" name="Group 6"/>
          <p:cNvGrpSpPr/>
          <p:nvPr/>
        </p:nvGrpSpPr>
        <p:grpSpPr>
          <a:xfrm>
            <a:off x="176463" y="3796304"/>
            <a:ext cx="6737431" cy="1779470"/>
            <a:chOff x="864201" y="3715231"/>
            <a:chExt cx="6737431" cy="177947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TextBox 10"/>
                <p:cNvSpPr txBox="1"/>
                <p:nvPr/>
              </p:nvSpPr>
              <p:spPr>
                <a:xfrm>
                  <a:off x="864201" y="3715231"/>
                  <a:ext cx="5909054" cy="80425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I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𝐺</m:t>
                        </m:r>
                        <m:d>
                          <m:dPr>
                            <m:ctrlP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𝑆𝑢𝑛𝑛𝑦</m:t>
                            </m:r>
                            <m: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 </m:t>
                            </m:r>
                            <m:r>
                              <a:rPr lang="en-I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𝐻𝑢𝑚𝑖𝑑𝑖𝑡𝑦</m:t>
                            </m:r>
                          </m:e>
                        </m:d>
                        <m:r>
                          <a:rPr lang="en-I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=1 −</m:t>
                        </m:r>
                        <m:d>
                          <m:dPr>
                            <m:ctrlPr>
                              <a:rPr lang="en-IN" sz="20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IN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num>
                              <m:den>
                                <m:r>
                                  <a:rPr lang="en-IN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5</m:t>
                                </m:r>
                              </m:den>
                            </m:f>
                          </m:e>
                        </m:d>
                        <m:d>
                          <m:dPr>
                            <m:ctrlP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1 −</m:t>
                            </m:r>
                            <m:sSup>
                              <m:sSupPr>
                                <m:ctrlPr>
                                  <a:rPr lang="en-IN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en-IN" sz="20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ctrlPr>
                                          <a:rPr lang="en-IN" sz="20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IN" sz="20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num>
                                      <m:den>
                                        <m:r>
                                          <a:rPr lang="en-IN" sz="20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den>
                                    </m:f>
                                  </m:e>
                                </m:d>
                              </m:e>
                              <m:sup>
                                <m:r>
                                  <a:rPr lang="en-IN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nor/>
                              </m:rPr>
                              <a:rPr lang="en-IN" sz="2000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</m:t>
                            </m:r>
                            <m:r>
                              <m:rPr>
                                <m:nor/>
                              </m:rPr>
                              <a:rPr lang="en-IN" sz="2000" b="0" i="0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 </m:t>
                            </m:r>
                            <m:sSup>
                              <m:sSupPr>
                                <m:ctrlPr>
                                  <a:rPr lang="en-IN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en-IN" sz="20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ctrlPr>
                                          <a:rPr lang="en-IN" sz="20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IN" sz="20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num>
                                      <m:den>
                                        <m:r>
                                          <a:rPr lang="en-IN" sz="20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den>
                                    </m:f>
                                  </m:e>
                                </m:d>
                              </m:e>
                              <m:sup>
                                <m:r>
                                  <a:rPr lang="en-IN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d>
                      </m:oMath>
                    </m:oMathPara>
                  </a14:m>
                  <a:endParaRPr lang="en-IN" sz="2000" dirty="0">
                    <a:latin typeface="Cambria Math" panose="02040503050406030204" pitchFamily="18" charset="0"/>
                    <a:ea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11" name="TextBox 1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64201" y="3715231"/>
                  <a:ext cx="5909054" cy="804259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TextBox 11"/>
                <p:cNvSpPr txBox="1"/>
                <p:nvPr/>
              </p:nvSpPr>
              <p:spPr>
                <a:xfrm>
                  <a:off x="3673566" y="4690442"/>
                  <a:ext cx="2877326" cy="80425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I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d>
                          <m:dPr>
                            <m:ctrlPr>
                              <a:rPr lang="en-IN" sz="20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IN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3</m:t>
                                </m:r>
                              </m:num>
                              <m:den>
                                <m:r>
                                  <a:rPr lang="en-IN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5</m:t>
                                </m:r>
                              </m:den>
                            </m:f>
                          </m:e>
                        </m:d>
                        <m:d>
                          <m:dPr>
                            <m:ctrlP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1 −</m:t>
                            </m:r>
                            <m:sSup>
                              <m:sSupPr>
                                <m:ctrlPr>
                                  <a:rPr lang="en-IN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en-IN" sz="20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ctrlPr>
                                          <a:rPr lang="en-IN" sz="20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IN" sz="20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num>
                                      <m:den>
                                        <m:r>
                                          <a:rPr lang="en-IN" sz="20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den>
                                    </m:f>
                                  </m:e>
                                </m:d>
                              </m:e>
                              <m:sup>
                                <m:r>
                                  <a:rPr lang="en-IN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nor/>
                              </m:rPr>
                              <a:rPr lang="en-IN" sz="2000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</m:t>
                            </m:r>
                            <m:r>
                              <m:rPr>
                                <m:nor/>
                              </m:rPr>
                              <a:rPr lang="en-IN" sz="2000" b="0" i="0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  <m:r>
                              <m:rPr>
                                <m:nor/>
                              </m:rPr>
                              <a:rPr lang="en-IN" sz="2000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</m:t>
                            </m:r>
                            <m:sSup>
                              <m:sSupPr>
                                <m:ctrlPr>
                                  <a:rPr lang="en-IN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en-IN" sz="20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ctrlPr>
                                          <a:rPr lang="en-IN" sz="20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IN" sz="20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num>
                                      <m:den>
                                        <m:r>
                                          <a:rPr lang="en-IN" sz="20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den>
                                    </m:f>
                                  </m:e>
                                </m:d>
                              </m:e>
                              <m:sup>
                                <m:r>
                                  <a:rPr lang="en-IN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d>
                      </m:oMath>
                    </m:oMathPara>
                  </a14:m>
                  <a:endParaRPr lang="en-IN" sz="2000" dirty="0">
                    <a:latin typeface="Cambria Math" panose="02040503050406030204" pitchFamily="18" charset="0"/>
                    <a:ea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12" name="TextBox 1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73566" y="4690442"/>
                  <a:ext cx="2877326" cy="804259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Rectangle 4"/>
                <p:cNvSpPr/>
                <p:nvPr/>
              </p:nvSpPr>
              <p:spPr>
                <a:xfrm>
                  <a:off x="6773255" y="4378430"/>
                  <a:ext cx="828377" cy="400110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IN" sz="2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</m:t>
                        </m:r>
                        <m:r>
                          <a:rPr lang="en-I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0.5333</m:t>
                        </m:r>
                      </m:oMath>
                    </m:oMathPara>
                  </a14:m>
                  <a:endParaRPr lang="en-IN" sz="2000" dirty="0">
                    <a:latin typeface="Cambria Math" panose="02040503050406030204" pitchFamily="18" charset="0"/>
                    <a:ea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5" name="Rectangle 4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73255" y="4378430"/>
                  <a:ext cx="828377" cy="400110"/>
                </a:xfrm>
                <a:prstGeom prst="rect">
                  <a:avLst/>
                </a:prstGeom>
                <a:blipFill>
                  <a:blip r:embed="rId6"/>
                  <a:stretch>
                    <a:fillRect r="-44853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</p:grp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8949873"/>
              </p:ext>
            </p:extLst>
          </p:nvPr>
        </p:nvGraphicFramePr>
        <p:xfrm>
          <a:off x="8457197" y="5000673"/>
          <a:ext cx="3404220" cy="1666875"/>
        </p:xfrm>
        <a:graphic>
          <a:graphicData uri="http://schemas.openxmlformats.org/drawingml/2006/table">
            <a:tbl>
              <a:tblPr firstRow="1" bandRow="1">
                <a:tableStyleId>{AE0CDCE9-8EFF-456A-BFA7-76C2DBC4E188}</a:tableStyleId>
              </a:tblPr>
              <a:tblGrid>
                <a:gridCol w="942268">
                  <a:extLst>
                    <a:ext uri="{9D8B030D-6E8A-4147-A177-3AD203B41FA5}">
                      <a16:colId xmlns:a16="http://schemas.microsoft.com/office/drawing/2014/main" val="44823074"/>
                    </a:ext>
                  </a:extLst>
                </a:gridCol>
                <a:gridCol w="672595">
                  <a:extLst>
                    <a:ext uri="{9D8B030D-6E8A-4147-A177-3AD203B41FA5}">
                      <a16:colId xmlns:a16="http://schemas.microsoft.com/office/drawing/2014/main" val="639285374"/>
                    </a:ext>
                  </a:extLst>
                </a:gridCol>
                <a:gridCol w="1015238">
                  <a:extLst>
                    <a:ext uri="{9D8B030D-6E8A-4147-A177-3AD203B41FA5}">
                      <a16:colId xmlns:a16="http://schemas.microsoft.com/office/drawing/2014/main" val="2952518606"/>
                    </a:ext>
                  </a:extLst>
                </a:gridCol>
                <a:gridCol w="774119">
                  <a:extLst>
                    <a:ext uri="{9D8B030D-6E8A-4147-A177-3AD203B41FA5}">
                      <a16:colId xmlns:a16="http://schemas.microsoft.com/office/drawing/2014/main" val="1132376699"/>
                    </a:ext>
                  </a:extLst>
                </a:gridCol>
              </a:tblGrid>
              <a:tr h="333375">
                <a:tc gridSpan="4">
                  <a:txBody>
                    <a:bodyPr/>
                    <a:lstStyle/>
                    <a:p>
                      <a:pPr algn="ctr" rtl="0" fontAlgn="ctr"/>
                      <a:r>
                        <a:rPr lang="en-IN" sz="2000" u="none" strike="noStrike">
                          <a:effectLst/>
                        </a:rPr>
                        <a:t>Humidity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35501283"/>
                  </a:ext>
                </a:extLst>
              </a:tr>
              <a:tr h="333375">
                <a:tc>
                  <a:txBody>
                    <a:bodyPr/>
                    <a:lstStyle/>
                    <a:p>
                      <a:pPr algn="l" fontAlgn="ctr"/>
                      <a:r>
                        <a:rPr lang="en-IN" sz="1800" u="none" strike="noStrike">
                          <a:effectLst/>
                        </a:rPr>
                        <a:t> 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2000" u="none" strike="noStrike">
                          <a:effectLst/>
                        </a:rPr>
                        <a:t>Yes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2000" u="none" strike="noStrike">
                          <a:effectLst/>
                        </a:rPr>
                        <a:t>No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2000" u="none" strike="noStrike">
                          <a:effectLst/>
                        </a:rPr>
                        <a:t>Count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093994976"/>
                  </a:ext>
                </a:extLst>
              </a:tr>
              <a:tr h="33337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2000" u="none" strike="noStrike">
                          <a:effectLst/>
                        </a:rPr>
                        <a:t>High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2000" u="none" strike="noStrike">
                          <a:effectLst/>
                        </a:rPr>
                        <a:t>1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2000" u="none" strike="noStrike">
                          <a:effectLst/>
                        </a:rPr>
                        <a:t>1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2000" u="none" strike="noStrike">
                          <a:effectLst/>
                        </a:rPr>
                        <a:t>2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019960775"/>
                  </a:ext>
                </a:extLst>
              </a:tr>
              <a:tr h="33337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2000" u="none" strike="noStrike">
                          <a:effectLst/>
                        </a:rPr>
                        <a:t>Normal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2000" u="none" strike="noStrike">
                          <a:effectLst/>
                        </a:rPr>
                        <a:t>2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2000" u="none" strike="noStrike">
                          <a:effectLst/>
                        </a:rPr>
                        <a:t>1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2000" u="none" strike="noStrike">
                          <a:effectLst/>
                        </a:rPr>
                        <a:t>3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189673888"/>
                  </a:ext>
                </a:extLst>
              </a:tr>
              <a:tr h="33337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2000" u="none" strike="noStrike">
                          <a:effectLst/>
                        </a:rPr>
                        <a:t>Total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2000" u="none" strike="noStrike">
                          <a:effectLst/>
                        </a:rPr>
                        <a:t>3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2000" u="none" strike="noStrike">
                          <a:effectLst/>
                        </a:rPr>
                        <a:t>2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2000" u="none" strike="noStrike" dirty="0">
                          <a:effectLst/>
                        </a:rPr>
                        <a:t>100%</a:t>
                      </a:r>
                      <a:endParaRPr lang="en-IN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263967832"/>
                  </a:ext>
                </a:extLst>
              </a:tr>
            </a:tbl>
          </a:graphicData>
        </a:graphic>
      </p:graphicFrame>
      <p:grpSp>
        <p:nvGrpSpPr>
          <p:cNvPr id="16" name="Group 15"/>
          <p:cNvGrpSpPr/>
          <p:nvPr/>
        </p:nvGrpSpPr>
        <p:grpSpPr>
          <a:xfrm>
            <a:off x="457251" y="1224927"/>
            <a:ext cx="4157357" cy="1003652"/>
            <a:chOff x="858513" y="2454779"/>
            <a:chExt cx="4157357" cy="100365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TextBox 16"/>
                <p:cNvSpPr txBox="1"/>
                <p:nvPr/>
              </p:nvSpPr>
              <p:spPr>
                <a:xfrm>
                  <a:off x="858513" y="2937006"/>
                  <a:ext cx="4157357" cy="521425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en-IN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𝐺</m:t>
                      </m:r>
                      <m:d>
                        <m:dPr>
                          <m:ctrlPr>
                            <a:rPr lang="en-I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𝑆𝑢𝑛𝑛𝑦</m:t>
                          </m:r>
                        </m:e>
                      </m:d>
                      <m:r>
                        <a:rPr lang="en-IN" sz="2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IN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1− [</m:t>
                      </m:r>
                      <m:sSup>
                        <m:sSupPr>
                          <m:ctrlPr>
                            <a:rPr lang="en-I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IN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IN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IN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3</m:t>
                                  </m:r>
                                </m:num>
                                <m:den>
                                  <m:r>
                                    <a:rPr lang="en-IN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5</m:t>
                                  </m:r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en-I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a14:m>
                  <a:r>
                    <a:rPr lang="en-IN" sz="2000" dirty="0" smtClean="0">
                      <a:latin typeface="Cambria Math" panose="02040503050406030204" pitchFamily="18" charset="0"/>
                      <a:ea typeface="Cambria Math" panose="02040503050406030204" pitchFamily="18" charset="0"/>
                    </a:rPr>
                    <a:t> +</a:t>
                  </a:r>
                  <a14:m>
                    <m:oMath xmlns:m="http://schemas.openxmlformats.org/officeDocument/2006/math">
                      <m:sSup>
                        <m:sSupPr>
                          <m:ctrlPr>
                            <a:rPr lang="en-I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IN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IN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IN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num>
                                <m:den>
                                  <m:r>
                                    <a:rPr lang="en-IN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5</m:t>
                                  </m:r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en-I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IN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]=</m:t>
                      </m:r>
                      <m:r>
                        <a:rPr lang="en-IN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0.48</m:t>
                      </m:r>
                    </m:oMath>
                  </a14:m>
                  <a:endParaRPr lang="en-IN" sz="2000" dirty="0">
                    <a:latin typeface="Cambria Math" panose="02040503050406030204" pitchFamily="18" charset="0"/>
                    <a:ea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17" name="TextBox 1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58513" y="2937006"/>
                  <a:ext cx="4157357" cy="521425"/>
                </a:xfrm>
                <a:prstGeom prst="rect">
                  <a:avLst/>
                </a:prstGeom>
                <a:blipFill>
                  <a:blip r:embed="rId7"/>
                  <a:stretch>
                    <a:fillRect b="-12791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8" name="TextBox 17"/>
            <p:cNvSpPr txBox="1"/>
            <p:nvPr/>
          </p:nvSpPr>
          <p:spPr>
            <a:xfrm>
              <a:off x="863561" y="2454779"/>
              <a:ext cx="3342582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sz="2000" dirty="0" smtClean="0">
                  <a:latin typeface="Cambria Math" panose="02040503050406030204" pitchFamily="18" charset="0"/>
                  <a:ea typeface="Cambria Math" panose="02040503050406030204" pitchFamily="18" charset="0"/>
                </a:rPr>
                <a:t>Entropy of the Class Variable</a:t>
              </a:r>
              <a:endParaRPr lang="en-IN" sz="2000" dirty="0">
                <a:latin typeface="Cambria Math" panose="02040503050406030204" pitchFamily="18" charset="0"/>
                <a:ea typeface="Cambria Math" panose="02040503050406030204" pitchFamily="18" charset="0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/>
              <p:cNvSpPr txBox="1"/>
              <p:nvPr/>
            </p:nvSpPr>
            <p:spPr>
              <a:xfrm>
                <a:off x="200524" y="6032816"/>
                <a:ext cx="6658233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𝐺𝑖𝑛𝑖</m:t>
                      </m:r>
                      <m:r>
                        <a:rPr lang="en-IN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IN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𝐺𝑎𝑖𝑛</m:t>
                      </m:r>
                      <m:d>
                        <m:dPr>
                          <m:ctrlPr>
                            <a:rPr lang="en-I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𝑆𝑢𝑛𝑛𝑦</m:t>
                          </m:r>
                          <m:r>
                            <a:rPr lang="en-I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 </m:t>
                          </m:r>
                          <m:r>
                            <a:rPr lang="en-I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𝐻𝑢𝑚𝑖𝑑𝑖𝑡𝑦</m:t>
                          </m:r>
                        </m:e>
                      </m:d>
                      <m:r>
                        <a:rPr lang="en-IN" sz="2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IN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0.48</m:t>
                      </m:r>
                      <m:r>
                        <a:rPr lang="en-IN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−</m:t>
                      </m:r>
                      <m:r>
                        <a:rPr lang="en-IN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0.5333</m:t>
                      </m:r>
                      <m:r>
                        <a:rPr lang="en-IN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=−0.05333</m:t>
                      </m:r>
                    </m:oMath>
                  </m:oMathPara>
                </a14:m>
                <a:endParaRPr lang="en-IN" sz="20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9" name="Text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0524" y="6032816"/>
                <a:ext cx="6658233" cy="307777"/>
              </a:xfrm>
              <a:prstGeom prst="rect">
                <a:avLst/>
              </a:prstGeom>
              <a:blipFill>
                <a:blip r:embed="rId8"/>
                <a:stretch>
                  <a:fillRect l="-458" r="-458" b="-3800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66779841"/>
      </p:ext>
    </p:extLst>
  </p:cSld>
  <p:clrMapOvr>
    <a:masterClrMapping/>
  </p:clrMapOvr>
  <p:transition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9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35"/>
          <p:cNvSpPr txBox="1"/>
          <p:nvPr/>
        </p:nvSpPr>
        <p:spPr>
          <a:xfrm>
            <a:off x="304799" y="381000"/>
            <a:ext cx="8454189" cy="689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0" i="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Decision Tree: </a:t>
            </a:r>
            <a:r>
              <a:rPr lang="en-US" sz="4400" b="0" i="0" dirty="0" smtClea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Gini Index Sunny</a:t>
            </a:r>
            <a:endParaRPr sz="4400" b="0" i="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176463" y="2911978"/>
                <a:ext cx="8266494" cy="46063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IN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𝐺</m:t>
                    </m:r>
                    <m:d>
                      <m:dPr>
                        <m:ctrlPr>
                          <a:rPr lang="en-I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𝑆𝑢𝑛𝑛𝑦</m:t>
                        </m:r>
                        <m:r>
                          <a:rPr lang="en-I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 </m:t>
                        </m:r>
                        <m:r>
                          <a:rPr lang="en-I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𝑊𝑖𝑛𝑑𝑦</m:t>
                        </m:r>
                      </m:e>
                    </m:d>
                    <m:r>
                      <a:rPr lang="en-IN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IN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1 −[</m:t>
                    </m:r>
                    <m:d>
                      <m:dPr>
                        <m:ctrlPr>
                          <a:rPr lang="en-I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I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I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5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0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G</m:t>
                    </m:r>
                    <m:d>
                      <m:dPr>
                        <m:ctrlPr>
                          <a:rPr lang="en-I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𝑊𝑖𝑛𝑑𝑦</m:t>
                        </m:r>
                        <m:r>
                          <a:rPr lang="en-I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I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𝑊𝑒𝑎𝑘</m:t>
                        </m:r>
                      </m:e>
                    </m:d>
                  </m:oMath>
                </a14:m>
                <a:r>
                  <a:rPr lang="en-IN" sz="20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+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I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a:rPr lang="en-I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5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0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G</m:t>
                    </m:r>
                    <m:d>
                      <m:dPr>
                        <m:ctrlPr>
                          <a:rPr lang="en-I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𝑊𝑖𝑛𝑑𝑦</m:t>
                        </m:r>
                        <m:r>
                          <a:rPr lang="en-I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I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𝑆𝑡𝑟𝑜𝑛𝑔</m:t>
                        </m:r>
                      </m:e>
                    </m:d>
                  </m:oMath>
                </a14:m>
                <a:r>
                  <a:rPr lang="en-IN" sz="20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]</a:t>
                </a:r>
                <a:endParaRPr lang="en-IN" sz="20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63" y="2911978"/>
                <a:ext cx="8266494" cy="460639"/>
              </a:xfrm>
              <a:prstGeom prst="rect">
                <a:avLst/>
              </a:prstGeom>
              <a:blipFill>
                <a:blip r:embed="rId3"/>
                <a:stretch>
                  <a:fillRect t="-2667" b="-1466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7" name="Group 6"/>
          <p:cNvGrpSpPr/>
          <p:nvPr/>
        </p:nvGrpSpPr>
        <p:grpSpPr>
          <a:xfrm>
            <a:off x="176463" y="3796304"/>
            <a:ext cx="6248744" cy="1819810"/>
            <a:chOff x="864201" y="3715231"/>
            <a:chExt cx="6248744" cy="181981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TextBox 10"/>
                <p:cNvSpPr txBox="1"/>
                <p:nvPr/>
              </p:nvSpPr>
              <p:spPr>
                <a:xfrm>
                  <a:off x="864201" y="3715231"/>
                  <a:ext cx="5569217" cy="80425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I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𝐺</m:t>
                        </m:r>
                        <m:d>
                          <m:dPr>
                            <m:ctrlP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𝑆𝑢𝑛𝑛𝑦</m:t>
                            </m:r>
                            <m: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𝑊𝑖𝑛𝑑𝑦</m:t>
                            </m:r>
                          </m:e>
                        </m:d>
                        <m:r>
                          <a:rPr lang="en-I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=1 −</m:t>
                        </m:r>
                        <m:d>
                          <m:dPr>
                            <m:ctrlPr>
                              <a:rPr lang="en-IN" sz="20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IN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3</m:t>
                                </m:r>
                              </m:num>
                              <m:den>
                                <m:r>
                                  <a:rPr lang="en-IN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5</m:t>
                                </m:r>
                              </m:den>
                            </m:f>
                          </m:e>
                        </m:d>
                        <m:d>
                          <m:dPr>
                            <m:ctrlP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1 −</m:t>
                            </m:r>
                            <m:sSup>
                              <m:sSupPr>
                                <m:ctrlPr>
                                  <a:rPr lang="en-IN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en-IN" sz="20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ctrlPr>
                                          <a:rPr lang="en-IN" sz="20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IN" sz="20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num>
                                      <m:den>
                                        <m:r>
                                          <a:rPr lang="en-IN" sz="20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den>
                                    </m:f>
                                  </m:e>
                                </m:d>
                              </m:e>
                              <m:sup>
                                <m:r>
                                  <a:rPr lang="en-IN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nor/>
                              </m:rPr>
                              <a:rPr lang="en-IN" sz="2000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</m:t>
                            </m:r>
                            <m:r>
                              <m:rPr>
                                <m:nor/>
                              </m:rPr>
                              <a:rPr lang="en-IN" sz="2000" b="0" i="0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 </m:t>
                            </m:r>
                            <m:sSup>
                              <m:sSupPr>
                                <m:ctrlPr>
                                  <a:rPr lang="en-IN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en-IN" sz="20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ctrlPr>
                                          <a:rPr lang="en-IN" sz="20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IN" sz="20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num>
                                      <m:den>
                                        <m:r>
                                          <a:rPr lang="en-IN" sz="20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den>
                                    </m:f>
                                  </m:e>
                                </m:d>
                              </m:e>
                              <m:sup>
                                <m:r>
                                  <a:rPr lang="en-IN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d>
                      </m:oMath>
                    </m:oMathPara>
                  </a14:m>
                  <a:endParaRPr lang="en-IN" sz="2000" dirty="0">
                    <a:latin typeface="Cambria Math" panose="02040503050406030204" pitchFamily="18" charset="0"/>
                    <a:ea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11" name="TextBox 1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64201" y="3715231"/>
                  <a:ext cx="5569217" cy="804259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TextBox 11"/>
                <p:cNvSpPr txBox="1"/>
                <p:nvPr/>
              </p:nvSpPr>
              <p:spPr>
                <a:xfrm>
                  <a:off x="3451383" y="4730782"/>
                  <a:ext cx="2877326" cy="80425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I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d>
                          <m:dPr>
                            <m:ctrlPr>
                              <a:rPr lang="en-IN" sz="20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IN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num>
                              <m:den>
                                <m:r>
                                  <a:rPr lang="en-IN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5</m:t>
                                </m:r>
                              </m:den>
                            </m:f>
                          </m:e>
                        </m:d>
                        <m:d>
                          <m:dPr>
                            <m:ctrlP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1 −</m:t>
                            </m:r>
                            <m:sSup>
                              <m:sSupPr>
                                <m:ctrlPr>
                                  <a:rPr lang="en-IN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en-IN" sz="20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ctrlPr>
                                          <a:rPr lang="en-IN" sz="20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IN" sz="20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num>
                                      <m:den>
                                        <m:r>
                                          <a:rPr lang="en-IN" sz="20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den>
                                    </m:f>
                                  </m:e>
                                </m:d>
                              </m:e>
                              <m:sup>
                                <m:r>
                                  <a:rPr lang="en-IN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nor/>
                              </m:rPr>
                              <a:rPr lang="en-IN" sz="2000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</m:t>
                            </m:r>
                            <m:r>
                              <m:rPr>
                                <m:nor/>
                              </m:rPr>
                              <a:rPr lang="en-IN" sz="2000" b="0" i="0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  <m:r>
                              <m:rPr>
                                <m:nor/>
                              </m:rPr>
                              <a:rPr lang="en-IN" sz="2000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</m:t>
                            </m:r>
                            <m:sSup>
                              <m:sSupPr>
                                <m:ctrlPr>
                                  <a:rPr lang="en-IN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en-IN" sz="20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ctrlPr>
                                          <a:rPr lang="en-IN" sz="20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IN" sz="20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num>
                                      <m:den>
                                        <m:r>
                                          <a:rPr lang="en-IN" sz="20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den>
                                    </m:f>
                                  </m:e>
                                </m:d>
                              </m:e>
                              <m:sup>
                                <m:r>
                                  <a:rPr lang="en-IN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d>
                      </m:oMath>
                    </m:oMathPara>
                  </a14:m>
                  <a:endParaRPr lang="en-IN" sz="2000" dirty="0">
                    <a:latin typeface="Cambria Math" panose="02040503050406030204" pitchFamily="18" charset="0"/>
                    <a:ea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12" name="TextBox 1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451383" y="4730782"/>
                  <a:ext cx="2877326" cy="804259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Rectangle 4"/>
                <p:cNvSpPr/>
                <p:nvPr/>
              </p:nvSpPr>
              <p:spPr>
                <a:xfrm>
                  <a:off x="6465908" y="4410821"/>
                  <a:ext cx="647037" cy="40011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IN" sz="2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</m:t>
                        </m:r>
                        <m:r>
                          <a:rPr lang="en-I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en-IN" sz="2000" dirty="0">
                    <a:latin typeface="Cambria Math" panose="02040503050406030204" pitchFamily="18" charset="0"/>
                    <a:ea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5" name="Rectangle 4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465908" y="4410821"/>
                  <a:ext cx="647037" cy="400110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176463" y="5983008"/>
                <a:ext cx="5322932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𝐺𝑖𝑛𝑖</m:t>
                      </m:r>
                      <m:r>
                        <a:rPr lang="en-IN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IN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𝐺𝑎𝑖𝑛</m:t>
                      </m:r>
                      <m:d>
                        <m:dPr>
                          <m:ctrlPr>
                            <a:rPr lang="en-I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𝑆𝑢𝑛𝑛𝑦</m:t>
                          </m:r>
                          <m:r>
                            <a:rPr lang="en-I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 </m:t>
                          </m:r>
                          <m:r>
                            <a:rPr lang="en-I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𝑊𝑖𝑛𝑑𝑦</m:t>
                          </m:r>
                        </m:e>
                      </m:d>
                      <m:r>
                        <a:rPr lang="en-IN" sz="2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IN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0.48</m:t>
                      </m:r>
                      <m:r>
                        <a:rPr lang="en-IN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−1 =−0.52</m:t>
                      </m:r>
                    </m:oMath>
                  </m:oMathPara>
                </a14:m>
                <a:endParaRPr lang="en-IN" sz="20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63" y="5983008"/>
                <a:ext cx="5322932" cy="307777"/>
              </a:xfrm>
              <a:prstGeom prst="rect">
                <a:avLst/>
              </a:prstGeom>
              <a:blipFill>
                <a:blip r:embed="rId7"/>
                <a:stretch>
                  <a:fillRect l="-687" r="-687" b="-3725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59436578"/>
              </p:ext>
            </p:extLst>
          </p:nvPr>
        </p:nvGraphicFramePr>
        <p:xfrm>
          <a:off x="8393029" y="4892004"/>
          <a:ext cx="3404220" cy="1666875"/>
        </p:xfrm>
        <a:graphic>
          <a:graphicData uri="http://schemas.openxmlformats.org/drawingml/2006/table">
            <a:tbl>
              <a:tblPr firstRow="1" bandRow="1">
                <a:tableStyleId>{AE0CDCE9-8EFF-456A-BFA7-76C2DBC4E188}</a:tableStyleId>
              </a:tblPr>
              <a:tblGrid>
                <a:gridCol w="942268">
                  <a:extLst>
                    <a:ext uri="{9D8B030D-6E8A-4147-A177-3AD203B41FA5}">
                      <a16:colId xmlns:a16="http://schemas.microsoft.com/office/drawing/2014/main" val="1632609225"/>
                    </a:ext>
                  </a:extLst>
                </a:gridCol>
                <a:gridCol w="672595">
                  <a:extLst>
                    <a:ext uri="{9D8B030D-6E8A-4147-A177-3AD203B41FA5}">
                      <a16:colId xmlns:a16="http://schemas.microsoft.com/office/drawing/2014/main" val="3111936920"/>
                    </a:ext>
                  </a:extLst>
                </a:gridCol>
                <a:gridCol w="1015238">
                  <a:extLst>
                    <a:ext uri="{9D8B030D-6E8A-4147-A177-3AD203B41FA5}">
                      <a16:colId xmlns:a16="http://schemas.microsoft.com/office/drawing/2014/main" val="1235065901"/>
                    </a:ext>
                  </a:extLst>
                </a:gridCol>
                <a:gridCol w="774119">
                  <a:extLst>
                    <a:ext uri="{9D8B030D-6E8A-4147-A177-3AD203B41FA5}">
                      <a16:colId xmlns:a16="http://schemas.microsoft.com/office/drawing/2014/main" val="1987878828"/>
                    </a:ext>
                  </a:extLst>
                </a:gridCol>
              </a:tblGrid>
              <a:tr h="333375">
                <a:tc gridSpan="4">
                  <a:txBody>
                    <a:bodyPr/>
                    <a:lstStyle/>
                    <a:p>
                      <a:pPr algn="ctr" rtl="0" fontAlgn="ctr"/>
                      <a:r>
                        <a:rPr lang="en-IN" sz="2000" u="none" strike="noStrike">
                          <a:effectLst/>
                        </a:rPr>
                        <a:t>Wind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07697344"/>
                  </a:ext>
                </a:extLst>
              </a:tr>
              <a:tr h="333375">
                <a:tc>
                  <a:txBody>
                    <a:bodyPr/>
                    <a:lstStyle/>
                    <a:p>
                      <a:pPr algn="l" fontAlgn="ctr"/>
                      <a:r>
                        <a:rPr lang="en-IN" sz="1800" u="none" strike="noStrike">
                          <a:effectLst/>
                        </a:rPr>
                        <a:t> 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2000" u="none" strike="noStrike">
                          <a:effectLst/>
                        </a:rPr>
                        <a:t>Yes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2000" u="none" strike="noStrike">
                          <a:effectLst/>
                        </a:rPr>
                        <a:t>No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2000" u="none" strike="noStrike">
                          <a:effectLst/>
                        </a:rPr>
                        <a:t>Count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497837622"/>
                  </a:ext>
                </a:extLst>
              </a:tr>
              <a:tr h="33337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2000" u="none" strike="noStrike">
                          <a:effectLst/>
                        </a:rPr>
                        <a:t>Weak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2000" u="none" strike="noStrike">
                          <a:effectLst/>
                        </a:rPr>
                        <a:t>3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2000" u="none" strike="noStrike">
                          <a:effectLst/>
                        </a:rPr>
                        <a:t>0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2000" u="none" strike="noStrike">
                          <a:effectLst/>
                        </a:rPr>
                        <a:t>3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101640616"/>
                  </a:ext>
                </a:extLst>
              </a:tr>
              <a:tr h="33337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2000" u="none" strike="noStrike">
                          <a:effectLst/>
                        </a:rPr>
                        <a:t>Strong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2000" u="none" strike="noStrike">
                          <a:effectLst/>
                        </a:rPr>
                        <a:t>0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2000" u="none" strike="noStrike">
                          <a:effectLst/>
                        </a:rPr>
                        <a:t>2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2000" u="none" strike="noStrike">
                          <a:effectLst/>
                        </a:rPr>
                        <a:t>2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126614737"/>
                  </a:ext>
                </a:extLst>
              </a:tr>
              <a:tr h="33337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2000" u="none" strike="noStrike">
                          <a:effectLst/>
                        </a:rPr>
                        <a:t>Total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2000" u="none" strike="noStrike">
                          <a:effectLst/>
                        </a:rPr>
                        <a:t>3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2000" u="none" strike="noStrike">
                          <a:effectLst/>
                        </a:rPr>
                        <a:t>2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2000" u="none" strike="noStrike" dirty="0">
                          <a:effectLst/>
                        </a:rPr>
                        <a:t>100%</a:t>
                      </a:r>
                      <a:endParaRPr lang="en-IN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670066210"/>
                  </a:ext>
                </a:extLst>
              </a:tr>
            </a:tbl>
          </a:graphicData>
        </a:graphic>
      </p:graphicFrame>
      <p:grpSp>
        <p:nvGrpSpPr>
          <p:cNvPr id="16" name="Group 15"/>
          <p:cNvGrpSpPr/>
          <p:nvPr/>
        </p:nvGrpSpPr>
        <p:grpSpPr>
          <a:xfrm>
            <a:off x="457251" y="1224927"/>
            <a:ext cx="4157357" cy="1003652"/>
            <a:chOff x="858513" y="2454779"/>
            <a:chExt cx="4157357" cy="100365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TextBox 16"/>
                <p:cNvSpPr txBox="1"/>
                <p:nvPr/>
              </p:nvSpPr>
              <p:spPr>
                <a:xfrm>
                  <a:off x="858513" y="2937006"/>
                  <a:ext cx="4157357" cy="521425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en-IN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𝐺</m:t>
                      </m:r>
                      <m:d>
                        <m:dPr>
                          <m:ctrlPr>
                            <a:rPr lang="en-I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𝑆𝑢𝑛𝑛𝑦</m:t>
                          </m:r>
                        </m:e>
                      </m:d>
                      <m:r>
                        <a:rPr lang="en-IN" sz="2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IN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1− [</m:t>
                      </m:r>
                      <m:sSup>
                        <m:sSupPr>
                          <m:ctrlPr>
                            <a:rPr lang="en-I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IN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IN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IN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3</m:t>
                                  </m:r>
                                </m:num>
                                <m:den>
                                  <m:r>
                                    <a:rPr lang="en-IN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5</m:t>
                                  </m:r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en-I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a14:m>
                  <a:r>
                    <a:rPr lang="en-IN" sz="2000" dirty="0" smtClean="0">
                      <a:latin typeface="Cambria Math" panose="02040503050406030204" pitchFamily="18" charset="0"/>
                      <a:ea typeface="Cambria Math" panose="02040503050406030204" pitchFamily="18" charset="0"/>
                    </a:rPr>
                    <a:t> +</a:t>
                  </a:r>
                  <a14:m>
                    <m:oMath xmlns:m="http://schemas.openxmlformats.org/officeDocument/2006/math">
                      <m:sSup>
                        <m:sSupPr>
                          <m:ctrlPr>
                            <a:rPr lang="en-I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IN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IN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IN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num>
                                <m:den>
                                  <m:r>
                                    <a:rPr lang="en-IN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5</m:t>
                                  </m:r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en-I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IN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]=0.48</m:t>
                      </m:r>
                    </m:oMath>
                  </a14:m>
                  <a:endParaRPr lang="en-IN" sz="2000" dirty="0">
                    <a:latin typeface="Cambria Math" panose="02040503050406030204" pitchFamily="18" charset="0"/>
                    <a:ea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17" name="TextBox 1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58513" y="2937006"/>
                  <a:ext cx="4157357" cy="521425"/>
                </a:xfrm>
                <a:prstGeom prst="rect">
                  <a:avLst/>
                </a:prstGeom>
                <a:blipFill>
                  <a:blip r:embed="rId8"/>
                  <a:stretch>
                    <a:fillRect b="-12791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8" name="TextBox 17"/>
            <p:cNvSpPr txBox="1"/>
            <p:nvPr/>
          </p:nvSpPr>
          <p:spPr>
            <a:xfrm>
              <a:off x="863561" y="2454779"/>
              <a:ext cx="3342582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sz="2000" dirty="0" smtClean="0">
                  <a:latin typeface="Cambria Math" panose="02040503050406030204" pitchFamily="18" charset="0"/>
                  <a:ea typeface="Cambria Math" panose="02040503050406030204" pitchFamily="18" charset="0"/>
                </a:rPr>
                <a:t>Entropy of the Class Variable</a:t>
              </a:r>
              <a:endParaRPr lang="en-IN" sz="2000" dirty="0">
                <a:latin typeface="Cambria Math" panose="02040503050406030204" pitchFamily="18" charset="0"/>
                <a:ea typeface="Cambria Math" panose="020405030504060302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105574728"/>
      </p:ext>
    </p:extLst>
  </p:cSld>
  <p:clrMapOvr>
    <a:masterClrMapping/>
  </p:clrMapOvr>
  <p:transition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4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35"/>
          <p:cNvSpPr txBox="1"/>
          <p:nvPr/>
        </p:nvSpPr>
        <p:spPr>
          <a:xfrm>
            <a:off x="304799" y="381000"/>
            <a:ext cx="8454189" cy="689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0" i="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Decision Tree: </a:t>
            </a:r>
            <a:r>
              <a:rPr lang="en-US" sz="4400" b="0" i="0" dirty="0" smtClea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Gini Index</a:t>
            </a:r>
            <a:endParaRPr sz="4400" b="0" i="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" name="Group 1"/>
          <p:cNvGrpSpPr/>
          <p:nvPr/>
        </p:nvGrpSpPr>
        <p:grpSpPr>
          <a:xfrm>
            <a:off x="7331241" y="1617070"/>
            <a:ext cx="4114800" cy="3299727"/>
            <a:chOff x="7234988" y="2918540"/>
            <a:chExt cx="4114800" cy="3299727"/>
          </a:xfrm>
        </p:grpSpPr>
        <p:sp>
          <p:nvSpPr>
            <p:cNvPr id="18" name="Google Shape;290;p34"/>
            <p:cNvSpPr/>
            <p:nvPr/>
          </p:nvSpPr>
          <p:spPr>
            <a:xfrm>
              <a:off x="8263688" y="2918540"/>
              <a:ext cx="2057400" cy="1066800"/>
            </a:xfrm>
            <a:prstGeom prst="roundRect">
              <a:avLst>
                <a:gd name="adj" fmla="val 16667"/>
              </a:avLst>
            </a:prstGeom>
            <a:noFill/>
            <a:ln w="25400" cap="flat" cmpd="sng">
              <a:solidFill>
                <a:srgbClr val="395E8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Outlook</a:t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9" name="Google Shape;293;p34"/>
            <p:cNvCxnSpPr>
              <a:stCxn id="18" idx="2"/>
            </p:cNvCxnSpPr>
            <p:nvPr/>
          </p:nvCxnSpPr>
          <p:spPr>
            <a:xfrm flipH="1">
              <a:off x="7234988" y="3985340"/>
              <a:ext cx="2057400" cy="1574700"/>
            </a:xfrm>
            <a:prstGeom prst="straightConnector1">
              <a:avLst/>
            </a:prstGeom>
            <a:noFill/>
            <a:ln w="9525" cap="flat" cmpd="sng">
              <a:solidFill>
                <a:srgbClr val="4A7DBA"/>
              </a:solidFill>
              <a:prstDash val="solid"/>
              <a:round/>
              <a:headEnd type="none" w="sm" len="sm"/>
              <a:tailEnd type="stealth" w="med" len="med"/>
            </a:ln>
          </p:spPr>
        </p:cxnSp>
        <p:cxnSp>
          <p:nvCxnSpPr>
            <p:cNvPr id="20" name="Google Shape;294;p34"/>
            <p:cNvCxnSpPr>
              <a:stCxn id="18" idx="2"/>
            </p:cNvCxnSpPr>
            <p:nvPr/>
          </p:nvCxnSpPr>
          <p:spPr>
            <a:xfrm>
              <a:off x="9292388" y="3985340"/>
              <a:ext cx="2057400" cy="1574700"/>
            </a:xfrm>
            <a:prstGeom prst="straightConnector1">
              <a:avLst/>
            </a:prstGeom>
            <a:noFill/>
            <a:ln w="9525" cap="flat" cmpd="sng">
              <a:solidFill>
                <a:srgbClr val="4A7DBA"/>
              </a:solidFill>
              <a:prstDash val="solid"/>
              <a:round/>
              <a:headEnd type="none" w="sm" len="sm"/>
              <a:tailEnd type="stealth" w="med" len="med"/>
            </a:ln>
          </p:spPr>
        </p:cxnSp>
        <p:cxnSp>
          <p:nvCxnSpPr>
            <p:cNvPr id="21" name="Google Shape;295;p34"/>
            <p:cNvCxnSpPr>
              <a:endCxn id="24" idx="0"/>
            </p:cNvCxnSpPr>
            <p:nvPr/>
          </p:nvCxnSpPr>
          <p:spPr>
            <a:xfrm>
              <a:off x="9292388" y="3980895"/>
              <a:ext cx="0" cy="1856372"/>
            </a:xfrm>
            <a:prstGeom prst="straightConnector1">
              <a:avLst/>
            </a:prstGeom>
            <a:noFill/>
            <a:ln w="9525" cap="flat" cmpd="sng">
              <a:solidFill>
                <a:srgbClr val="4A7DBA"/>
              </a:solidFill>
              <a:prstDash val="solid"/>
              <a:round/>
              <a:headEnd type="none" w="sm" len="sm"/>
              <a:tailEnd type="stealth" w="med" len="med"/>
            </a:ln>
          </p:spPr>
        </p:cxnSp>
        <p:sp>
          <p:nvSpPr>
            <p:cNvPr id="22" name="Google Shape;304;p34"/>
            <p:cNvSpPr txBox="1"/>
            <p:nvPr/>
          </p:nvSpPr>
          <p:spPr>
            <a:xfrm>
              <a:off x="7850303" y="4588590"/>
              <a:ext cx="826135" cy="368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Sunny</a:t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" name="Google Shape;305;p34"/>
            <p:cNvSpPr txBox="1"/>
            <p:nvPr/>
          </p:nvSpPr>
          <p:spPr>
            <a:xfrm>
              <a:off x="10001047" y="4588590"/>
              <a:ext cx="863467" cy="369291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dirty="0" smtClean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Rainy</a:t>
              </a:r>
              <a:endParaRPr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" name="Google Shape;311;p34"/>
            <p:cNvSpPr/>
            <p:nvPr/>
          </p:nvSpPr>
          <p:spPr>
            <a:xfrm>
              <a:off x="8758988" y="5837267"/>
              <a:ext cx="1066800" cy="381000"/>
            </a:xfrm>
            <a:prstGeom prst="flowChartTerminator">
              <a:avLst/>
            </a:prstGeom>
            <a:noFill/>
            <a:ln w="25400" cap="flat" cmpd="sng">
              <a:solidFill>
                <a:srgbClr val="395E8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Yes</a:t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8" name="Google Shape;292;p34"/>
          <p:cNvSpPr/>
          <p:nvPr/>
        </p:nvSpPr>
        <p:spPr>
          <a:xfrm>
            <a:off x="6089182" y="4302578"/>
            <a:ext cx="2057400" cy="1066800"/>
          </a:xfrm>
          <a:prstGeom prst="roundRect">
            <a:avLst>
              <a:gd name="adj" fmla="val 16667"/>
            </a:avLst>
          </a:prstGeom>
          <a:noFill/>
          <a:ln w="2540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Windy</a:t>
            </a:r>
            <a:endParaRPr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9" name="Google Shape;296;p34"/>
          <p:cNvCxnSpPr>
            <a:stCxn id="28" idx="2"/>
            <a:endCxn id="31" idx="0"/>
          </p:cNvCxnSpPr>
          <p:nvPr/>
        </p:nvCxnSpPr>
        <p:spPr>
          <a:xfrm flipH="1">
            <a:off x="5993182" y="5369378"/>
            <a:ext cx="1124700" cy="859200"/>
          </a:xfrm>
          <a:prstGeom prst="straightConnector1">
            <a:avLst/>
          </a:prstGeom>
          <a:noFill/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30" name="Google Shape;298;p34"/>
          <p:cNvCxnSpPr>
            <a:endCxn id="32" idx="0"/>
          </p:cNvCxnSpPr>
          <p:nvPr/>
        </p:nvCxnSpPr>
        <p:spPr>
          <a:xfrm>
            <a:off x="7117882" y="5369333"/>
            <a:ext cx="1028700" cy="859200"/>
          </a:xfrm>
          <a:prstGeom prst="straightConnector1">
            <a:avLst/>
          </a:prstGeom>
          <a:noFill/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stealth" w="med" len="med"/>
          </a:ln>
        </p:spPr>
      </p:cxnSp>
      <p:sp>
        <p:nvSpPr>
          <p:cNvPr id="31" name="Google Shape;297;p34"/>
          <p:cNvSpPr/>
          <p:nvPr/>
        </p:nvSpPr>
        <p:spPr>
          <a:xfrm>
            <a:off x="5459897" y="6228533"/>
            <a:ext cx="1066800" cy="381000"/>
          </a:xfrm>
          <a:prstGeom prst="flowChartTerminator">
            <a:avLst/>
          </a:prstGeom>
          <a:noFill/>
          <a:ln w="2540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Yes</a:t>
            </a:r>
            <a:endParaRPr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299;p34"/>
          <p:cNvSpPr/>
          <p:nvPr/>
        </p:nvSpPr>
        <p:spPr>
          <a:xfrm>
            <a:off x="7613182" y="6228533"/>
            <a:ext cx="1066800" cy="381000"/>
          </a:xfrm>
          <a:prstGeom prst="flowChartTerminator">
            <a:avLst/>
          </a:prstGeom>
          <a:noFill/>
          <a:ln w="2540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</a:t>
            </a:r>
            <a:endParaRPr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07;p34"/>
          <p:cNvSpPr txBox="1"/>
          <p:nvPr/>
        </p:nvSpPr>
        <p:spPr>
          <a:xfrm>
            <a:off x="6226977" y="5614488"/>
            <a:ext cx="795020" cy="369291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Weak</a:t>
            </a:r>
            <a:endParaRPr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07;p34"/>
          <p:cNvSpPr txBox="1"/>
          <p:nvPr/>
        </p:nvSpPr>
        <p:spPr>
          <a:xfrm>
            <a:off x="7161563" y="5614287"/>
            <a:ext cx="795020" cy="369291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Strong</a:t>
            </a:r>
            <a:endParaRPr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7109996" y="403927"/>
            <a:ext cx="455728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0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Choose the one with highest Gini Gain </a:t>
            </a:r>
          </a:p>
          <a:p>
            <a:pPr algn="ctr"/>
            <a:r>
              <a:rPr lang="en-IN" sz="20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(or Lowest Gini Impurity) for root node</a:t>
            </a:r>
            <a:endParaRPr lang="en-IN" sz="20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6" name="TextBox 35"/>
              <p:cNvSpPr txBox="1"/>
              <p:nvPr/>
            </p:nvSpPr>
            <p:spPr>
              <a:xfrm>
                <a:off x="304799" y="2081135"/>
                <a:ext cx="6187335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𝐺𝑖𝑛𝑖</m:t>
                      </m:r>
                      <m:r>
                        <a:rPr lang="en-IN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IN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𝐺𝑎𝑖𝑛</m:t>
                      </m:r>
                      <m:d>
                        <m:dPr>
                          <m:ctrlPr>
                            <a:rPr lang="en-I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𝑆𝑢𝑛𝑛𝑦</m:t>
                          </m:r>
                          <m:r>
                            <a:rPr lang="en-I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 </m:t>
                          </m:r>
                          <m:r>
                            <a:rPr lang="en-I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𝑇𝑒𝑚𝑝</m:t>
                          </m:r>
                        </m:e>
                      </m:d>
                      <m:r>
                        <a:rPr lang="en-IN" sz="2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IN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0.48</m:t>
                      </m:r>
                      <m:r>
                        <a:rPr lang="en-IN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−</m:t>
                      </m:r>
                      <m:r>
                        <a:rPr lang="en-IN" sz="2000" i="1" smtClean="0">
                          <a:solidFill>
                            <a:schemeClr val="accent4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0.5333</m:t>
                      </m:r>
                      <m:r>
                        <a:rPr lang="en-IN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=−0.05333</m:t>
                      </m:r>
                    </m:oMath>
                  </m:oMathPara>
                </a14:m>
                <a:endParaRPr lang="en-IN" sz="20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36" name="TextBox 3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799" y="2081135"/>
                <a:ext cx="6187335" cy="307777"/>
              </a:xfrm>
              <a:prstGeom prst="rect">
                <a:avLst/>
              </a:prstGeom>
              <a:blipFill>
                <a:blip r:embed="rId3"/>
                <a:stretch>
                  <a:fillRect l="-493" r="-493" b="-3529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7" name="TextBox 36"/>
              <p:cNvSpPr txBox="1"/>
              <p:nvPr/>
            </p:nvSpPr>
            <p:spPr>
              <a:xfrm>
                <a:off x="158658" y="2633666"/>
                <a:ext cx="6658233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𝐺𝑖𝑛𝑖</m:t>
                      </m:r>
                      <m:r>
                        <a:rPr lang="en-IN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IN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𝐺𝑎𝑖𝑛</m:t>
                      </m:r>
                      <m:d>
                        <m:dPr>
                          <m:ctrlPr>
                            <a:rPr lang="en-I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𝑆𝑢𝑛𝑛𝑦</m:t>
                          </m:r>
                          <m:r>
                            <a:rPr lang="en-I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 </m:t>
                          </m:r>
                          <m:r>
                            <a:rPr lang="en-I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𝐻𝑢𝑚𝑖𝑑𝑖𝑡𝑦</m:t>
                          </m:r>
                        </m:e>
                      </m:d>
                      <m:r>
                        <a:rPr lang="en-IN" sz="2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IN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0.48</m:t>
                      </m:r>
                      <m:r>
                        <a:rPr lang="en-IN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−</m:t>
                      </m:r>
                      <m:r>
                        <a:rPr lang="en-IN" sz="2000" i="1" smtClean="0">
                          <a:solidFill>
                            <a:schemeClr val="accent4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0.5333</m:t>
                      </m:r>
                      <m:r>
                        <a:rPr lang="en-IN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=−0.05333</m:t>
                      </m:r>
                    </m:oMath>
                  </m:oMathPara>
                </a14:m>
                <a:endParaRPr lang="en-IN" sz="20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37" name="TextBox 3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8658" y="2633666"/>
                <a:ext cx="6658233" cy="307777"/>
              </a:xfrm>
              <a:prstGeom prst="rect">
                <a:avLst/>
              </a:prstGeom>
              <a:blipFill>
                <a:blip r:embed="rId4"/>
                <a:stretch>
                  <a:fillRect l="-366" r="-458" b="-3725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8" name="TextBox 37"/>
              <p:cNvSpPr txBox="1"/>
              <p:nvPr/>
            </p:nvSpPr>
            <p:spPr>
              <a:xfrm>
                <a:off x="304799" y="3160345"/>
                <a:ext cx="5322932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𝐺𝑖𝑛𝑖</m:t>
                      </m:r>
                      <m:r>
                        <a:rPr lang="en-IN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IN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𝐺𝑎𝑖𝑛</m:t>
                      </m:r>
                      <m:d>
                        <m:dPr>
                          <m:ctrlPr>
                            <a:rPr lang="en-I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𝑆𝑢𝑛𝑛𝑦</m:t>
                          </m:r>
                          <m:r>
                            <a:rPr lang="en-I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 </m:t>
                          </m:r>
                          <m:r>
                            <a:rPr lang="en-I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𝑊𝑖𝑛𝑑𝑦</m:t>
                          </m:r>
                        </m:e>
                      </m:d>
                      <m:r>
                        <a:rPr lang="en-IN" sz="2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IN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0.48</m:t>
                      </m:r>
                      <m:r>
                        <a:rPr lang="en-IN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−</m:t>
                      </m:r>
                      <m:r>
                        <a:rPr lang="en-IN" sz="2000" b="0" i="1" smtClean="0">
                          <a:solidFill>
                            <a:schemeClr val="accent4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</m:t>
                      </m:r>
                      <m:r>
                        <a:rPr lang="en-IN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=−0.52</m:t>
                      </m:r>
                    </m:oMath>
                  </m:oMathPara>
                </a14:m>
                <a:endParaRPr lang="en-IN" sz="20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38" name="TextBox 3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799" y="3160345"/>
                <a:ext cx="5322932" cy="307777"/>
              </a:xfrm>
              <a:prstGeom prst="rect">
                <a:avLst/>
              </a:prstGeom>
              <a:blipFill>
                <a:blip r:embed="rId5"/>
                <a:stretch>
                  <a:fillRect l="-573" r="-687" b="-3725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6745934"/>
      </p:ext>
    </p:extLst>
  </p:cSld>
  <p:clrMapOvr>
    <a:masterClrMapping/>
  </p:clrMapOvr>
  <p:transition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 animBg="1"/>
      <p:bldP spid="31" grpId="0" animBg="1"/>
      <p:bldP spid="32" grpId="0" animBg="1"/>
      <p:bldP spid="33" grpId="0" animBg="1"/>
      <p:bldP spid="34" grpId="0" animBg="1"/>
      <p:bldP spid="35" grpId="0"/>
      <p:bldP spid="36" grpId="0"/>
      <p:bldP spid="37" grpId="0"/>
      <p:bldP spid="38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35"/>
          <p:cNvSpPr txBox="1"/>
          <p:nvPr/>
        </p:nvSpPr>
        <p:spPr>
          <a:xfrm>
            <a:off x="304799" y="381000"/>
            <a:ext cx="8454189" cy="689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0" i="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Decision Tree: </a:t>
            </a:r>
            <a:r>
              <a:rPr lang="en-US" sz="4400" b="0" i="0" dirty="0" smtClea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Gini Index Rainy</a:t>
            </a:r>
            <a:endParaRPr sz="4400" b="0" i="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200524" y="2863621"/>
                <a:ext cx="9562554" cy="4717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IN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𝐺</m:t>
                    </m:r>
                    <m:d>
                      <m:dPr>
                        <m:ctrlPr>
                          <a:rPr lang="en-I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𝑅𝑎𝑖𝑛𝑦</m:t>
                        </m:r>
                        <m:r>
                          <a:rPr lang="en-I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 </m:t>
                        </m:r>
                        <m:r>
                          <a:rPr lang="en-I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𝑇𝑒𝑚𝑝</m:t>
                        </m:r>
                      </m:e>
                    </m:d>
                    <m:r>
                      <a:rPr lang="en-IN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IN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1 −[</m:t>
                    </m:r>
                    <m:d>
                      <m:dPr>
                        <m:ctrlPr>
                          <a:rPr lang="en-I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5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0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G</m:t>
                    </m:r>
                    <m:d>
                      <m:dPr>
                        <m:ctrlPr>
                          <a:rPr lang="en-I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𝑇𝑒𝑚𝑝</m:t>
                        </m:r>
                        <m:r>
                          <a:rPr lang="en-I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I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𝐻𝑜𝑡</m:t>
                        </m:r>
                      </m:e>
                    </m:d>
                    <m:r>
                      <a:rPr lang="en-IN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 </m:t>
                    </m:r>
                    <m:d>
                      <m:dPr>
                        <m:ctrlPr>
                          <a:rPr lang="en-I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a:rPr lang="en-I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5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0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G</m:t>
                    </m:r>
                    <m:d>
                      <m:dPr>
                        <m:ctrlPr>
                          <a:rPr lang="en-I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𝑇𝑒𝑚𝑝</m:t>
                        </m:r>
                        <m:r>
                          <a:rPr lang="en-I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I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𝑀𝑖𝑙𝑑</m:t>
                        </m:r>
                      </m:e>
                    </m:d>
                  </m:oMath>
                </a14:m>
                <a:r>
                  <a:rPr lang="en-IN" sz="20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+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I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5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0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G</m:t>
                    </m:r>
                    <m:d>
                      <m:dPr>
                        <m:ctrlPr>
                          <a:rPr lang="en-I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𝑇𝑒𝑚𝑝</m:t>
                        </m:r>
                        <m:r>
                          <a:rPr lang="en-I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I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𝐶𝑜𝑜𝑙</m:t>
                        </m:r>
                      </m:e>
                    </m:d>
                  </m:oMath>
                </a14:m>
                <a:r>
                  <a:rPr lang="en-IN" sz="20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]</a:t>
                </a:r>
                <a:endParaRPr lang="en-IN" sz="20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0524" y="2863621"/>
                <a:ext cx="9562554" cy="471732"/>
              </a:xfrm>
              <a:prstGeom prst="rect">
                <a:avLst/>
              </a:prstGeom>
              <a:blipFill>
                <a:blip r:embed="rId3"/>
                <a:stretch>
                  <a:fillRect t="-2597" b="-1168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200524" y="6443352"/>
                <a:ext cx="5080558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IN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𝐺𝑖𝑛𝑖</m:t>
                    </m:r>
                    <m:r>
                      <a:rPr lang="en-IN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IN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𝐺𝑎𝑖𝑛</m:t>
                    </m:r>
                    <m:d>
                      <m:dPr>
                        <m:ctrlPr>
                          <a:rPr lang="en-I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𝑅𝑎𝑖𝑛𝑦</m:t>
                        </m:r>
                        <m:r>
                          <a:rPr lang="en-I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 </m:t>
                        </m:r>
                        <m:r>
                          <a:rPr lang="en-I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𝑇𝑒𝑚𝑝</m:t>
                        </m:r>
                      </m:e>
                    </m:d>
                    <m:r>
                      <a:rPr lang="en-IN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IN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0.48</m:t>
                    </m:r>
                    <m:r>
                      <a:rPr lang="en-IN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−0.8 =</m:t>
                    </m:r>
                  </m:oMath>
                </a14:m>
                <a:r>
                  <a:rPr lang="en-IN" sz="20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0.32</a:t>
                </a:r>
                <a:endParaRPr lang="en-IN" sz="20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0524" y="6443352"/>
                <a:ext cx="5080558" cy="307777"/>
              </a:xfrm>
              <a:prstGeom prst="rect">
                <a:avLst/>
              </a:prstGeom>
              <a:blipFill>
                <a:blip r:embed="rId4"/>
                <a:stretch>
                  <a:fillRect l="-1801" t="-26000" r="-2041" b="-5000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6" name="Group 15"/>
          <p:cNvGrpSpPr/>
          <p:nvPr/>
        </p:nvGrpSpPr>
        <p:grpSpPr>
          <a:xfrm>
            <a:off x="457251" y="1224927"/>
            <a:ext cx="4114075" cy="1003652"/>
            <a:chOff x="858513" y="2454779"/>
            <a:chExt cx="4114075" cy="100365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TextBox 16"/>
                <p:cNvSpPr txBox="1"/>
                <p:nvPr/>
              </p:nvSpPr>
              <p:spPr>
                <a:xfrm>
                  <a:off x="858513" y="2937006"/>
                  <a:ext cx="4114075" cy="521425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en-IN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𝐺</m:t>
                      </m:r>
                      <m:d>
                        <m:dPr>
                          <m:ctrlPr>
                            <a:rPr lang="en-I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𝑅𝑎𝑖𝑛𝑦</m:t>
                          </m:r>
                        </m:e>
                      </m:d>
                      <m:r>
                        <a:rPr lang="en-IN" sz="2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IN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1− [</m:t>
                      </m:r>
                      <m:sSup>
                        <m:sSupPr>
                          <m:ctrlPr>
                            <a:rPr lang="en-I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IN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IN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IN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num>
                                <m:den>
                                  <m:r>
                                    <a:rPr lang="en-IN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5</m:t>
                                  </m:r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en-I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a14:m>
                  <a:r>
                    <a:rPr lang="en-IN" sz="2000" dirty="0" smtClean="0">
                      <a:latin typeface="Cambria Math" panose="02040503050406030204" pitchFamily="18" charset="0"/>
                      <a:ea typeface="Cambria Math" panose="02040503050406030204" pitchFamily="18" charset="0"/>
                    </a:rPr>
                    <a:t> +</a:t>
                  </a:r>
                  <a14:m>
                    <m:oMath xmlns:m="http://schemas.openxmlformats.org/officeDocument/2006/math">
                      <m:sSup>
                        <m:sSupPr>
                          <m:ctrlPr>
                            <a:rPr lang="en-I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IN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IN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IN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3</m:t>
                                  </m:r>
                                </m:num>
                                <m:den>
                                  <m:r>
                                    <a:rPr lang="en-IN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5</m:t>
                                  </m:r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en-I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IN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]=</m:t>
                      </m:r>
                      <m:r>
                        <a:rPr lang="en-IN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0.48</m:t>
                      </m:r>
                    </m:oMath>
                  </a14:m>
                  <a:endParaRPr lang="en-IN" sz="2000" dirty="0">
                    <a:latin typeface="Cambria Math" panose="02040503050406030204" pitchFamily="18" charset="0"/>
                    <a:ea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17" name="TextBox 1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58513" y="2937006"/>
                  <a:ext cx="4114075" cy="521425"/>
                </a:xfrm>
                <a:prstGeom prst="rect">
                  <a:avLst/>
                </a:prstGeom>
                <a:blipFill>
                  <a:blip r:embed="rId5"/>
                  <a:stretch>
                    <a:fillRect b="-12791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8" name="TextBox 17"/>
            <p:cNvSpPr txBox="1"/>
            <p:nvPr/>
          </p:nvSpPr>
          <p:spPr>
            <a:xfrm>
              <a:off x="863561" y="2454779"/>
              <a:ext cx="3342582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sz="2000" dirty="0" smtClean="0">
                  <a:latin typeface="Cambria Math" panose="02040503050406030204" pitchFamily="18" charset="0"/>
                  <a:ea typeface="Cambria Math" panose="02040503050406030204" pitchFamily="18" charset="0"/>
                </a:rPr>
                <a:t>Entropy of the Class Variable</a:t>
              </a:r>
              <a:endParaRPr lang="en-IN" sz="2000" dirty="0">
                <a:latin typeface="Cambria Math" panose="02040503050406030204" pitchFamily="18" charset="0"/>
                <a:ea typeface="Cambria Math" panose="02040503050406030204" pitchFamily="18" charset="0"/>
              </a:endParaRPr>
            </a:p>
          </p:txBody>
        </p:sp>
      </p:grp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26253423"/>
              </p:ext>
            </p:extLst>
          </p:nvPr>
        </p:nvGraphicFramePr>
        <p:xfrm>
          <a:off x="8655848" y="4166018"/>
          <a:ext cx="3198801" cy="2333625"/>
        </p:xfrm>
        <a:graphic>
          <a:graphicData uri="http://schemas.openxmlformats.org/drawingml/2006/table">
            <a:tbl>
              <a:tblPr firstRow="1" bandRow="1">
                <a:tableStyleId>{AE0CDCE9-8EFF-456A-BFA7-76C2DBC4E188}</a:tableStyleId>
              </a:tblPr>
              <a:tblGrid>
                <a:gridCol w="608692">
                  <a:extLst>
                    <a:ext uri="{9D8B030D-6E8A-4147-A177-3AD203B41FA5}">
                      <a16:colId xmlns:a16="http://schemas.microsoft.com/office/drawing/2014/main" val="499045635"/>
                    </a:ext>
                  </a:extLst>
                </a:gridCol>
                <a:gridCol w="836951">
                  <a:extLst>
                    <a:ext uri="{9D8B030D-6E8A-4147-A177-3AD203B41FA5}">
                      <a16:colId xmlns:a16="http://schemas.microsoft.com/office/drawing/2014/main" val="2848572611"/>
                    </a:ext>
                  </a:extLst>
                </a:gridCol>
                <a:gridCol w="979613">
                  <a:extLst>
                    <a:ext uri="{9D8B030D-6E8A-4147-A177-3AD203B41FA5}">
                      <a16:colId xmlns:a16="http://schemas.microsoft.com/office/drawing/2014/main" val="2091255436"/>
                    </a:ext>
                  </a:extLst>
                </a:gridCol>
                <a:gridCol w="773545">
                  <a:extLst>
                    <a:ext uri="{9D8B030D-6E8A-4147-A177-3AD203B41FA5}">
                      <a16:colId xmlns:a16="http://schemas.microsoft.com/office/drawing/2014/main" val="2610096856"/>
                    </a:ext>
                  </a:extLst>
                </a:gridCol>
              </a:tblGrid>
              <a:tr h="333375">
                <a:tc gridSpan="4">
                  <a:txBody>
                    <a:bodyPr/>
                    <a:lstStyle/>
                    <a:p>
                      <a:pPr algn="ctr" rtl="0" fontAlgn="ctr"/>
                      <a:r>
                        <a:rPr lang="en-IN" sz="2000" u="none" strike="noStrike">
                          <a:effectLst/>
                        </a:rPr>
                        <a:t>Temperature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43547370"/>
                  </a:ext>
                </a:extLst>
              </a:tr>
              <a:tr h="333375">
                <a:tc>
                  <a:txBody>
                    <a:bodyPr/>
                    <a:lstStyle/>
                    <a:p>
                      <a:pPr algn="l" fontAlgn="ctr"/>
                      <a:r>
                        <a:rPr lang="en-IN" sz="1800" u="none" strike="noStrike">
                          <a:effectLst/>
                        </a:rPr>
                        <a:t> 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2000" u="none" strike="noStrike">
                          <a:effectLst/>
                        </a:rPr>
                        <a:t>Yes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2000" u="none" strike="noStrike">
                          <a:effectLst/>
                        </a:rPr>
                        <a:t>No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2000" u="none" strike="noStrike">
                          <a:effectLst/>
                        </a:rPr>
                        <a:t>Count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4138115463"/>
                  </a:ext>
                </a:extLst>
              </a:tr>
              <a:tr h="33337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2000" u="none" strike="noStrike">
                          <a:effectLst/>
                        </a:rPr>
                        <a:t>Hot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2000" u="none" strike="noStrike">
                          <a:effectLst/>
                        </a:rPr>
                        <a:t>0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2000" u="none" strike="noStrike">
                          <a:effectLst/>
                        </a:rPr>
                        <a:t>2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2000" u="none" strike="noStrike">
                          <a:effectLst/>
                        </a:rPr>
                        <a:t>2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601540512"/>
                  </a:ext>
                </a:extLst>
              </a:tr>
              <a:tr h="33337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2000" u="none" strike="noStrike">
                          <a:effectLst/>
                        </a:rPr>
                        <a:t>Mild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2000" u="none" strike="noStrike">
                          <a:effectLst/>
                        </a:rPr>
                        <a:t>1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2000" u="none" strike="noStrike">
                          <a:effectLst/>
                        </a:rPr>
                        <a:t>1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2000" u="none" strike="noStrike">
                          <a:effectLst/>
                        </a:rPr>
                        <a:t>2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614017863"/>
                  </a:ext>
                </a:extLst>
              </a:tr>
              <a:tr h="33337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2000" u="none" strike="noStrike">
                          <a:effectLst/>
                        </a:rPr>
                        <a:t>Cool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2000" u="none" strike="noStrike">
                          <a:effectLst/>
                        </a:rPr>
                        <a:t>1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2000" u="none" strike="noStrike">
                          <a:effectLst/>
                        </a:rPr>
                        <a:t>0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2000" u="none" strike="noStrike">
                          <a:effectLst/>
                        </a:rPr>
                        <a:t>1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1180956"/>
                  </a:ext>
                </a:extLst>
              </a:tr>
              <a:tr h="66675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2000" u="none" strike="noStrike">
                          <a:effectLst/>
                        </a:rPr>
                        <a:t>Total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2000" u="none" strike="noStrike">
                          <a:effectLst/>
                        </a:rPr>
                        <a:t>2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2000" u="none" strike="noStrike">
                          <a:effectLst/>
                        </a:rPr>
                        <a:t>3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2000" u="none" strike="noStrike" dirty="0">
                          <a:effectLst/>
                        </a:rPr>
                        <a:t>100%</a:t>
                      </a:r>
                      <a:endParaRPr lang="en-IN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224085127"/>
                  </a:ext>
                </a:extLst>
              </a:tr>
            </a:tbl>
          </a:graphicData>
        </a:graphic>
      </p:graphicFrame>
      <p:grpSp>
        <p:nvGrpSpPr>
          <p:cNvPr id="3" name="Group 2"/>
          <p:cNvGrpSpPr/>
          <p:nvPr/>
        </p:nvGrpSpPr>
        <p:grpSpPr>
          <a:xfrm>
            <a:off x="304799" y="3641614"/>
            <a:ext cx="6456776" cy="2668905"/>
            <a:chOff x="200524" y="3861487"/>
            <a:chExt cx="6456776" cy="2668905"/>
          </a:xfrm>
        </p:grpSpPr>
        <p:grpSp>
          <p:nvGrpSpPr>
            <p:cNvPr id="7" name="Group 6"/>
            <p:cNvGrpSpPr/>
            <p:nvPr/>
          </p:nvGrpSpPr>
          <p:grpSpPr>
            <a:xfrm>
              <a:off x="200524" y="3861487"/>
              <a:ext cx="6456776" cy="1736582"/>
              <a:chOff x="864201" y="3715231"/>
              <a:chExt cx="6456776" cy="1736582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1" name="TextBox 10"/>
                  <p:cNvSpPr txBox="1"/>
                  <p:nvPr/>
                </p:nvSpPr>
                <p:spPr>
                  <a:xfrm>
                    <a:off x="864201" y="3715231"/>
                    <a:ext cx="5394875" cy="804259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I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𝐺</m:t>
                          </m:r>
                          <m:d>
                            <m:dPr>
                              <m:ctrlPr>
                                <a:rPr lang="en-IN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IN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𝑅𝑎𝑖𝑛𝑦</m:t>
                              </m:r>
                              <m:r>
                                <a:rPr lang="en-IN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a:rPr lang="en-IN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𝑇𝑒𝑚𝑝</m:t>
                              </m:r>
                            </m:e>
                          </m:d>
                          <m:r>
                            <a:rPr lang="en-I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=1 −</m:t>
                          </m:r>
                          <m:d>
                            <m:dPr>
                              <m:ctrlPr>
                                <a:rPr lang="en-IN" sz="20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IN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IN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num>
                                <m:den>
                                  <m:r>
                                    <a:rPr lang="en-IN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5</m:t>
                                  </m:r>
                                </m:den>
                              </m:f>
                            </m:e>
                          </m:d>
                          <m:d>
                            <m:dPr>
                              <m:ctrlPr>
                                <a:rPr lang="en-IN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IN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1 −</m:t>
                              </m:r>
                              <m:sSup>
                                <m:sSupPr>
                                  <m:ctrlPr>
                                    <a:rPr lang="en-IN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IN" sz="20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f>
                                        <m:fPr>
                                          <m:ctrlPr>
                                            <a:rPr lang="en-IN" sz="20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a:rPr lang="en-IN" sz="2000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0</m:t>
                                          </m:r>
                                        </m:num>
                                        <m:den>
                                          <m:r>
                                            <a:rPr lang="en-IN" sz="2000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den>
                                      </m:f>
                                    </m:e>
                                  </m:d>
                                </m:e>
                                <m:sup>
                                  <m:r>
                                    <a:rPr lang="en-IN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m:rPr>
                                  <m:nor/>
                                </m:rPr>
                                <a:rPr lang="en-IN" sz="2000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en-IN" sz="2000" b="0" i="0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 </m:t>
                              </m:r>
                              <m:sSup>
                                <m:sSupPr>
                                  <m:ctrlPr>
                                    <a:rPr lang="en-IN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IN" sz="20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f>
                                        <m:fPr>
                                          <m:ctrlPr>
                                            <a:rPr lang="en-IN" sz="20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a:rPr lang="en-IN" sz="2000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num>
                                        <m:den>
                                          <m:r>
                                            <a:rPr lang="en-IN" sz="2000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den>
                                      </m:f>
                                    </m:e>
                                  </m:d>
                                </m:e>
                                <m:sup>
                                  <m:r>
                                    <a:rPr lang="en-IN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d>
                        </m:oMath>
                      </m:oMathPara>
                    </a14:m>
                    <a:endParaRPr lang="en-IN" sz="2000" dirty="0">
                      <a:latin typeface="Cambria Math" panose="02040503050406030204" pitchFamily="18" charset="0"/>
                      <a:ea typeface="Cambria Math" panose="020405030504060302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11" name="TextBox 10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64201" y="3715231"/>
                    <a:ext cx="5394875" cy="804259"/>
                  </a:xfrm>
                  <a:prstGeom prst="rect">
                    <a:avLst/>
                  </a:prstGeom>
                  <a:blipFill>
                    <a:blip r:embed="rId6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IN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2" name="TextBox 11"/>
                  <p:cNvSpPr txBox="1"/>
                  <p:nvPr/>
                </p:nvSpPr>
                <p:spPr>
                  <a:xfrm>
                    <a:off x="3264448" y="4647554"/>
                    <a:ext cx="2877326" cy="804259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I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d>
                            <m:dPr>
                              <m:ctrlPr>
                                <a:rPr lang="en-IN" sz="20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IN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IN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num>
                                <m:den>
                                  <m:r>
                                    <a:rPr lang="en-IN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5</m:t>
                                  </m:r>
                                </m:den>
                              </m:f>
                            </m:e>
                          </m:d>
                          <m:d>
                            <m:dPr>
                              <m:ctrlPr>
                                <a:rPr lang="en-IN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IN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1 −</m:t>
                              </m:r>
                              <m:sSup>
                                <m:sSupPr>
                                  <m:ctrlPr>
                                    <a:rPr lang="en-IN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IN" sz="20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f>
                                        <m:fPr>
                                          <m:ctrlPr>
                                            <a:rPr lang="en-IN" sz="20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a:rPr lang="en-IN" sz="2000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num>
                                        <m:den>
                                          <m:r>
                                            <a:rPr lang="en-IN" sz="2000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den>
                                      </m:f>
                                    </m:e>
                                  </m:d>
                                </m:e>
                                <m:sup>
                                  <m:r>
                                    <a:rPr lang="en-IN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m:rPr>
                                  <m:nor/>
                                </m:rPr>
                                <a:rPr lang="en-IN" sz="2000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en-IN" sz="2000" b="0" i="0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m:rPr>
                                  <m:nor/>
                                </m:rPr>
                                <a:rPr lang="en-IN" sz="2000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sSup>
                                <m:sSupPr>
                                  <m:ctrlPr>
                                    <a:rPr lang="en-IN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IN" sz="20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f>
                                        <m:fPr>
                                          <m:ctrlPr>
                                            <a:rPr lang="en-IN" sz="20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a:rPr lang="en-IN" sz="2000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num>
                                        <m:den>
                                          <m:r>
                                            <a:rPr lang="en-IN" sz="2000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den>
                                      </m:f>
                                    </m:e>
                                  </m:d>
                                </m:e>
                                <m:sup>
                                  <m:r>
                                    <a:rPr lang="en-IN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d>
                        </m:oMath>
                      </m:oMathPara>
                    </a14:m>
                    <a:endParaRPr lang="en-IN" sz="2000" dirty="0">
                      <a:latin typeface="Cambria Math" panose="02040503050406030204" pitchFamily="18" charset="0"/>
                      <a:ea typeface="Cambria Math" panose="020405030504060302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12" name="TextBox 11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264448" y="4647554"/>
                    <a:ext cx="2877326" cy="804259"/>
                  </a:xfrm>
                  <a:prstGeom prst="rect">
                    <a:avLst/>
                  </a:prstGeom>
                  <a:blipFill>
                    <a:blip r:embed="rId7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IN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" name="Rectangle 4"/>
                  <p:cNvSpPr/>
                  <p:nvPr/>
                </p:nvSpPr>
                <p:spPr>
                  <a:xfrm>
                    <a:off x="6493506" y="4801871"/>
                    <a:ext cx="827471" cy="400110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14:m>
                      <m:oMath xmlns:m="http://schemas.openxmlformats.org/officeDocument/2006/math">
                        <m:r>
                          <a:rPr lang="en-IN" sz="2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</m:t>
                        </m:r>
                      </m:oMath>
                    </a14:m>
                    <a:r>
                      <a:rPr lang="en-IN" sz="2000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a:t>  0.8</a:t>
                    </a:r>
                    <a:endParaRPr lang="en-IN" sz="2000" dirty="0">
                      <a:latin typeface="Cambria Math" panose="02040503050406030204" pitchFamily="18" charset="0"/>
                      <a:ea typeface="Cambria Math" panose="020405030504060302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5" name="Rectangle 4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493506" y="4801871"/>
                    <a:ext cx="827471" cy="400110"/>
                  </a:xfrm>
                  <a:prstGeom prst="rect">
                    <a:avLst/>
                  </a:prstGeom>
                  <a:blipFill>
                    <a:blip r:embed="rId8"/>
                    <a:stretch>
                      <a:fillRect t="-9231" r="-6618" b="-27692"/>
                    </a:stretch>
                  </a:blipFill>
                </p:spPr>
                <p:txBody>
                  <a:bodyPr/>
                  <a:lstStyle/>
                  <a:p>
                    <a:r>
                      <a:rPr lang="en-IN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TextBox 14"/>
                <p:cNvSpPr txBox="1"/>
                <p:nvPr/>
              </p:nvSpPr>
              <p:spPr>
                <a:xfrm>
                  <a:off x="2600770" y="5726133"/>
                  <a:ext cx="2877326" cy="80425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I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d>
                          <m:dPr>
                            <m:ctrlPr>
                              <a:rPr lang="en-IN" sz="20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IN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IN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5</m:t>
                                </m:r>
                              </m:den>
                            </m:f>
                          </m:e>
                        </m:d>
                        <m:d>
                          <m:dPr>
                            <m:ctrlP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1 −</m:t>
                            </m:r>
                            <m:sSup>
                              <m:sSupPr>
                                <m:ctrlPr>
                                  <a:rPr lang="en-IN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en-IN" sz="20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ctrlPr>
                                          <a:rPr lang="en-IN" sz="20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IN" sz="20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num>
                                      <m:den>
                                        <m:r>
                                          <a:rPr lang="en-IN" sz="20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den>
                                    </m:f>
                                  </m:e>
                                </m:d>
                              </m:e>
                              <m:sup>
                                <m:r>
                                  <a:rPr lang="en-IN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nor/>
                              </m:rPr>
                              <a:rPr lang="en-IN" sz="2000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</m:t>
                            </m:r>
                            <m:r>
                              <m:rPr>
                                <m:nor/>
                              </m:rPr>
                              <a:rPr lang="en-IN" sz="2000" b="0" i="0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  <m:r>
                              <m:rPr>
                                <m:nor/>
                              </m:rPr>
                              <a:rPr lang="en-IN" sz="2000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</m:t>
                            </m:r>
                            <m:sSup>
                              <m:sSupPr>
                                <m:ctrlPr>
                                  <a:rPr lang="en-IN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en-IN" sz="20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ctrlPr>
                                          <a:rPr lang="en-IN" sz="20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IN" sz="20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num>
                                      <m:den>
                                        <m:r>
                                          <a:rPr lang="en-IN" sz="20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den>
                                    </m:f>
                                  </m:e>
                                </m:d>
                              </m:e>
                              <m:sup>
                                <m:r>
                                  <a:rPr lang="en-IN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d>
                      </m:oMath>
                    </m:oMathPara>
                  </a14:m>
                  <a:endParaRPr lang="en-IN" sz="2000" dirty="0">
                    <a:latin typeface="Cambria Math" panose="02040503050406030204" pitchFamily="18" charset="0"/>
                    <a:ea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15" name="TextBox 1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00770" y="5726133"/>
                  <a:ext cx="2877326" cy="804259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1023224773"/>
      </p:ext>
    </p:extLst>
  </p:cSld>
  <p:clrMapOvr>
    <a:masterClrMapping/>
  </p:clrMapOvr>
  <p:transition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35"/>
          <p:cNvSpPr txBox="1"/>
          <p:nvPr/>
        </p:nvSpPr>
        <p:spPr>
          <a:xfrm>
            <a:off x="304799" y="381000"/>
            <a:ext cx="8454189" cy="689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0" i="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Decision Tree: </a:t>
            </a:r>
            <a:r>
              <a:rPr lang="en-US" sz="4400" b="0" i="0" dirty="0" smtClea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Gini Index Rainy</a:t>
            </a:r>
            <a:endParaRPr sz="4400" b="0" i="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176463" y="2911978"/>
                <a:ext cx="8940140" cy="46063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IN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𝐺</m:t>
                    </m:r>
                    <m:d>
                      <m:dPr>
                        <m:ctrlPr>
                          <a:rPr lang="en-I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𝑅𝑎𝑖𝑛𝑦</m:t>
                        </m:r>
                        <m:r>
                          <a:rPr lang="en-I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 </m:t>
                        </m:r>
                        <m:r>
                          <a:rPr lang="en-I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𝐻𝑢𝑚𝑖𝑑𝑖𝑡𝑦</m:t>
                        </m:r>
                      </m:e>
                    </m:d>
                    <m:r>
                      <a:rPr lang="en-IN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IN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1 −[</m:t>
                    </m:r>
                    <m:d>
                      <m:dPr>
                        <m:ctrlPr>
                          <a:rPr lang="en-I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I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I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5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0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G</m:t>
                    </m:r>
                    <m:d>
                      <m:dPr>
                        <m:ctrlPr>
                          <a:rPr lang="en-I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𝐻𝑢𝑚𝑖𝑑𝑖𝑡𝑦</m:t>
                        </m:r>
                        <m:r>
                          <a:rPr lang="en-I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I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𝐻𝑖𝑔h</m:t>
                        </m:r>
                      </m:e>
                    </m:d>
                  </m:oMath>
                </a14:m>
                <a:r>
                  <a:rPr lang="en-IN" sz="20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+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I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a:rPr lang="en-I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5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0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G</m:t>
                    </m:r>
                    <m:d>
                      <m:dPr>
                        <m:ctrlPr>
                          <a:rPr lang="en-I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𝐻𝑢𝑚𝑖𝑑𝑖𝑡𝑦</m:t>
                        </m:r>
                        <m:r>
                          <a:rPr lang="en-I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I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𝑁𝑜𝑟𝑚𝑎𝑙</m:t>
                        </m:r>
                      </m:e>
                    </m:d>
                  </m:oMath>
                </a14:m>
                <a:r>
                  <a:rPr lang="en-IN" sz="20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]</a:t>
                </a:r>
                <a:endParaRPr lang="en-IN" sz="20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63" y="2911978"/>
                <a:ext cx="8940140" cy="460639"/>
              </a:xfrm>
              <a:prstGeom prst="rect">
                <a:avLst/>
              </a:prstGeom>
              <a:blipFill>
                <a:blip r:embed="rId3"/>
                <a:stretch>
                  <a:fillRect t="-2667" r="-1636" b="-1466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7" name="Group 6"/>
          <p:cNvGrpSpPr/>
          <p:nvPr/>
        </p:nvGrpSpPr>
        <p:grpSpPr>
          <a:xfrm>
            <a:off x="176463" y="4056016"/>
            <a:ext cx="6562532" cy="1878757"/>
            <a:chOff x="864201" y="3715231"/>
            <a:chExt cx="6562532" cy="187875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TextBox 10"/>
                <p:cNvSpPr txBox="1"/>
                <p:nvPr/>
              </p:nvSpPr>
              <p:spPr>
                <a:xfrm>
                  <a:off x="864201" y="3715231"/>
                  <a:ext cx="5865773" cy="80425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I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𝐺</m:t>
                        </m:r>
                        <m:d>
                          <m:dPr>
                            <m:ctrlP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𝑅𝑎𝑖𝑛𝑦</m:t>
                            </m:r>
                            <m: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𝐻𝑢𝑚𝑖𝑑𝑖𝑡𝑦</m:t>
                            </m:r>
                          </m:e>
                        </m:d>
                        <m:r>
                          <a:rPr lang="en-I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=1 −</m:t>
                        </m:r>
                        <m:d>
                          <m:dPr>
                            <m:ctrlPr>
                              <a:rPr lang="en-IN" sz="20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IN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3</m:t>
                                </m:r>
                              </m:num>
                              <m:den>
                                <m:r>
                                  <a:rPr lang="en-IN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5</m:t>
                                </m:r>
                              </m:den>
                            </m:f>
                          </m:e>
                        </m:d>
                        <m:d>
                          <m:dPr>
                            <m:ctrlP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1 −</m:t>
                            </m:r>
                            <m:sSup>
                              <m:sSupPr>
                                <m:ctrlPr>
                                  <a:rPr lang="en-IN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en-IN" sz="20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ctrlPr>
                                          <a:rPr lang="en-IN" sz="20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IN" sz="20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num>
                                      <m:den>
                                        <m:r>
                                          <a:rPr lang="en-IN" sz="20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den>
                                    </m:f>
                                  </m:e>
                                </m:d>
                              </m:e>
                              <m:sup>
                                <m:r>
                                  <a:rPr lang="en-IN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nor/>
                              </m:rPr>
                              <a:rPr lang="en-IN" sz="2000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</m:t>
                            </m:r>
                            <m:r>
                              <m:rPr>
                                <m:nor/>
                              </m:rPr>
                              <a:rPr lang="en-IN" sz="2000" b="0" i="0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 </m:t>
                            </m:r>
                            <m:sSup>
                              <m:sSupPr>
                                <m:ctrlPr>
                                  <a:rPr lang="en-IN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en-IN" sz="20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ctrlPr>
                                          <a:rPr lang="en-IN" sz="20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IN" sz="20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num>
                                      <m:den>
                                        <m:r>
                                          <a:rPr lang="en-IN" sz="20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den>
                                    </m:f>
                                  </m:e>
                                </m:d>
                              </m:e>
                              <m:sup>
                                <m:r>
                                  <a:rPr lang="en-IN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d>
                      </m:oMath>
                    </m:oMathPara>
                  </a14:m>
                  <a:endParaRPr lang="en-IN" sz="2000" dirty="0">
                    <a:latin typeface="Cambria Math" panose="02040503050406030204" pitchFamily="18" charset="0"/>
                    <a:ea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11" name="TextBox 1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64201" y="3715231"/>
                  <a:ext cx="5865773" cy="804259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TextBox 11"/>
                <p:cNvSpPr txBox="1"/>
                <p:nvPr/>
              </p:nvSpPr>
              <p:spPr>
                <a:xfrm>
                  <a:off x="3631463" y="4789729"/>
                  <a:ext cx="2877326" cy="80425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I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d>
                          <m:dPr>
                            <m:ctrlPr>
                              <a:rPr lang="en-IN" sz="20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IN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num>
                              <m:den>
                                <m:r>
                                  <a:rPr lang="en-IN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5</m:t>
                                </m:r>
                              </m:den>
                            </m:f>
                          </m:e>
                        </m:d>
                        <m:d>
                          <m:dPr>
                            <m:ctrlP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1 −</m:t>
                            </m:r>
                            <m:sSup>
                              <m:sSupPr>
                                <m:ctrlPr>
                                  <a:rPr lang="en-IN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en-IN" sz="20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ctrlPr>
                                          <a:rPr lang="en-IN" sz="20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IN" sz="20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num>
                                      <m:den>
                                        <m:r>
                                          <a:rPr lang="en-IN" sz="20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den>
                                    </m:f>
                                  </m:e>
                                </m:d>
                              </m:e>
                              <m:sup>
                                <m:r>
                                  <a:rPr lang="en-IN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nor/>
                              </m:rPr>
                              <a:rPr lang="en-IN" sz="2000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</m:t>
                            </m:r>
                            <m:r>
                              <m:rPr>
                                <m:nor/>
                              </m:rPr>
                              <a:rPr lang="en-IN" sz="2000" b="0" i="0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  <m:r>
                              <m:rPr>
                                <m:nor/>
                              </m:rPr>
                              <a:rPr lang="en-IN" sz="2000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</m:t>
                            </m:r>
                            <m:sSup>
                              <m:sSupPr>
                                <m:ctrlPr>
                                  <a:rPr lang="en-IN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en-IN" sz="20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ctrlPr>
                                          <a:rPr lang="en-IN" sz="20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IN" sz="20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num>
                                      <m:den>
                                        <m:r>
                                          <a:rPr lang="en-IN" sz="20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den>
                                    </m:f>
                                  </m:e>
                                </m:d>
                              </m:e>
                              <m:sup>
                                <m:r>
                                  <a:rPr lang="en-IN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d>
                      </m:oMath>
                    </m:oMathPara>
                  </a14:m>
                  <a:endParaRPr lang="en-IN" sz="2000" dirty="0">
                    <a:latin typeface="Cambria Math" panose="02040503050406030204" pitchFamily="18" charset="0"/>
                    <a:ea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12" name="TextBox 1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31463" y="4789729"/>
                  <a:ext cx="2877326" cy="804259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Rectangle 4"/>
                <p:cNvSpPr/>
                <p:nvPr/>
              </p:nvSpPr>
              <p:spPr>
                <a:xfrm>
                  <a:off x="6723592" y="4487883"/>
                  <a:ext cx="703141" cy="40011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IN" sz="2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</m:t>
                        </m:r>
                        <m:r>
                          <a:rPr lang="en-I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1 </m:t>
                        </m:r>
                      </m:oMath>
                    </m:oMathPara>
                  </a14:m>
                  <a:endParaRPr lang="en-IN" sz="2000" dirty="0">
                    <a:latin typeface="Cambria Math" panose="02040503050406030204" pitchFamily="18" charset="0"/>
                    <a:ea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5" name="Rectangle 4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23592" y="4487883"/>
                  <a:ext cx="703141" cy="400110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230162" y="6496453"/>
                <a:ext cx="5532925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𝐺𝑖𝑛𝑖</m:t>
                      </m:r>
                      <m:r>
                        <a:rPr lang="en-IN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IN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𝐺𝑎𝑖𝑛</m:t>
                      </m:r>
                      <m:d>
                        <m:dPr>
                          <m:ctrlPr>
                            <a:rPr lang="en-I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𝑅𝑎𝑖𝑛𝑦</m:t>
                          </m:r>
                          <m:r>
                            <a:rPr lang="en-I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I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𝐻𝑢𝑚𝑖𝑑𝑖𝑡𝑦</m:t>
                          </m:r>
                        </m:e>
                      </m:d>
                      <m:r>
                        <a:rPr lang="en-IN" sz="2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IN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0.48</m:t>
                      </m:r>
                      <m:r>
                        <a:rPr lang="en-IN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−1 =− 0.2</m:t>
                      </m:r>
                    </m:oMath>
                  </m:oMathPara>
                </a14:m>
                <a:endParaRPr lang="en-IN" sz="20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0162" y="6496453"/>
                <a:ext cx="5532925" cy="307777"/>
              </a:xfrm>
              <a:prstGeom prst="rect">
                <a:avLst/>
              </a:prstGeom>
              <a:blipFill>
                <a:blip r:embed="rId7"/>
                <a:stretch>
                  <a:fillRect l="-662" r="-662" b="-3800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6" name="Group 15"/>
          <p:cNvGrpSpPr/>
          <p:nvPr/>
        </p:nvGrpSpPr>
        <p:grpSpPr>
          <a:xfrm>
            <a:off x="457251" y="1224927"/>
            <a:ext cx="4157357" cy="1003652"/>
            <a:chOff x="858513" y="2454779"/>
            <a:chExt cx="4157357" cy="100365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TextBox 16"/>
                <p:cNvSpPr txBox="1"/>
                <p:nvPr/>
              </p:nvSpPr>
              <p:spPr>
                <a:xfrm>
                  <a:off x="858513" y="2937006"/>
                  <a:ext cx="4157357" cy="521425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en-IN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𝐺</m:t>
                      </m:r>
                      <m:d>
                        <m:dPr>
                          <m:ctrlPr>
                            <a:rPr lang="en-I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𝑅𝑎𝑖𝑛𝑦</m:t>
                          </m:r>
                        </m:e>
                      </m:d>
                      <m:r>
                        <a:rPr lang="en-IN" sz="2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IN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1− [</m:t>
                      </m:r>
                      <m:sSup>
                        <m:sSupPr>
                          <m:ctrlPr>
                            <a:rPr lang="en-I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IN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IN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IN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num>
                                <m:den>
                                  <m:r>
                                    <a:rPr lang="en-IN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5</m:t>
                                  </m:r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en-I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a14:m>
                  <a:r>
                    <a:rPr lang="en-IN" sz="2000" dirty="0" smtClean="0">
                      <a:latin typeface="Cambria Math" panose="02040503050406030204" pitchFamily="18" charset="0"/>
                      <a:ea typeface="Cambria Math" panose="02040503050406030204" pitchFamily="18" charset="0"/>
                    </a:rPr>
                    <a:t> +</a:t>
                  </a:r>
                  <a14:m>
                    <m:oMath xmlns:m="http://schemas.openxmlformats.org/officeDocument/2006/math">
                      <m:sSup>
                        <m:sSupPr>
                          <m:ctrlPr>
                            <a:rPr lang="en-I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IN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IN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IN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3</m:t>
                                  </m:r>
                                </m:num>
                                <m:den>
                                  <m:r>
                                    <a:rPr lang="en-IN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5</m:t>
                                  </m:r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en-I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IN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]=0.48</m:t>
                      </m:r>
                    </m:oMath>
                  </a14:m>
                  <a:endParaRPr lang="en-IN" sz="2000" dirty="0">
                    <a:latin typeface="Cambria Math" panose="02040503050406030204" pitchFamily="18" charset="0"/>
                    <a:ea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17" name="TextBox 1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58513" y="2937006"/>
                  <a:ext cx="4157357" cy="521425"/>
                </a:xfrm>
                <a:prstGeom prst="rect">
                  <a:avLst/>
                </a:prstGeom>
                <a:blipFill>
                  <a:blip r:embed="rId8"/>
                  <a:stretch>
                    <a:fillRect b="-12791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8" name="TextBox 17"/>
            <p:cNvSpPr txBox="1"/>
            <p:nvPr/>
          </p:nvSpPr>
          <p:spPr>
            <a:xfrm>
              <a:off x="863561" y="2454779"/>
              <a:ext cx="3342582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sz="2000" dirty="0" smtClean="0">
                  <a:latin typeface="Cambria Math" panose="02040503050406030204" pitchFamily="18" charset="0"/>
                  <a:ea typeface="Cambria Math" panose="02040503050406030204" pitchFamily="18" charset="0"/>
                </a:rPr>
                <a:t>Entropy of the Class Variable</a:t>
              </a:r>
              <a:endParaRPr lang="en-IN" sz="2000" dirty="0">
                <a:latin typeface="Cambria Math" panose="02040503050406030204" pitchFamily="18" charset="0"/>
                <a:ea typeface="Cambria Math" panose="02040503050406030204" pitchFamily="18" charset="0"/>
              </a:endParaRPr>
            </a:p>
          </p:txBody>
        </p:sp>
      </p:grp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10767584"/>
              </p:ext>
            </p:extLst>
          </p:nvPr>
        </p:nvGraphicFramePr>
        <p:xfrm>
          <a:off x="8647282" y="4316716"/>
          <a:ext cx="3198801" cy="2333625"/>
        </p:xfrm>
        <a:graphic>
          <a:graphicData uri="http://schemas.openxmlformats.org/drawingml/2006/table">
            <a:tbl>
              <a:tblPr firstRow="1" bandRow="1">
                <a:tableStyleId>{AE0CDCE9-8EFF-456A-BFA7-76C2DBC4E188}</a:tableStyleId>
              </a:tblPr>
              <a:tblGrid>
                <a:gridCol w="798559">
                  <a:extLst>
                    <a:ext uri="{9D8B030D-6E8A-4147-A177-3AD203B41FA5}">
                      <a16:colId xmlns:a16="http://schemas.microsoft.com/office/drawing/2014/main" val="4147604764"/>
                    </a:ext>
                  </a:extLst>
                </a:gridCol>
                <a:gridCol w="647084">
                  <a:extLst>
                    <a:ext uri="{9D8B030D-6E8A-4147-A177-3AD203B41FA5}">
                      <a16:colId xmlns:a16="http://schemas.microsoft.com/office/drawing/2014/main" val="179261868"/>
                    </a:ext>
                  </a:extLst>
                </a:gridCol>
                <a:gridCol w="979613">
                  <a:extLst>
                    <a:ext uri="{9D8B030D-6E8A-4147-A177-3AD203B41FA5}">
                      <a16:colId xmlns:a16="http://schemas.microsoft.com/office/drawing/2014/main" val="4222484157"/>
                    </a:ext>
                  </a:extLst>
                </a:gridCol>
                <a:gridCol w="773545">
                  <a:extLst>
                    <a:ext uri="{9D8B030D-6E8A-4147-A177-3AD203B41FA5}">
                      <a16:colId xmlns:a16="http://schemas.microsoft.com/office/drawing/2014/main" val="2263785391"/>
                    </a:ext>
                  </a:extLst>
                </a:gridCol>
              </a:tblGrid>
              <a:tr h="333375">
                <a:tc gridSpan="4">
                  <a:txBody>
                    <a:bodyPr/>
                    <a:lstStyle/>
                    <a:p>
                      <a:pPr algn="ctr" rtl="0" fontAlgn="ctr"/>
                      <a:r>
                        <a:rPr lang="en-IN" sz="2000" u="none" strike="noStrike">
                          <a:effectLst/>
                        </a:rPr>
                        <a:t>Humidity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56605609"/>
                  </a:ext>
                </a:extLst>
              </a:tr>
              <a:tr h="333375">
                <a:tc>
                  <a:txBody>
                    <a:bodyPr/>
                    <a:lstStyle/>
                    <a:p>
                      <a:pPr algn="l" fontAlgn="ctr"/>
                      <a:r>
                        <a:rPr lang="en-IN" sz="1800" u="none" strike="noStrike">
                          <a:effectLst/>
                        </a:rPr>
                        <a:t> 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2000" u="none" strike="noStrike">
                          <a:effectLst/>
                        </a:rPr>
                        <a:t>Yes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2000" u="none" strike="noStrike">
                          <a:effectLst/>
                        </a:rPr>
                        <a:t>No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2000" u="none" strike="noStrike">
                          <a:effectLst/>
                        </a:rPr>
                        <a:t>Count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69743985"/>
                  </a:ext>
                </a:extLst>
              </a:tr>
              <a:tr h="33337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2000" u="none" strike="noStrike">
                          <a:effectLst/>
                        </a:rPr>
                        <a:t>High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2000" u="none" strike="noStrike">
                          <a:effectLst/>
                        </a:rPr>
                        <a:t>0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2000" u="none" strike="noStrike">
                          <a:effectLst/>
                        </a:rPr>
                        <a:t>3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2000" u="none" strike="noStrike">
                          <a:effectLst/>
                        </a:rPr>
                        <a:t>3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080259346"/>
                  </a:ext>
                </a:extLst>
              </a:tr>
              <a:tr h="66675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2000" u="none" strike="noStrike">
                          <a:effectLst/>
                        </a:rPr>
                        <a:t>Normal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2000" u="none" strike="noStrike">
                          <a:effectLst/>
                        </a:rPr>
                        <a:t>2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2000" u="none" strike="noStrike">
                          <a:effectLst/>
                        </a:rPr>
                        <a:t>0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2000" u="none" strike="noStrike">
                          <a:effectLst/>
                        </a:rPr>
                        <a:t>2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824155072"/>
                  </a:ext>
                </a:extLst>
              </a:tr>
              <a:tr h="66675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2000" u="none" strike="noStrike">
                          <a:effectLst/>
                        </a:rPr>
                        <a:t>Total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2000" u="none" strike="noStrike">
                          <a:effectLst/>
                        </a:rPr>
                        <a:t>2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2000" u="none" strike="noStrike">
                          <a:effectLst/>
                        </a:rPr>
                        <a:t>3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2000" u="none" strike="noStrike" dirty="0">
                          <a:effectLst/>
                        </a:rPr>
                        <a:t>100%</a:t>
                      </a:r>
                      <a:endParaRPr lang="en-IN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38911593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5293768"/>
      </p:ext>
    </p:extLst>
  </p:cSld>
  <p:clrMapOvr>
    <a:masterClrMapping/>
  </p:clrMapOvr>
  <p:transition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35"/>
          <p:cNvSpPr txBox="1"/>
          <p:nvPr/>
        </p:nvSpPr>
        <p:spPr>
          <a:xfrm>
            <a:off x="304799" y="381000"/>
            <a:ext cx="8454189" cy="689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0" i="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Decision Tree: </a:t>
            </a:r>
            <a:r>
              <a:rPr lang="en-US" sz="4400" b="0" i="0" dirty="0" smtClea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Gini Index Rainy</a:t>
            </a:r>
            <a:endParaRPr sz="4400" b="0" i="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176463" y="2911978"/>
                <a:ext cx="7527638" cy="46063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IN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𝐺</m:t>
                    </m:r>
                    <m:d>
                      <m:dPr>
                        <m:ctrlPr>
                          <a:rPr lang="en-I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𝑅𝑎𝑖𝑛𝑦</m:t>
                        </m:r>
                        <m:r>
                          <a:rPr lang="en-I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I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𝑊𝑖𝑛𝑑</m:t>
                        </m:r>
                      </m:e>
                    </m:d>
                    <m:r>
                      <a:rPr lang="en-IN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IN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1 −[</m:t>
                    </m:r>
                    <m:d>
                      <m:dPr>
                        <m:ctrlPr>
                          <a:rPr lang="en-I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I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I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5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0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G</m:t>
                    </m:r>
                    <m:d>
                      <m:dPr>
                        <m:ctrlPr>
                          <a:rPr lang="en-I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𝑊𝑖𝑛𝑑</m:t>
                        </m:r>
                        <m:r>
                          <a:rPr lang="en-I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I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𝑊𝑒𝑎𝑘</m:t>
                        </m:r>
                      </m:e>
                    </m:d>
                  </m:oMath>
                </a14:m>
                <a:r>
                  <a:rPr lang="en-IN" sz="20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+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I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a:rPr lang="en-I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5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0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G</m:t>
                    </m:r>
                    <m:d>
                      <m:dPr>
                        <m:ctrlPr>
                          <a:rPr lang="en-I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𝑊𝑖𝑛𝑑</m:t>
                        </m:r>
                        <m:r>
                          <a:rPr lang="en-I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I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𝑆𝑡𝑟𝑜𝑛𝑔</m:t>
                        </m:r>
                      </m:e>
                    </m:d>
                  </m:oMath>
                </a14:m>
                <a:r>
                  <a:rPr lang="en-IN" sz="20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]</a:t>
                </a:r>
                <a:endParaRPr lang="en-IN" sz="20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63" y="2911978"/>
                <a:ext cx="7527638" cy="460639"/>
              </a:xfrm>
              <a:prstGeom prst="rect">
                <a:avLst/>
              </a:prstGeom>
              <a:blipFill>
                <a:blip r:embed="rId3"/>
                <a:stretch>
                  <a:fillRect t="-2667" r="-1053" b="-1466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7" name="Group 6"/>
          <p:cNvGrpSpPr/>
          <p:nvPr/>
        </p:nvGrpSpPr>
        <p:grpSpPr>
          <a:xfrm>
            <a:off x="176463" y="3796304"/>
            <a:ext cx="6656053" cy="1700851"/>
            <a:chOff x="864201" y="3715231"/>
            <a:chExt cx="6656053" cy="1700851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TextBox 10"/>
                <p:cNvSpPr txBox="1"/>
                <p:nvPr/>
              </p:nvSpPr>
              <p:spPr>
                <a:xfrm>
                  <a:off x="864201" y="3715231"/>
                  <a:ext cx="5385449" cy="80425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I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𝐺</m:t>
                        </m:r>
                        <m:d>
                          <m:dPr>
                            <m:ctrlP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𝑅𝑎𝑖𝑛𝑦</m:t>
                            </m:r>
                            <m: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𝑊𝑖𝑛𝑑</m:t>
                            </m:r>
                          </m:e>
                        </m:d>
                        <m:r>
                          <a:rPr lang="en-I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</m:t>
                        </m:r>
                        <m:r>
                          <a:rPr lang="en-I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1 −</m:t>
                        </m:r>
                        <m:d>
                          <m:dPr>
                            <m:ctrlPr>
                              <a:rPr lang="en-IN" sz="20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IN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3</m:t>
                                </m:r>
                              </m:num>
                              <m:den>
                                <m:r>
                                  <a:rPr lang="en-IN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5</m:t>
                                </m:r>
                              </m:den>
                            </m:f>
                          </m:e>
                        </m:d>
                        <m:d>
                          <m:dPr>
                            <m:ctrlP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1 −</m:t>
                            </m:r>
                            <m:sSup>
                              <m:sSupPr>
                                <m:ctrlPr>
                                  <a:rPr lang="en-IN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en-IN" sz="20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ctrlPr>
                                          <a:rPr lang="en-IN" sz="20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IN" sz="20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num>
                                      <m:den>
                                        <m:r>
                                          <a:rPr lang="en-IN" sz="20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den>
                                    </m:f>
                                  </m:e>
                                </m:d>
                              </m:e>
                              <m:sup>
                                <m:r>
                                  <a:rPr lang="en-IN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nor/>
                              </m:rPr>
                              <a:rPr lang="en-IN" sz="2000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</m:t>
                            </m:r>
                            <m:r>
                              <m:rPr>
                                <m:nor/>
                              </m:rPr>
                              <a:rPr lang="en-IN" sz="2000" b="0" i="0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 </m:t>
                            </m:r>
                            <m:sSup>
                              <m:sSupPr>
                                <m:ctrlPr>
                                  <a:rPr lang="en-IN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en-IN" sz="20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ctrlPr>
                                          <a:rPr lang="en-IN" sz="20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IN" sz="20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num>
                                      <m:den>
                                        <m:r>
                                          <a:rPr lang="en-IN" sz="20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den>
                                    </m:f>
                                  </m:e>
                                </m:d>
                              </m:e>
                              <m:sup>
                                <m:r>
                                  <a:rPr lang="en-IN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d>
                      </m:oMath>
                    </m:oMathPara>
                  </a14:m>
                  <a:endParaRPr lang="en-IN" sz="2000" dirty="0">
                    <a:latin typeface="Cambria Math" panose="02040503050406030204" pitchFamily="18" charset="0"/>
                    <a:ea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11" name="TextBox 1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64201" y="3715231"/>
                  <a:ext cx="5385449" cy="804259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TextBox 11"/>
                <p:cNvSpPr txBox="1"/>
                <p:nvPr/>
              </p:nvSpPr>
              <p:spPr>
                <a:xfrm>
                  <a:off x="3202026" y="4611823"/>
                  <a:ext cx="2877326" cy="80425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I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d>
                          <m:dPr>
                            <m:ctrlPr>
                              <a:rPr lang="en-IN" sz="20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IN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num>
                              <m:den>
                                <m:r>
                                  <a:rPr lang="en-IN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5</m:t>
                                </m:r>
                              </m:den>
                            </m:f>
                          </m:e>
                        </m:d>
                        <m:d>
                          <m:dPr>
                            <m:ctrlP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1 −</m:t>
                            </m:r>
                            <m:sSup>
                              <m:sSupPr>
                                <m:ctrlPr>
                                  <a:rPr lang="en-IN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en-IN" sz="20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ctrlPr>
                                          <a:rPr lang="en-IN" sz="20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IN" sz="20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num>
                                      <m:den>
                                        <m:r>
                                          <a:rPr lang="en-IN" sz="20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den>
                                    </m:f>
                                  </m:e>
                                </m:d>
                              </m:e>
                              <m:sup>
                                <m:r>
                                  <a:rPr lang="en-IN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nor/>
                              </m:rPr>
                              <a:rPr lang="en-IN" sz="2000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</m:t>
                            </m:r>
                            <m:r>
                              <m:rPr>
                                <m:nor/>
                              </m:rPr>
                              <a:rPr lang="en-IN" sz="2000" b="0" i="0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  <m:r>
                              <m:rPr>
                                <m:nor/>
                              </m:rPr>
                              <a:rPr lang="en-IN" sz="2000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</m:t>
                            </m:r>
                            <m:sSup>
                              <m:sSupPr>
                                <m:ctrlPr>
                                  <a:rPr lang="en-IN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en-IN" sz="20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ctrlPr>
                                          <a:rPr lang="en-IN" sz="20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IN" sz="20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num>
                                      <m:den>
                                        <m:r>
                                          <a:rPr lang="en-IN" sz="20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den>
                                    </m:f>
                                  </m:e>
                                </m:d>
                              </m:e>
                              <m:sup>
                                <m:r>
                                  <a:rPr lang="en-IN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d>
                      </m:oMath>
                    </m:oMathPara>
                  </a14:m>
                  <a:endParaRPr lang="en-IN" sz="2000" dirty="0">
                    <a:latin typeface="Cambria Math" panose="02040503050406030204" pitchFamily="18" charset="0"/>
                    <a:ea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12" name="TextBox 1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02026" y="4611823"/>
                  <a:ext cx="2877326" cy="804259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Rectangle 4"/>
                <p:cNvSpPr/>
                <p:nvPr/>
              </p:nvSpPr>
              <p:spPr>
                <a:xfrm>
                  <a:off x="6249650" y="4319435"/>
                  <a:ext cx="1270604" cy="40011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IN" sz="2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</m:t>
                        </m:r>
                        <m:r>
                          <a:rPr lang="en-I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0.5333</m:t>
                        </m:r>
                      </m:oMath>
                    </m:oMathPara>
                  </a14:m>
                  <a:endParaRPr lang="en-IN" sz="2000" dirty="0">
                    <a:latin typeface="Cambria Math" panose="02040503050406030204" pitchFamily="18" charset="0"/>
                    <a:ea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5" name="Rectangle 4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49650" y="4319435"/>
                  <a:ext cx="1270604" cy="400110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176463" y="5920842"/>
                <a:ext cx="5927135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IN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𝐺𝑖𝑛𝑖</m:t>
                    </m:r>
                    <m:r>
                      <a:rPr lang="en-IN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IN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𝐺𝑎𝑖𝑛</m:t>
                    </m:r>
                    <m:d>
                      <m:dPr>
                        <m:ctrlPr>
                          <a:rPr lang="en-I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𝑅𝑎𝑖𝑛𝑦</m:t>
                        </m:r>
                        <m:r>
                          <a:rPr lang="en-I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I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𝑊𝑖𝑛𝑑</m:t>
                        </m:r>
                      </m:e>
                    </m:d>
                    <m:r>
                      <a:rPr lang="en-IN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IN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0.48</m:t>
                    </m:r>
                    <m:r>
                      <a:rPr lang="en-IN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−0.5333=</m:t>
                    </m:r>
                  </m:oMath>
                </a14:m>
                <a:r>
                  <a:rPr lang="en-IN" sz="20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0.26667 </a:t>
                </a:r>
                <a:endParaRPr lang="en-IN" sz="20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63" y="5920842"/>
                <a:ext cx="5927135" cy="307777"/>
              </a:xfrm>
              <a:prstGeom prst="rect">
                <a:avLst/>
              </a:prstGeom>
              <a:blipFill>
                <a:blip r:embed="rId7"/>
                <a:stretch>
                  <a:fillRect l="-1543" t="-25490" r="-1646" b="-4902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6" name="Group 15"/>
          <p:cNvGrpSpPr/>
          <p:nvPr/>
        </p:nvGrpSpPr>
        <p:grpSpPr>
          <a:xfrm>
            <a:off x="457251" y="1224927"/>
            <a:ext cx="4114075" cy="1003652"/>
            <a:chOff x="858513" y="2454779"/>
            <a:chExt cx="4114075" cy="100365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TextBox 16"/>
                <p:cNvSpPr txBox="1"/>
                <p:nvPr/>
              </p:nvSpPr>
              <p:spPr>
                <a:xfrm>
                  <a:off x="858513" y="2937006"/>
                  <a:ext cx="4114075" cy="521425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en-IN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𝐺</m:t>
                      </m:r>
                      <m:d>
                        <m:dPr>
                          <m:ctrlPr>
                            <a:rPr lang="en-I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𝑅𝑎𝑖𝑛𝑦</m:t>
                          </m:r>
                        </m:e>
                      </m:d>
                      <m:r>
                        <a:rPr lang="en-IN" sz="2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IN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1− [</m:t>
                      </m:r>
                      <m:sSup>
                        <m:sSupPr>
                          <m:ctrlPr>
                            <a:rPr lang="en-I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IN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IN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IN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num>
                                <m:den>
                                  <m:r>
                                    <a:rPr lang="en-IN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5</m:t>
                                  </m:r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en-I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a14:m>
                  <a:r>
                    <a:rPr lang="en-IN" sz="2000" dirty="0" smtClean="0">
                      <a:latin typeface="Cambria Math" panose="02040503050406030204" pitchFamily="18" charset="0"/>
                      <a:ea typeface="Cambria Math" panose="02040503050406030204" pitchFamily="18" charset="0"/>
                    </a:rPr>
                    <a:t> +</a:t>
                  </a:r>
                  <a14:m>
                    <m:oMath xmlns:m="http://schemas.openxmlformats.org/officeDocument/2006/math">
                      <m:sSup>
                        <m:sSupPr>
                          <m:ctrlPr>
                            <a:rPr lang="en-I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IN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IN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IN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3</m:t>
                                  </m:r>
                                </m:num>
                                <m:den>
                                  <m:r>
                                    <a:rPr lang="en-IN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5</m:t>
                                  </m:r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en-I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IN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]=</m:t>
                      </m:r>
                      <m:r>
                        <a:rPr lang="en-IN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0.48</m:t>
                      </m:r>
                    </m:oMath>
                  </a14:m>
                  <a:endParaRPr lang="en-IN" sz="2000" dirty="0">
                    <a:latin typeface="Cambria Math" panose="02040503050406030204" pitchFamily="18" charset="0"/>
                    <a:ea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17" name="TextBox 1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58513" y="2937006"/>
                  <a:ext cx="4114075" cy="521425"/>
                </a:xfrm>
                <a:prstGeom prst="rect">
                  <a:avLst/>
                </a:prstGeom>
                <a:blipFill>
                  <a:blip r:embed="rId8"/>
                  <a:stretch>
                    <a:fillRect b="-12791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8" name="TextBox 17"/>
            <p:cNvSpPr txBox="1"/>
            <p:nvPr/>
          </p:nvSpPr>
          <p:spPr>
            <a:xfrm>
              <a:off x="863561" y="2454779"/>
              <a:ext cx="3342582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sz="2000" dirty="0" smtClean="0">
                  <a:latin typeface="Cambria Math" panose="02040503050406030204" pitchFamily="18" charset="0"/>
                  <a:ea typeface="Cambria Math" panose="02040503050406030204" pitchFamily="18" charset="0"/>
                </a:rPr>
                <a:t>Entropy of the Class Variable</a:t>
              </a:r>
              <a:endParaRPr lang="en-IN" sz="2000" dirty="0">
                <a:latin typeface="Cambria Math" panose="02040503050406030204" pitchFamily="18" charset="0"/>
                <a:ea typeface="Cambria Math" panose="02040503050406030204" pitchFamily="18" charset="0"/>
              </a:endParaRPr>
            </a:p>
          </p:txBody>
        </p:sp>
      </p:grp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86897927"/>
              </p:ext>
            </p:extLst>
          </p:nvPr>
        </p:nvGraphicFramePr>
        <p:xfrm>
          <a:off x="8283704" y="3880485"/>
          <a:ext cx="3470737" cy="2667000"/>
        </p:xfrm>
        <a:graphic>
          <a:graphicData uri="http://schemas.openxmlformats.org/drawingml/2006/table">
            <a:tbl>
              <a:tblPr firstRow="1" bandRow="1">
                <a:tableStyleId>{AE0CDCE9-8EFF-456A-BFA7-76C2DBC4E188}</a:tableStyleId>
              </a:tblPr>
              <a:tblGrid>
                <a:gridCol w="922846">
                  <a:extLst>
                    <a:ext uri="{9D8B030D-6E8A-4147-A177-3AD203B41FA5}">
                      <a16:colId xmlns:a16="http://schemas.microsoft.com/office/drawing/2014/main" val="1531632944"/>
                    </a:ext>
                  </a:extLst>
                </a:gridCol>
                <a:gridCol w="763480">
                  <a:extLst>
                    <a:ext uri="{9D8B030D-6E8A-4147-A177-3AD203B41FA5}">
                      <a16:colId xmlns:a16="http://schemas.microsoft.com/office/drawing/2014/main" val="3661190998"/>
                    </a:ext>
                  </a:extLst>
                </a:gridCol>
                <a:gridCol w="738930">
                  <a:extLst>
                    <a:ext uri="{9D8B030D-6E8A-4147-A177-3AD203B41FA5}">
                      <a16:colId xmlns:a16="http://schemas.microsoft.com/office/drawing/2014/main" val="2969790719"/>
                    </a:ext>
                  </a:extLst>
                </a:gridCol>
                <a:gridCol w="1045481">
                  <a:extLst>
                    <a:ext uri="{9D8B030D-6E8A-4147-A177-3AD203B41FA5}">
                      <a16:colId xmlns:a16="http://schemas.microsoft.com/office/drawing/2014/main" val="3443694198"/>
                    </a:ext>
                  </a:extLst>
                </a:gridCol>
              </a:tblGrid>
              <a:tr h="333375">
                <a:tc gridSpan="4">
                  <a:txBody>
                    <a:bodyPr/>
                    <a:lstStyle/>
                    <a:p>
                      <a:pPr algn="ctr" rtl="0" fontAlgn="ctr"/>
                      <a:r>
                        <a:rPr lang="en-IN" sz="2000" u="none" strike="noStrike">
                          <a:effectLst/>
                        </a:rPr>
                        <a:t>Wind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66884555"/>
                  </a:ext>
                </a:extLst>
              </a:tr>
              <a:tr h="333375">
                <a:tc>
                  <a:txBody>
                    <a:bodyPr/>
                    <a:lstStyle/>
                    <a:p>
                      <a:pPr algn="l" fontAlgn="ctr"/>
                      <a:r>
                        <a:rPr lang="en-IN" sz="1800" u="none" strike="noStrike">
                          <a:effectLst/>
                        </a:rPr>
                        <a:t> 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2000" u="none" strike="noStrike">
                          <a:effectLst/>
                        </a:rPr>
                        <a:t>Yes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2000" u="none" strike="noStrike">
                          <a:effectLst/>
                        </a:rPr>
                        <a:t>No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2000" u="none" strike="noStrike">
                          <a:effectLst/>
                        </a:rPr>
                        <a:t>Count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121445493"/>
                  </a:ext>
                </a:extLst>
              </a:tr>
              <a:tr h="66675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2000" u="none" strike="noStrike">
                          <a:effectLst/>
                        </a:rPr>
                        <a:t>Weak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2000" u="none" strike="noStrike">
                          <a:effectLst/>
                        </a:rPr>
                        <a:t>1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2000" u="none" strike="noStrike">
                          <a:effectLst/>
                        </a:rPr>
                        <a:t>2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2000" u="none" strike="noStrike">
                          <a:effectLst/>
                        </a:rPr>
                        <a:t>3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775192512"/>
                  </a:ext>
                </a:extLst>
              </a:tr>
              <a:tr h="66675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2000" u="none" strike="noStrike">
                          <a:effectLst/>
                        </a:rPr>
                        <a:t>Strong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2000" u="none" strike="noStrike">
                          <a:effectLst/>
                        </a:rPr>
                        <a:t>1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2000" u="none" strike="noStrike">
                          <a:effectLst/>
                        </a:rPr>
                        <a:t>1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2000" u="none" strike="noStrike">
                          <a:effectLst/>
                        </a:rPr>
                        <a:t>2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613531335"/>
                  </a:ext>
                </a:extLst>
              </a:tr>
              <a:tr h="66675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2000" u="none" strike="noStrike">
                          <a:effectLst/>
                        </a:rPr>
                        <a:t>Total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2000" u="none" strike="noStrike">
                          <a:effectLst/>
                        </a:rPr>
                        <a:t>2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2000" u="none" strike="noStrike">
                          <a:effectLst/>
                        </a:rPr>
                        <a:t>3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2000" u="none" strike="noStrike" dirty="0">
                          <a:effectLst/>
                        </a:rPr>
                        <a:t>100%</a:t>
                      </a:r>
                      <a:endParaRPr lang="en-IN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36755937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00554137"/>
      </p:ext>
    </p:extLst>
  </p:cSld>
  <p:clrMapOvr>
    <a:masterClrMapping/>
  </p:clrMapOvr>
  <p:transition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4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35"/>
          <p:cNvSpPr txBox="1"/>
          <p:nvPr/>
        </p:nvSpPr>
        <p:spPr>
          <a:xfrm>
            <a:off x="304799" y="381000"/>
            <a:ext cx="8454189" cy="689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0" i="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Decision Tree: </a:t>
            </a:r>
            <a:r>
              <a:rPr lang="en-US" sz="4400" b="0" i="0" dirty="0" smtClea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Gini Gain Rainy</a:t>
            </a:r>
            <a:endParaRPr sz="4400" b="0" i="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" name="Google Shape;292;p34"/>
          <p:cNvSpPr/>
          <p:nvPr/>
        </p:nvSpPr>
        <p:spPr>
          <a:xfrm>
            <a:off x="4289082" y="4302578"/>
            <a:ext cx="2057400" cy="1066800"/>
          </a:xfrm>
          <a:prstGeom prst="roundRect">
            <a:avLst>
              <a:gd name="adj" fmla="val 16667"/>
            </a:avLst>
          </a:prstGeom>
          <a:noFill/>
          <a:ln w="2540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Windy</a:t>
            </a:r>
            <a:endParaRPr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9" name="Google Shape;296;p34"/>
          <p:cNvCxnSpPr>
            <a:stCxn id="28" idx="2"/>
            <a:endCxn id="31" idx="0"/>
          </p:cNvCxnSpPr>
          <p:nvPr/>
        </p:nvCxnSpPr>
        <p:spPr>
          <a:xfrm flipH="1">
            <a:off x="4193082" y="5369378"/>
            <a:ext cx="1124700" cy="859200"/>
          </a:xfrm>
          <a:prstGeom prst="straightConnector1">
            <a:avLst/>
          </a:prstGeom>
          <a:noFill/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30" name="Google Shape;298;p34"/>
          <p:cNvCxnSpPr>
            <a:endCxn id="32" idx="0"/>
          </p:cNvCxnSpPr>
          <p:nvPr/>
        </p:nvCxnSpPr>
        <p:spPr>
          <a:xfrm>
            <a:off x="5317782" y="5369333"/>
            <a:ext cx="1028700" cy="859200"/>
          </a:xfrm>
          <a:prstGeom prst="straightConnector1">
            <a:avLst/>
          </a:prstGeom>
          <a:noFill/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stealth" w="med" len="med"/>
          </a:ln>
        </p:spPr>
      </p:cxnSp>
      <p:sp>
        <p:nvSpPr>
          <p:cNvPr id="31" name="Google Shape;297;p34"/>
          <p:cNvSpPr/>
          <p:nvPr/>
        </p:nvSpPr>
        <p:spPr>
          <a:xfrm>
            <a:off x="3659797" y="6228533"/>
            <a:ext cx="1066800" cy="381000"/>
          </a:xfrm>
          <a:prstGeom prst="flowChartTerminator">
            <a:avLst/>
          </a:prstGeom>
          <a:noFill/>
          <a:ln w="2540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Yes</a:t>
            </a:r>
            <a:endParaRPr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299;p34"/>
          <p:cNvSpPr/>
          <p:nvPr/>
        </p:nvSpPr>
        <p:spPr>
          <a:xfrm>
            <a:off x="5813082" y="6228533"/>
            <a:ext cx="1066800" cy="381000"/>
          </a:xfrm>
          <a:prstGeom prst="flowChartTerminator">
            <a:avLst/>
          </a:prstGeom>
          <a:noFill/>
          <a:ln w="2540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</a:t>
            </a:r>
            <a:endParaRPr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07;p34"/>
          <p:cNvSpPr txBox="1"/>
          <p:nvPr/>
        </p:nvSpPr>
        <p:spPr>
          <a:xfrm>
            <a:off x="4426877" y="5614488"/>
            <a:ext cx="795020" cy="369291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Weak</a:t>
            </a:r>
            <a:endParaRPr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07;p34"/>
          <p:cNvSpPr txBox="1"/>
          <p:nvPr/>
        </p:nvSpPr>
        <p:spPr>
          <a:xfrm>
            <a:off x="5361463" y="5614287"/>
            <a:ext cx="795020" cy="369291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Strong</a:t>
            </a:r>
            <a:endParaRPr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292;p34"/>
          <p:cNvSpPr/>
          <p:nvPr/>
        </p:nvSpPr>
        <p:spPr>
          <a:xfrm>
            <a:off x="8655341" y="4330759"/>
            <a:ext cx="2057400" cy="1066800"/>
          </a:xfrm>
          <a:prstGeom prst="roundRect">
            <a:avLst>
              <a:gd name="adj" fmla="val 16667"/>
            </a:avLst>
          </a:prstGeom>
          <a:noFill/>
          <a:ln w="2540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Humidity</a:t>
            </a:r>
            <a:endParaRPr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9" name="Google Shape;296;p34"/>
          <p:cNvCxnSpPr>
            <a:stCxn id="38" idx="2"/>
            <a:endCxn id="41" idx="0"/>
          </p:cNvCxnSpPr>
          <p:nvPr/>
        </p:nvCxnSpPr>
        <p:spPr>
          <a:xfrm flipH="1">
            <a:off x="8559341" y="5397559"/>
            <a:ext cx="1124700" cy="859200"/>
          </a:xfrm>
          <a:prstGeom prst="straightConnector1">
            <a:avLst/>
          </a:prstGeom>
          <a:noFill/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40" name="Google Shape;298;p34"/>
          <p:cNvCxnSpPr>
            <a:endCxn id="42" idx="0"/>
          </p:cNvCxnSpPr>
          <p:nvPr/>
        </p:nvCxnSpPr>
        <p:spPr>
          <a:xfrm>
            <a:off x="9684041" y="5397514"/>
            <a:ext cx="1028700" cy="859200"/>
          </a:xfrm>
          <a:prstGeom prst="straightConnector1">
            <a:avLst/>
          </a:prstGeom>
          <a:noFill/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stealth" w="med" len="med"/>
          </a:ln>
        </p:spPr>
      </p:cxnSp>
      <p:sp>
        <p:nvSpPr>
          <p:cNvPr id="41" name="Google Shape;297;p34"/>
          <p:cNvSpPr/>
          <p:nvPr/>
        </p:nvSpPr>
        <p:spPr>
          <a:xfrm>
            <a:off x="8026056" y="6256714"/>
            <a:ext cx="1066800" cy="381000"/>
          </a:xfrm>
          <a:prstGeom prst="flowChartTerminator">
            <a:avLst/>
          </a:prstGeom>
          <a:noFill/>
          <a:ln w="2540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Yes</a:t>
            </a:r>
            <a:endParaRPr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299;p34"/>
          <p:cNvSpPr/>
          <p:nvPr/>
        </p:nvSpPr>
        <p:spPr>
          <a:xfrm>
            <a:off x="10179341" y="6256714"/>
            <a:ext cx="1066800" cy="381000"/>
          </a:xfrm>
          <a:prstGeom prst="flowChartTerminator">
            <a:avLst/>
          </a:prstGeom>
          <a:noFill/>
          <a:ln w="2540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</a:t>
            </a:r>
            <a:endParaRPr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307;p34"/>
          <p:cNvSpPr txBox="1"/>
          <p:nvPr/>
        </p:nvSpPr>
        <p:spPr>
          <a:xfrm>
            <a:off x="8515660" y="5642669"/>
            <a:ext cx="1072496" cy="369291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Normal</a:t>
            </a:r>
            <a:endParaRPr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307;p34"/>
          <p:cNvSpPr txBox="1"/>
          <p:nvPr/>
        </p:nvSpPr>
        <p:spPr>
          <a:xfrm>
            <a:off x="9800881" y="5614287"/>
            <a:ext cx="795020" cy="369291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High</a:t>
            </a:r>
            <a:endParaRPr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7647368" y="900550"/>
            <a:ext cx="455728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0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Choose the one with highest Gini Gain </a:t>
            </a:r>
          </a:p>
          <a:p>
            <a:pPr algn="ctr"/>
            <a:r>
              <a:rPr lang="en-IN" sz="20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(or Lowest Gini Impurity) for root node</a:t>
            </a:r>
            <a:endParaRPr lang="en-IN" sz="20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6" name="TextBox 45"/>
              <p:cNvSpPr txBox="1"/>
              <p:nvPr/>
            </p:nvSpPr>
            <p:spPr>
              <a:xfrm>
                <a:off x="219321" y="2960718"/>
                <a:ext cx="5927135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IN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𝐺𝑖𝑛𝑖</m:t>
                    </m:r>
                    <m:r>
                      <a:rPr lang="en-IN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IN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𝐺𝑎𝑖𝑛</m:t>
                    </m:r>
                    <m:d>
                      <m:dPr>
                        <m:ctrlPr>
                          <a:rPr lang="en-I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𝑅𝑎𝑖𝑛𝑦</m:t>
                        </m:r>
                        <m:r>
                          <a:rPr lang="en-I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I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𝑊𝑖𝑛𝑑</m:t>
                        </m:r>
                      </m:e>
                    </m:d>
                    <m:r>
                      <a:rPr lang="en-IN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IN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0.48</m:t>
                    </m:r>
                    <m:r>
                      <a:rPr lang="en-IN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−</m:t>
                    </m:r>
                    <m:r>
                      <a:rPr lang="en-IN" sz="2000" b="0" i="1" smtClean="0">
                        <a:solidFill>
                          <a:schemeClr val="accent4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0.5333</m:t>
                    </m:r>
                    <m:r>
                      <a:rPr lang="en-IN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IN" sz="20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0.26667 </a:t>
                </a:r>
                <a:endParaRPr lang="en-IN" sz="20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46" name="TextBox 4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9321" y="2960718"/>
                <a:ext cx="5927135" cy="307777"/>
              </a:xfrm>
              <a:prstGeom prst="rect">
                <a:avLst/>
              </a:prstGeom>
              <a:blipFill>
                <a:blip r:embed="rId3"/>
                <a:stretch>
                  <a:fillRect l="-1543" t="-26000" r="-1646" b="-5000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7" name="TextBox 46"/>
              <p:cNvSpPr txBox="1"/>
              <p:nvPr/>
            </p:nvSpPr>
            <p:spPr>
              <a:xfrm>
                <a:off x="113782" y="2446494"/>
                <a:ext cx="5532925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𝐺𝑖𝑛𝑖</m:t>
                      </m:r>
                      <m:r>
                        <a:rPr lang="en-IN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IN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𝐺𝑎𝑖𝑛</m:t>
                      </m:r>
                      <m:d>
                        <m:dPr>
                          <m:ctrlPr>
                            <a:rPr lang="en-I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𝑅𝑎𝑖𝑛𝑦</m:t>
                          </m:r>
                          <m:r>
                            <a:rPr lang="en-I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I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𝐻𝑢𝑚𝑖𝑑𝑖𝑡𝑦</m:t>
                          </m:r>
                        </m:e>
                      </m:d>
                      <m:r>
                        <a:rPr lang="en-IN" sz="2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IN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0.48</m:t>
                      </m:r>
                      <m:r>
                        <a:rPr lang="en-IN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−</m:t>
                      </m:r>
                      <m:r>
                        <a:rPr lang="en-IN" sz="2000" b="0" i="1" smtClean="0">
                          <a:solidFill>
                            <a:schemeClr val="accent4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</m:t>
                      </m:r>
                      <m:r>
                        <a:rPr lang="en-IN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=− 0.2</m:t>
                      </m:r>
                    </m:oMath>
                  </m:oMathPara>
                </a14:m>
                <a:endParaRPr lang="en-IN" sz="20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47" name="TextBox 4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782" y="2446494"/>
                <a:ext cx="5532925" cy="307777"/>
              </a:xfrm>
              <a:prstGeom prst="rect">
                <a:avLst/>
              </a:prstGeom>
              <a:blipFill>
                <a:blip r:embed="rId4"/>
                <a:stretch>
                  <a:fillRect l="-662" r="-662" b="-3725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8" name="TextBox 47"/>
              <p:cNvSpPr txBox="1"/>
              <p:nvPr/>
            </p:nvSpPr>
            <p:spPr>
              <a:xfrm>
                <a:off x="229348" y="1893963"/>
                <a:ext cx="5080558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IN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𝐺𝑖𝑛𝑖</m:t>
                    </m:r>
                    <m:r>
                      <a:rPr lang="en-IN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IN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𝐺𝑎𝑖𝑛</m:t>
                    </m:r>
                    <m:d>
                      <m:dPr>
                        <m:ctrlPr>
                          <a:rPr lang="en-I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𝑅𝑎𝑖𝑛𝑦</m:t>
                        </m:r>
                        <m:r>
                          <a:rPr lang="en-I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 </m:t>
                        </m:r>
                        <m:r>
                          <a:rPr lang="en-I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𝑇𝑒𝑚𝑝</m:t>
                        </m:r>
                      </m:e>
                    </m:d>
                    <m:r>
                      <a:rPr lang="en-IN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IN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0.48</m:t>
                    </m:r>
                    <m:r>
                      <a:rPr lang="en-IN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−</m:t>
                    </m:r>
                    <m:r>
                      <a:rPr lang="en-IN" sz="2000" b="0" i="1" smtClean="0">
                        <a:solidFill>
                          <a:schemeClr val="accent4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0.8</m:t>
                    </m:r>
                    <m:r>
                      <a:rPr lang="en-IN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=</m:t>
                    </m:r>
                  </m:oMath>
                </a14:m>
                <a:r>
                  <a:rPr lang="en-IN" sz="20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0.32</a:t>
                </a:r>
                <a:endParaRPr lang="en-IN" sz="20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48" name="TextBox 4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9348" y="1893963"/>
                <a:ext cx="5080558" cy="307777"/>
              </a:xfrm>
              <a:prstGeom prst="rect">
                <a:avLst/>
              </a:prstGeom>
              <a:blipFill>
                <a:blip r:embed="rId5"/>
                <a:stretch>
                  <a:fillRect l="-1801" t="-26000" r="-2041" b="-5000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" name="Group 2"/>
          <p:cNvGrpSpPr/>
          <p:nvPr/>
        </p:nvGrpSpPr>
        <p:grpSpPr>
          <a:xfrm>
            <a:off x="5531141" y="1617070"/>
            <a:ext cx="4114800" cy="3299727"/>
            <a:chOff x="5531141" y="1617070"/>
            <a:chExt cx="4114800" cy="3299727"/>
          </a:xfrm>
        </p:grpSpPr>
        <p:grpSp>
          <p:nvGrpSpPr>
            <p:cNvPr id="2" name="Group 1"/>
            <p:cNvGrpSpPr/>
            <p:nvPr/>
          </p:nvGrpSpPr>
          <p:grpSpPr>
            <a:xfrm>
              <a:off x="5531141" y="1617070"/>
              <a:ext cx="4114800" cy="3299727"/>
              <a:chOff x="7234988" y="2918540"/>
              <a:chExt cx="4114800" cy="3299727"/>
            </a:xfrm>
          </p:grpSpPr>
          <p:sp>
            <p:nvSpPr>
              <p:cNvPr id="18" name="Google Shape;290;p34"/>
              <p:cNvSpPr/>
              <p:nvPr/>
            </p:nvSpPr>
            <p:spPr>
              <a:xfrm>
                <a:off x="8263688" y="2918540"/>
                <a:ext cx="2057400" cy="1066800"/>
              </a:xfrm>
              <a:prstGeom prst="roundRect">
                <a:avLst>
                  <a:gd name="adj" fmla="val 16667"/>
                </a:avLst>
              </a:prstGeom>
              <a:noFill/>
              <a:ln w="25400" cap="flat" cmpd="sng">
                <a:solidFill>
                  <a:srgbClr val="395E8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Outlook</a:t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19" name="Google Shape;293;p34"/>
              <p:cNvCxnSpPr>
                <a:stCxn id="18" idx="2"/>
              </p:cNvCxnSpPr>
              <p:nvPr/>
            </p:nvCxnSpPr>
            <p:spPr>
              <a:xfrm flipH="1">
                <a:off x="7234988" y="3985340"/>
                <a:ext cx="2057400" cy="1574700"/>
              </a:xfrm>
              <a:prstGeom prst="straightConnector1">
                <a:avLst/>
              </a:prstGeom>
              <a:noFill/>
              <a:ln w="9525" cap="flat" cmpd="sng">
                <a:solidFill>
                  <a:srgbClr val="4A7DBA"/>
                </a:solidFill>
                <a:prstDash val="solid"/>
                <a:round/>
                <a:headEnd type="none" w="sm" len="sm"/>
                <a:tailEnd type="stealth" w="med" len="med"/>
              </a:ln>
            </p:spPr>
          </p:cxnSp>
          <p:cxnSp>
            <p:nvCxnSpPr>
              <p:cNvPr id="20" name="Google Shape;294;p34"/>
              <p:cNvCxnSpPr>
                <a:stCxn id="18" idx="2"/>
              </p:cNvCxnSpPr>
              <p:nvPr/>
            </p:nvCxnSpPr>
            <p:spPr>
              <a:xfrm>
                <a:off x="9292388" y="3985340"/>
                <a:ext cx="2057400" cy="1574700"/>
              </a:xfrm>
              <a:prstGeom prst="straightConnector1">
                <a:avLst/>
              </a:prstGeom>
              <a:noFill/>
              <a:ln w="9525" cap="flat" cmpd="sng">
                <a:solidFill>
                  <a:srgbClr val="4A7DBA"/>
                </a:solidFill>
                <a:prstDash val="solid"/>
                <a:round/>
                <a:headEnd type="none" w="sm" len="sm"/>
                <a:tailEnd type="stealth" w="med" len="med"/>
              </a:ln>
            </p:spPr>
          </p:cxnSp>
          <p:cxnSp>
            <p:nvCxnSpPr>
              <p:cNvPr id="21" name="Google Shape;295;p34"/>
              <p:cNvCxnSpPr>
                <a:endCxn id="24" idx="0"/>
              </p:cNvCxnSpPr>
              <p:nvPr/>
            </p:nvCxnSpPr>
            <p:spPr>
              <a:xfrm>
                <a:off x="9292388" y="3980895"/>
                <a:ext cx="0" cy="1856372"/>
              </a:xfrm>
              <a:prstGeom prst="straightConnector1">
                <a:avLst/>
              </a:prstGeom>
              <a:noFill/>
              <a:ln w="9525" cap="flat" cmpd="sng">
                <a:solidFill>
                  <a:srgbClr val="4A7DBA"/>
                </a:solidFill>
                <a:prstDash val="solid"/>
                <a:round/>
                <a:headEnd type="none" w="sm" len="sm"/>
                <a:tailEnd type="stealth" w="med" len="med"/>
              </a:ln>
            </p:spPr>
          </p:cxnSp>
          <p:sp>
            <p:nvSpPr>
              <p:cNvPr id="22" name="Google Shape;304;p34"/>
              <p:cNvSpPr txBox="1"/>
              <p:nvPr/>
            </p:nvSpPr>
            <p:spPr>
              <a:xfrm>
                <a:off x="7850303" y="4588590"/>
                <a:ext cx="826135" cy="3683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Sunny</a:t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" name="Google Shape;305;p34"/>
              <p:cNvSpPr txBox="1"/>
              <p:nvPr/>
            </p:nvSpPr>
            <p:spPr>
              <a:xfrm>
                <a:off x="10001048" y="4588590"/>
                <a:ext cx="640080" cy="3683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Rain</a:t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" name="Google Shape;311;p34"/>
              <p:cNvSpPr/>
              <p:nvPr/>
            </p:nvSpPr>
            <p:spPr>
              <a:xfrm>
                <a:off x="8758988" y="5837267"/>
                <a:ext cx="1066800" cy="381000"/>
              </a:xfrm>
              <a:prstGeom prst="flowChartTerminator">
                <a:avLst/>
              </a:prstGeom>
              <a:noFill/>
              <a:ln w="25400" cap="flat" cmpd="sng">
                <a:solidFill>
                  <a:srgbClr val="395E8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Yes</a:t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49" name="Google Shape;304;p34"/>
            <p:cNvSpPr txBox="1"/>
            <p:nvPr/>
          </p:nvSpPr>
          <p:spPr>
            <a:xfrm>
              <a:off x="7132859" y="3889279"/>
              <a:ext cx="1029018" cy="369291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dirty="0" smtClean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Overcast</a:t>
              </a:r>
              <a:endParaRPr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197225913"/>
      </p:ext>
    </p:extLst>
  </p:cSld>
  <p:clrMapOvr>
    <a:masterClrMapping/>
  </p:clrMapOvr>
  <p:transition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500"/>
                            </p:stCondLst>
                            <p:childTnLst>
                              <p:par>
                                <p:cTn id="6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 animBg="1"/>
      <p:bldP spid="31" grpId="0" animBg="1"/>
      <p:bldP spid="32" grpId="0" animBg="1"/>
      <p:bldP spid="33" grpId="0" animBg="1"/>
      <p:bldP spid="34" grpId="0" animBg="1"/>
      <p:bldP spid="38" grpId="0" animBg="1"/>
      <p:bldP spid="41" grpId="0" animBg="1"/>
      <p:bldP spid="42" grpId="0" animBg="1"/>
      <p:bldP spid="43" grpId="0" animBg="1"/>
      <p:bldP spid="44" grpId="0" animBg="1"/>
      <p:bldP spid="45" grpId="0"/>
      <p:bldP spid="47" grpId="0"/>
      <p:bldP spid="48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462C1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487</TotalTime>
  <Words>1502</Words>
  <Application>Microsoft Office PowerPoint</Application>
  <PresentationFormat>Widescreen</PresentationFormat>
  <Paragraphs>1109</Paragraphs>
  <Slides>35</Slides>
  <Notes>35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41" baseType="lpstr">
      <vt:lpstr>Cambria Math</vt:lpstr>
      <vt:lpstr>Arial</vt:lpstr>
      <vt:lpstr>Times New Roman</vt:lpstr>
      <vt:lpstr>Calibri</vt:lpstr>
      <vt:lpstr>Tahoma</vt:lpstr>
      <vt:lpstr>Office Theme</vt:lpstr>
      <vt:lpstr>Decision Tree: Information Gain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Decision Tree: Gini Index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Digital Data</dc:title>
  <dc:creator>rishav.singh@bennett.edu.in</dc:creator>
  <cp:lastModifiedBy>Rishav Singh</cp:lastModifiedBy>
  <cp:revision>71</cp:revision>
  <dcterms:created xsi:type="dcterms:W3CDTF">2021-03-01T04:55:48Z</dcterms:created>
  <dcterms:modified xsi:type="dcterms:W3CDTF">2024-08-23T13:20:54Z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or">
    <vt:lpwstr>Microsoft® PowerPoint® 2016</vt:lpwstr>
  </property>
  <property fmtid="{D5CDD505-2E9C-101B-9397-08002B2CF9AE}" pid="3" name="KSOProductBuildVer">
    <vt:lpwstr>1033-3.1.1.5096</vt:lpwstr>
  </property>
</Properties>
</file>