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8" r:id="rId2"/>
    <p:sldId id="331" r:id="rId3"/>
    <p:sldId id="333" r:id="rId4"/>
    <p:sldId id="334" r:id="rId5"/>
    <p:sldId id="336" r:id="rId6"/>
    <p:sldId id="337" r:id="rId7"/>
    <p:sldId id="341" r:id="rId8"/>
    <p:sldId id="342" r:id="rId9"/>
    <p:sldId id="330" r:id="rId10"/>
    <p:sldId id="314" r:id="rId11"/>
    <p:sldId id="317" r:id="rId12"/>
    <p:sldId id="316" r:id="rId13"/>
    <p:sldId id="315" r:id="rId14"/>
    <p:sldId id="318" r:id="rId15"/>
    <p:sldId id="320" r:id="rId16"/>
    <p:sldId id="326" r:id="rId17"/>
    <p:sldId id="323" r:id="rId18"/>
    <p:sldId id="324" r:id="rId19"/>
    <p:sldId id="322" r:id="rId20"/>
    <p:sldId id="325" r:id="rId21"/>
    <p:sldId id="327" r:id="rId22"/>
    <p:sldId id="328" r:id="rId23"/>
    <p:sldId id="353" r:id="rId24"/>
    <p:sldId id="347" r:id="rId25"/>
    <p:sldId id="349" r:id="rId26"/>
    <p:sldId id="350" r:id="rId27"/>
    <p:sldId id="355" r:id="rId28"/>
    <p:sldId id="356" r:id="rId29"/>
    <p:sldId id="343" r:id="rId30"/>
    <p:sldId id="32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oss Vs Cost" id="{AE4E70BF-68C9-4698-BE70-DF0DDBEB72C5}">
          <p14:sldIdLst>
            <p14:sldId id="278"/>
            <p14:sldId id="331"/>
            <p14:sldId id="333"/>
            <p14:sldId id="334"/>
            <p14:sldId id="336"/>
            <p14:sldId id="337"/>
            <p14:sldId id="341"/>
            <p14:sldId id="342"/>
            <p14:sldId id="330"/>
            <p14:sldId id="314"/>
            <p14:sldId id="317"/>
            <p14:sldId id="316"/>
            <p14:sldId id="315"/>
            <p14:sldId id="318"/>
            <p14:sldId id="320"/>
            <p14:sldId id="326"/>
            <p14:sldId id="323"/>
            <p14:sldId id="324"/>
            <p14:sldId id="322"/>
            <p14:sldId id="325"/>
            <p14:sldId id="327"/>
            <p14:sldId id="328"/>
            <p14:sldId id="353"/>
            <p14:sldId id="347"/>
            <p14:sldId id="349"/>
            <p14:sldId id="350"/>
            <p14:sldId id="355"/>
            <p14:sldId id="356"/>
            <p14:sldId id="343"/>
            <p14:sldId id="32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14EBB8-3B00-42A4-BC8A-58FB6F79DF7C}" v="8" dt="2024-07-31T03:12:05.606"/>
    <p1510:client id="{AED46783-2C38-4294-B70F-6642114B8A21}" v="13" dt="2024-07-30T03:34:52.6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904" autoAdjust="0"/>
  </p:normalViewPr>
  <p:slideViewPr>
    <p:cSldViewPr snapToGrid="0">
      <p:cViewPr varScale="1">
        <p:scale>
          <a:sx n="95" d="100"/>
          <a:sy n="95" d="100"/>
        </p:scale>
        <p:origin x="11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v Singh" userId="4cda0e4c-75b5-49b1-8496-2e8f89d196e4" providerId="ADAL" clId="{8B14EBB8-3B00-42A4-BC8A-58FB6F79DF7C}"/>
    <pc:docChg chg="undo custSel addSld delSld modSld sldOrd modSection">
      <pc:chgData name="Rishav Singh" userId="4cda0e4c-75b5-49b1-8496-2e8f89d196e4" providerId="ADAL" clId="{8B14EBB8-3B00-42A4-BC8A-58FB6F79DF7C}" dt="2024-07-31T03:12:58.894" v="47"/>
      <pc:docMkLst>
        <pc:docMk/>
      </pc:docMkLst>
      <pc:sldChg chg="addSp modSp del mod">
        <pc:chgData name="Rishav Singh" userId="4cda0e4c-75b5-49b1-8496-2e8f89d196e4" providerId="ADAL" clId="{8B14EBB8-3B00-42A4-BC8A-58FB6F79DF7C}" dt="2024-07-31T03:02:22.244" v="27" actId="47"/>
        <pc:sldMkLst>
          <pc:docMk/>
          <pc:sldMk cId="2194105561" sldId="256"/>
        </pc:sldMkLst>
        <pc:spChg chg="mod">
          <ac:chgData name="Rishav Singh" userId="4cda0e4c-75b5-49b1-8496-2e8f89d196e4" providerId="ADAL" clId="{8B14EBB8-3B00-42A4-BC8A-58FB6F79DF7C}" dt="2024-07-31T02:55:44.552" v="14" actId="20577"/>
          <ac:spMkLst>
            <pc:docMk/>
            <pc:sldMk cId="2194105561" sldId="256"/>
            <ac:spMk id="2" creationId="{92FAD78D-A188-4C37-8277-9F6ABA5564FF}"/>
          </ac:spMkLst>
        </pc:spChg>
        <pc:spChg chg="add">
          <ac:chgData name="Rishav Singh" userId="4cda0e4c-75b5-49b1-8496-2e8f89d196e4" providerId="ADAL" clId="{8B14EBB8-3B00-42A4-BC8A-58FB6F79DF7C}" dt="2024-07-31T03:01:50.152" v="25" actId="22"/>
          <ac:spMkLst>
            <pc:docMk/>
            <pc:sldMk cId="2194105561" sldId="256"/>
            <ac:spMk id="5" creationId="{59260BED-6D9C-C61E-0B8D-E3E69D243B9F}"/>
          </ac:spMkLst>
        </pc:spChg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2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3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4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5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6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7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8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9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70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71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72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73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74"/>
        </pc:sldMkLst>
      </pc:sldChg>
      <pc:sldChg chg="add modNotes">
        <pc:chgData name="Rishav Singh" userId="4cda0e4c-75b5-49b1-8496-2e8f89d196e4" providerId="ADAL" clId="{8B14EBB8-3B00-42A4-BC8A-58FB6F79DF7C}" dt="2024-07-31T03:12:00.496" v="42"/>
        <pc:sldMkLst>
          <pc:docMk/>
          <pc:sldMk cId="0" sldId="275"/>
        </pc:sldMkLst>
      </pc:sldChg>
      <pc:sldChg chg="addSp delSp modSp new mod setBg">
        <pc:chgData name="Rishav Singh" userId="4cda0e4c-75b5-49b1-8496-2e8f89d196e4" providerId="ADAL" clId="{8B14EBB8-3B00-42A4-BC8A-58FB6F79DF7C}" dt="2024-07-31T03:01:31.064" v="24" actId="26606"/>
        <pc:sldMkLst>
          <pc:docMk/>
          <pc:sldMk cId="1489340728" sldId="277"/>
        </pc:sldMkLst>
        <pc:spChg chg="add del">
          <ac:chgData name="Rishav Singh" userId="4cda0e4c-75b5-49b1-8496-2e8f89d196e4" providerId="ADAL" clId="{8B14EBB8-3B00-42A4-BC8A-58FB6F79DF7C}" dt="2024-07-31T03:01:18.504" v="21" actId="26606"/>
          <ac:spMkLst>
            <pc:docMk/>
            <pc:sldMk cId="1489340728" sldId="277"/>
            <ac:spMk id="1031" creationId="{42A4FC2C-047E-45A5-965D-8E1E3BF09BC6}"/>
          </ac:spMkLst>
        </pc:spChg>
        <pc:spChg chg="add del">
          <ac:chgData name="Rishav Singh" userId="4cda0e4c-75b5-49b1-8496-2e8f89d196e4" providerId="ADAL" clId="{8B14EBB8-3B00-42A4-BC8A-58FB6F79DF7C}" dt="2024-07-31T03:01:18.504" v="20" actId="26606"/>
          <ac:spMkLst>
            <pc:docMk/>
            <pc:sldMk cId="1489340728" sldId="277"/>
            <ac:spMk id="1036" creationId="{16B067B1-F4E5-4FDF-813D-C9E872E80075}"/>
          </ac:spMkLst>
        </pc:spChg>
        <pc:spChg chg="add del">
          <ac:chgData name="Rishav Singh" userId="4cda0e4c-75b5-49b1-8496-2e8f89d196e4" providerId="ADAL" clId="{8B14EBB8-3B00-42A4-BC8A-58FB6F79DF7C}" dt="2024-07-31T03:01:31.064" v="24" actId="26606"/>
          <ac:spMkLst>
            <pc:docMk/>
            <pc:sldMk cId="1489340728" sldId="277"/>
            <ac:spMk id="1038" creationId="{42A4FC2C-047E-45A5-965D-8E1E3BF09BC6}"/>
          </ac:spMkLst>
        </pc:spChg>
        <pc:spChg chg="add">
          <ac:chgData name="Rishav Singh" userId="4cda0e4c-75b5-49b1-8496-2e8f89d196e4" providerId="ADAL" clId="{8B14EBB8-3B00-42A4-BC8A-58FB6F79DF7C}" dt="2024-07-31T03:01:31.064" v="24" actId="26606"/>
          <ac:spMkLst>
            <pc:docMk/>
            <pc:sldMk cId="1489340728" sldId="277"/>
            <ac:spMk id="1043" creationId="{32BC26D8-82FB-445E-AA49-62A77D7C1EE0}"/>
          </ac:spMkLst>
        </pc:spChg>
        <pc:spChg chg="add">
          <ac:chgData name="Rishav Singh" userId="4cda0e4c-75b5-49b1-8496-2e8f89d196e4" providerId="ADAL" clId="{8B14EBB8-3B00-42A4-BC8A-58FB6F79DF7C}" dt="2024-07-31T03:01:31.064" v="24" actId="26606"/>
          <ac:spMkLst>
            <pc:docMk/>
            <pc:sldMk cId="1489340728" sldId="277"/>
            <ac:spMk id="1045" creationId="{CB44330D-EA18-4254-AA95-EB49948539B8}"/>
          </ac:spMkLst>
        </pc:spChg>
        <pc:picChg chg="add del mod">
          <ac:chgData name="Rishav Singh" userId="4cda0e4c-75b5-49b1-8496-2e8f89d196e4" providerId="ADAL" clId="{8B14EBB8-3B00-42A4-BC8A-58FB6F79DF7C}" dt="2024-07-31T03:01:22.274" v="22" actId="478"/>
          <ac:picMkLst>
            <pc:docMk/>
            <pc:sldMk cId="1489340728" sldId="277"/>
            <ac:picMk id="1026" creationId="{500DE65B-3447-E1A8-1C18-335FD86A17C6}"/>
          </ac:picMkLst>
        </pc:picChg>
        <pc:picChg chg="add mod">
          <ac:chgData name="Rishav Singh" userId="4cda0e4c-75b5-49b1-8496-2e8f89d196e4" providerId="ADAL" clId="{8B14EBB8-3B00-42A4-BC8A-58FB6F79DF7C}" dt="2024-07-31T03:01:31.064" v="24" actId="26606"/>
          <ac:picMkLst>
            <pc:docMk/>
            <pc:sldMk cId="1489340728" sldId="277"/>
            <ac:picMk id="1028" creationId="{9AFFB7C8-2CB3-BA10-77DD-AEC1E056D85F}"/>
          </ac:picMkLst>
        </pc:picChg>
      </pc:sldChg>
      <pc:sldChg chg="add">
        <pc:chgData name="Rishav Singh" userId="4cda0e4c-75b5-49b1-8496-2e8f89d196e4" providerId="ADAL" clId="{8B14EBB8-3B00-42A4-BC8A-58FB6F79DF7C}" dt="2024-07-31T03:02:16.454" v="26"/>
        <pc:sldMkLst>
          <pc:docMk/>
          <pc:sldMk cId="0" sldId="278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79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2185639293" sldId="279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0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981726967" sldId="280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1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964974628" sldId="281"/>
        </pc:sldMkLst>
      </pc:sldChg>
      <pc:sldChg chg="modSp add del mod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2"/>
        </pc:sldMkLst>
        <pc:picChg chg="mod">
          <ac:chgData name="Rishav Singh" userId="4cda0e4c-75b5-49b1-8496-2e8f89d196e4" providerId="ADAL" clId="{8B14EBB8-3B00-42A4-BC8A-58FB6F79DF7C}" dt="2024-07-31T03:11:44.214" v="40" actId="1038"/>
          <ac:picMkLst>
            <pc:docMk/>
            <pc:sldMk cId="0" sldId="282"/>
            <ac:picMk id="246" creationId="{00000000-0000-0000-0000-000000000000}"/>
          </ac:picMkLst>
        </pc:picChg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57025877" sldId="282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3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060993391" sldId="283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4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341722254" sldId="284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5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3767349750" sldId="285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6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573781689" sldId="286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7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079483865" sldId="287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8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699778740" sldId="288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9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925634032" sldId="289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90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840905468" sldId="290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91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341234058" sldId="291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92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711085698" sldId="292"/>
        </pc:sldMkLst>
      </pc:sldChg>
      <pc:sldChg chg="add">
        <pc:chgData name="Rishav Singh" userId="4cda0e4c-75b5-49b1-8496-2e8f89d196e4" providerId="ADAL" clId="{8B14EBB8-3B00-42A4-BC8A-58FB6F79DF7C}" dt="2024-07-31T03:02:16.454" v="26"/>
        <pc:sldMkLst>
          <pc:docMk/>
          <pc:sldMk cId="2313265482" sldId="301"/>
        </pc:sldMkLst>
      </pc:sldChg>
      <pc:sldChg chg="add">
        <pc:chgData name="Rishav Singh" userId="4cda0e4c-75b5-49b1-8496-2e8f89d196e4" providerId="ADAL" clId="{8B14EBB8-3B00-42A4-BC8A-58FB6F79DF7C}" dt="2024-07-31T03:02:16.454" v="26"/>
        <pc:sldMkLst>
          <pc:docMk/>
          <pc:sldMk cId="2656311873" sldId="302"/>
        </pc:sldMkLst>
      </pc:sldChg>
      <pc:sldChg chg="add">
        <pc:chgData name="Rishav Singh" userId="4cda0e4c-75b5-49b1-8496-2e8f89d196e4" providerId="ADAL" clId="{8B14EBB8-3B00-42A4-BC8A-58FB6F79DF7C}" dt="2024-07-31T03:02:16.454" v="26"/>
        <pc:sldMkLst>
          <pc:docMk/>
          <pc:sldMk cId="4262814844" sldId="303"/>
        </pc:sldMkLst>
      </pc:sldChg>
      <pc:sldChg chg="add del ord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304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2969216581" sldId="304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305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306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307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308"/>
        </pc:sldMkLst>
      </pc:sldChg>
      <pc:sldChg chg="add modNotes">
        <pc:chgData name="Rishav Singh" userId="4cda0e4c-75b5-49b1-8496-2e8f89d196e4" providerId="ADAL" clId="{8B14EBB8-3B00-42A4-BC8A-58FB6F79DF7C}" dt="2024-07-31T03:12:00.496" v="42"/>
        <pc:sldMkLst>
          <pc:docMk/>
          <pc:sldMk cId="0" sldId="309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310"/>
        </pc:sldMkLst>
      </pc:sldChg>
      <pc:sldChg chg="add ord">
        <pc:chgData name="Rishav Singh" userId="4cda0e4c-75b5-49b1-8496-2e8f89d196e4" providerId="ADAL" clId="{8B14EBB8-3B00-42A4-BC8A-58FB6F79DF7C}" dt="2024-07-31T03:12:58.894" v="47"/>
        <pc:sldMkLst>
          <pc:docMk/>
          <pc:sldMk cId="2312519709" sldId="310"/>
        </pc:sldMkLst>
      </pc:sldChg>
      <pc:sldChg chg="add del modNotes">
        <pc:chgData name="Rishav Singh" userId="4cda0e4c-75b5-49b1-8496-2e8f89d196e4" providerId="ADAL" clId="{8B14EBB8-3B00-42A4-BC8A-58FB6F79DF7C}" dt="2024-07-31T03:12:52.204" v="45" actId="47"/>
        <pc:sldMkLst>
          <pc:docMk/>
          <pc:sldMk cId="3792440443" sldId="311"/>
        </pc:sldMkLst>
      </pc:sldChg>
      <pc:sldChg chg="modSp add mod">
        <pc:chgData name="Rishav Singh" userId="4cda0e4c-75b5-49b1-8496-2e8f89d196e4" providerId="ADAL" clId="{8B14EBB8-3B00-42A4-BC8A-58FB6F79DF7C}" dt="2024-07-31T03:03:37.254" v="30" actId="6549"/>
        <pc:sldMkLst>
          <pc:docMk/>
          <pc:sldMk cId="1875810639" sldId="312"/>
        </pc:sldMkLst>
        <pc:graphicFrameChg chg="modGraphic">
          <ac:chgData name="Rishav Singh" userId="4cda0e4c-75b5-49b1-8496-2e8f89d196e4" providerId="ADAL" clId="{8B14EBB8-3B00-42A4-BC8A-58FB6F79DF7C}" dt="2024-07-31T03:03:37.254" v="30" actId="6549"/>
          <ac:graphicFrameMkLst>
            <pc:docMk/>
            <pc:sldMk cId="1875810639" sldId="312"/>
            <ac:graphicFrameMk id="203" creationId="{00000000-0000-0000-0000-000000000000}"/>
          </ac:graphicFrameMkLst>
        </pc:graphicFrameChg>
      </pc:sldChg>
      <pc:sldChg chg="add modNotes">
        <pc:chgData name="Rishav Singh" userId="4cda0e4c-75b5-49b1-8496-2e8f89d196e4" providerId="ADAL" clId="{8B14EBB8-3B00-42A4-BC8A-58FB6F79DF7C}" dt="2024-07-31T03:12:00.496" v="42"/>
        <pc:sldMkLst>
          <pc:docMk/>
          <pc:sldMk cId="1668291077" sldId="313"/>
        </pc:sldMkLst>
      </pc:sldChg>
      <pc:sldChg chg="add del">
        <pc:chgData name="Rishav Singh" userId="4cda0e4c-75b5-49b1-8496-2e8f89d196e4" providerId="ADAL" clId="{8B14EBB8-3B00-42A4-BC8A-58FB6F79DF7C}" dt="2024-07-31T03:12:46.676" v="44" actId="47"/>
        <pc:sldMkLst>
          <pc:docMk/>
          <pc:sldMk cId="1692990625" sldId="314"/>
        </pc:sldMkLst>
      </pc:sldChg>
      <pc:sldChg chg="add del">
        <pc:chgData name="Rishav Singh" userId="4cda0e4c-75b5-49b1-8496-2e8f89d196e4" providerId="ADAL" clId="{8B14EBB8-3B00-42A4-BC8A-58FB6F79DF7C}" dt="2024-07-31T03:12:46.676" v="44" actId="47"/>
        <pc:sldMkLst>
          <pc:docMk/>
          <pc:sldMk cId="1538154861" sldId="315"/>
        </pc:sldMkLst>
      </pc:sldChg>
      <pc:sldChg chg="add del">
        <pc:chgData name="Rishav Singh" userId="4cda0e4c-75b5-49b1-8496-2e8f89d196e4" providerId="ADAL" clId="{8B14EBB8-3B00-42A4-BC8A-58FB6F79DF7C}" dt="2024-07-31T03:12:46.676" v="44" actId="47"/>
        <pc:sldMkLst>
          <pc:docMk/>
          <pc:sldMk cId="344953879" sldId="316"/>
        </pc:sldMkLst>
      </pc:sldChg>
      <pc:sldMasterChg chg="delSldLayout">
        <pc:chgData name="Rishav Singh" userId="4cda0e4c-75b5-49b1-8496-2e8f89d196e4" providerId="ADAL" clId="{8B14EBB8-3B00-42A4-BC8A-58FB6F79DF7C}" dt="2024-07-31T03:12:00.496" v="41" actId="2696"/>
        <pc:sldMasterMkLst>
          <pc:docMk/>
          <pc:sldMasterMk cId="3011872073" sldId="2147483648"/>
        </pc:sldMasterMkLst>
        <pc:sldLayoutChg chg="del">
          <pc:chgData name="Rishav Singh" userId="4cda0e4c-75b5-49b1-8496-2e8f89d196e4" providerId="ADAL" clId="{8B14EBB8-3B00-42A4-BC8A-58FB6F79DF7C}" dt="2024-07-31T03:12:00.496" v="41" actId="2696"/>
          <pc:sldLayoutMkLst>
            <pc:docMk/>
            <pc:sldMasterMk cId="3011872073" sldId="2147483648"/>
            <pc:sldLayoutMk cId="3682549223" sldId="2147483663"/>
          </pc:sldLayoutMkLst>
        </pc:sldLayoutChg>
      </pc:sldMasterChg>
    </pc:docChg>
  </pc:docChgLst>
  <pc:docChgLst>
    <pc:chgData name="Rishav Singh" userId="4cda0e4c-75b5-49b1-8496-2e8f89d196e4" providerId="ADAL" clId="{AED46783-2C38-4294-B70F-6642114B8A21}"/>
    <pc:docChg chg="undo custSel addSld modSld addSection">
      <pc:chgData name="Rishav Singh" userId="4cda0e4c-75b5-49b1-8496-2e8f89d196e4" providerId="ADAL" clId="{AED46783-2C38-4294-B70F-6642114B8A21}" dt="2024-07-30T03:35:06.384" v="1135" actId="1076"/>
      <pc:docMkLst>
        <pc:docMk/>
      </pc:docMkLst>
      <pc:sldChg chg="modSp new mod">
        <pc:chgData name="Rishav Singh" userId="4cda0e4c-75b5-49b1-8496-2e8f89d196e4" providerId="ADAL" clId="{AED46783-2C38-4294-B70F-6642114B8A21}" dt="2024-07-30T03:00:03.961" v="11" actId="20577"/>
        <pc:sldMkLst>
          <pc:docMk/>
          <pc:sldMk cId="2194105561" sldId="256"/>
        </pc:sldMkLst>
        <pc:spChg chg="mod">
          <ac:chgData name="Rishav Singh" userId="4cda0e4c-75b5-49b1-8496-2e8f89d196e4" providerId="ADAL" clId="{AED46783-2C38-4294-B70F-6642114B8A21}" dt="2024-07-30T03:00:03.961" v="11" actId="20577"/>
          <ac:spMkLst>
            <pc:docMk/>
            <pc:sldMk cId="2194105561" sldId="256"/>
            <ac:spMk id="2" creationId="{92FAD78D-A188-4C37-8277-9F6ABA5564FF}"/>
          </ac:spMkLst>
        </pc:spChg>
      </pc:sldChg>
      <pc:sldChg chg="modSp new mod">
        <pc:chgData name="Rishav Singh" userId="4cda0e4c-75b5-49b1-8496-2e8f89d196e4" providerId="ADAL" clId="{AED46783-2C38-4294-B70F-6642114B8A21}" dt="2024-07-30T03:06:39.697" v="506" actId="20577"/>
        <pc:sldMkLst>
          <pc:docMk/>
          <pc:sldMk cId="507132049" sldId="257"/>
        </pc:sldMkLst>
        <pc:spChg chg="mod">
          <ac:chgData name="Rishav Singh" userId="4cda0e4c-75b5-49b1-8496-2e8f89d196e4" providerId="ADAL" clId="{AED46783-2C38-4294-B70F-6642114B8A21}" dt="2024-07-30T03:06:39.697" v="506" actId="20577"/>
          <ac:spMkLst>
            <pc:docMk/>
            <pc:sldMk cId="507132049" sldId="257"/>
            <ac:spMk id="2" creationId="{F36A6A7B-74FB-936C-DA17-516408215C12}"/>
          </ac:spMkLst>
        </pc:spChg>
        <pc:spChg chg="mod">
          <ac:chgData name="Rishav Singh" userId="4cda0e4c-75b5-49b1-8496-2e8f89d196e4" providerId="ADAL" clId="{AED46783-2C38-4294-B70F-6642114B8A21}" dt="2024-07-30T03:06:34.365" v="492" actId="20577"/>
          <ac:spMkLst>
            <pc:docMk/>
            <pc:sldMk cId="507132049" sldId="257"/>
            <ac:spMk id="3" creationId="{6D96DD7E-DEAD-0ECD-08D3-14D83D577BE5}"/>
          </ac:spMkLst>
        </pc:spChg>
      </pc:sldChg>
      <pc:sldChg chg="modSp add mod">
        <pc:chgData name="Rishav Singh" userId="4cda0e4c-75b5-49b1-8496-2e8f89d196e4" providerId="ADAL" clId="{AED46783-2C38-4294-B70F-6642114B8A21}" dt="2024-07-30T03:08:29.631" v="531" actId="27636"/>
        <pc:sldMkLst>
          <pc:docMk/>
          <pc:sldMk cId="4234667864" sldId="258"/>
        </pc:sldMkLst>
        <pc:spChg chg="mod">
          <ac:chgData name="Rishav Singh" userId="4cda0e4c-75b5-49b1-8496-2e8f89d196e4" providerId="ADAL" clId="{AED46783-2C38-4294-B70F-6642114B8A21}" dt="2024-07-30T03:06:48.562" v="510" actId="20577"/>
          <ac:spMkLst>
            <pc:docMk/>
            <pc:sldMk cId="4234667864" sldId="258"/>
            <ac:spMk id="2" creationId="{F36A6A7B-74FB-936C-DA17-516408215C12}"/>
          </ac:spMkLst>
        </pc:spChg>
        <pc:spChg chg="mod">
          <ac:chgData name="Rishav Singh" userId="4cda0e4c-75b5-49b1-8496-2e8f89d196e4" providerId="ADAL" clId="{AED46783-2C38-4294-B70F-6642114B8A21}" dt="2024-07-30T03:08:29.631" v="531" actId="27636"/>
          <ac:spMkLst>
            <pc:docMk/>
            <pc:sldMk cId="4234667864" sldId="258"/>
            <ac:spMk id="3" creationId="{6D96DD7E-DEAD-0ECD-08D3-14D83D577BE5}"/>
          </ac:spMkLst>
        </pc:spChg>
      </pc:sldChg>
      <pc:sldChg chg="modSp new mod">
        <pc:chgData name="Rishav Singh" userId="4cda0e4c-75b5-49b1-8496-2e8f89d196e4" providerId="ADAL" clId="{AED46783-2C38-4294-B70F-6642114B8A21}" dt="2024-07-30T03:10:51.231" v="727" actId="20577"/>
        <pc:sldMkLst>
          <pc:docMk/>
          <pc:sldMk cId="1295763134" sldId="259"/>
        </pc:sldMkLst>
        <pc:spChg chg="mod">
          <ac:chgData name="Rishav Singh" userId="4cda0e4c-75b5-49b1-8496-2e8f89d196e4" providerId="ADAL" clId="{AED46783-2C38-4294-B70F-6642114B8A21}" dt="2024-07-30T03:10:51.231" v="727" actId="20577"/>
          <ac:spMkLst>
            <pc:docMk/>
            <pc:sldMk cId="1295763134" sldId="259"/>
            <ac:spMk id="2" creationId="{36309142-EC7D-8466-7A91-F12250522173}"/>
          </ac:spMkLst>
        </pc:spChg>
        <pc:spChg chg="mod">
          <ac:chgData name="Rishav Singh" userId="4cda0e4c-75b5-49b1-8496-2e8f89d196e4" providerId="ADAL" clId="{AED46783-2C38-4294-B70F-6642114B8A21}" dt="2024-07-30T03:08:39.770" v="535" actId="20577"/>
          <ac:spMkLst>
            <pc:docMk/>
            <pc:sldMk cId="1295763134" sldId="259"/>
            <ac:spMk id="3" creationId="{F0F41F77-01A5-D812-A535-FBC08B93082F}"/>
          </ac:spMkLst>
        </pc:spChg>
        <pc:spChg chg="mod">
          <ac:chgData name="Rishav Singh" userId="4cda0e4c-75b5-49b1-8496-2e8f89d196e4" providerId="ADAL" clId="{AED46783-2C38-4294-B70F-6642114B8A21}" dt="2024-07-30T03:09:48.259" v="667" actId="20577"/>
          <ac:spMkLst>
            <pc:docMk/>
            <pc:sldMk cId="1295763134" sldId="259"/>
            <ac:spMk id="4" creationId="{43A5EE1A-47FD-ECB4-0816-0957DF5D3663}"/>
          </ac:spMkLst>
        </pc:spChg>
        <pc:spChg chg="mod">
          <ac:chgData name="Rishav Singh" userId="4cda0e4c-75b5-49b1-8496-2e8f89d196e4" providerId="ADAL" clId="{AED46783-2C38-4294-B70F-6642114B8A21}" dt="2024-07-30T03:08:42.232" v="537" actId="20577"/>
          <ac:spMkLst>
            <pc:docMk/>
            <pc:sldMk cId="1295763134" sldId="259"/>
            <ac:spMk id="5" creationId="{5E6059F7-CE9C-AF5E-0498-BF8E006C5C90}"/>
          </ac:spMkLst>
        </pc:spChg>
        <pc:spChg chg="mod">
          <ac:chgData name="Rishav Singh" userId="4cda0e4c-75b5-49b1-8496-2e8f89d196e4" providerId="ADAL" clId="{AED46783-2C38-4294-B70F-6642114B8A21}" dt="2024-07-30T03:10:44.903" v="715" actId="20577"/>
          <ac:spMkLst>
            <pc:docMk/>
            <pc:sldMk cId="1295763134" sldId="259"/>
            <ac:spMk id="6" creationId="{29474724-D9BC-8AA8-30C2-330DA6FBCB5D}"/>
          </ac:spMkLst>
        </pc:spChg>
      </pc:sldChg>
      <pc:sldChg chg="addSp modSp new mod">
        <pc:chgData name="Rishav Singh" userId="4cda0e4c-75b5-49b1-8496-2e8f89d196e4" providerId="ADAL" clId="{AED46783-2C38-4294-B70F-6642114B8A21}" dt="2024-07-30T03:16:06.356" v="843" actId="207"/>
        <pc:sldMkLst>
          <pc:docMk/>
          <pc:sldMk cId="318082284" sldId="260"/>
        </pc:sldMkLst>
        <pc:spChg chg="add mod">
          <ac:chgData name="Rishav Singh" userId="4cda0e4c-75b5-49b1-8496-2e8f89d196e4" providerId="ADAL" clId="{AED46783-2C38-4294-B70F-6642114B8A21}" dt="2024-07-30T03:12:01.036" v="734" actId="207"/>
          <ac:spMkLst>
            <pc:docMk/>
            <pc:sldMk cId="318082284" sldId="260"/>
            <ac:spMk id="2" creationId="{7CABDB08-B84B-C67D-959D-A358BCE87490}"/>
          </ac:spMkLst>
        </pc:spChg>
        <pc:spChg chg="add mod ord">
          <ac:chgData name="Rishav Singh" userId="4cda0e4c-75b5-49b1-8496-2e8f89d196e4" providerId="ADAL" clId="{AED46783-2C38-4294-B70F-6642114B8A21}" dt="2024-07-30T03:14:21.943" v="822" actId="1076"/>
          <ac:spMkLst>
            <pc:docMk/>
            <pc:sldMk cId="318082284" sldId="260"/>
            <ac:spMk id="3" creationId="{AE6EF6C3-03F5-6104-74CF-B480CDA01F61}"/>
          </ac:spMkLst>
        </pc:spChg>
        <pc:spChg chg="add mod">
          <ac:chgData name="Rishav Singh" userId="4cda0e4c-75b5-49b1-8496-2e8f89d196e4" providerId="ADAL" clId="{AED46783-2C38-4294-B70F-6642114B8A21}" dt="2024-07-30T03:15:57.100" v="842" actId="208"/>
          <ac:spMkLst>
            <pc:docMk/>
            <pc:sldMk cId="318082284" sldId="260"/>
            <ac:spMk id="4" creationId="{CEFAD8EA-C4D3-5C42-51D4-FA6EE313FD86}"/>
          </ac:spMkLst>
        </pc:spChg>
        <pc:spChg chg="add mod">
          <ac:chgData name="Rishav Singh" userId="4cda0e4c-75b5-49b1-8496-2e8f89d196e4" providerId="ADAL" clId="{AED46783-2C38-4294-B70F-6642114B8A21}" dt="2024-07-30T03:15:43.489" v="839" actId="207"/>
          <ac:spMkLst>
            <pc:docMk/>
            <pc:sldMk cId="318082284" sldId="260"/>
            <ac:spMk id="5" creationId="{5EECA632-88C6-553A-59F2-AA49C8ECDC2B}"/>
          </ac:spMkLst>
        </pc:spChg>
        <pc:spChg chg="add mod">
          <ac:chgData name="Rishav Singh" userId="4cda0e4c-75b5-49b1-8496-2e8f89d196e4" providerId="ADAL" clId="{AED46783-2C38-4294-B70F-6642114B8A21}" dt="2024-07-30T03:13:10.848" v="768" actId="1076"/>
          <ac:spMkLst>
            <pc:docMk/>
            <pc:sldMk cId="318082284" sldId="260"/>
            <ac:spMk id="6" creationId="{31642A27-13B8-6D65-4C68-C10999231F97}"/>
          </ac:spMkLst>
        </pc:spChg>
        <pc:spChg chg="add mod ord">
          <ac:chgData name="Rishav Singh" userId="4cda0e4c-75b5-49b1-8496-2e8f89d196e4" providerId="ADAL" clId="{AED46783-2C38-4294-B70F-6642114B8A21}" dt="2024-07-30T03:14:16.185" v="821" actId="166"/>
          <ac:spMkLst>
            <pc:docMk/>
            <pc:sldMk cId="318082284" sldId="260"/>
            <ac:spMk id="7" creationId="{78436916-0A44-9CEE-5161-AC78457FE933}"/>
          </ac:spMkLst>
        </pc:spChg>
        <pc:spChg chg="add mod">
          <ac:chgData name="Rishav Singh" userId="4cda0e4c-75b5-49b1-8496-2e8f89d196e4" providerId="ADAL" clId="{AED46783-2C38-4294-B70F-6642114B8A21}" dt="2024-07-30T03:14:00.915" v="817" actId="1076"/>
          <ac:spMkLst>
            <pc:docMk/>
            <pc:sldMk cId="318082284" sldId="260"/>
            <ac:spMk id="8" creationId="{790A299F-1788-71AA-CA9D-78D33D622D20}"/>
          </ac:spMkLst>
        </pc:spChg>
        <pc:spChg chg="add mod">
          <ac:chgData name="Rishav Singh" userId="4cda0e4c-75b5-49b1-8496-2e8f89d196e4" providerId="ADAL" clId="{AED46783-2C38-4294-B70F-6642114B8A21}" dt="2024-07-30T03:13:56.706" v="816" actId="1076"/>
          <ac:spMkLst>
            <pc:docMk/>
            <pc:sldMk cId="318082284" sldId="260"/>
            <ac:spMk id="9" creationId="{2F4C94D3-8A7B-D41F-78DC-A1C5B8A5FC72}"/>
          </ac:spMkLst>
        </pc:spChg>
        <pc:spChg chg="add mod">
          <ac:chgData name="Rishav Singh" userId="4cda0e4c-75b5-49b1-8496-2e8f89d196e4" providerId="ADAL" clId="{AED46783-2C38-4294-B70F-6642114B8A21}" dt="2024-07-30T03:16:06.356" v="843" actId="207"/>
          <ac:spMkLst>
            <pc:docMk/>
            <pc:sldMk cId="318082284" sldId="260"/>
            <ac:spMk id="10" creationId="{30718BB8-C4F1-E46E-8035-4C1296562AD4}"/>
          </ac:spMkLst>
        </pc:spChg>
        <pc:spChg chg="add mod">
          <ac:chgData name="Rishav Singh" userId="4cda0e4c-75b5-49b1-8496-2e8f89d196e4" providerId="ADAL" clId="{AED46783-2C38-4294-B70F-6642114B8A21}" dt="2024-07-30T03:14:49.768" v="838" actId="1076"/>
          <ac:spMkLst>
            <pc:docMk/>
            <pc:sldMk cId="318082284" sldId="260"/>
            <ac:spMk id="11" creationId="{E05A1CF3-3EE4-3593-BBF3-B3EA8771AFA0}"/>
          </ac:spMkLst>
        </pc:spChg>
      </pc:sldChg>
      <pc:sldChg chg="addSp delSp modSp new mod">
        <pc:chgData name="Rishav Singh" userId="4cda0e4c-75b5-49b1-8496-2e8f89d196e4" providerId="ADAL" clId="{AED46783-2C38-4294-B70F-6642114B8A21}" dt="2024-07-30T03:33:48.231" v="1131" actId="1076"/>
        <pc:sldMkLst>
          <pc:docMk/>
          <pc:sldMk cId="3359718397" sldId="261"/>
        </pc:sldMkLst>
        <pc:spChg chg="mod">
          <ac:chgData name="Rishav Singh" userId="4cda0e4c-75b5-49b1-8496-2e8f89d196e4" providerId="ADAL" clId="{AED46783-2C38-4294-B70F-6642114B8A21}" dt="2024-07-30T03:33:00.970" v="1119" actId="1076"/>
          <ac:spMkLst>
            <pc:docMk/>
            <pc:sldMk cId="3359718397" sldId="261"/>
            <ac:spMk id="2" creationId="{0894FDF6-6A49-E89B-6811-643FC4D86621}"/>
          </ac:spMkLst>
        </pc:spChg>
        <pc:spChg chg="mod">
          <ac:chgData name="Rishav Singh" userId="4cda0e4c-75b5-49b1-8496-2e8f89d196e4" providerId="ADAL" clId="{AED46783-2C38-4294-B70F-6642114B8A21}" dt="2024-07-30T03:33:48.231" v="1131" actId="1076"/>
          <ac:spMkLst>
            <pc:docMk/>
            <pc:sldMk cId="3359718397" sldId="261"/>
            <ac:spMk id="3" creationId="{1F051659-05FB-ED00-E394-A6B57FE1F024}"/>
          </ac:spMkLst>
        </pc:spChg>
        <pc:spChg chg="add del mod">
          <ac:chgData name="Rishav Singh" userId="4cda0e4c-75b5-49b1-8496-2e8f89d196e4" providerId="ADAL" clId="{AED46783-2C38-4294-B70F-6642114B8A21}" dt="2024-07-30T03:29:23.866" v="1091" actId="478"/>
          <ac:spMkLst>
            <pc:docMk/>
            <pc:sldMk cId="3359718397" sldId="261"/>
            <ac:spMk id="4" creationId="{7496D83E-6074-BAD0-6461-76BFBBDA69C4}"/>
          </ac:spMkLst>
        </pc:spChg>
        <pc:spChg chg="add del mod">
          <ac:chgData name="Rishav Singh" userId="4cda0e4c-75b5-49b1-8496-2e8f89d196e4" providerId="ADAL" clId="{AED46783-2C38-4294-B70F-6642114B8A21}" dt="2024-07-30T03:29:22.171" v="1090" actId="478"/>
          <ac:spMkLst>
            <pc:docMk/>
            <pc:sldMk cId="3359718397" sldId="261"/>
            <ac:spMk id="5" creationId="{00229241-30F9-8205-EF19-E55EDB0E9A2A}"/>
          </ac:spMkLst>
        </pc:spChg>
      </pc:sldChg>
      <pc:sldChg chg="modSp add mod">
        <pc:chgData name="Rishav Singh" userId="4cda0e4c-75b5-49b1-8496-2e8f89d196e4" providerId="ADAL" clId="{AED46783-2C38-4294-B70F-6642114B8A21}" dt="2024-07-30T03:35:06.384" v="1135" actId="1076"/>
        <pc:sldMkLst>
          <pc:docMk/>
          <pc:sldMk cId="0" sldId="276"/>
        </pc:sldMkLst>
        <pc:spChg chg="mod">
          <ac:chgData name="Rishav Singh" userId="4cda0e4c-75b5-49b1-8496-2e8f89d196e4" providerId="ADAL" clId="{AED46783-2C38-4294-B70F-6642114B8A21}" dt="2024-07-30T03:35:06.384" v="1135" actId="1076"/>
          <ac:spMkLst>
            <pc:docMk/>
            <pc:sldMk cId="0" sldId="276"/>
            <ac:spMk id="205" creationId="{00000000-0000-0000-0000-000000000000}"/>
          </ac:spMkLst>
        </pc:spChg>
        <pc:graphicFrameChg chg="modGraphic">
          <ac:chgData name="Rishav Singh" userId="4cda0e4c-75b5-49b1-8496-2e8f89d196e4" providerId="ADAL" clId="{AED46783-2C38-4294-B70F-6642114B8A21}" dt="2024-07-30T03:35:00.387" v="1133" actId="6549"/>
          <ac:graphicFrameMkLst>
            <pc:docMk/>
            <pc:sldMk cId="0" sldId="276"/>
            <ac:graphicFrameMk id="203" creationId="{00000000-0000-0000-0000-000000000000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427AB9-956A-4902-AC23-C738BBC00DF7}" type="doc">
      <dgm:prSet loTypeId="urn:microsoft.com/office/officeart/2011/layout/TabList" loCatId="list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84A73D9-4F20-405C-8427-7666C6C2D514}">
      <dgm:prSet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Training set 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B1D467-575E-46D9-AE7B-06B51FF002C6}" type="parTrans" cxnId="{9DFA5B26-951E-4230-B3BA-776F0413C58A}">
      <dgm:prSet/>
      <dgm:spPr/>
      <dgm:t>
        <a:bodyPr/>
        <a:lstStyle/>
        <a:p>
          <a:endParaRPr lang="en-US"/>
        </a:p>
      </dgm:t>
    </dgm:pt>
    <dgm:pt modelId="{4584C423-0981-4B50-8EBF-399DDA58CE21}" type="sibTrans" cxnId="{9DFA5B26-951E-4230-B3BA-776F0413C58A}">
      <dgm:prSet/>
      <dgm:spPr/>
      <dgm:t>
        <a:bodyPr/>
        <a:lstStyle/>
        <a:p>
          <a:endParaRPr lang="en-US"/>
        </a:p>
      </dgm:t>
    </dgm:pt>
    <dgm:pt modelId="{DD53E190-43EF-414F-AC50-522BD8836DF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Which you run your learning algorithm on.</a:t>
          </a:r>
        </a:p>
      </dgm:t>
    </dgm:pt>
    <dgm:pt modelId="{8CB4F6D1-0383-4E7D-ADD4-A7723F099754}" type="parTrans" cxnId="{04382E98-AEDB-49BD-BBB4-9F065ABB0755}">
      <dgm:prSet/>
      <dgm:spPr/>
      <dgm:t>
        <a:bodyPr/>
        <a:lstStyle/>
        <a:p>
          <a:endParaRPr lang="en-US"/>
        </a:p>
      </dgm:t>
    </dgm:pt>
    <dgm:pt modelId="{835E9017-C4A4-48C3-A0F9-2BAA4E357D28}" type="sibTrans" cxnId="{04382E98-AEDB-49BD-BBB4-9F065ABB0755}">
      <dgm:prSet/>
      <dgm:spPr/>
      <dgm:t>
        <a:bodyPr/>
        <a:lstStyle/>
        <a:p>
          <a:endParaRPr lang="en-US"/>
        </a:p>
      </dgm:t>
    </dgm:pt>
    <dgm:pt modelId="{E39C40BE-4E03-4864-94AB-140CA5243338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Dev (development) set </a:t>
          </a:r>
          <a:r>
            <a: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or Validation Set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CAE0A8A-E10F-4457-914E-1315D82E51EA}" type="parTrans" cxnId="{45DA996A-8A2A-455B-8894-9610C2C846BE}">
      <dgm:prSet/>
      <dgm:spPr/>
      <dgm:t>
        <a:bodyPr/>
        <a:lstStyle/>
        <a:p>
          <a:endParaRPr lang="en-US"/>
        </a:p>
      </dgm:t>
    </dgm:pt>
    <dgm:pt modelId="{F00EDD47-A6A7-4275-A354-746134B1705C}" type="sibTrans" cxnId="{45DA996A-8A2A-455B-8894-9610C2C846BE}">
      <dgm:prSet/>
      <dgm:spPr/>
      <dgm:t>
        <a:bodyPr/>
        <a:lstStyle/>
        <a:p>
          <a:endParaRPr lang="en-US"/>
        </a:p>
      </dgm:t>
    </dgm:pt>
    <dgm:pt modelId="{ACA6830A-3D0E-4A3E-A99E-D243A08CD49E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Which you use to tune parameters, select features, and make other decisions regarding the learning algorithm. Sometimes also called the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hold-out cross validation set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4E7C9C3E-8174-449E-84B3-3F56F788EDAE}" type="parTrans" cxnId="{B514E555-D9DF-434D-A85D-080C05F8860C}">
      <dgm:prSet/>
      <dgm:spPr/>
      <dgm:t>
        <a:bodyPr/>
        <a:lstStyle/>
        <a:p>
          <a:endParaRPr lang="en-US"/>
        </a:p>
      </dgm:t>
    </dgm:pt>
    <dgm:pt modelId="{49D21FE5-B37D-4247-9B3C-9E324F829CBE}" type="sibTrans" cxnId="{B514E555-D9DF-434D-A85D-080C05F8860C}">
      <dgm:prSet/>
      <dgm:spPr/>
      <dgm:t>
        <a:bodyPr/>
        <a:lstStyle/>
        <a:p>
          <a:endParaRPr lang="en-US"/>
        </a:p>
      </dgm:t>
    </dgm:pt>
    <dgm:pt modelId="{19E7AF20-5102-4D15-A0BE-6A70CD612ECB}">
      <dgm:prSet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Test set 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386ED8-B227-458F-950E-D2155ACC9451}" type="parTrans" cxnId="{1C633E94-F015-46D0-8751-DD31947C99DA}">
      <dgm:prSet/>
      <dgm:spPr/>
      <dgm:t>
        <a:bodyPr/>
        <a:lstStyle/>
        <a:p>
          <a:endParaRPr lang="en-US"/>
        </a:p>
      </dgm:t>
    </dgm:pt>
    <dgm:pt modelId="{C71C69E5-050C-47F6-ACA3-CE68D75A8C75}" type="sibTrans" cxnId="{1C633E94-F015-46D0-8751-DD31947C99DA}">
      <dgm:prSet/>
      <dgm:spPr/>
      <dgm:t>
        <a:bodyPr/>
        <a:lstStyle/>
        <a:p>
          <a:endParaRPr lang="en-US"/>
        </a:p>
      </dgm:t>
    </dgm:pt>
    <dgm:pt modelId="{C9F1E2DF-2864-4703-97DE-545B5CC90E18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which you use to evaluate the performance of the algorithm, but not to make any decisions regarding what learning algorithm or parameters to use.</a:t>
          </a:r>
        </a:p>
      </dgm:t>
    </dgm:pt>
    <dgm:pt modelId="{C81FED07-47D9-4E29-AC40-97F11E19EA86}" type="parTrans" cxnId="{A1A754D0-C2EB-4C04-A72A-09E24D24C48A}">
      <dgm:prSet/>
      <dgm:spPr/>
      <dgm:t>
        <a:bodyPr/>
        <a:lstStyle/>
        <a:p>
          <a:endParaRPr lang="en-US"/>
        </a:p>
      </dgm:t>
    </dgm:pt>
    <dgm:pt modelId="{F3F0DC6A-756D-40B1-AB84-A2BCADA68D3D}" type="sibTrans" cxnId="{A1A754D0-C2EB-4C04-A72A-09E24D24C48A}">
      <dgm:prSet/>
      <dgm:spPr/>
      <dgm:t>
        <a:bodyPr/>
        <a:lstStyle/>
        <a:p>
          <a:endParaRPr lang="en-US"/>
        </a:p>
      </dgm:t>
    </dgm:pt>
    <dgm:pt modelId="{805FE802-961A-4756-8C02-26B033536F76}" type="pres">
      <dgm:prSet presAssocID="{EC427AB9-956A-4902-AC23-C738BBC00DF7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BB39263E-6061-4A40-8546-D1DEF396ACFA}" type="pres">
      <dgm:prSet presAssocID="{284A73D9-4F20-405C-8427-7666C6C2D514}" presName="composite" presStyleCnt="0"/>
      <dgm:spPr/>
    </dgm:pt>
    <dgm:pt modelId="{23B65EF1-043B-4A8D-A7E5-0D3E4AB02A87}" type="pres">
      <dgm:prSet presAssocID="{284A73D9-4F20-405C-8427-7666C6C2D514}" presName="FirstChild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CBD802-714A-4E48-8C76-069E8F3012C8}" type="pres">
      <dgm:prSet presAssocID="{284A73D9-4F20-405C-8427-7666C6C2D514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E66C03-19E0-489D-90B9-68838ACCB3C7}" type="pres">
      <dgm:prSet presAssocID="{284A73D9-4F20-405C-8427-7666C6C2D514}" presName="Accent" presStyleLbl="parChTrans1D1" presStyleIdx="0" presStyleCnt="3"/>
      <dgm:spPr/>
    </dgm:pt>
    <dgm:pt modelId="{0A74D4CE-02AF-46E3-BC39-D4D3E656EC10}" type="pres">
      <dgm:prSet presAssocID="{4584C423-0981-4B50-8EBF-399DDA58CE21}" presName="sibTrans" presStyleCnt="0"/>
      <dgm:spPr/>
    </dgm:pt>
    <dgm:pt modelId="{01F80E72-8191-48C5-B60A-CDBC435397C4}" type="pres">
      <dgm:prSet presAssocID="{E39C40BE-4E03-4864-94AB-140CA5243338}" presName="composite" presStyleCnt="0"/>
      <dgm:spPr/>
    </dgm:pt>
    <dgm:pt modelId="{B4F30AAC-A893-45AB-B2DD-5283C24F3BCE}" type="pres">
      <dgm:prSet presAssocID="{E39C40BE-4E03-4864-94AB-140CA5243338}" presName="FirstChild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C8F506-F92A-4CC2-892C-02465450CB2F}" type="pres">
      <dgm:prSet presAssocID="{E39C40BE-4E03-4864-94AB-140CA5243338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2D13F1-2418-4F82-A87D-9B6FC7FB291E}" type="pres">
      <dgm:prSet presAssocID="{E39C40BE-4E03-4864-94AB-140CA5243338}" presName="Accent" presStyleLbl="parChTrans1D1" presStyleIdx="1" presStyleCnt="3"/>
      <dgm:spPr/>
    </dgm:pt>
    <dgm:pt modelId="{0283FB65-A3A2-4BE5-9F39-50CC35B82D25}" type="pres">
      <dgm:prSet presAssocID="{F00EDD47-A6A7-4275-A354-746134B1705C}" presName="sibTrans" presStyleCnt="0"/>
      <dgm:spPr/>
    </dgm:pt>
    <dgm:pt modelId="{A1DDADF0-B8B9-45D0-BFA2-C9FF0CC66914}" type="pres">
      <dgm:prSet presAssocID="{19E7AF20-5102-4D15-A0BE-6A70CD612ECB}" presName="composite" presStyleCnt="0"/>
      <dgm:spPr/>
    </dgm:pt>
    <dgm:pt modelId="{2E5268E7-505F-4C42-91FA-D806166F0C17}" type="pres">
      <dgm:prSet presAssocID="{19E7AF20-5102-4D15-A0BE-6A70CD612ECB}" presName="FirstChild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65222F-C97E-49F6-9B7A-FB9FFF46EA29}" type="pres">
      <dgm:prSet presAssocID="{19E7AF20-5102-4D15-A0BE-6A70CD612ECB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FA0431-1FBD-42E4-99B9-9B45A04B6FB5}" type="pres">
      <dgm:prSet presAssocID="{19E7AF20-5102-4D15-A0BE-6A70CD612ECB}" presName="Accent" presStyleLbl="parChTrans1D1" presStyleIdx="2" presStyleCnt="3"/>
      <dgm:spPr/>
    </dgm:pt>
  </dgm:ptLst>
  <dgm:cxnLst>
    <dgm:cxn modelId="{C35346FE-429F-40C4-89D3-1C55A53BB4F0}" type="presOf" srcId="{19E7AF20-5102-4D15-A0BE-6A70CD612ECB}" destId="{B965222F-C97E-49F6-9B7A-FB9FFF46EA29}" srcOrd="0" destOrd="0" presId="urn:microsoft.com/office/officeart/2011/layout/TabList"/>
    <dgm:cxn modelId="{A4ED3DEB-7B9D-4EF1-B443-FF58A1C7870D}" type="presOf" srcId="{E39C40BE-4E03-4864-94AB-140CA5243338}" destId="{42C8F506-F92A-4CC2-892C-02465450CB2F}" srcOrd="0" destOrd="0" presId="urn:microsoft.com/office/officeart/2011/layout/TabList"/>
    <dgm:cxn modelId="{D5CC38CA-4A01-417C-9A44-5E04C6BF145E}" type="presOf" srcId="{EC427AB9-956A-4902-AC23-C738BBC00DF7}" destId="{805FE802-961A-4756-8C02-26B033536F76}" srcOrd="0" destOrd="0" presId="urn:microsoft.com/office/officeart/2011/layout/TabList"/>
    <dgm:cxn modelId="{B514E555-D9DF-434D-A85D-080C05F8860C}" srcId="{E39C40BE-4E03-4864-94AB-140CA5243338}" destId="{ACA6830A-3D0E-4A3E-A99E-D243A08CD49E}" srcOrd="0" destOrd="0" parTransId="{4E7C9C3E-8174-449E-84B3-3F56F788EDAE}" sibTransId="{49D21FE5-B37D-4247-9B3C-9E324F829CBE}"/>
    <dgm:cxn modelId="{5C9AA932-6556-4B37-BC9A-848F4C130F1F}" type="presOf" srcId="{DD53E190-43EF-414F-AC50-522BD8836DF1}" destId="{23B65EF1-043B-4A8D-A7E5-0D3E4AB02A87}" srcOrd="0" destOrd="0" presId="urn:microsoft.com/office/officeart/2011/layout/TabList"/>
    <dgm:cxn modelId="{A1A754D0-C2EB-4C04-A72A-09E24D24C48A}" srcId="{19E7AF20-5102-4D15-A0BE-6A70CD612ECB}" destId="{C9F1E2DF-2864-4703-97DE-545B5CC90E18}" srcOrd="0" destOrd="0" parTransId="{C81FED07-47D9-4E29-AC40-97F11E19EA86}" sibTransId="{F3F0DC6A-756D-40B1-AB84-A2BCADA68D3D}"/>
    <dgm:cxn modelId="{1C633E94-F015-46D0-8751-DD31947C99DA}" srcId="{EC427AB9-956A-4902-AC23-C738BBC00DF7}" destId="{19E7AF20-5102-4D15-A0BE-6A70CD612ECB}" srcOrd="2" destOrd="0" parTransId="{63386ED8-B227-458F-950E-D2155ACC9451}" sibTransId="{C71C69E5-050C-47F6-ACA3-CE68D75A8C75}"/>
    <dgm:cxn modelId="{00D0F647-0F11-45F0-A186-7853901D6FD4}" type="presOf" srcId="{C9F1E2DF-2864-4703-97DE-545B5CC90E18}" destId="{2E5268E7-505F-4C42-91FA-D806166F0C17}" srcOrd="0" destOrd="0" presId="urn:microsoft.com/office/officeart/2011/layout/TabList"/>
    <dgm:cxn modelId="{9DFA5B26-951E-4230-B3BA-776F0413C58A}" srcId="{EC427AB9-956A-4902-AC23-C738BBC00DF7}" destId="{284A73D9-4F20-405C-8427-7666C6C2D514}" srcOrd="0" destOrd="0" parTransId="{4CB1D467-575E-46D9-AE7B-06B51FF002C6}" sibTransId="{4584C423-0981-4B50-8EBF-399DDA58CE21}"/>
    <dgm:cxn modelId="{05AAE163-8A04-42D6-90FF-31F40436E691}" type="presOf" srcId="{284A73D9-4F20-405C-8427-7666C6C2D514}" destId="{BECBD802-714A-4E48-8C76-069E8F3012C8}" srcOrd="0" destOrd="0" presId="urn:microsoft.com/office/officeart/2011/layout/TabList"/>
    <dgm:cxn modelId="{0A3A7A52-E987-44BD-A985-36AABA93213F}" type="presOf" srcId="{ACA6830A-3D0E-4A3E-A99E-D243A08CD49E}" destId="{B4F30AAC-A893-45AB-B2DD-5283C24F3BCE}" srcOrd="0" destOrd="0" presId="urn:microsoft.com/office/officeart/2011/layout/TabList"/>
    <dgm:cxn modelId="{45DA996A-8A2A-455B-8894-9610C2C846BE}" srcId="{EC427AB9-956A-4902-AC23-C738BBC00DF7}" destId="{E39C40BE-4E03-4864-94AB-140CA5243338}" srcOrd="1" destOrd="0" parTransId="{1CAE0A8A-E10F-4457-914E-1315D82E51EA}" sibTransId="{F00EDD47-A6A7-4275-A354-746134B1705C}"/>
    <dgm:cxn modelId="{04382E98-AEDB-49BD-BBB4-9F065ABB0755}" srcId="{284A73D9-4F20-405C-8427-7666C6C2D514}" destId="{DD53E190-43EF-414F-AC50-522BD8836DF1}" srcOrd="0" destOrd="0" parTransId="{8CB4F6D1-0383-4E7D-ADD4-A7723F099754}" sibTransId="{835E9017-C4A4-48C3-A0F9-2BAA4E357D28}"/>
    <dgm:cxn modelId="{99804B9B-BECA-4BFC-81E7-70A10907638E}" type="presParOf" srcId="{805FE802-961A-4756-8C02-26B033536F76}" destId="{BB39263E-6061-4A40-8546-D1DEF396ACFA}" srcOrd="0" destOrd="0" presId="urn:microsoft.com/office/officeart/2011/layout/TabList"/>
    <dgm:cxn modelId="{3E9D0644-2F57-471D-AB91-1F9200EE043B}" type="presParOf" srcId="{BB39263E-6061-4A40-8546-D1DEF396ACFA}" destId="{23B65EF1-043B-4A8D-A7E5-0D3E4AB02A87}" srcOrd="0" destOrd="0" presId="urn:microsoft.com/office/officeart/2011/layout/TabList"/>
    <dgm:cxn modelId="{EA169F24-B14E-41E5-B992-24CB6DE50141}" type="presParOf" srcId="{BB39263E-6061-4A40-8546-D1DEF396ACFA}" destId="{BECBD802-714A-4E48-8C76-069E8F3012C8}" srcOrd="1" destOrd="0" presId="urn:microsoft.com/office/officeart/2011/layout/TabList"/>
    <dgm:cxn modelId="{E63577AE-D1EA-4E03-ADF0-930B2C16BD94}" type="presParOf" srcId="{BB39263E-6061-4A40-8546-D1DEF396ACFA}" destId="{8EE66C03-19E0-489D-90B9-68838ACCB3C7}" srcOrd="2" destOrd="0" presId="urn:microsoft.com/office/officeart/2011/layout/TabList"/>
    <dgm:cxn modelId="{1614A4E2-2740-4CB0-8F7D-161752FAA8AF}" type="presParOf" srcId="{805FE802-961A-4756-8C02-26B033536F76}" destId="{0A74D4CE-02AF-46E3-BC39-D4D3E656EC10}" srcOrd="1" destOrd="0" presId="urn:microsoft.com/office/officeart/2011/layout/TabList"/>
    <dgm:cxn modelId="{E6B9FD96-88E0-4A24-8A70-928685621FC6}" type="presParOf" srcId="{805FE802-961A-4756-8C02-26B033536F76}" destId="{01F80E72-8191-48C5-B60A-CDBC435397C4}" srcOrd="2" destOrd="0" presId="urn:microsoft.com/office/officeart/2011/layout/TabList"/>
    <dgm:cxn modelId="{2BAFF91E-4124-41E2-8169-4908AA3FCB39}" type="presParOf" srcId="{01F80E72-8191-48C5-B60A-CDBC435397C4}" destId="{B4F30AAC-A893-45AB-B2DD-5283C24F3BCE}" srcOrd="0" destOrd="0" presId="urn:microsoft.com/office/officeart/2011/layout/TabList"/>
    <dgm:cxn modelId="{37770498-677A-4434-AFF7-4ECFC345F5C8}" type="presParOf" srcId="{01F80E72-8191-48C5-B60A-CDBC435397C4}" destId="{42C8F506-F92A-4CC2-892C-02465450CB2F}" srcOrd="1" destOrd="0" presId="urn:microsoft.com/office/officeart/2011/layout/TabList"/>
    <dgm:cxn modelId="{2DC94455-9400-49CA-92F5-680F27372C9A}" type="presParOf" srcId="{01F80E72-8191-48C5-B60A-CDBC435397C4}" destId="{1F2D13F1-2418-4F82-A87D-9B6FC7FB291E}" srcOrd="2" destOrd="0" presId="urn:microsoft.com/office/officeart/2011/layout/TabList"/>
    <dgm:cxn modelId="{46CF1EAF-8FD9-40E7-B457-6E82AB330630}" type="presParOf" srcId="{805FE802-961A-4756-8C02-26B033536F76}" destId="{0283FB65-A3A2-4BE5-9F39-50CC35B82D25}" srcOrd="3" destOrd="0" presId="urn:microsoft.com/office/officeart/2011/layout/TabList"/>
    <dgm:cxn modelId="{2758400B-C4CF-49B1-88FB-AE0A4DFAE817}" type="presParOf" srcId="{805FE802-961A-4756-8C02-26B033536F76}" destId="{A1DDADF0-B8B9-45D0-BFA2-C9FF0CC66914}" srcOrd="4" destOrd="0" presId="urn:microsoft.com/office/officeart/2011/layout/TabList"/>
    <dgm:cxn modelId="{8E25A574-7408-42AC-970F-CBF2430320E9}" type="presParOf" srcId="{A1DDADF0-B8B9-45D0-BFA2-C9FF0CC66914}" destId="{2E5268E7-505F-4C42-91FA-D806166F0C17}" srcOrd="0" destOrd="0" presId="urn:microsoft.com/office/officeart/2011/layout/TabList"/>
    <dgm:cxn modelId="{FE8EE4C1-DACD-4CB9-9D44-A0C0D2DEC44C}" type="presParOf" srcId="{A1DDADF0-B8B9-45D0-BFA2-C9FF0CC66914}" destId="{B965222F-C97E-49F6-9B7A-FB9FFF46EA29}" srcOrd="1" destOrd="0" presId="urn:microsoft.com/office/officeart/2011/layout/TabList"/>
    <dgm:cxn modelId="{A159AE60-EC63-4F87-A8D8-ED7037D2F7D0}" type="presParOf" srcId="{A1DDADF0-B8B9-45D0-BFA2-C9FF0CC66914}" destId="{A2FA0431-1FBD-42E4-99B9-9B45A04B6FB5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E9B223-37A1-3243-B208-A2C9A6E58D76}" type="doc">
      <dgm:prSet loTypeId="urn:microsoft.com/office/officeart/2005/8/layout/hProcess9" loCatId="matrix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BFD86B4-BDEC-4048-80B2-C958CDC4FC65}">
      <dgm:prSet custT="1"/>
      <dgm:spPr/>
      <dgm:t>
        <a:bodyPr lIns="111600"/>
        <a:lstStyle/>
        <a:p>
          <a:pPr rtl="0"/>
          <a:r>
            <a:rPr lang="en-US" sz="2100" dirty="0">
              <a:solidFill>
                <a:schemeClr val="bg1"/>
              </a:solidFill>
              <a:latin typeface="Times New Roman" charset="0"/>
              <a:ea typeface="Times New Roman" charset="0"/>
              <a:cs typeface="Times New Roman" charset="0"/>
            </a:rPr>
            <a:t>Learning Rate</a:t>
          </a:r>
        </a:p>
      </dgm:t>
    </dgm:pt>
    <dgm:pt modelId="{722B8918-A0E4-4241-8899-547C3888AF73}" type="parTrans" cxnId="{EB25F827-6A42-D748-A235-2571A11EE9B7}">
      <dgm:prSet/>
      <dgm:spPr/>
      <dgm:t>
        <a:bodyPr/>
        <a:lstStyle/>
        <a:p>
          <a:endParaRPr lang="en-US"/>
        </a:p>
      </dgm:t>
    </dgm:pt>
    <dgm:pt modelId="{C670B363-CF4C-AD4D-8B2D-680E9BF936AC}" type="sibTrans" cxnId="{EB25F827-6A42-D748-A235-2571A11EE9B7}">
      <dgm:prSet/>
      <dgm:spPr/>
      <dgm:t>
        <a:bodyPr/>
        <a:lstStyle/>
        <a:p>
          <a:endParaRPr lang="en-US"/>
        </a:p>
      </dgm:t>
    </dgm:pt>
    <dgm:pt modelId="{EA5BBB86-6AB9-3741-A5EC-4EB2BCF60799}">
      <dgm:prSet custT="1"/>
      <dgm:spPr/>
      <dgm:t>
        <a:bodyPr/>
        <a:lstStyle/>
        <a:p>
          <a:pPr rtl="0"/>
          <a:r>
            <a:rPr lang="en-US" sz="2100" dirty="0">
              <a:solidFill>
                <a:schemeClr val="bg1"/>
              </a:solidFill>
              <a:latin typeface="Times New Roman" charset="0"/>
              <a:ea typeface="Times New Roman" charset="0"/>
              <a:cs typeface="Times New Roman" charset="0"/>
            </a:rPr>
            <a:t>Hidden units</a:t>
          </a:r>
        </a:p>
      </dgm:t>
    </dgm:pt>
    <dgm:pt modelId="{7BE9D9C3-49BE-7744-93EE-F9F59F5C9D09}" type="parTrans" cxnId="{D1A59F90-0F06-B144-8CFF-231F7147C6F1}">
      <dgm:prSet/>
      <dgm:spPr/>
      <dgm:t>
        <a:bodyPr/>
        <a:lstStyle/>
        <a:p>
          <a:endParaRPr lang="en-US"/>
        </a:p>
      </dgm:t>
    </dgm:pt>
    <dgm:pt modelId="{C4D21614-0EDD-DD4F-8596-E09AF6A64960}" type="sibTrans" cxnId="{D1A59F90-0F06-B144-8CFF-231F7147C6F1}">
      <dgm:prSet/>
      <dgm:spPr/>
      <dgm:t>
        <a:bodyPr/>
        <a:lstStyle/>
        <a:p>
          <a:endParaRPr lang="en-US"/>
        </a:p>
      </dgm:t>
    </dgm:pt>
    <dgm:pt modelId="{69242FAD-4DFF-8846-8014-2268ADADCDC9}">
      <dgm:prSet custT="1"/>
      <dgm:spPr/>
      <dgm:t>
        <a:bodyPr/>
        <a:lstStyle/>
        <a:p>
          <a:pPr rtl="0"/>
          <a:r>
            <a:rPr lang="en-US" sz="2100" dirty="0">
              <a:solidFill>
                <a:schemeClr val="bg1"/>
              </a:solidFill>
              <a:latin typeface="Times New Roman" charset="0"/>
              <a:ea typeface="Times New Roman" charset="0"/>
              <a:cs typeface="Times New Roman" charset="0"/>
            </a:rPr>
            <a:t>Mini batch size</a:t>
          </a:r>
        </a:p>
      </dgm:t>
    </dgm:pt>
    <dgm:pt modelId="{448C2FC8-D3F7-6F49-B237-A959F20BC305}" type="parTrans" cxnId="{21507DE9-8AED-BF48-A5FC-F421CF3636B8}">
      <dgm:prSet/>
      <dgm:spPr/>
      <dgm:t>
        <a:bodyPr/>
        <a:lstStyle/>
        <a:p>
          <a:endParaRPr lang="en-US"/>
        </a:p>
      </dgm:t>
    </dgm:pt>
    <dgm:pt modelId="{27C29D06-CCA6-8948-9F55-9F9864FDA03F}" type="sibTrans" cxnId="{21507DE9-8AED-BF48-A5FC-F421CF3636B8}">
      <dgm:prSet/>
      <dgm:spPr/>
      <dgm:t>
        <a:bodyPr/>
        <a:lstStyle/>
        <a:p>
          <a:endParaRPr lang="en-US"/>
        </a:p>
      </dgm:t>
    </dgm:pt>
    <dgm:pt modelId="{190D059A-5167-504B-BC99-536868BFDDA8}">
      <dgm:prSet custT="1"/>
      <dgm:spPr/>
      <dgm:t>
        <a:bodyPr/>
        <a:lstStyle/>
        <a:p>
          <a:pPr rtl="0"/>
          <a:r>
            <a:rPr lang="en-US" sz="2100">
              <a:solidFill>
                <a:schemeClr val="bg1"/>
              </a:solidFill>
              <a:latin typeface="Times New Roman" charset="0"/>
              <a:ea typeface="Times New Roman" charset="0"/>
              <a:cs typeface="Times New Roman" charset="0"/>
            </a:rPr>
            <a:t>Beta</a:t>
          </a:r>
        </a:p>
      </dgm:t>
    </dgm:pt>
    <dgm:pt modelId="{EC4674BE-740E-B242-A7DB-56FB93934106}" type="parTrans" cxnId="{411FB633-CAEE-8843-9CCC-EAEE81E6BB48}">
      <dgm:prSet/>
      <dgm:spPr/>
      <dgm:t>
        <a:bodyPr/>
        <a:lstStyle/>
        <a:p>
          <a:endParaRPr lang="en-US"/>
        </a:p>
      </dgm:t>
    </dgm:pt>
    <dgm:pt modelId="{4DE51E37-786B-4E4E-97F4-457CE4BA3B42}" type="sibTrans" cxnId="{411FB633-CAEE-8843-9CCC-EAEE81E6BB48}">
      <dgm:prSet/>
      <dgm:spPr/>
      <dgm:t>
        <a:bodyPr/>
        <a:lstStyle/>
        <a:p>
          <a:endParaRPr lang="en-US"/>
        </a:p>
      </dgm:t>
    </dgm:pt>
    <dgm:pt modelId="{7FFDF13F-941E-F549-8526-40EEA352DBE3}">
      <dgm:prSet custT="1"/>
      <dgm:spPr/>
      <dgm:t>
        <a:bodyPr/>
        <a:lstStyle/>
        <a:p>
          <a:r>
            <a:rPr lang="en-US" sz="2100" dirty="0">
              <a:solidFill>
                <a:schemeClr val="bg1"/>
              </a:solidFill>
              <a:latin typeface="Times New Roman" charset="0"/>
              <a:ea typeface="Times New Roman" charset="0"/>
              <a:cs typeface="Times New Roman" charset="0"/>
            </a:rPr>
            <a:t>Number of Layers</a:t>
          </a:r>
        </a:p>
      </dgm:t>
    </dgm:pt>
    <dgm:pt modelId="{911BCDA0-80BE-3247-A1F5-87605C560770}" type="parTrans" cxnId="{45F3042F-EF70-6441-88C4-B7E706226D05}">
      <dgm:prSet/>
      <dgm:spPr/>
      <dgm:t>
        <a:bodyPr/>
        <a:lstStyle/>
        <a:p>
          <a:endParaRPr lang="en-US"/>
        </a:p>
      </dgm:t>
    </dgm:pt>
    <dgm:pt modelId="{7697FBB8-A8C2-DE4C-ACF6-69E12E7BC531}" type="sibTrans" cxnId="{45F3042F-EF70-6441-88C4-B7E706226D05}">
      <dgm:prSet/>
      <dgm:spPr/>
      <dgm:t>
        <a:bodyPr/>
        <a:lstStyle/>
        <a:p>
          <a:endParaRPr lang="en-US"/>
        </a:p>
      </dgm:t>
    </dgm:pt>
    <dgm:pt modelId="{11045CA9-3811-3544-91F7-BFC4A0263493}">
      <dgm:prSet custT="1"/>
      <dgm:spPr/>
      <dgm:t>
        <a:bodyPr/>
        <a:lstStyle/>
        <a:p>
          <a:r>
            <a:rPr lang="en-US" sz="2100" dirty="0">
              <a:solidFill>
                <a:schemeClr val="bg1"/>
              </a:solidFill>
              <a:latin typeface="Times New Roman" charset="0"/>
              <a:ea typeface="Times New Roman" charset="0"/>
              <a:cs typeface="Times New Roman" charset="0"/>
            </a:rPr>
            <a:t>Learning Decay Rate</a:t>
          </a:r>
        </a:p>
      </dgm:t>
    </dgm:pt>
    <dgm:pt modelId="{64D9C4FD-E303-2D4C-9FA6-6219039F5CCC}" type="parTrans" cxnId="{0FA2EFC7-B69F-B348-B9A3-62EF8B99D9A7}">
      <dgm:prSet/>
      <dgm:spPr/>
      <dgm:t>
        <a:bodyPr/>
        <a:lstStyle/>
        <a:p>
          <a:endParaRPr lang="en-US"/>
        </a:p>
      </dgm:t>
    </dgm:pt>
    <dgm:pt modelId="{D5E5FF04-715C-5842-BA0D-7DE1F630E00D}" type="sibTrans" cxnId="{0FA2EFC7-B69F-B348-B9A3-62EF8B99D9A7}">
      <dgm:prSet/>
      <dgm:spPr/>
      <dgm:t>
        <a:bodyPr/>
        <a:lstStyle/>
        <a:p>
          <a:endParaRPr lang="en-US"/>
        </a:p>
      </dgm:t>
    </dgm:pt>
    <dgm:pt modelId="{11720837-575D-324D-8AB1-99B28D7CC449}">
      <dgm:prSet custT="1"/>
      <dgm:spPr/>
      <dgm:t>
        <a:bodyPr/>
        <a:lstStyle/>
        <a:p>
          <a:r>
            <a:rPr lang="en-US" sz="2100" dirty="0">
              <a:solidFill>
                <a:schemeClr val="bg1"/>
              </a:solidFill>
              <a:latin typeface="Times New Roman" charset="0"/>
              <a:ea typeface="Times New Roman" charset="0"/>
              <a:cs typeface="Times New Roman" charset="0"/>
            </a:rPr>
            <a:t>Others</a:t>
          </a:r>
        </a:p>
      </dgm:t>
    </dgm:pt>
    <dgm:pt modelId="{EB26C86B-9200-0D4C-9D82-04FFFD51D458}" type="parTrans" cxnId="{CD278C67-8EBA-F148-9E5D-8E83B4C8DBDE}">
      <dgm:prSet/>
      <dgm:spPr/>
      <dgm:t>
        <a:bodyPr/>
        <a:lstStyle/>
        <a:p>
          <a:endParaRPr lang="en-US"/>
        </a:p>
      </dgm:t>
    </dgm:pt>
    <dgm:pt modelId="{04B3AD78-1389-D947-8767-DE522BF1BA7B}" type="sibTrans" cxnId="{CD278C67-8EBA-F148-9E5D-8E83B4C8DBDE}">
      <dgm:prSet/>
      <dgm:spPr/>
      <dgm:t>
        <a:bodyPr/>
        <a:lstStyle/>
        <a:p>
          <a:endParaRPr lang="en-US"/>
        </a:p>
      </dgm:t>
    </dgm:pt>
    <dgm:pt modelId="{E0DEE612-715F-C44F-BD82-A69803AFB434}" type="pres">
      <dgm:prSet presAssocID="{01E9B223-37A1-3243-B208-A2C9A6E58D76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947E303-FBC1-7640-BF99-7463109597E0}" type="pres">
      <dgm:prSet presAssocID="{01E9B223-37A1-3243-B208-A2C9A6E58D76}" presName="arrow" presStyleLbl="bgShp" presStyleIdx="0" presStyleCnt="1"/>
      <dgm:spPr/>
    </dgm:pt>
    <dgm:pt modelId="{FC37D0C7-22C9-2F49-8C02-E94489E7475A}" type="pres">
      <dgm:prSet presAssocID="{01E9B223-37A1-3243-B208-A2C9A6E58D76}" presName="linearProcess" presStyleCnt="0"/>
      <dgm:spPr/>
    </dgm:pt>
    <dgm:pt modelId="{83619DDA-F16B-F44D-90F5-B1FBB7715812}" type="pres">
      <dgm:prSet presAssocID="{2BFD86B4-BDEC-4048-80B2-C958CDC4FC65}" presName="text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77E164-15A1-704B-A309-40125F43C149}" type="pres">
      <dgm:prSet presAssocID="{C670B363-CF4C-AD4D-8B2D-680E9BF936AC}" presName="sibTrans" presStyleCnt="0"/>
      <dgm:spPr/>
    </dgm:pt>
    <dgm:pt modelId="{EA6734A2-5A5C-1B41-B3CA-528FF06E41FD}" type="pres">
      <dgm:prSet presAssocID="{EA5BBB86-6AB9-3741-A5EC-4EB2BCF60799}" presName="text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320596-C240-4A41-8648-5CC79BC3D4D7}" type="pres">
      <dgm:prSet presAssocID="{C4D21614-0EDD-DD4F-8596-E09AF6A64960}" presName="sibTrans" presStyleCnt="0"/>
      <dgm:spPr/>
    </dgm:pt>
    <dgm:pt modelId="{A2031F40-1F10-9146-883D-4CE552DE1B3D}" type="pres">
      <dgm:prSet presAssocID="{69242FAD-4DFF-8846-8014-2268ADADCDC9}" presName="text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659C00-FE93-3249-BF73-979613613CC8}" type="pres">
      <dgm:prSet presAssocID="{27C29D06-CCA6-8948-9F55-9F9864FDA03F}" presName="sibTrans" presStyleCnt="0"/>
      <dgm:spPr/>
    </dgm:pt>
    <dgm:pt modelId="{D1F029DD-7A84-2849-AAA2-9BAF879EBB74}" type="pres">
      <dgm:prSet presAssocID="{190D059A-5167-504B-BC99-536868BFDDA8}" presName="text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2CBB1A-EA73-B14B-912B-768E128CE2F9}" type="pres">
      <dgm:prSet presAssocID="{4DE51E37-786B-4E4E-97F4-457CE4BA3B42}" presName="sibTrans" presStyleCnt="0"/>
      <dgm:spPr/>
    </dgm:pt>
    <dgm:pt modelId="{71FE0B03-B06B-7C4A-8A1C-6735B738EC54}" type="pres">
      <dgm:prSet presAssocID="{7FFDF13F-941E-F549-8526-40EEA352DBE3}" presName="text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22E925-0D41-6F49-8FE1-99D21FF3C794}" type="pres">
      <dgm:prSet presAssocID="{7697FBB8-A8C2-DE4C-ACF6-69E12E7BC531}" presName="sibTrans" presStyleCnt="0"/>
      <dgm:spPr/>
    </dgm:pt>
    <dgm:pt modelId="{1B90E367-93CE-6241-B573-26B7D7AADF1D}" type="pres">
      <dgm:prSet presAssocID="{11045CA9-3811-3544-91F7-BFC4A0263493}" presName="text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810768-3395-3245-AE0E-34FF01566F03}" type="pres">
      <dgm:prSet presAssocID="{D5E5FF04-715C-5842-BA0D-7DE1F630E00D}" presName="sibTrans" presStyleCnt="0"/>
      <dgm:spPr/>
    </dgm:pt>
    <dgm:pt modelId="{2DCDA154-0A29-7C4E-8669-BD75E6B65F7C}" type="pres">
      <dgm:prSet presAssocID="{11720837-575D-324D-8AB1-99B28D7CC449}" presName="text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A488F9F-A58E-D34A-9F1D-DEFE54EAE861}" type="presOf" srcId="{11045CA9-3811-3544-91F7-BFC4A0263493}" destId="{1B90E367-93CE-6241-B573-26B7D7AADF1D}" srcOrd="0" destOrd="0" presId="urn:microsoft.com/office/officeart/2005/8/layout/hProcess9"/>
    <dgm:cxn modelId="{EB25F827-6A42-D748-A235-2571A11EE9B7}" srcId="{01E9B223-37A1-3243-B208-A2C9A6E58D76}" destId="{2BFD86B4-BDEC-4048-80B2-C958CDC4FC65}" srcOrd="0" destOrd="0" parTransId="{722B8918-A0E4-4241-8899-547C3888AF73}" sibTransId="{C670B363-CF4C-AD4D-8B2D-680E9BF936AC}"/>
    <dgm:cxn modelId="{6DFC198A-82C1-AF41-85B2-07A56B30B374}" type="presOf" srcId="{EA5BBB86-6AB9-3741-A5EC-4EB2BCF60799}" destId="{EA6734A2-5A5C-1B41-B3CA-528FF06E41FD}" srcOrd="0" destOrd="0" presId="urn:microsoft.com/office/officeart/2005/8/layout/hProcess9"/>
    <dgm:cxn modelId="{69E75793-29D8-0044-862F-ECDB193E0ED2}" type="presOf" srcId="{2BFD86B4-BDEC-4048-80B2-C958CDC4FC65}" destId="{83619DDA-F16B-F44D-90F5-B1FBB7715812}" srcOrd="0" destOrd="0" presId="urn:microsoft.com/office/officeart/2005/8/layout/hProcess9"/>
    <dgm:cxn modelId="{CD278C67-8EBA-F148-9E5D-8E83B4C8DBDE}" srcId="{01E9B223-37A1-3243-B208-A2C9A6E58D76}" destId="{11720837-575D-324D-8AB1-99B28D7CC449}" srcOrd="6" destOrd="0" parTransId="{EB26C86B-9200-0D4C-9D82-04FFFD51D458}" sibTransId="{04B3AD78-1389-D947-8767-DE522BF1BA7B}"/>
    <dgm:cxn modelId="{D1A59F90-0F06-B144-8CFF-231F7147C6F1}" srcId="{01E9B223-37A1-3243-B208-A2C9A6E58D76}" destId="{EA5BBB86-6AB9-3741-A5EC-4EB2BCF60799}" srcOrd="1" destOrd="0" parTransId="{7BE9D9C3-49BE-7744-93EE-F9F59F5C9D09}" sibTransId="{C4D21614-0EDD-DD4F-8596-E09AF6A64960}"/>
    <dgm:cxn modelId="{4FD8D72D-3382-EB45-95BE-44CC023EE362}" type="presOf" srcId="{69242FAD-4DFF-8846-8014-2268ADADCDC9}" destId="{A2031F40-1F10-9146-883D-4CE552DE1B3D}" srcOrd="0" destOrd="0" presId="urn:microsoft.com/office/officeart/2005/8/layout/hProcess9"/>
    <dgm:cxn modelId="{411FB633-CAEE-8843-9CCC-EAEE81E6BB48}" srcId="{01E9B223-37A1-3243-B208-A2C9A6E58D76}" destId="{190D059A-5167-504B-BC99-536868BFDDA8}" srcOrd="3" destOrd="0" parTransId="{EC4674BE-740E-B242-A7DB-56FB93934106}" sibTransId="{4DE51E37-786B-4E4E-97F4-457CE4BA3B42}"/>
    <dgm:cxn modelId="{5780AD26-FFFD-984F-B0B9-7CBABAE079FF}" type="presOf" srcId="{190D059A-5167-504B-BC99-536868BFDDA8}" destId="{D1F029DD-7A84-2849-AAA2-9BAF879EBB74}" srcOrd="0" destOrd="0" presId="urn:microsoft.com/office/officeart/2005/8/layout/hProcess9"/>
    <dgm:cxn modelId="{45F3042F-EF70-6441-88C4-B7E706226D05}" srcId="{01E9B223-37A1-3243-B208-A2C9A6E58D76}" destId="{7FFDF13F-941E-F549-8526-40EEA352DBE3}" srcOrd="4" destOrd="0" parTransId="{911BCDA0-80BE-3247-A1F5-87605C560770}" sibTransId="{7697FBB8-A8C2-DE4C-ACF6-69E12E7BC531}"/>
    <dgm:cxn modelId="{6400512F-354C-1F49-8349-A1B65CE8CAA7}" type="presOf" srcId="{01E9B223-37A1-3243-B208-A2C9A6E58D76}" destId="{E0DEE612-715F-C44F-BD82-A69803AFB434}" srcOrd="0" destOrd="0" presId="urn:microsoft.com/office/officeart/2005/8/layout/hProcess9"/>
    <dgm:cxn modelId="{D823712A-6C73-1840-A0B5-34B5B862C56A}" type="presOf" srcId="{11720837-575D-324D-8AB1-99B28D7CC449}" destId="{2DCDA154-0A29-7C4E-8669-BD75E6B65F7C}" srcOrd="0" destOrd="0" presId="urn:microsoft.com/office/officeart/2005/8/layout/hProcess9"/>
    <dgm:cxn modelId="{0FA2EFC7-B69F-B348-B9A3-62EF8B99D9A7}" srcId="{01E9B223-37A1-3243-B208-A2C9A6E58D76}" destId="{11045CA9-3811-3544-91F7-BFC4A0263493}" srcOrd="5" destOrd="0" parTransId="{64D9C4FD-E303-2D4C-9FA6-6219039F5CCC}" sibTransId="{D5E5FF04-715C-5842-BA0D-7DE1F630E00D}"/>
    <dgm:cxn modelId="{21507DE9-8AED-BF48-A5FC-F421CF3636B8}" srcId="{01E9B223-37A1-3243-B208-A2C9A6E58D76}" destId="{69242FAD-4DFF-8846-8014-2268ADADCDC9}" srcOrd="2" destOrd="0" parTransId="{448C2FC8-D3F7-6F49-B237-A959F20BC305}" sibTransId="{27C29D06-CCA6-8948-9F55-9F9864FDA03F}"/>
    <dgm:cxn modelId="{BCE330D7-BFD0-9B4C-B534-E8EF3F284BCC}" type="presOf" srcId="{7FFDF13F-941E-F549-8526-40EEA352DBE3}" destId="{71FE0B03-B06B-7C4A-8A1C-6735B738EC54}" srcOrd="0" destOrd="0" presId="urn:microsoft.com/office/officeart/2005/8/layout/hProcess9"/>
    <dgm:cxn modelId="{058CBC94-5772-CA4B-8A32-C69F7B3FCD8D}" type="presParOf" srcId="{E0DEE612-715F-C44F-BD82-A69803AFB434}" destId="{4947E303-FBC1-7640-BF99-7463109597E0}" srcOrd="0" destOrd="0" presId="urn:microsoft.com/office/officeart/2005/8/layout/hProcess9"/>
    <dgm:cxn modelId="{01EC7562-0239-CA44-8AF5-428C39026020}" type="presParOf" srcId="{E0DEE612-715F-C44F-BD82-A69803AFB434}" destId="{FC37D0C7-22C9-2F49-8C02-E94489E7475A}" srcOrd="1" destOrd="0" presId="urn:microsoft.com/office/officeart/2005/8/layout/hProcess9"/>
    <dgm:cxn modelId="{2337AA18-851E-D44F-BBB7-388D96079D0D}" type="presParOf" srcId="{FC37D0C7-22C9-2F49-8C02-E94489E7475A}" destId="{83619DDA-F16B-F44D-90F5-B1FBB7715812}" srcOrd="0" destOrd="0" presId="urn:microsoft.com/office/officeart/2005/8/layout/hProcess9"/>
    <dgm:cxn modelId="{DC9B5CC9-E746-CB4B-BE79-53C715D762E1}" type="presParOf" srcId="{FC37D0C7-22C9-2F49-8C02-E94489E7475A}" destId="{D277E164-15A1-704B-A309-40125F43C149}" srcOrd="1" destOrd="0" presId="urn:microsoft.com/office/officeart/2005/8/layout/hProcess9"/>
    <dgm:cxn modelId="{E45A2C90-8391-9441-9840-3EEB2A075DB8}" type="presParOf" srcId="{FC37D0C7-22C9-2F49-8C02-E94489E7475A}" destId="{EA6734A2-5A5C-1B41-B3CA-528FF06E41FD}" srcOrd="2" destOrd="0" presId="urn:microsoft.com/office/officeart/2005/8/layout/hProcess9"/>
    <dgm:cxn modelId="{CA941AB6-2DE5-A442-A781-B8EC00208BD6}" type="presParOf" srcId="{FC37D0C7-22C9-2F49-8C02-E94489E7475A}" destId="{4F320596-C240-4A41-8648-5CC79BC3D4D7}" srcOrd="3" destOrd="0" presId="urn:microsoft.com/office/officeart/2005/8/layout/hProcess9"/>
    <dgm:cxn modelId="{3B8B2B35-E40E-CD40-90F7-B5C4066ED5B0}" type="presParOf" srcId="{FC37D0C7-22C9-2F49-8C02-E94489E7475A}" destId="{A2031F40-1F10-9146-883D-4CE552DE1B3D}" srcOrd="4" destOrd="0" presId="urn:microsoft.com/office/officeart/2005/8/layout/hProcess9"/>
    <dgm:cxn modelId="{25FADE7C-F13B-FB40-8BC7-0FF32E6802C6}" type="presParOf" srcId="{FC37D0C7-22C9-2F49-8C02-E94489E7475A}" destId="{64659C00-FE93-3249-BF73-979613613CC8}" srcOrd="5" destOrd="0" presId="urn:microsoft.com/office/officeart/2005/8/layout/hProcess9"/>
    <dgm:cxn modelId="{A4E9DCCE-CCF8-6044-B2F0-805D9B858AC7}" type="presParOf" srcId="{FC37D0C7-22C9-2F49-8C02-E94489E7475A}" destId="{D1F029DD-7A84-2849-AAA2-9BAF879EBB74}" srcOrd="6" destOrd="0" presId="urn:microsoft.com/office/officeart/2005/8/layout/hProcess9"/>
    <dgm:cxn modelId="{02B694A0-099C-2742-9B78-B97B90579E4D}" type="presParOf" srcId="{FC37D0C7-22C9-2F49-8C02-E94489E7475A}" destId="{052CBB1A-EA73-B14B-912B-768E128CE2F9}" srcOrd="7" destOrd="0" presId="urn:microsoft.com/office/officeart/2005/8/layout/hProcess9"/>
    <dgm:cxn modelId="{AAA480FE-24AF-614B-9996-675E8CE9A665}" type="presParOf" srcId="{FC37D0C7-22C9-2F49-8C02-E94489E7475A}" destId="{71FE0B03-B06B-7C4A-8A1C-6735B738EC54}" srcOrd="8" destOrd="0" presId="urn:microsoft.com/office/officeart/2005/8/layout/hProcess9"/>
    <dgm:cxn modelId="{B70552F6-F0BC-5A46-807A-FE435238127B}" type="presParOf" srcId="{FC37D0C7-22C9-2F49-8C02-E94489E7475A}" destId="{BB22E925-0D41-6F49-8FE1-99D21FF3C794}" srcOrd="9" destOrd="0" presId="urn:microsoft.com/office/officeart/2005/8/layout/hProcess9"/>
    <dgm:cxn modelId="{6F424D54-5D23-074E-948E-44C4C390409C}" type="presParOf" srcId="{FC37D0C7-22C9-2F49-8C02-E94489E7475A}" destId="{1B90E367-93CE-6241-B573-26B7D7AADF1D}" srcOrd="10" destOrd="0" presId="urn:microsoft.com/office/officeart/2005/8/layout/hProcess9"/>
    <dgm:cxn modelId="{F1309ADB-EE02-E44F-825C-61AA893B5AE0}" type="presParOf" srcId="{FC37D0C7-22C9-2F49-8C02-E94489E7475A}" destId="{F2810768-3395-3245-AE0E-34FF01566F03}" srcOrd="11" destOrd="0" presId="urn:microsoft.com/office/officeart/2005/8/layout/hProcess9"/>
    <dgm:cxn modelId="{4EA38EA4-5F30-DF44-9532-77747785DE67}" type="presParOf" srcId="{FC37D0C7-22C9-2F49-8C02-E94489E7475A}" destId="{2DCDA154-0A29-7C4E-8669-BD75E6B65F7C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FA0431-1FBD-42E4-99B9-9B45A04B6FB5}">
      <dsp:nvSpPr>
        <dsp:cNvPr id="0" name=""/>
        <dsp:cNvSpPr/>
      </dsp:nvSpPr>
      <dsp:spPr>
        <a:xfrm>
          <a:off x="0" y="4351191"/>
          <a:ext cx="10515600" cy="0"/>
        </a:xfrm>
        <a:prstGeom prst="line">
          <a:avLst/>
        </a:pr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2D13F1-2418-4F82-A87D-9B6FC7FB291E}">
      <dsp:nvSpPr>
        <dsp:cNvPr id="0" name=""/>
        <dsp:cNvSpPr/>
      </dsp:nvSpPr>
      <dsp:spPr>
        <a:xfrm>
          <a:off x="0" y="2877450"/>
          <a:ext cx="10515600" cy="0"/>
        </a:xfrm>
        <a:prstGeom prst="line">
          <a:avLst/>
        </a:pr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E66C03-19E0-489D-90B9-68838ACCB3C7}">
      <dsp:nvSpPr>
        <dsp:cNvPr id="0" name=""/>
        <dsp:cNvSpPr/>
      </dsp:nvSpPr>
      <dsp:spPr>
        <a:xfrm>
          <a:off x="0" y="1403709"/>
          <a:ext cx="10515600" cy="0"/>
        </a:xfrm>
        <a:prstGeom prst="line">
          <a:avLst/>
        </a:pr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B65EF1-043B-4A8D-A7E5-0D3E4AB02A87}">
      <dsp:nvSpPr>
        <dsp:cNvPr id="0" name=""/>
        <dsp:cNvSpPr/>
      </dsp:nvSpPr>
      <dsp:spPr>
        <a:xfrm>
          <a:off x="2734055" y="146"/>
          <a:ext cx="7781544" cy="1403562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b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Which you run your learning algorithm on.</a:t>
          </a:r>
        </a:p>
      </dsp:txBody>
      <dsp:txXfrm>
        <a:off x="2734055" y="146"/>
        <a:ext cx="7781544" cy="1403562"/>
      </dsp:txXfrm>
    </dsp:sp>
    <dsp:sp modelId="{BECBD802-714A-4E48-8C76-069E8F3012C8}">
      <dsp:nvSpPr>
        <dsp:cNvPr id="0" name=""/>
        <dsp:cNvSpPr/>
      </dsp:nvSpPr>
      <dsp:spPr>
        <a:xfrm>
          <a:off x="0" y="146"/>
          <a:ext cx="2734056" cy="1403562"/>
        </a:xfrm>
        <a:prstGeom prst="round2SameRect">
          <a:avLst>
            <a:gd name="adj1" fmla="val 1667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Training set 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8529" y="68675"/>
        <a:ext cx="2596998" cy="1335033"/>
      </dsp:txXfrm>
    </dsp:sp>
    <dsp:sp modelId="{B4F30AAC-A893-45AB-B2DD-5283C24F3BCE}">
      <dsp:nvSpPr>
        <dsp:cNvPr id="0" name=""/>
        <dsp:cNvSpPr/>
      </dsp:nvSpPr>
      <dsp:spPr>
        <a:xfrm>
          <a:off x="2734055" y="1473887"/>
          <a:ext cx="7781544" cy="1403562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b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Which you use to tune parameters, select features, and make other decisions regarding the learning algorithm. Sometimes also called the </a:t>
          </a:r>
          <a:r>
            <a:rPr lang="en-US" sz="2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hold-out cross validation set </a:t>
          </a: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2734055" y="1473887"/>
        <a:ext cx="7781544" cy="1403562"/>
      </dsp:txXfrm>
    </dsp:sp>
    <dsp:sp modelId="{42C8F506-F92A-4CC2-892C-02465450CB2F}">
      <dsp:nvSpPr>
        <dsp:cNvPr id="0" name=""/>
        <dsp:cNvSpPr/>
      </dsp:nvSpPr>
      <dsp:spPr>
        <a:xfrm>
          <a:off x="0" y="1473887"/>
          <a:ext cx="2734056" cy="1403562"/>
        </a:xfrm>
        <a:prstGeom prst="round2SameRect">
          <a:avLst>
            <a:gd name="adj1" fmla="val 1667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Dev (development) set </a:t>
          </a:r>
          <a:r>
            <a:rPr lang="en-US" sz="26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or Validation Set</a:t>
          </a:r>
          <a:endParaRPr lang="en-US" sz="2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8529" y="1542416"/>
        <a:ext cx="2596998" cy="1335033"/>
      </dsp:txXfrm>
    </dsp:sp>
    <dsp:sp modelId="{2E5268E7-505F-4C42-91FA-D806166F0C17}">
      <dsp:nvSpPr>
        <dsp:cNvPr id="0" name=""/>
        <dsp:cNvSpPr/>
      </dsp:nvSpPr>
      <dsp:spPr>
        <a:xfrm>
          <a:off x="2734055" y="2947628"/>
          <a:ext cx="7781544" cy="1403562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b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which you use to evaluate the performance of the algorithm, but not to make any decisions regarding what learning algorithm or parameters to use.</a:t>
          </a:r>
        </a:p>
      </dsp:txBody>
      <dsp:txXfrm>
        <a:off x="2734055" y="2947628"/>
        <a:ext cx="7781544" cy="1403562"/>
      </dsp:txXfrm>
    </dsp:sp>
    <dsp:sp modelId="{B965222F-C97E-49F6-9B7A-FB9FFF46EA29}">
      <dsp:nvSpPr>
        <dsp:cNvPr id="0" name=""/>
        <dsp:cNvSpPr/>
      </dsp:nvSpPr>
      <dsp:spPr>
        <a:xfrm>
          <a:off x="0" y="2947628"/>
          <a:ext cx="2734056" cy="1403562"/>
        </a:xfrm>
        <a:prstGeom prst="round2SameRect">
          <a:avLst>
            <a:gd name="adj1" fmla="val 1667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Test set 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8529" y="3016157"/>
        <a:ext cx="2596998" cy="13350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47E303-FBC1-7640-BF99-7463109597E0}">
      <dsp:nvSpPr>
        <dsp:cNvPr id="0" name=""/>
        <dsp:cNvSpPr/>
      </dsp:nvSpPr>
      <dsp:spPr>
        <a:xfrm>
          <a:off x="839608" y="0"/>
          <a:ext cx="9515558" cy="4734203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619DDA-F16B-F44D-90F5-B1FBB7715812}">
      <dsp:nvSpPr>
        <dsp:cNvPr id="0" name=""/>
        <dsp:cNvSpPr/>
      </dsp:nvSpPr>
      <dsp:spPr>
        <a:xfrm>
          <a:off x="2186" y="1420260"/>
          <a:ext cx="1398800" cy="189368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600" tIns="80010" rIns="80010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>
              <a:solidFill>
                <a:schemeClr val="bg1"/>
              </a:solidFill>
              <a:latin typeface="Times New Roman" charset="0"/>
              <a:ea typeface="Times New Roman" charset="0"/>
              <a:cs typeface="Times New Roman" charset="0"/>
            </a:rPr>
            <a:t>Learning Rate</a:t>
          </a:r>
        </a:p>
      </dsp:txBody>
      <dsp:txXfrm>
        <a:off x="70470" y="1488544"/>
        <a:ext cx="1262232" cy="1757113"/>
      </dsp:txXfrm>
    </dsp:sp>
    <dsp:sp modelId="{EA6734A2-5A5C-1B41-B3CA-528FF06E41FD}">
      <dsp:nvSpPr>
        <dsp:cNvPr id="0" name=""/>
        <dsp:cNvSpPr/>
      </dsp:nvSpPr>
      <dsp:spPr>
        <a:xfrm>
          <a:off x="1634120" y="1420260"/>
          <a:ext cx="1398800" cy="1893681"/>
        </a:xfrm>
        <a:prstGeom prst="roundRect">
          <a:avLst/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>
              <a:solidFill>
                <a:schemeClr val="bg1"/>
              </a:solidFill>
              <a:latin typeface="Times New Roman" charset="0"/>
              <a:ea typeface="Times New Roman" charset="0"/>
              <a:cs typeface="Times New Roman" charset="0"/>
            </a:rPr>
            <a:t>Hidden units</a:t>
          </a:r>
        </a:p>
      </dsp:txBody>
      <dsp:txXfrm>
        <a:off x="1702404" y="1488544"/>
        <a:ext cx="1262232" cy="1757113"/>
      </dsp:txXfrm>
    </dsp:sp>
    <dsp:sp modelId="{A2031F40-1F10-9146-883D-4CE552DE1B3D}">
      <dsp:nvSpPr>
        <dsp:cNvPr id="0" name=""/>
        <dsp:cNvSpPr/>
      </dsp:nvSpPr>
      <dsp:spPr>
        <a:xfrm>
          <a:off x="3266053" y="1420260"/>
          <a:ext cx="1398800" cy="1893681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>
              <a:solidFill>
                <a:schemeClr val="bg1"/>
              </a:solidFill>
              <a:latin typeface="Times New Roman" charset="0"/>
              <a:ea typeface="Times New Roman" charset="0"/>
              <a:cs typeface="Times New Roman" charset="0"/>
            </a:rPr>
            <a:t>Mini batch size</a:t>
          </a:r>
        </a:p>
      </dsp:txBody>
      <dsp:txXfrm>
        <a:off x="3334337" y="1488544"/>
        <a:ext cx="1262232" cy="1757113"/>
      </dsp:txXfrm>
    </dsp:sp>
    <dsp:sp modelId="{D1F029DD-7A84-2849-AAA2-9BAF879EBB74}">
      <dsp:nvSpPr>
        <dsp:cNvPr id="0" name=""/>
        <dsp:cNvSpPr/>
      </dsp:nvSpPr>
      <dsp:spPr>
        <a:xfrm>
          <a:off x="4897987" y="1420260"/>
          <a:ext cx="1398800" cy="1893681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>
              <a:solidFill>
                <a:schemeClr val="bg1"/>
              </a:solidFill>
              <a:latin typeface="Times New Roman" charset="0"/>
              <a:ea typeface="Times New Roman" charset="0"/>
              <a:cs typeface="Times New Roman" charset="0"/>
            </a:rPr>
            <a:t>Beta</a:t>
          </a:r>
        </a:p>
      </dsp:txBody>
      <dsp:txXfrm>
        <a:off x="4966271" y="1488544"/>
        <a:ext cx="1262232" cy="1757113"/>
      </dsp:txXfrm>
    </dsp:sp>
    <dsp:sp modelId="{71FE0B03-B06B-7C4A-8A1C-6735B738EC54}">
      <dsp:nvSpPr>
        <dsp:cNvPr id="0" name=""/>
        <dsp:cNvSpPr/>
      </dsp:nvSpPr>
      <dsp:spPr>
        <a:xfrm>
          <a:off x="6529921" y="1420260"/>
          <a:ext cx="1398800" cy="1893681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>
              <a:solidFill>
                <a:schemeClr val="bg1"/>
              </a:solidFill>
              <a:latin typeface="Times New Roman" charset="0"/>
              <a:ea typeface="Times New Roman" charset="0"/>
              <a:cs typeface="Times New Roman" charset="0"/>
            </a:rPr>
            <a:t>Number of Layers</a:t>
          </a:r>
        </a:p>
      </dsp:txBody>
      <dsp:txXfrm>
        <a:off x="6598205" y="1488544"/>
        <a:ext cx="1262232" cy="1757113"/>
      </dsp:txXfrm>
    </dsp:sp>
    <dsp:sp modelId="{1B90E367-93CE-6241-B573-26B7D7AADF1D}">
      <dsp:nvSpPr>
        <dsp:cNvPr id="0" name=""/>
        <dsp:cNvSpPr/>
      </dsp:nvSpPr>
      <dsp:spPr>
        <a:xfrm>
          <a:off x="8161854" y="1420260"/>
          <a:ext cx="1398800" cy="1893681"/>
        </a:xfrm>
        <a:prstGeom prst="roundRect">
          <a:avLst/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>
              <a:solidFill>
                <a:schemeClr val="bg1"/>
              </a:solidFill>
              <a:latin typeface="Times New Roman" charset="0"/>
              <a:ea typeface="Times New Roman" charset="0"/>
              <a:cs typeface="Times New Roman" charset="0"/>
            </a:rPr>
            <a:t>Learning Decay Rate</a:t>
          </a:r>
        </a:p>
      </dsp:txBody>
      <dsp:txXfrm>
        <a:off x="8230138" y="1488544"/>
        <a:ext cx="1262232" cy="1757113"/>
      </dsp:txXfrm>
    </dsp:sp>
    <dsp:sp modelId="{2DCDA154-0A29-7C4E-8669-BD75E6B65F7C}">
      <dsp:nvSpPr>
        <dsp:cNvPr id="0" name=""/>
        <dsp:cNvSpPr/>
      </dsp:nvSpPr>
      <dsp:spPr>
        <a:xfrm>
          <a:off x="9793788" y="1420260"/>
          <a:ext cx="1398800" cy="1893681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>
              <a:solidFill>
                <a:schemeClr val="bg1"/>
              </a:solidFill>
              <a:latin typeface="Times New Roman" charset="0"/>
              <a:ea typeface="Times New Roman" charset="0"/>
              <a:cs typeface="Times New Roman" charset="0"/>
            </a:rPr>
            <a:t>Others</a:t>
          </a:r>
        </a:p>
      </dsp:txBody>
      <dsp:txXfrm>
        <a:off x="9862072" y="1488544"/>
        <a:ext cx="1262232" cy="17571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FAF74D-8682-4CB8-91F2-14AB226A7977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CC8E9-D517-4817-BCD2-FFE6F76269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695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175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571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715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788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145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60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772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6381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757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733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333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581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237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316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4820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2697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3826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sz="1200" b="1" i="1" dirty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Batch</a:t>
                </a:r>
                <a:r>
                  <a:rPr lang="en-IN" sz="1200" b="1" i="1" baseline="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 GD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Updates all parameters by computing the gradient over the entire dataset in one go. It can be slow for large datasets but guarantees convergence for convex problems.</a:t>
                </a:r>
                <a:endParaRPr lang="en-IN" sz="1200" b="1" i="1" baseline="0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12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GD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Unlike Batch Gradient Descent, SGD updates parameters for each training example one at a time, making it faster and more suitable for large datasets, but with noisier convergence.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200" b="1" i="1" dirty="0" smtClean="0">
                    <a:solidFill>
                      <a:srgbClr val="242424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 – Batch GD</a:t>
                </a:r>
                <a:endParaRPr lang="en-IN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Combines the benefits of Batch and SGD by updating parameters based on a small random subset of the data (mini-batch), leading to faster and more stable convergence.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2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a:rPr lang="en-IN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𝒗</m:t>
                        </m:r>
                      </m:e>
                      <m:sub>
                        <m:r>
                          <a:rPr lang="en-IN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dirty="0" smtClean="0"/>
                  <a:t>Velocity, which accumulates the gradient's past values. (Initial Value is </a:t>
                </a:r>
                <a:r>
                  <a:rPr lang="en-US" smtClean="0"/>
                  <a:t>generally zero)</a:t>
                </a:r>
                <a:endParaRPr lang="en-US" b="1" dirty="0" smtClean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  <a:sym typeface="Times New Roman"/>
                      </a:rPr>
                      <m:t>𝜸</m:t>
                    </m:r>
                  </m:oMath>
                </a14:m>
                <a:r>
                  <a:rPr lang="en-US" dirty="0" smtClean="0"/>
                  <a:t> Momentum coefficient (typically between 0.5 and 0.9).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1" dirty="0" smtClean="0"/>
                  <a:t> </a:t>
                </a:r>
                <a:r>
                  <a:rPr lang="en-US" dirty="0" smtClean="0"/>
                  <a:t>Adds a fraction of the previous update to the current update, helping to accelerate convergence and reduce oscillations, especially in ravines.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sz="1200" b="1" i="1" dirty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Batch</a:t>
                </a:r>
                <a:r>
                  <a:rPr lang="en-IN" sz="1200" b="1" i="1" baseline="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 GD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Updates all parameters by computing the gradient over the entire dataset in one go. It can be slow for large datasets but guarantees convergence for convex problems.</a:t>
                </a:r>
                <a:endParaRPr lang="en-IN" sz="1200" b="1" i="1" baseline="0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12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GD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Unlike Batch Gradient Descent, SGD updates parameters for each training example one at a time, making it faster and more suitable for large datasets, but with noisier convergence.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200" b="1" i="1" dirty="0" smtClean="0">
                    <a:solidFill>
                      <a:srgbClr val="242424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 – Batch GD</a:t>
                </a:r>
                <a:endParaRPr lang="en-IN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Combines the benefits of Batch and SGD by updating parameters based on a small random subset of the data (mini-batch), leading to faster and more stable convergence.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2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b="1" i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𝒗</a:t>
                </a:r>
                <a:r>
                  <a:rPr lang="el-GR" sz="1200" b="1" i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_</a:t>
                </a:r>
                <a:r>
                  <a:rPr lang="en-IN" sz="1200" b="1" i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𝒕</a:t>
                </a:r>
                <a:r>
                  <a:rPr lang="en-US" dirty="0" smtClean="0"/>
                  <a:t>Velocity, which accumulates the gradient's past values.</a:t>
                </a:r>
                <a:endParaRPr lang="en-US" b="1" dirty="0" smtClean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l-GR" sz="1200" b="1" i="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/>
                    <a:sym typeface="Times New Roman"/>
                  </a:rPr>
                  <a:t>𝜸</a:t>
                </a:r>
                <a:r>
                  <a:rPr lang="en-US" dirty="0" smtClean="0"/>
                  <a:t> Momentum coefficient (typically between 0.5 and 0.9).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1" dirty="0" smtClean="0"/>
                  <a:t> </a:t>
                </a:r>
                <a:r>
                  <a:rPr lang="en-US" dirty="0" smtClean="0"/>
                  <a:t>Adds a fraction of the previous update to the current update, helping to accelerate convergence and reduce oscillations, especially in ravines.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6425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sz="1200" b="1" i="1" dirty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Batch</a:t>
                </a:r>
                <a:r>
                  <a:rPr lang="en-IN" sz="1200" b="1" i="1" baseline="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 GD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Updates all parameters by computing the gradient over the entire dataset in one go. It can be slow for large datasets but guarantees convergence for convex problems.</a:t>
                </a:r>
                <a:endParaRPr lang="en-IN" sz="1200" b="1" i="1" baseline="0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12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GD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Unlike Batch Gradient Descent, SGD updates parameters for each training example one at a time, making it faster and more suitable for large datasets, but with noisier convergence.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200" b="1" i="1" dirty="0" smtClean="0">
                    <a:solidFill>
                      <a:srgbClr val="242424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 – Batch GD</a:t>
                </a:r>
                <a:endParaRPr lang="en-IN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Combines the benefits of Batch and SGD by updating parameters based on a small random subset of the data (mini-batch), leading to faster and more stable convergence.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2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a:rPr lang="en-IN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𝒗</m:t>
                        </m:r>
                      </m:e>
                      <m:sub>
                        <m:r>
                          <a:rPr lang="en-IN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dirty="0" smtClean="0"/>
                  <a:t>Velocity, which accumulates the gradient's past values. (Initial Value is generally zero)</a:t>
                </a:r>
                <a:endParaRPr lang="en-US" b="1" dirty="0" smtClean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  <a:sym typeface="Times New Roman"/>
                      </a:rPr>
                      <m:t>𝜸</m:t>
                    </m:r>
                  </m:oMath>
                </a14:m>
                <a:r>
                  <a:rPr lang="en-US" dirty="0" smtClean="0"/>
                  <a:t> Momentum coefficient (typically between 0.5 and 0.9).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1" dirty="0" smtClean="0"/>
                  <a:t> </a:t>
                </a:r>
                <a:r>
                  <a:rPr lang="en-US" dirty="0" smtClean="0"/>
                  <a:t>Adds a fraction of the previous update to the current update, helping to accelerate convergence and reduce oscillations, especially in ravines.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sz="1200" b="1" i="1" dirty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Batch</a:t>
                </a:r>
                <a:r>
                  <a:rPr lang="en-IN" sz="1200" b="1" i="1" baseline="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 GD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Updates all parameters by computing the gradient over the entire dataset in one go. It can be slow for large datasets but guarantees convergence for convex problems.</a:t>
                </a:r>
                <a:endParaRPr lang="en-IN" sz="1200" b="1" i="1" baseline="0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12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GD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Unlike Batch Gradient Descent, SGD updates parameters for each training example one at a time, making it faster and more suitable for large datasets, but with noisier convergence.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200" b="1" i="1" dirty="0" smtClean="0">
                    <a:solidFill>
                      <a:srgbClr val="242424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 – Batch GD</a:t>
                </a:r>
                <a:endParaRPr lang="en-IN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Combines the benefits of Batch and SGD by updating parameters based on a small random subset of the data (mini-batch), leading to faster and more stable convergence.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2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b="1" i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𝒗</a:t>
                </a:r>
                <a:r>
                  <a:rPr lang="el-GR" sz="1200" b="1" i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_</a:t>
                </a:r>
                <a:r>
                  <a:rPr lang="en-IN" sz="1200" b="1" i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𝒕</a:t>
                </a:r>
                <a:r>
                  <a:rPr lang="en-US" dirty="0" smtClean="0"/>
                  <a:t>Velocity, which accumulates the gradient's past values.</a:t>
                </a:r>
                <a:endParaRPr lang="en-US" b="1" dirty="0" smtClean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l-GR" sz="1200" b="1" i="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/>
                    <a:sym typeface="Times New Roman"/>
                  </a:rPr>
                  <a:t>𝜸</a:t>
                </a:r>
                <a:r>
                  <a:rPr lang="en-US" dirty="0" smtClean="0"/>
                  <a:t> Momentum coefficient (typically between 0.5 and 0.9).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1" dirty="0" smtClean="0"/>
                  <a:t> </a:t>
                </a:r>
                <a:r>
                  <a:rPr lang="en-US" dirty="0" smtClean="0"/>
                  <a:t>Adds a fraction of the previous update to the current update, helping to accelerate convergence and reduce oscillations, especially in ravines.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352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0BC5-9BF1-5BB5-0F13-DE19A11B7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68B32-9070-6D3A-402A-3A645496A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99CB9-F6B1-4780-B856-8382FA70A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C94D4-79FD-16A1-F69A-63BDF35A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6EEE6-39F9-B51B-8821-9D144C0D5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34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B36D-9013-6680-B1B2-22972841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8F029-B6B0-3C91-B774-1057C30F2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090F5-1C57-C228-97D3-518215F83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13320-05C8-9754-745E-EBFA6C5E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AFBCE-CE5B-F28F-1405-952619F9D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40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4560A-C0E7-0816-49B6-8B7717FD1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A1A5E-961F-15E3-91A3-0B2AEA2D5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1D148-6922-27A9-E721-F0E26B8E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BBFC3-8FA3-6F16-B203-9C2BAA61B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A733A-39D5-4E09-B3A5-2F38AB178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517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A115C-F8DB-D62B-4F46-F6BB150A9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B67D7-3F6B-99EB-40EF-66E1695A5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AA3DA-21FB-9629-788E-FAE5D8143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603AA-F872-15F3-95C3-A2DE50805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E3A6E-8DB4-2CF6-C67B-754D7DA29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4871A-46D9-29A9-322F-42F25AE05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405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F1E33-412F-E157-2AA6-88FEFFB61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5CD8C-5304-A63F-9851-777758819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C2205-5323-40A8-0156-E5CAB3045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543277-B6EB-2399-9EA6-74F945E6F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9A8C5-ACED-453F-3BF2-39C7E4A7E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786699-FC94-9CF8-AF0F-E1AC2D281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562C31-A802-672B-91DE-7EC79C3BE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2CB302-9857-2CEA-8173-6C3896F9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759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E28D4-293E-9592-3964-1C9305D76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0CED7-42F7-6E61-052D-337F5ED1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B8253-66B3-276E-4050-8477F824C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10582-1469-0C75-74A1-0E562E07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716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BF3C8B-B295-DD77-C574-21A54723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EEA60B-AF16-03D7-501D-DE99F6E86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13F2C-3FEB-0F80-2159-2959B67A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897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EFF40-BDB9-3347-4854-F634FD1D4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FD24A-992C-7023-7FAE-3EBD505DA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E2BD1-B169-6259-61DD-292D92DFB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F20C0-A786-E3DB-73EB-7CFC0944B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0A2A3-CCC8-451C-69DF-7E0FA797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4BC77-4062-0F33-6EA5-AAF8EC11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214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A54C-2EB5-198C-2277-4294E226E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7456D5-F580-0479-D3A3-EF82B73B50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06BFD-2601-3A7D-36C1-EBB730B8C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8F3E6-D09F-2C71-AF49-8528846A8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1E3B4-EA08-58CF-7F51-CB2075F1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8DD80-BC81-B11F-8DE9-A390AD977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075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87AA2-72BF-5946-307B-5D38ED986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B41B1-66F3-E8B1-4669-EEE85D597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E0A93-C66C-705B-6217-C7D1911F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B1F19-AA15-D128-83BF-1BA4F20A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A50D2-B44D-8055-C084-03E11A810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914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F11002-4D10-4392-0927-344CC77BC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D5419-D520-575D-A574-A1F3CCBE2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2BF4D-82F7-5221-F4ED-8ED6D67AC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8C67F-8B75-9AC6-9060-D0586F16B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69B6E-01F2-4E7F-E4E8-0A0F77F0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520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C634EA-8368-8BE5-D13A-56C7EACDF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D49D7-4087-9629-5781-63E8F6365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29B3E-5E1A-008C-BD94-D2831E8D7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06574-2E39-4131-BB4C-BE6CE423480E}" type="datetimeFigureOut">
              <a:rPr lang="en-IN" smtClean="0"/>
              <a:t>30-08-2024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02685-44EB-9A5B-45C7-98C493DD6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BBB30-1213-7A64-449A-309B0EF53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872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13959" y="1475232"/>
            <a:ext cx="2353056" cy="2641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69609" y="3083713"/>
            <a:ext cx="6852783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25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Improve the Model</a:t>
            </a:r>
            <a:endParaRPr spc="35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Scope of Improvement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More data may be required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Data needs to have more diversity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Algorithm needs longer training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More hidden layers or hidden units are required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Add Regularization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Change the Neural network architecture like activation function etc.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There are many other considerations you can think of.</a:t>
            </a:r>
            <a:endParaRPr lang="en-IN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46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F50F4F-4B6A-44CA-9AFC-CE8D0F2BD3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721366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B3CE97-5DE1-4D00-B060-DD031F01C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8288E-5D64-40E5-BDD9-9C8E07B8964F}" type="datetime3">
              <a:rPr lang="en-US" smtClean="0"/>
              <a:t>31 August 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B90F6-8C93-4C63-BF5D-591D568FD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D1BB6-7CA4-40A0-A404-5A93B00F0941}" type="slidenum">
              <a:rPr lang="en-US" smtClean="0"/>
              <a:t>3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Dataset Splitting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9011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40D5B1-67EB-4C28-83F3-67478C8A76DD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825625"/>
          <a:ext cx="10515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2600">
                  <a:extLst>
                    <a:ext uri="{9D8B030D-6E8A-4147-A177-3AD203B41FA5}">
                      <a16:colId xmlns:a16="http://schemas.microsoft.com/office/drawing/2014/main" val="1692974918"/>
                    </a:ext>
                  </a:extLst>
                </a:gridCol>
                <a:gridCol w="2988000">
                  <a:extLst>
                    <a:ext uri="{9D8B030D-6E8A-4147-A177-3AD203B41FA5}">
                      <a16:colId xmlns:a16="http://schemas.microsoft.com/office/drawing/2014/main" val="1585045760"/>
                    </a:ext>
                  </a:extLst>
                </a:gridCol>
                <a:gridCol w="1425000">
                  <a:extLst>
                    <a:ext uri="{9D8B030D-6E8A-4147-A177-3AD203B41FA5}">
                      <a16:colId xmlns:a16="http://schemas.microsoft.com/office/drawing/2014/main" val="30657913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 Test or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Hold Out Cross Validation Set</a:t>
                      </a:r>
                    </a:p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44752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E9A89D9-43DC-4489-B54B-B93C1306811D}"/>
              </a:ext>
            </a:extLst>
          </p:cNvPr>
          <p:cNvSpPr txBox="1"/>
          <p:nvPr/>
        </p:nvSpPr>
        <p:spPr>
          <a:xfrm>
            <a:off x="838200" y="3149282"/>
            <a:ext cx="1051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Style partitioning  70/30  or 60/20/20</a:t>
            </a:r>
          </a:p>
          <a:p>
            <a:pPr algn="ctr"/>
            <a:endParaRPr lang="en-US"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902AF6-69B2-4208-8568-8A050CF0433B}"/>
              </a:ext>
            </a:extLst>
          </p:cNvPr>
          <p:cNvSpPr/>
          <p:nvPr/>
        </p:nvSpPr>
        <p:spPr>
          <a:xfrm>
            <a:off x="133865" y="3985869"/>
            <a:ext cx="11924270" cy="2281476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just"/>
            <a:r>
              <a:rPr lang="en-US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in the era of Deep Learning may even go down to 99 0.5 0.5</a:t>
            </a:r>
          </a:p>
          <a:p>
            <a:pPr lvl="0" algn="just"/>
            <a:endParaRPr 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data size is 1,00,0000 then 5000 5000 data size will still be there in dev and test sets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3ED1E7-2356-42C2-9568-4C5D4FA1C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94A-92A7-47F7-BAC3-A870ECAA73BE}" type="datetime3">
              <a:rPr lang="en-US" smtClean="0"/>
              <a:t>31 August 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1AD628-3E3E-45E0-BDF5-774887C8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D1BB6-7CA4-40A0-A404-5A93B00F0941}" type="slidenum">
              <a:rPr lang="en-US" smtClean="0"/>
              <a:t>4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Dataset Splitting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193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charset="0"/>
                <a:cs typeface="Times New Roman" charset="0"/>
              </a:rPr>
              <a:t>Val &amp; Test Set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lvl="0"/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 purpose of the dev and test sets are to direct your team toward the most important changes to make to the machine learning system</a:t>
            </a:r>
          </a:p>
          <a:p>
            <a:pPr lvl="0">
              <a:lnSpc>
                <a:spcPct val="150000"/>
              </a:lnSpc>
            </a:pP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Very important that dev and test set reflect data you expect to get in the </a:t>
            </a:r>
            <a:r>
              <a:rPr lang="en-US" sz="18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future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Bad distribution will severely restrict analysis to guess that why test data is not giving good </a:t>
            </a:r>
            <a:r>
              <a:rPr lang="en-US" sz="18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results</a:t>
            </a:r>
          </a:p>
          <a:p>
            <a:pPr lvl="0">
              <a:lnSpc>
                <a:spcPct val="150000"/>
              </a:lnSpc>
            </a:pP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It is naturally good to have the data in all the sets from the same distribution. 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For example Housing data coming from Mumbai and we are trying to find the house prices in Chandigarh.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Else wasting a lot of time in improving the performance of dev set and then finding out that it is not working well for the test set</a:t>
            </a:r>
            <a:r>
              <a:rPr lang="en-US" sz="18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10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creen Clipping">
            <a:extLst>
              <a:ext uri="{FF2B5EF4-FFF2-40B4-BE49-F238E27FC236}">
                <a16:creationId xmlns:a16="http://schemas.microsoft.com/office/drawing/2014/main" id="{746F4F2E-7ED2-482F-9CBE-A626F6EF67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016" y="1655692"/>
            <a:ext cx="7061797" cy="256032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11794-FE58-435C-929F-234DFBEB4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8391D-4DB0-410F-A8D6-1457CCF03DF6}" type="datetime3">
              <a:rPr lang="en-US" smtClean="0"/>
              <a:t>31 August 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4474F-3D68-40E9-80EA-F1310D830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D1BB6-7CA4-40A0-A404-5A93B00F0941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AA63702-2B80-41BC-9EA8-D3BB2832FFE7}"/>
                  </a:ext>
                </a:extLst>
              </p:cNvPr>
              <p:cNvSpPr/>
              <p:nvPr/>
            </p:nvSpPr>
            <p:spPr>
              <a:xfrm>
                <a:off x="6513641" y="4322363"/>
                <a:ext cx="2829233" cy="11667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charset="0"/>
                  </a:rPr>
                  <a:t>Subtract mean 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charset="0"/>
                        </a:rPr>
                        <m:t>=</m:t>
                      </m:r>
                      <m:f>
                        <m:fPr>
                          <m:ctrlPr>
                            <a:rPr lang="mr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𝑚</m:t>
                          </m:r>
                        </m:den>
                      </m:f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𝑚</m:t>
                          </m:r>
                        </m:sup>
                      </m:sSub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𝜇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charset="0"/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AA63702-2B80-41BC-9EA8-D3BB2832FF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641" y="4322363"/>
                <a:ext cx="2829233" cy="1166730"/>
              </a:xfrm>
              <a:prstGeom prst="rect">
                <a:avLst/>
              </a:prstGeom>
              <a:blipFill>
                <a:blip r:embed="rId3"/>
                <a:stretch>
                  <a:fillRect l="-1940" t="-3141" b="-1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B66D3D8-B018-4343-9F30-32AF6E9E68ED}"/>
              </a:ext>
            </a:extLst>
          </p:cNvPr>
          <p:cNvSpPr txBox="1"/>
          <p:nvPr/>
        </p:nvSpPr>
        <p:spPr>
          <a:xfrm>
            <a:off x="3507131" y="4650724"/>
            <a:ext cx="14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Original data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9356" y="279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charset="0"/>
                <a:cs typeface="Times New Roman" charset="0"/>
              </a:rPr>
              <a:t>Normalizing Data Sets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3781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charset="0"/>
                <a:cs typeface="Times New Roman" charset="0"/>
              </a:rPr>
              <a:t>Normalization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690"/>
            <a:ext cx="10515600" cy="50323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Stabilizes Training: </a:t>
            </a:r>
            <a:endParaRPr lang="en-US" sz="1800" b="1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Stabilizing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the gradient descent </a:t>
            </a:r>
            <a:r>
              <a:rPr 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&amp; ensures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gradients do not become too large or too </a:t>
            </a:r>
            <a:r>
              <a:rPr 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small. </a:t>
            </a:r>
          </a:p>
          <a:p>
            <a:pPr lvl="1">
              <a:lnSpc>
                <a:spcPct val="150000"/>
              </a:lnSpc>
            </a:pPr>
            <a:r>
              <a:rPr 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In deep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networks where small changes in input can lead to large changes in output.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Speeds Up Convergence: </a:t>
            </a:r>
            <a:endParaRPr lang="en-US" sz="1800" b="1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Model may converge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faster. </a:t>
            </a:r>
            <a:endParaRPr lang="en-US" sz="1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Optimizer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can navigate the loss landscape more efficiently when the features are on a similar </a:t>
            </a:r>
            <a:r>
              <a:rPr 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scale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01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charset="0"/>
                <a:cs typeface="Times New Roman" charset="0"/>
              </a:rPr>
              <a:t>Batch GD, Mini-Batch GD &amp; Stochastic GD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037960"/>
              </p:ext>
            </p:extLst>
          </p:nvPr>
        </p:nvGraphicFramePr>
        <p:xfrm>
          <a:off x="227763" y="1499770"/>
          <a:ext cx="11736474" cy="5126926"/>
        </p:xfrm>
        <a:graphic>
          <a:graphicData uri="http://schemas.openxmlformats.org/drawingml/2006/table">
            <a:tbl>
              <a:tblPr/>
              <a:tblGrid>
                <a:gridCol w="1589203">
                  <a:extLst>
                    <a:ext uri="{9D8B030D-6E8A-4147-A177-3AD203B41FA5}">
                      <a16:colId xmlns:a16="http://schemas.microsoft.com/office/drawing/2014/main" val="3548137640"/>
                    </a:ext>
                  </a:extLst>
                </a:gridCol>
                <a:gridCol w="2885663">
                  <a:extLst>
                    <a:ext uri="{9D8B030D-6E8A-4147-A177-3AD203B41FA5}">
                      <a16:colId xmlns:a16="http://schemas.microsoft.com/office/drawing/2014/main" val="1035329438"/>
                    </a:ext>
                  </a:extLst>
                </a:gridCol>
                <a:gridCol w="3637503">
                  <a:extLst>
                    <a:ext uri="{9D8B030D-6E8A-4147-A177-3AD203B41FA5}">
                      <a16:colId xmlns:a16="http://schemas.microsoft.com/office/drawing/2014/main" val="4045694237"/>
                    </a:ext>
                  </a:extLst>
                </a:gridCol>
                <a:gridCol w="3624105">
                  <a:extLst>
                    <a:ext uri="{9D8B030D-6E8A-4147-A177-3AD203B41FA5}">
                      <a16:colId xmlns:a16="http://schemas.microsoft.com/office/drawing/2014/main" val="2609958906"/>
                    </a:ext>
                  </a:extLst>
                </a:gridCol>
              </a:tblGrid>
              <a:tr h="23793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Aspect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Batch Gradient Descent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Mini-Batch Gradient Descent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Stochastic Gradient Descent (SGD)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76808"/>
                  </a:ext>
                </a:extLst>
              </a:tr>
              <a:tr h="818493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Definition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Uses the entire training dataset to compute the gradient and update the model parameters.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Uses a subset of the training data (mini-batch) to compute the gradient and update the model parameters.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Uses a single training example to compute the gradient and update the model parameters.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322184"/>
                  </a:ext>
                </a:extLst>
              </a:tr>
              <a:tr h="818493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Pros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 Stable and accurate estimate of the gradient.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Balances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stability and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speed Allows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for more frequent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updates</a:t>
                      </a: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Can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lead to faster convergence.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en-US" sz="1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Very </a:t>
                      </a: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fast </a:t>
                      </a:r>
                      <a:r>
                        <a:rPr lang="en-US" sz="1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updates</a:t>
                      </a: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en-US" sz="1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Can </a:t>
                      </a: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handle large datasets </a:t>
                      </a:r>
                      <a:r>
                        <a:rPr lang="en-US" sz="1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efficiently</a:t>
                      </a: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en-US" sz="1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Introduces </a:t>
                      </a: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noise that can help escape local minima.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895389"/>
                  </a:ext>
                </a:extLst>
              </a:tr>
              <a:tr h="818493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Cons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 Slow and computationally expensive with large datasets.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Choice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of mini-batch size affects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performance</a:t>
                      </a: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Too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small: noisy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updates</a:t>
                      </a: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Too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large: slow training.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High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variance in updates can lead to noisy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gradients</a:t>
                      </a: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May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require more iterations to converge.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9384328"/>
                  </a:ext>
                </a:extLst>
              </a:tr>
              <a:tr h="420667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Update Frequency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Once per epoch (entire dataset).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Multiple times per epoch (based on mini-batch size).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Once per training example.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943730"/>
                  </a:ext>
                </a:extLst>
              </a:tr>
              <a:tr h="61862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Memory Usage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High, as it requires loading the entire dataset into memory.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Lower, as only a subset of the data is loaded at a time.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Very low, as only one training example is loaded at a time.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271556"/>
                  </a:ext>
                </a:extLst>
              </a:tr>
              <a:tr h="61862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Convergence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Can be slow due to the large amount of data processed at once.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Typically faster due to more frequent updates.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Can be very fast but may be noisy and require more iterations.</a:t>
                      </a:r>
                    </a:p>
                  </a:txBody>
                  <a:tcPr marL="9517" marR="9517" marT="9517" marB="456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533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070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13959" y="1475232"/>
            <a:ext cx="2353056" cy="2641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1259" y="3214084"/>
            <a:ext cx="3535756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25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Regularization</a:t>
            </a:r>
            <a:endParaRPr spc="35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19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36" y="24870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Why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70334"/>
            <a:ext cx="10515600" cy="2487665"/>
          </a:xfrm>
        </p:spPr>
        <p:txBody>
          <a:bodyPr>
            <a:normAutofit/>
          </a:bodyPr>
          <a:lstStyle/>
          <a:p>
            <a:r>
              <a:rPr lang="en-US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Model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learns to perform extremely well on training data but fails to generalize to new, unseen </a:t>
            </a:r>
            <a:r>
              <a:rPr lang="en-US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data (Test Data) </a:t>
            </a:r>
          </a:p>
          <a:p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Overfitting happens when the model is too complex, allowing it to capture noise and irrelevant patterns in the training data</a:t>
            </a:r>
            <a:r>
              <a:rPr lang="en-US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endParaRPr lang="en-US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Regularization is a technique used to prevent overfitting by adding a penalty to the model’s complexity.</a:t>
            </a:r>
          </a:p>
          <a:p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Helps models generalize better to new, unseen data.</a:t>
            </a:r>
            <a:endParaRPr lang="en-US" sz="18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IN" sz="18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IN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833702" y="1571054"/>
            <a:ext cx="3600450" cy="2587764"/>
            <a:chOff x="1112017" y="4270236"/>
            <a:chExt cx="3600450" cy="2587764"/>
          </a:xfrm>
        </p:grpSpPr>
        <p:grpSp>
          <p:nvGrpSpPr>
            <p:cNvPr id="23" name="Group 22"/>
            <p:cNvGrpSpPr/>
            <p:nvPr/>
          </p:nvGrpSpPr>
          <p:grpSpPr>
            <a:xfrm>
              <a:off x="1112017" y="4270236"/>
              <a:ext cx="3600450" cy="2587764"/>
              <a:chOff x="6096000" y="4128525"/>
              <a:chExt cx="3600450" cy="2587764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6096000" y="4128525"/>
                <a:ext cx="3600450" cy="2587764"/>
                <a:chOff x="3581400" y="3987848"/>
                <a:chExt cx="3600450" cy="2587764"/>
              </a:xfrm>
            </p:grpSpPr>
            <p:cxnSp>
              <p:nvCxnSpPr>
                <p:cNvPr id="5" name="Straight Arrow Connector 4"/>
                <p:cNvCxnSpPr/>
                <p:nvPr/>
              </p:nvCxnSpPr>
              <p:spPr>
                <a:xfrm flipH="1" flipV="1">
                  <a:off x="3926541" y="3987848"/>
                  <a:ext cx="13447" cy="258776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/>
                <p:cNvCxnSpPr/>
                <p:nvPr/>
              </p:nvCxnSpPr>
              <p:spPr>
                <a:xfrm>
                  <a:off x="3581400" y="6326188"/>
                  <a:ext cx="3600450" cy="429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Oval 5"/>
              <p:cNvSpPr/>
              <p:nvPr/>
            </p:nvSpPr>
            <p:spPr>
              <a:xfrm>
                <a:off x="7162357" y="4593983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8487099" y="5549523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7866971" y="5422407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7595096" y="4399547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7378484" y="5068264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8440506" y="4932947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8187814" y="4441583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7939161" y="4185949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6625345" y="4639688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6986249" y="5005686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8187814" y="5939798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7575383" y="5894399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7098189" y="5601519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8835161" y="4825107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7698530" y="4722544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8043435" y="5036285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cxnSp>
          <p:nvCxnSpPr>
            <p:cNvPr id="45" name="Straight Connector 44"/>
            <p:cNvCxnSpPr/>
            <p:nvPr/>
          </p:nvCxnSpPr>
          <p:spPr>
            <a:xfrm>
              <a:off x="2002266" y="4270236"/>
              <a:ext cx="2046813" cy="2381296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/>
          <p:cNvGrpSpPr/>
          <p:nvPr/>
        </p:nvGrpSpPr>
        <p:grpSpPr>
          <a:xfrm>
            <a:off x="7380658" y="1418654"/>
            <a:ext cx="3600450" cy="2587764"/>
            <a:chOff x="7534142" y="4270236"/>
            <a:chExt cx="3600450" cy="2587764"/>
          </a:xfrm>
        </p:grpSpPr>
        <p:grpSp>
          <p:nvGrpSpPr>
            <p:cNvPr id="24" name="Group 23"/>
            <p:cNvGrpSpPr/>
            <p:nvPr/>
          </p:nvGrpSpPr>
          <p:grpSpPr>
            <a:xfrm>
              <a:off x="7534142" y="4270236"/>
              <a:ext cx="3600450" cy="2587764"/>
              <a:chOff x="6096000" y="4128525"/>
              <a:chExt cx="3600450" cy="2587764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6096000" y="4128525"/>
                <a:ext cx="3600450" cy="2587764"/>
                <a:chOff x="3581400" y="3987848"/>
                <a:chExt cx="3600450" cy="2587764"/>
              </a:xfrm>
            </p:grpSpPr>
            <p:cxnSp>
              <p:nvCxnSpPr>
                <p:cNvPr id="42" name="Straight Arrow Connector 41"/>
                <p:cNvCxnSpPr/>
                <p:nvPr/>
              </p:nvCxnSpPr>
              <p:spPr>
                <a:xfrm flipH="1" flipV="1">
                  <a:off x="3926541" y="3987848"/>
                  <a:ext cx="13447" cy="258776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/>
                <p:cNvCxnSpPr/>
                <p:nvPr/>
              </p:nvCxnSpPr>
              <p:spPr>
                <a:xfrm>
                  <a:off x="3581400" y="6326188"/>
                  <a:ext cx="3600450" cy="429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" name="Oval 25"/>
              <p:cNvSpPr/>
              <p:nvPr/>
            </p:nvSpPr>
            <p:spPr>
              <a:xfrm>
                <a:off x="7162357" y="4593983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8487099" y="5549523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7866971" y="5422407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7595096" y="4399547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7378484" y="5068264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8440506" y="4932947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8187814" y="4441583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7939161" y="4185949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6625345" y="4639688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6986249" y="5005686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8187814" y="5939798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7575383" y="5894399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7098189" y="5601519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8835161" y="4825107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7698530" y="4722544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8043435" y="5036285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8366125" y="4562475"/>
              <a:ext cx="2364995" cy="1586946"/>
            </a:xfrm>
            <a:custGeom>
              <a:avLst/>
              <a:gdLst>
                <a:gd name="connsiteX0" fmla="*/ 0 w 2364995"/>
                <a:gd name="connsiteY0" fmla="*/ 0 h 1586946"/>
                <a:gd name="connsiteX1" fmla="*/ 114300 w 2364995"/>
                <a:gd name="connsiteY1" fmla="*/ 508000 h 1586946"/>
                <a:gd name="connsiteX2" fmla="*/ 635000 w 2364995"/>
                <a:gd name="connsiteY2" fmla="*/ 511175 h 1586946"/>
                <a:gd name="connsiteX3" fmla="*/ 812800 w 2364995"/>
                <a:gd name="connsiteY3" fmla="*/ 292100 h 1586946"/>
                <a:gd name="connsiteX4" fmla="*/ 1152525 w 2364995"/>
                <a:gd name="connsiteY4" fmla="*/ 298450 h 1586946"/>
                <a:gd name="connsiteX5" fmla="*/ 1539875 w 2364995"/>
                <a:gd name="connsiteY5" fmla="*/ 942975 h 1586946"/>
                <a:gd name="connsiteX6" fmla="*/ 1266825 w 2364995"/>
                <a:gd name="connsiteY6" fmla="*/ 1041400 h 1586946"/>
                <a:gd name="connsiteX7" fmla="*/ 993775 w 2364995"/>
                <a:gd name="connsiteY7" fmla="*/ 857250 h 1586946"/>
                <a:gd name="connsiteX8" fmla="*/ 714375 w 2364995"/>
                <a:gd name="connsiteY8" fmla="*/ 628650 h 1586946"/>
                <a:gd name="connsiteX9" fmla="*/ 460375 w 2364995"/>
                <a:gd name="connsiteY9" fmla="*/ 612775 h 1586946"/>
                <a:gd name="connsiteX10" fmla="*/ 434975 w 2364995"/>
                <a:gd name="connsiteY10" fmla="*/ 923925 h 1586946"/>
                <a:gd name="connsiteX11" fmla="*/ 1212850 w 2364995"/>
                <a:gd name="connsiteY11" fmla="*/ 1438275 h 1586946"/>
                <a:gd name="connsiteX12" fmla="*/ 1447800 w 2364995"/>
                <a:gd name="connsiteY12" fmla="*/ 1397000 h 1586946"/>
                <a:gd name="connsiteX13" fmla="*/ 1816100 w 2364995"/>
                <a:gd name="connsiteY13" fmla="*/ 1571625 h 1586946"/>
                <a:gd name="connsiteX14" fmla="*/ 1889125 w 2364995"/>
                <a:gd name="connsiteY14" fmla="*/ 942975 h 1586946"/>
                <a:gd name="connsiteX15" fmla="*/ 1806575 w 2364995"/>
                <a:gd name="connsiteY15" fmla="*/ 352425 h 1586946"/>
                <a:gd name="connsiteX16" fmla="*/ 2324100 w 2364995"/>
                <a:gd name="connsiteY16" fmla="*/ 342900 h 1586946"/>
                <a:gd name="connsiteX17" fmla="*/ 2333625 w 2364995"/>
                <a:gd name="connsiteY17" fmla="*/ 342900 h 1586946"/>
                <a:gd name="connsiteX18" fmla="*/ 2343150 w 2364995"/>
                <a:gd name="connsiteY18" fmla="*/ 355600 h 1586946"/>
                <a:gd name="connsiteX19" fmla="*/ 2362200 w 2364995"/>
                <a:gd name="connsiteY19" fmla="*/ 336550 h 1586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64995" h="1586946">
                  <a:moveTo>
                    <a:pt x="0" y="0"/>
                  </a:moveTo>
                  <a:cubicBezTo>
                    <a:pt x="4233" y="211402"/>
                    <a:pt x="8467" y="422804"/>
                    <a:pt x="114300" y="508000"/>
                  </a:cubicBezTo>
                  <a:cubicBezTo>
                    <a:pt x="220133" y="593196"/>
                    <a:pt x="518583" y="547158"/>
                    <a:pt x="635000" y="511175"/>
                  </a:cubicBezTo>
                  <a:cubicBezTo>
                    <a:pt x="751417" y="475192"/>
                    <a:pt x="726546" y="327554"/>
                    <a:pt x="812800" y="292100"/>
                  </a:cubicBezTo>
                  <a:cubicBezTo>
                    <a:pt x="899054" y="256646"/>
                    <a:pt x="1031346" y="189971"/>
                    <a:pt x="1152525" y="298450"/>
                  </a:cubicBezTo>
                  <a:cubicBezTo>
                    <a:pt x="1273704" y="406929"/>
                    <a:pt x="1520825" y="819150"/>
                    <a:pt x="1539875" y="942975"/>
                  </a:cubicBezTo>
                  <a:cubicBezTo>
                    <a:pt x="1558925" y="1066800"/>
                    <a:pt x="1357842" y="1055688"/>
                    <a:pt x="1266825" y="1041400"/>
                  </a:cubicBezTo>
                  <a:cubicBezTo>
                    <a:pt x="1175808" y="1027113"/>
                    <a:pt x="1085850" y="926042"/>
                    <a:pt x="993775" y="857250"/>
                  </a:cubicBezTo>
                  <a:cubicBezTo>
                    <a:pt x="901700" y="788458"/>
                    <a:pt x="803275" y="669396"/>
                    <a:pt x="714375" y="628650"/>
                  </a:cubicBezTo>
                  <a:cubicBezTo>
                    <a:pt x="625475" y="587904"/>
                    <a:pt x="506942" y="563563"/>
                    <a:pt x="460375" y="612775"/>
                  </a:cubicBezTo>
                  <a:cubicBezTo>
                    <a:pt x="413808" y="661987"/>
                    <a:pt x="309563" y="786342"/>
                    <a:pt x="434975" y="923925"/>
                  </a:cubicBezTo>
                  <a:cubicBezTo>
                    <a:pt x="560387" y="1061508"/>
                    <a:pt x="1044046" y="1359429"/>
                    <a:pt x="1212850" y="1438275"/>
                  </a:cubicBezTo>
                  <a:cubicBezTo>
                    <a:pt x="1381654" y="1517121"/>
                    <a:pt x="1347258" y="1374775"/>
                    <a:pt x="1447800" y="1397000"/>
                  </a:cubicBezTo>
                  <a:cubicBezTo>
                    <a:pt x="1548342" y="1419225"/>
                    <a:pt x="1742546" y="1647296"/>
                    <a:pt x="1816100" y="1571625"/>
                  </a:cubicBezTo>
                  <a:cubicBezTo>
                    <a:pt x="1889654" y="1495954"/>
                    <a:pt x="1890712" y="1146175"/>
                    <a:pt x="1889125" y="942975"/>
                  </a:cubicBezTo>
                  <a:cubicBezTo>
                    <a:pt x="1887538" y="739775"/>
                    <a:pt x="1734079" y="452438"/>
                    <a:pt x="1806575" y="352425"/>
                  </a:cubicBezTo>
                  <a:cubicBezTo>
                    <a:pt x="1879071" y="252413"/>
                    <a:pt x="2236258" y="344488"/>
                    <a:pt x="2324100" y="342900"/>
                  </a:cubicBezTo>
                  <a:cubicBezTo>
                    <a:pt x="2411942" y="341313"/>
                    <a:pt x="2330450" y="340783"/>
                    <a:pt x="2333625" y="342900"/>
                  </a:cubicBezTo>
                  <a:cubicBezTo>
                    <a:pt x="2336800" y="345017"/>
                    <a:pt x="2338388" y="356658"/>
                    <a:pt x="2343150" y="355600"/>
                  </a:cubicBezTo>
                  <a:cubicBezTo>
                    <a:pt x="2347912" y="354542"/>
                    <a:pt x="2355056" y="345546"/>
                    <a:pt x="2362200" y="336550"/>
                  </a:cubicBezTo>
                </a:path>
              </a:pathLst>
            </a:cu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500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4" y="-6774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Why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516" y="4772561"/>
            <a:ext cx="10515600" cy="1717381"/>
          </a:xfrm>
        </p:spPr>
        <p:txBody>
          <a:bodyPr>
            <a:normAutofit/>
          </a:bodyPr>
          <a:lstStyle/>
          <a:p>
            <a:r>
              <a:rPr lang="en-US" sz="18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High Bias </a:t>
            </a:r>
            <a:r>
              <a:rPr lang="en-US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– </a:t>
            </a:r>
            <a:r>
              <a:rPr lang="en-US" sz="18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Underfit</a:t>
            </a:r>
            <a:r>
              <a:rPr lang="en-US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(Training error is high). Model is too simple to capture the patterns in the data</a:t>
            </a:r>
          </a:p>
          <a:p>
            <a:r>
              <a:rPr lang="en-US" sz="18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High Variance – </a:t>
            </a:r>
            <a:r>
              <a:rPr lang="en-US" sz="18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Overfit</a:t>
            </a:r>
            <a:r>
              <a:rPr lang="en-US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(Model fails on test/unseen data) </a:t>
            </a:r>
            <a:endParaRPr lang="en-US" sz="18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IN" sz="18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IN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76" name="Group 75"/>
          <p:cNvGrpSpPr/>
          <p:nvPr/>
        </p:nvGrpSpPr>
        <p:grpSpPr>
          <a:xfrm>
            <a:off x="176987" y="1315620"/>
            <a:ext cx="3600450" cy="2587764"/>
            <a:chOff x="838200" y="1304276"/>
            <a:chExt cx="3600450" cy="2587764"/>
          </a:xfrm>
        </p:grpSpPr>
        <p:grpSp>
          <p:nvGrpSpPr>
            <p:cNvPr id="52" name="Group 51"/>
            <p:cNvGrpSpPr/>
            <p:nvPr/>
          </p:nvGrpSpPr>
          <p:grpSpPr>
            <a:xfrm>
              <a:off x="838200" y="1304276"/>
              <a:ext cx="3600450" cy="2587764"/>
              <a:chOff x="3581400" y="3987848"/>
              <a:chExt cx="3600450" cy="2587764"/>
            </a:xfrm>
          </p:grpSpPr>
          <p:cxnSp>
            <p:nvCxnSpPr>
              <p:cNvPr id="69" name="Straight Arrow Connector 68"/>
              <p:cNvCxnSpPr/>
              <p:nvPr/>
            </p:nvCxnSpPr>
            <p:spPr>
              <a:xfrm flipH="1" flipV="1">
                <a:off x="3926541" y="3987848"/>
                <a:ext cx="13447" cy="25877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/>
              <p:nvPr/>
            </p:nvCxnSpPr>
            <p:spPr>
              <a:xfrm>
                <a:off x="3581400" y="6326188"/>
                <a:ext cx="3600450" cy="429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Oval 70"/>
            <p:cNvSpPr/>
            <p:nvPr/>
          </p:nvSpPr>
          <p:spPr>
            <a:xfrm>
              <a:off x="1465729" y="3181350"/>
              <a:ext cx="152400" cy="1333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Oval 71"/>
            <p:cNvSpPr/>
            <p:nvPr/>
          </p:nvSpPr>
          <p:spPr>
            <a:xfrm>
              <a:off x="3685054" y="1693056"/>
              <a:ext cx="152400" cy="1333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Oval 72"/>
            <p:cNvSpPr/>
            <p:nvPr/>
          </p:nvSpPr>
          <p:spPr>
            <a:xfrm>
              <a:off x="2950375" y="1740815"/>
              <a:ext cx="152400" cy="1333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" name="Oval 73"/>
            <p:cNvSpPr/>
            <p:nvPr/>
          </p:nvSpPr>
          <p:spPr>
            <a:xfrm>
              <a:off x="2256304" y="1893308"/>
              <a:ext cx="152400" cy="1333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Oval 74"/>
            <p:cNvSpPr/>
            <p:nvPr/>
          </p:nvSpPr>
          <p:spPr>
            <a:xfrm>
              <a:off x="1778306" y="2560058"/>
              <a:ext cx="152400" cy="1333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4233830" y="1382295"/>
            <a:ext cx="3600450" cy="2587764"/>
            <a:chOff x="838200" y="1304276"/>
            <a:chExt cx="3600450" cy="2587764"/>
          </a:xfrm>
        </p:grpSpPr>
        <p:grpSp>
          <p:nvGrpSpPr>
            <p:cNvPr id="78" name="Group 77"/>
            <p:cNvGrpSpPr/>
            <p:nvPr/>
          </p:nvGrpSpPr>
          <p:grpSpPr>
            <a:xfrm>
              <a:off x="838200" y="1304276"/>
              <a:ext cx="3600450" cy="2587764"/>
              <a:chOff x="3581400" y="3987848"/>
              <a:chExt cx="3600450" cy="2587764"/>
            </a:xfrm>
          </p:grpSpPr>
          <p:cxnSp>
            <p:nvCxnSpPr>
              <p:cNvPr id="84" name="Straight Arrow Connector 83"/>
              <p:cNvCxnSpPr/>
              <p:nvPr/>
            </p:nvCxnSpPr>
            <p:spPr>
              <a:xfrm flipH="1" flipV="1">
                <a:off x="3926541" y="3987848"/>
                <a:ext cx="13447" cy="25877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/>
              <p:cNvCxnSpPr/>
              <p:nvPr/>
            </p:nvCxnSpPr>
            <p:spPr>
              <a:xfrm>
                <a:off x="3581400" y="6326188"/>
                <a:ext cx="3600450" cy="429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9" name="Oval 78"/>
            <p:cNvSpPr/>
            <p:nvPr/>
          </p:nvSpPr>
          <p:spPr>
            <a:xfrm>
              <a:off x="1465729" y="3181350"/>
              <a:ext cx="152400" cy="1333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Oval 79"/>
            <p:cNvSpPr/>
            <p:nvPr/>
          </p:nvSpPr>
          <p:spPr>
            <a:xfrm>
              <a:off x="3685054" y="1693056"/>
              <a:ext cx="152400" cy="1333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1" name="Oval 80"/>
            <p:cNvSpPr/>
            <p:nvPr/>
          </p:nvSpPr>
          <p:spPr>
            <a:xfrm>
              <a:off x="2950375" y="1740815"/>
              <a:ext cx="152400" cy="1333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2" name="Oval 81"/>
            <p:cNvSpPr/>
            <p:nvPr/>
          </p:nvSpPr>
          <p:spPr>
            <a:xfrm>
              <a:off x="2256304" y="1893308"/>
              <a:ext cx="152400" cy="1333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3" name="Oval 82"/>
            <p:cNvSpPr/>
            <p:nvPr/>
          </p:nvSpPr>
          <p:spPr>
            <a:xfrm>
              <a:off x="1778306" y="2560058"/>
              <a:ext cx="152400" cy="1333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8354546" y="1353720"/>
            <a:ext cx="3600450" cy="2587764"/>
            <a:chOff x="838200" y="1304276"/>
            <a:chExt cx="3600450" cy="2587764"/>
          </a:xfrm>
        </p:grpSpPr>
        <p:grpSp>
          <p:nvGrpSpPr>
            <p:cNvPr id="87" name="Group 86"/>
            <p:cNvGrpSpPr/>
            <p:nvPr/>
          </p:nvGrpSpPr>
          <p:grpSpPr>
            <a:xfrm>
              <a:off x="838200" y="1304276"/>
              <a:ext cx="3600450" cy="2587764"/>
              <a:chOff x="3581400" y="3987848"/>
              <a:chExt cx="3600450" cy="2587764"/>
            </a:xfrm>
          </p:grpSpPr>
          <p:cxnSp>
            <p:nvCxnSpPr>
              <p:cNvPr id="93" name="Straight Arrow Connector 92"/>
              <p:cNvCxnSpPr/>
              <p:nvPr/>
            </p:nvCxnSpPr>
            <p:spPr>
              <a:xfrm flipH="1" flipV="1">
                <a:off x="3926541" y="3987848"/>
                <a:ext cx="13447" cy="25877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/>
              <p:nvPr/>
            </p:nvCxnSpPr>
            <p:spPr>
              <a:xfrm>
                <a:off x="3581400" y="6326188"/>
                <a:ext cx="3600450" cy="429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Oval 87"/>
            <p:cNvSpPr/>
            <p:nvPr/>
          </p:nvSpPr>
          <p:spPr>
            <a:xfrm>
              <a:off x="1465729" y="3181350"/>
              <a:ext cx="152400" cy="1333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9" name="Oval 88"/>
            <p:cNvSpPr/>
            <p:nvPr/>
          </p:nvSpPr>
          <p:spPr>
            <a:xfrm>
              <a:off x="3685054" y="1693056"/>
              <a:ext cx="152400" cy="1333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0" name="Oval 89"/>
            <p:cNvSpPr/>
            <p:nvPr/>
          </p:nvSpPr>
          <p:spPr>
            <a:xfrm>
              <a:off x="2950375" y="1740815"/>
              <a:ext cx="152400" cy="1333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1" name="Oval 90"/>
            <p:cNvSpPr/>
            <p:nvPr/>
          </p:nvSpPr>
          <p:spPr>
            <a:xfrm>
              <a:off x="2256304" y="1893308"/>
              <a:ext cx="152400" cy="1333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2" name="Oval 91"/>
            <p:cNvSpPr/>
            <p:nvPr/>
          </p:nvSpPr>
          <p:spPr>
            <a:xfrm>
              <a:off x="1778306" y="2560058"/>
              <a:ext cx="152400" cy="1333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96" name="Straight Connector 95"/>
          <p:cNvCxnSpPr/>
          <p:nvPr/>
        </p:nvCxnSpPr>
        <p:spPr>
          <a:xfrm flipV="1">
            <a:off x="713401" y="1476375"/>
            <a:ext cx="2584144" cy="1887769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7" name="Freeform 96"/>
          <p:cNvSpPr/>
          <p:nvPr/>
        </p:nvSpPr>
        <p:spPr>
          <a:xfrm>
            <a:off x="4953000" y="1835575"/>
            <a:ext cx="2302100" cy="1498175"/>
          </a:xfrm>
          <a:custGeom>
            <a:avLst/>
            <a:gdLst>
              <a:gd name="connsiteX0" fmla="*/ 0 w 2302100"/>
              <a:gd name="connsiteY0" fmla="*/ 1498175 h 1498175"/>
              <a:gd name="connsiteX1" fmla="*/ 295275 w 2302100"/>
              <a:gd name="connsiteY1" fmla="*/ 888575 h 1498175"/>
              <a:gd name="connsiteX2" fmla="*/ 781050 w 2302100"/>
              <a:gd name="connsiteY2" fmla="*/ 164675 h 1498175"/>
              <a:gd name="connsiteX3" fmla="*/ 1514475 w 2302100"/>
              <a:gd name="connsiteY3" fmla="*/ 31325 h 1498175"/>
              <a:gd name="connsiteX4" fmla="*/ 2247900 w 2302100"/>
              <a:gd name="connsiteY4" fmla="*/ 2750 h 1498175"/>
              <a:gd name="connsiteX5" fmla="*/ 2190750 w 2302100"/>
              <a:gd name="connsiteY5" fmla="*/ 2750 h 149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2100" h="1498175">
                <a:moveTo>
                  <a:pt x="0" y="1498175"/>
                </a:moveTo>
                <a:cubicBezTo>
                  <a:pt x="82550" y="1304500"/>
                  <a:pt x="165100" y="1110825"/>
                  <a:pt x="295275" y="888575"/>
                </a:cubicBezTo>
                <a:cubicBezTo>
                  <a:pt x="425450" y="666325"/>
                  <a:pt x="577850" y="307550"/>
                  <a:pt x="781050" y="164675"/>
                </a:cubicBezTo>
                <a:cubicBezTo>
                  <a:pt x="984250" y="21800"/>
                  <a:pt x="1270000" y="58312"/>
                  <a:pt x="1514475" y="31325"/>
                </a:cubicBezTo>
                <a:cubicBezTo>
                  <a:pt x="1758950" y="4338"/>
                  <a:pt x="2135188" y="7512"/>
                  <a:pt x="2247900" y="2750"/>
                </a:cubicBezTo>
                <a:cubicBezTo>
                  <a:pt x="2360613" y="-2013"/>
                  <a:pt x="2275681" y="368"/>
                  <a:pt x="2190750" y="2750"/>
                </a:cubicBezTo>
              </a:path>
            </a:pathLst>
          </a:cu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Freeform 97"/>
          <p:cNvSpPr/>
          <p:nvPr/>
        </p:nvSpPr>
        <p:spPr>
          <a:xfrm>
            <a:off x="8966689" y="1306060"/>
            <a:ext cx="2579188" cy="2018165"/>
          </a:xfrm>
          <a:custGeom>
            <a:avLst/>
            <a:gdLst>
              <a:gd name="connsiteX0" fmla="*/ 139211 w 2579188"/>
              <a:gd name="connsiteY0" fmla="*/ 2018165 h 2018165"/>
              <a:gd name="connsiteX1" fmla="*/ 5861 w 2579188"/>
              <a:gd name="connsiteY1" fmla="*/ 1446665 h 2018165"/>
              <a:gd name="connsiteX2" fmla="*/ 310661 w 2579188"/>
              <a:gd name="connsiteY2" fmla="*/ 1399040 h 2018165"/>
              <a:gd name="connsiteX3" fmla="*/ 939311 w 2579188"/>
              <a:gd name="connsiteY3" fmla="*/ 1399040 h 2018165"/>
              <a:gd name="connsiteX4" fmla="*/ 701186 w 2579188"/>
              <a:gd name="connsiteY4" fmla="*/ 789440 h 2018165"/>
              <a:gd name="connsiteX5" fmla="*/ 815486 w 2579188"/>
              <a:gd name="connsiteY5" fmla="*/ 694190 h 2018165"/>
              <a:gd name="connsiteX6" fmla="*/ 1367936 w 2579188"/>
              <a:gd name="connsiteY6" fmla="*/ 1065665 h 2018165"/>
              <a:gd name="connsiteX7" fmla="*/ 1120286 w 2579188"/>
              <a:gd name="connsiteY7" fmla="*/ 84590 h 2018165"/>
              <a:gd name="connsiteX8" fmla="*/ 1548911 w 2579188"/>
              <a:gd name="connsiteY8" fmla="*/ 513215 h 2018165"/>
              <a:gd name="connsiteX9" fmla="*/ 1968011 w 2579188"/>
              <a:gd name="connsiteY9" fmla="*/ 1037090 h 2018165"/>
              <a:gd name="connsiteX10" fmla="*/ 2310911 w 2579188"/>
              <a:gd name="connsiteY10" fmla="*/ 551315 h 2018165"/>
              <a:gd name="connsiteX11" fmla="*/ 2549036 w 2579188"/>
              <a:gd name="connsiteY11" fmla="*/ 65540 h 2018165"/>
              <a:gd name="connsiteX12" fmla="*/ 2568086 w 2579188"/>
              <a:gd name="connsiteY12" fmla="*/ 17915 h 2018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79188" h="2018165">
                <a:moveTo>
                  <a:pt x="139211" y="2018165"/>
                </a:moveTo>
                <a:cubicBezTo>
                  <a:pt x="58248" y="1784008"/>
                  <a:pt x="-22714" y="1549852"/>
                  <a:pt x="5861" y="1446665"/>
                </a:cubicBezTo>
                <a:cubicBezTo>
                  <a:pt x="34436" y="1343478"/>
                  <a:pt x="155086" y="1406977"/>
                  <a:pt x="310661" y="1399040"/>
                </a:cubicBezTo>
                <a:cubicBezTo>
                  <a:pt x="466236" y="1391103"/>
                  <a:pt x="874224" y="1500640"/>
                  <a:pt x="939311" y="1399040"/>
                </a:cubicBezTo>
                <a:cubicBezTo>
                  <a:pt x="1004399" y="1297440"/>
                  <a:pt x="721823" y="906915"/>
                  <a:pt x="701186" y="789440"/>
                </a:cubicBezTo>
                <a:cubicBezTo>
                  <a:pt x="680549" y="671965"/>
                  <a:pt x="704361" y="648152"/>
                  <a:pt x="815486" y="694190"/>
                </a:cubicBezTo>
                <a:cubicBezTo>
                  <a:pt x="926611" y="740228"/>
                  <a:pt x="1317136" y="1167265"/>
                  <a:pt x="1367936" y="1065665"/>
                </a:cubicBezTo>
                <a:cubicBezTo>
                  <a:pt x="1418736" y="964065"/>
                  <a:pt x="1090124" y="176665"/>
                  <a:pt x="1120286" y="84590"/>
                </a:cubicBezTo>
                <a:cubicBezTo>
                  <a:pt x="1150448" y="-7485"/>
                  <a:pt x="1407624" y="354465"/>
                  <a:pt x="1548911" y="513215"/>
                </a:cubicBezTo>
                <a:cubicBezTo>
                  <a:pt x="1690199" y="671965"/>
                  <a:pt x="1841011" y="1030740"/>
                  <a:pt x="1968011" y="1037090"/>
                </a:cubicBezTo>
                <a:cubicBezTo>
                  <a:pt x="2095011" y="1043440"/>
                  <a:pt x="2214073" y="713240"/>
                  <a:pt x="2310911" y="551315"/>
                </a:cubicBezTo>
                <a:cubicBezTo>
                  <a:pt x="2407749" y="389390"/>
                  <a:pt x="2506174" y="154440"/>
                  <a:pt x="2549036" y="65540"/>
                </a:cubicBezTo>
                <a:cubicBezTo>
                  <a:pt x="2591899" y="-23360"/>
                  <a:pt x="2579992" y="-2723"/>
                  <a:pt x="2568086" y="17915"/>
                </a:cubicBezTo>
              </a:path>
            </a:pathLst>
          </a:cu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Rectangle 98"/>
          <p:cNvSpPr/>
          <p:nvPr/>
        </p:nvSpPr>
        <p:spPr>
          <a:xfrm>
            <a:off x="1241583" y="3908791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Underfit</a:t>
            </a:r>
            <a:endParaRPr lang="en-IN" dirty="0"/>
          </a:p>
        </p:txBody>
      </p:sp>
      <p:sp>
        <p:nvSpPr>
          <p:cNvPr id="100" name="Rectangle 99"/>
          <p:cNvSpPr/>
          <p:nvPr/>
        </p:nvSpPr>
        <p:spPr>
          <a:xfrm>
            <a:off x="9680543" y="3908791"/>
            <a:ext cx="8694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Overfit</a:t>
            </a:r>
            <a:endParaRPr lang="en-IN" dirty="0"/>
          </a:p>
        </p:txBody>
      </p:sp>
      <p:sp>
        <p:nvSpPr>
          <p:cNvPr id="101" name="Rectangle 100"/>
          <p:cNvSpPr/>
          <p:nvPr/>
        </p:nvSpPr>
        <p:spPr>
          <a:xfrm>
            <a:off x="5554037" y="3908791"/>
            <a:ext cx="1082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Balanced</a:t>
            </a:r>
            <a:endParaRPr lang="en-IN" dirty="0"/>
          </a:p>
        </p:txBody>
      </p:sp>
      <p:sp>
        <p:nvSpPr>
          <p:cNvPr id="102" name="Rectangle 101"/>
          <p:cNvSpPr/>
          <p:nvPr/>
        </p:nvSpPr>
        <p:spPr>
          <a:xfrm>
            <a:off x="2253398" y="3918795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High Bias</a:t>
            </a:r>
            <a:endParaRPr lang="en-IN" dirty="0"/>
          </a:p>
        </p:txBody>
      </p:sp>
      <p:sp>
        <p:nvSpPr>
          <p:cNvPr id="103" name="Rectangle 102"/>
          <p:cNvSpPr/>
          <p:nvPr/>
        </p:nvSpPr>
        <p:spPr>
          <a:xfrm>
            <a:off x="10619121" y="3908791"/>
            <a:ext cx="15497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High Variance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932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0" grpId="0"/>
      <p:bldP spid="10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5" y="3568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Why</a:t>
            </a:r>
            <a:endParaRPr lang="en-IN" dirty="0"/>
          </a:p>
        </p:txBody>
      </p:sp>
      <p:grpSp>
        <p:nvGrpSpPr>
          <p:cNvPr id="48" name="Group 47"/>
          <p:cNvGrpSpPr/>
          <p:nvPr/>
        </p:nvGrpSpPr>
        <p:grpSpPr>
          <a:xfrm>
            <a:off x="-3086" y="1389514"/>
            <a:ext cx="3600450" cy="2587764"/>
            <a:chOff x="1112017" y="4270236"/>
            <a:chExt cx="3600450" cy="2587764"/>
          </a:xfrm>
        </p:grpSpPr>
        <p:grpSp>
          <p:nvGrpSpPr>
            <p:cNvPr id="23" name="Group 22"/>
            <p:cNvGrpSpPr/>
            <p:nvPr/>
          </p:nvGrpSpPr>
          <p:grpSpPr>
            <a:xfrm>
              <a:off x="1112017" y="4270236"/>
              <a:ext cx="3600450" cy="2587764"/>
              <a:chOff x="6096000" y="4128525"/>
              <a:chExt cx="3600450" cy="2587764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6096000" y="4128525"/>
                <a:ext cx="3600450" cy="2587764"/>
                <a:chOff x="3581400" y="3987848"/>
                <a:chExt cx="3600450" cy="2587764"/>
              </a:xfrm>
            </p:grpSpPr>
            <p:cxnSp>
              <p:nvCxnSpPr>
                <p:cNvPr id="5" name="Straight Arrow Connector 4"/>
                <p:cNvCxnSpPr/>
                <p:nvPr/>
              </p:nvCxnSpPr>
              <p:spPr>
                <a:xfrm flipH="1" flipV="1">
                  <a:off x="3926541" y="3987848"/>
                  <a:ext cx="13447" cy="258776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/>
                <p:cNvCxnSpPr/>
                <p:nvPr/>
              </p:nvCxnSpPr>
              <p:spPr>
                <a:xfrm>
                  <a:off x="3581400" y="6326188"/>
                  <a:ext cx="3600450" cy="429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Oval 5"/>
              <p:cNvSpPr/>
              <p:nvPr/>
            </p:nvSpPr>
            <p:spPr>
              <a:xfrm>
                <a:off x="7162357" y="4593983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8487099" y="5549523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7866971" y="5422407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7595096" y="4399547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7378484" y="5068264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8440506" y="4932947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8187814" y="4441583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7939161" y="4185949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6625345" y="4639688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6986249" y="5005686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8187814" y="5939798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7575383" y="5894399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7098189" y="5601519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8835161" y="4825107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7698530" y="4722544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8043435" y="5036285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cxnSp>
          <p:nvCxnSpPr>
            <p:cNvPr id="45" name="Straight Connector 44"/>
            <p:cNvCxnSpPr/>
            <p:nvPr/>
          </p:nvCxnSpPr>
          <p:spPr>
            <a:xfrm>
              <a:off x="2002266" y="4270236"/>
              <a:ext cx="2046813" cy="2381296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/>
          <p:cNvGrpSpPr/>
          <p:nvPr/>
        </p:nvGrpSpPr>
        <p:grpSpPr>
          <a:xfrm>
            <a:off x="8586685" y="1389514"/>
            <a:ext cx="3600450" cy="2587764"/>
            <a:chOff x="7534142" y="4270236"/>
            <a:chExt cx="3600450" cy="2587764"/>
          </a:xfrm>
        </p:grpSpPr>
        <p:grpSp>
          <p:nvGrpSpPr>
            <p:cNvPr id="24" name="Group 23"/>
            <p:cNvGrpSpPr/>
            <p:nvPr/>
          </p:nvGrpSpPr>
          <p:grpSpPr>
            <a:xfrm>
              <a:off x="7534142" y="4270236"/>
              <a:ext cx="3600450" cy="2587764"/>
              <a:chOff x="6096000" y="4128525"/>
              <a:chExt cx="3600450" cy="2587764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6096000" y="4128525"/>
                <a:ext cx="3600450" cy="2587764"/>
                <a:chOff x="3581400" y="3987848"/>
                <a:chExt cx="3600450" cy="2587764"/>
              </a:xfrm>
            </p:grpSpPr>
            <p:cxnSp>
              <p:nvCxnSpPr>
                <p:cNvPr id="42" name="Straight Arrow Connector 41"/>
                <p:cNvCxnSpPr/>
                <p:nvPr/>
              </p:nvCxnSpPr>
              <p:spPr>
                <a:xfrm flipH="1" flipV="1">
                  <a:off x="3926541" y="3987848"/>
                  <a:ext cx="13447" cy="258776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/>
                <p:cNvCxnSpPr/>
                <p:nvPr/>
              </p:nvCxnSpPr>
              <p:spPr>
                <a:xfrm>
                  <a:off x="3581400" y="6326188"/>
                  <a:ext cx="3600450" cy="429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" name="Oval 25"/>
              <p:cNvSpPr/>
              <p:nvPr/>
            </p:nvSpPr>
            <p:spPr>
              <a:xfrm>
                <a:off x="7162357" y="4593983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8487099" y="5549523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7866971" y="5422407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7595096" y="4399547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7378484" y="5068264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8440506" y="4932947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8187814" y="4441583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7939161" y="4185949"/>
                <a:ext cx="272716" cy="304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6625345" y="4639688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6986249" y="5005686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8187814" y="5939798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7575383" y="5894399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7098189" y="5601519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8835161" y="4825107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7698530" y="4722544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8043435" y="5036285"/>
                <a:ext cx="336884" cy="365998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8366125" y="4562475"/>
              <a:ext cx="2364995" cy="1586946"/>
            </a:xfrm>
            <a:custGeom>
              <a:avLst/>
              <a:gdLst>
                <a:gd name="connsiteX0" fmla="*/ 0 w 2364995"/>
                <a:gd name="connsiteY0" fmla="*/ 0 h 1586946"/>
                <a:gd name="connsiteX1" fmla="*/ 114300 w 2364995"/>
                <a:gd name="connsiteY1" fmla="*/ 508000 h 1586946"/>
                <a:gd name="connsiteX2" fmla="*/ 635000 w 2364995"/>
                <a:gd name="connsiteY2" fmla="*/ 511175 h 1586946"/>
                <a:gd name="connsiteX3" fmla="*/ 812800 w 2364995"/>
                <a:gd name="connsiteY3" fmla="*/ 292100 h 1586946"/>
                <a:gd name="connsiteX4" fmla="*/ 1152525 w 2364995"/>
                <a:gd name="connsiteY4" fmla="*/ 298450 h 1586946"/>
                <a:gd name="connsiteX5" fmla="*/ 1539875 w 2364995"/>
                <a:gd name="connsiteY5" fmla="*/ 942975 h 1586946"/>
                <a:gd name="connsiteX6" fmla="*/ 1266825 w 2364995"/>
                <a:gd name="connsiteY6" fmla="*/ 1041400 h 1586946"/>
                <a:gd name="connsiteX7" fmla="*/ 993775 w 2364995"/>
                <a:gd name="connsiteY7" fmla="*/ 857250 h 1586946"/>
                <a:gd name="connsiteX8" fmla="*/ 714375 w 2364995"/>
                <a:gd name="connsiteY8" fmla="*/ 628650 h 1586946"/>
                <a:gd name="connsiteX9" fmla="*/ 460375 w 2364995"/>
                <a:gd name="connsiteY9" fmla="*/ 612775 h 1586946"/>
                <a:gd name="connsiteX10" fmla="*/ 434975 w 2364995"/>
                <a:gd name="connsiteY10" fmla="*/ 923925 h 1586946"/>
                <a:gd name="connsiteX11" fmla="*/ 1212850 w 2364995"/>
                <a:gd name="connsiteY11" fmla="*/ 1438275 h 1586946"/>
                <a:gd name="connsiteX12" fmla="*/ 1447800 w 2364995"/>
                <a:gd name="connsiteY12" fmla="*/ 1397000 h 1586946"/>
                <a:gd name="connsiteX13" fmla="*/ 1816100 w 2364995"/>
                <a:gd name="connsiteY13" fmla="*/ 1571625 h 1586946"/>
                <a:gd name="connsiteX14" fmla="*/ 1889125 w 2364995"/>
                <a:gd name="connsiteY14" fmla="*/ 942975 h 1586946"/>
                <a:gd name="connsiteX15" fmla="*/ 1806575 w 2364995"/>
                <a:gd name="connsiteY15" fmla="*/ 352425 h 1586946"/>
                <a:gd name="connsiteX16" fmla="*/ 2324100 w 2364995"/>
                <a:gd name="connsiteY16" fmla="*/ 342900 h 1586946"/>
                <a:gd name="connsiteX17" fmla="*/ 2333625 w 2364995"/>
                <a:gd name="connsiteY17" fmla="*/ 342900 h 1586946"/>
                <a:gd name="connsiteX18" fmla="*/ 2343150 w 2364995"/>
                <a:gd name="connsiteY18" fmla="*/ 355600 h 1586946"/>
                <a:gd name="connsiteX19" fmla="*/ 2362200 w 2364995"/>
                <a:gd name="connsiteY19" fmla="*/ 336550 h 1586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64995" h="1586946">
                  <a:moveTo>
                    <a:pt x="0" y="0"/>
                  </a:moveTo>
                  <a:cubicBezTo>
                    <a:pt x="4233" y="211402"/>
                    <a:pt x="8467" y="422804"/>
                    <a:pt x="114300" y="508000"/>
                  </a:cubicBezTo>
                  <a:cubicBezTo>
                    <a:pt x="220133" y="593196"/>
                    <a:pt x="518583" y="547158"/>
                    <a:pt x="635000" y="511175"/>
                  </a:cubicBezTo>
                  <a:cubicBezTo>
                    <a:pt x="751417" y="475192"/>
                    <a:pt x="726546" y="327554"/>
                    <a:pt x="812800" y="292100"/>
                  </a:cubicBezTo>
                  <a:cubicBezTo>
                    <a:pt x="899054" y="256646"/>
                    <a:pt x="1031346" y="189971"/>
                    <a:pt x="1152525" y="298450"/>
                  </a:cubicBezTo>
                  <a:cubicBezTo>
                    <a:pt x="1273704" y="406929"/>
                    <a:pt x="1520825" y="819150"/>
                    <a:pt x="1539875" y="942975"/>
                  </a:cubicBezTo>
                  <a:cubicBezTo>
                    <a:pt x="1558925" y="1066800"/>
                    <a:pt x="1357842" y="1055688"/>
                    <a:pt x="1266825" y="1041400"/>
                  </a:cubicBezTo>
                  <a:cubicBezTo>
                    <a:pt x="1175808" y="1027113"/>
                    <a:pt x="1085850" y="926042"/>
                    <a:pt x="993775" y="857250"/>
                  </a:cubicBezTo>
                  <a:cubicBezTo>
                    <a:pt x="901700" y="788458"/>
                    <a:pt x="803275" y="669396"/>
                    <a:pt x="714375" y="628650"/>
                  </a:cubicBezTo>
                  <a:cubicBezTo>
                    <a:pt x="625475" y="587904"/>
                    <a:pt x="506942" y="563563"/>
                    <a:pt x="460375" y="612775"/>
                  </a:cubicBezTo>
                  <a:cubicBezTo>
                    <a:pt x="413808" y="661987"/>
                    <a:pt x="309563" y="786342"/>
                    <a:pt x="434975" y="923925"/>
                  </a:cubicBezTo>
                  <a:cubicBezTo>
                    <a:pt x="560387" y="1061508"/>
                    <a:pt x="1044046" y="1359429"/>
                    <a:pt x="1212850" y="1438275"/>
                  </a:cubicBezTo>
                  <a:cubicBezTo>
                    <a:pt x="1381654" y="1517121"/>
                    <a:pt x="1347258" y="1374775"/>
                    <a:pt x="1447800" y="1397000"/>
                  </a:cubicBezTo>
                  <a:cubicBezTo>
                    <a:pt x="1548342" y="1419225"/>
                    <a:pt x="1742546" y="1647296"/>
                    <a:pt x="1816100" y="1571625"/>
                  </a:cubicBezTo>
                  <a:cubicBezTo>
                    <a:pt x="1889654" y="1495954"/>
                    <a:pt x="1890712" y="1146175"/>
                    <a:pt x="1889125" y="942975"/>
                  </a:cubicBezTo>
                  <a:cubicBezTo>
                    <a:pt x="1887538" y="739775"/>
                    <a:pt x="1734079" y="452438"/>
                    <a:pt x="1806575" y="352425"/>
                  </a:cubicBezTo>
                  <a:cubicBezTo>
                    <a:pt x="1879071" y="252413"/>
                    <a:pt x="2236258" y="344488"/>
                    <a:pt x="2324100" y="342900"/>
                  </a:cubicBezTo>
                  <a:cubicBezTo>
                    <a:pt x="2411942" y="341313"/>
                    <a:pt x="2330450" y="340783"/>
                    <a:pt x="2333625" y="342900"/>
                  </a:cubicBezTo>
                  <a:cubicBezTo>
                    <a:pt x="2336800" y="345017"/>
                    <a:pt x="2338388" y="356658"/>
                    <a:pt x="2343150" y="355600"/>
                  </a:cubicBezTo>
                  <a:cubicBezTo>
                    <a:pt x="2347912" y="354542"/>
                    <a:pt x="2355056" y="345546"/>
                    <a:pt x="2362200" y="336550"/>
                  </a:cubicBezTo>
                </a:path>
              </a:pathLst>
            </a:cu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4291799" y="1389514"/>
            <a:ext cx="3600450" cy="2587764"/>
            <a:chOff x="6096000" y="4128525"/>
            <a:chExt cx="3600450" cy="2587764"/>
          </a:xfrm>
        </p:grpSpPr>
        <p:grpSp>
          <p:nvGrpSpPr>
            <p:cNvPr id="52" name="Group 51"/>
            <p:cNvGrpSpPr/>
            <p:nvPr/>
          </p:nvGrpSpPr>
          <p:grpSpPr>
            <a:xfrm>
              <a:off x="6096000" y="4128525"/>
              <a:ext cx="3600450" cy="2587764"/>
              <a:chOff x="3581400" y="3987848"/>
              <a:chExt cx="3600450" cy="2587764"/>
            </a:xfrm>
          </p:grpSpPr>
          <p:cxnSp>
            <p:nvCxnSpPr>
              <p:cNvPr id="69" name="Straight Arrow Connector 68"/>
              <p:cNvCxnSpPr/>
              <p:nvPr/>
            </p:nvCxnSpPr>
            <p:spPr>
              <a:xfrm flipH="1" flipV="1">
                <a:off x="3926541" y="3987848"/>
                <a:ext cx="13447" cy="25877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/>
              <p:nvPr/>
            </p:nvCxnSpPr>
            <p:spPr>
              <a:xfrm>
                <a:off x="3581400" y="6326188"/>
                <a:ext cx="3600450" cy="429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Oval 52"/>
            <p:cNvSpPr/>
            <p:nvPr/>
          </p:nvSpPr>
          <p:spPr>
            <a:xfrm>
              <a:off x="7162357" y="4593983"/>
              <a:ext cx="272716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Oval 53"/>
            <p:cNvSpPr/>
            <p:nvPr/>
          </p:nvSpPr>
          <p:spPr>
            <a:xfrm>
              <a:off x="8487099" y="5549523"/>
              <a:ext cx="272716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5" name="Oval 54"/>
            <p:cNvSpPr/>
            <p:nvPr/>
          </p:nvSpPr>
          <p:spPr>
            <a:xfrm>
              <a:off x="7866971" y="5422407"/>
              <a:ext cx="272716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Oval 55"/>
            <p:cNvSpPr/>
            <p:nvPr/>
          </p:nvSpPr>
          <p:spPr>
            <a:xfrm>
              <a:off x="7595096" y="4399547"/>
              <a:ext cx="272716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Oval 56"/>
            <p:cNvSpPr/>
            <p:nvPr/>
          </p:nvSpPr>
          <p:spPr>
            <a:xfrm>
              <a:off x="7378484" y="5068264"/>
              <a:ext cx="272716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Oval 57"/>
            <p:cNvSpPr/>
            <p:nvPr/>
          </p:nvSpPr>
          <p:spPr>
            <a:xfrm>
              <a:off x="8440506" y="4932947"/>
              <a:ext cx="272716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9" name="Oval 58"/>
            <p:cNvSpPr/>
            <p:nvPr/>
          </p:nvSpPr>
          <p:spPr>
            <a:xfrm>
              <a:off x="8187814" y="4441583"/>
              <a:ext cx="272716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0" name="Oval 59"/>
            <p:cNvSpPr/>
            <p:nvPr/>
          </p:nvSpPr>
          <p:spPr>
            <a:xfrm>
              <a:off x="7939161" y="4185949"/>
              <a:ext cx="272716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" name="Oval 60"/>
            <p:cNvSpPr/>
            <p:nvPr/>
          </p:nvSpPr>
          <p:spPr>
            <a:xfrm>
              <a:off x="6625345" y="4639688"/>
              <a:ext cx="336884" cy="365998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2" name="Oval 61"/>
            <p:cNvSpPr/>
            <p:nvPr/>
          </p:nvSpPr>
          <p:spPr>
            <a:xfrm>
              <a:off x="6986249" y="5005686"/>
              <a:ext cx="336884" cy="365998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3" name="Oval 62"/>
            <p:cNvSpPr/>
            <p:nvPr/>
          </p:nvSpPr>
          <p:spPr>
            <a:xfrm>
              <a:off x="8187814" y="5939798"/>
              <a:ext cx="336884" cy="365998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Oval 63"/>
            <p:cNvSpPr/>
            <p:nvPr/>
          </p:nvSpPr>
          <p:spPr>
            <a:xfrm>
              <a:off x="7575383" y="5894399"/>
              <a:ext cx="336884" cy="365998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Oval 64"/>
            <p:cNvSpPr/>
            <p:nvPr/>
          </p:nvSpPr>
          <p:spPr>
            <a:xfrm>
              <a:off x="7098189" y="5601519"/>
              <a:ext cx="336884" cy="365998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Oval 65"/>
            <p:cNvSpPr/>
            <p:nvPr/>
          </p:nvSpPr>
          <p:spPr>
            <a:xfrm>
              <a:off x="8835161" y="4825107"/>
              <a:ext cx="336884" cy="365998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7" name="Oval 66"/>
            <p:cNvSpPr/>
            <p:nvPr/>
          </p:nvSpPr>
          <p:spPr>
            <a:xfrm>
              <a:off x="7698530" y="4722544"/>
              <a:ext cx="336884" cy="365998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8" name="Oval 67"/>
            <p:cNvSpPr/>
            <p:nvPr/>
          </p:nvSpPr>
          <p:spPr>
            <a:xfrm>
              <a:off x="8043435" y="5036285"/>
              <a:ext cx="336884" cy="365998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4" name="Arc 43"/>
          <p:cNvSpPr/>
          <p:nvPr/>
        </p:nvSpPr>
        <p:spPr>
          <a:xfrm flipH="1">
            <a:off x="5710641" y="1152525"/>
            <a:ext cx="2271147" cy="1962787"/>
          </a:xfrm>
          <a:prstGeom prst="arc">
            <a:avLst>
              <a:gd name="adj1" fmla="val 16200000"/>
              <a:gd name="adj2" fmla="val 7848525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/>
              <p:cNvSpPr txBox="1"/>
              <p:nvPr/>
            </p:nvSpPr>
            <p:spPr>
              <a:xfrm>
                <a:off x="342055" y="4058482"/>
                <a:ext cx="305423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Underfit</a:t>
                </a:r>
              </a:p>
              <a:p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55" y="4058482"/>
                <a:ext cx="3054234" cy="1477328"/>
              </a:xfrm>
              <a:prstGeom prst="rect">
                <a:avLst/>
              </a:prstGeom>
              <a:blipFill>
                <a:blip r:embed="rId2"/>
                <a:stretch>
                  <a:fillRect l="-1597" t="-28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/>
              <p:cNvSpPr txBox="1"/>
              <p:nvPr/>
            </p:nvSpPr>
            <p:spPr>
              <a:xfrm>
                <a:off x="4636940" y="4087663"/>
                <a:ext cx="3571491" cy="12040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Balanced</a:t>
                </a:r>
              </a:p>
              <a:p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940" y="4087663"/>
                <a:ext cx="3571491" cy="1204048"/>
              </a:xfrm>
              <a:prstGeom prst="rect">
                <a:avLst/>
              </a:prstGeom>
              <a:blipFill>
                <a:blip r:embed="rId3"/>
                <a:stretch>
                  <a:fillRect l="-1536" t="-35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/>
              <p:cNvSpPr txBox="1"/>
              <p:nvPr/>
            </p:nvSpPr>
            <p:spPr>
              <a:xfrm>
                <a:off x="8931825" y="4087663"/>
                <a:ext cx="3106876" cy="1486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Overfit</a:t>
                </a:r>
              </a:p>
              <a:p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:r>
                  <a:rPr lang="en-IN" b="0" dirty="0" smtClean="0"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1825" y="4087663"/>
                <a:ext cx="3106876" cy="1486176"/>
              </a:xfrm>
              <a:prstGeom prst="rect">
                <a:avLst/>
              </a:prstGeom>
              <a:blipFill>
                <a:blip r:embed="rId4"/>
                <a:stretch>
                  <a:fillRect l="-1569" t="-28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587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When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910" y="1325563"/>
            <a:ext cx="10515600" cy="503237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2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Overfitting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: High training accuracy but low validation accuracy.</a:t>
            </a:r>
          </a:p>
          <a:p>
            <a:pPr>
              <a:lnSpc>
                <a:spcPct val="150000"/>
              </a:lnSpc>
            </a:pPr>
            <a:r>
              <a:rPr lang="en-US" sz="22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High </a:t>
            </a: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Model Complexity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Learn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complex patterns, including noise in the training data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Small or Noisy Dataset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: If the dataset is small or contains a significant amount of noise, the model might </a:t>
            </a:r>
            <a:r>
              <a:rPr lang="en-US" sz="2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overfit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, learning patterns that do not generalize well to new data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Insufficient Variety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: Lack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the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diversity, full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range of possible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inputs</a:t>
            </a:r>
          </a:p>
          <a:p>
            <a:pPr lvl="1">
              <a:lnSpc>
                <a:spcPct val="150000"/>
              </a:lnSpc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Poor Generalization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Pick up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on irrelevant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features.</a:t>
            </a:r>
          </a:p>
          <a:p>
            <a:pPr>
              <a:lnSpc>
                <a:spcPct val="150000"/>
              </a:lnSpc>
            </a:pPr>
            <a:r>
              <a:rPr lang="en-US" sz="22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Multicollinearity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: When features are highly correlated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Complex Models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: When using models with many parameters or features.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31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How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Penalty Term: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Added to the loss function to discourage large coefficients.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Loss Function: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Regularization = Loss Function + Penalty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Objective: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Minimize the loss function while keeping the model simple.</a:t>
            </a:r>
            <a:endParaRPr lang="en-IN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928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Data and Predictions (No Regularization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329" y="2055813"/>
            <a:ext cx="4890021" cy="48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862"/>
            <a:ext cx="105156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Without Regularization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740687"/>
              </p:ext>
            </p:extLst>
          </p:nvPr>
        </p:nvGraphicFramePr>
        <p:xfrm>
          <a:off x="9692519" y="0"/>
          <a:ext cx="2499481" cy="21050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3237609946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3341116724"/>
                    </a:ext>
                  </a:extLst>
                </a:gridCol>
                <a:gridCol w="696081">
                  <a:extLst>
                    <a:ext uri="{9D8B030D-6E8A-4147-A177-3AD203B41FA5}">
                      <a16:colId xmlns:a16="http://schemas.microsoft.com/office/drawing/2014/main" val="3056717440"/>
                    </a:ext>
                  </a:extLst>
                </a:gridCol>
              </a:tblGrid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 x_1 )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 x_2 )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 y 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505266"/>
                  </a:ext>
                </a:extLst>
              </a:tr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999622"/>
                  </a:ext>
                </a:extLst>
              </a:tr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967030"/>
                  </a:ext>
                </a:extLst>
              </a:tr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0623"/>
                  </a:ext>
                </a:extLst>
              </a:tr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12979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945755" y="2138958"/>
                <a:ext cx="24518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755" y="2138958"/>
                <a:ext cx="2451889" cy="369332"/>
              </a:xfrm>
              <a:prstGeom prst="rect">
                <a:avLst/>
              </a:prstGeom>
              <a:blipFill>
                <a:blip r:embed="rId4"/>
                <a:stretch>
                  <a:fillRect t="-8333" b="-1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838200" y="2508290"/>
                <a:ext cx="5111078" cy="8485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𝐿𝑜𝑠𝑠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𝐹𝑢𝑛𝑐𝑡𝑖𝑜𝑛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−</m:t>
                                  </m:r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08290"/>
                <a:ext cx="5111078" cy="8485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945755" y="3356856"/>
                <a:ext cx="18891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755" y="3356856"/>
                <a:ext cx="1889107" cy="369332"/>
              </a:xfrm>
              <a:prstGeom prst="rect">
                <a:avLst/>
              </a:prstGeom>
              <a:blipFill>
                <a:blip r:embed="rId6"/>
                <a:stretch>
                  <a:fillRect t="-8333" b="-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Data and Predictions (No Regularization)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975" y="2105026"/>
            <a:ext cx="5187026" cy="471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4643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Types of Regularization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L1 Regularization (Lasso</a:t>
            </a:r>
            <a:r>
              <a:rPr 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L2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Regularization </a:t>
            </a:r>
            <a:r>
              <a:rPr 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(Ridge)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Dropout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Early Stopping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Data Augmentation</a:t>
            </a:r>
          </a:p>
        </p:txBody>
      </p:sp>
    </p:spTree>
    <p:extLst>
      <p:ext uri="{BB962C8B-B14F-4D97-AF65-F5344CB8AC3E}">
        <p14:creationId xmlns:p14="http://schemas.microsoft.com/office/powerpoint/2010/main" val="405737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72591" y="1522270"/>
            <a:ext cx="6598489" cy="6775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Adds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the absolute value of the coefficients as a penalty term to the loss function</a:t>
            </a:r>
            <a:endParaRPr lang="en-IN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506"/>
            <a:ext cx="105156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L1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Regularization 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(Lasso)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692519" y="0"/>
          <a:ext cx="2499481" cy="21050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3237609946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3341116724"/>
                    </a:ext>
                  </a:extLst>
                </a:gridCol>
                <a:gridCol w="696081">
                  <a:extLst>
                    <a:ext uri="{9D8B030D-6E8A-4147-A177-3AD203B41FA5}">
                      <a16:colId xmlns:a16="http://schemas.microsoft.com/office/drawing/2014/main" val="3056717440"/>
                    </a:ext>
                  </a:extLst>
                </a:gridCol>
              </a:tblGrid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 x_1 )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 x_2 )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 y 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505266"/>
                  </a:ext>
                </a:extLst>
              </a:tr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999622"/>
                  </a:ext>
                </a:extLst>
              </a:tr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967030"/>
                  </a:ext>
                </a:extLst>
              </a:tr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0623"/>
                  </a:ext>
                </a:extLst>
              </a:tr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12979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266700" y="2580213"/>
                <a:ext cx="299290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2580213"/>
                <a:ext cx="2992909" cy="369332"/>
              </a:xfrm>
              <a:prstGeom prst="rect">
                <a:avLst/>
              </a:prstGeom>
              <a:blipFill>
                <a:blip r:embed="rId3"/>
                <a:stretch>
                  <a:fillRect t="-8197"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363897" y="2987889"/>
                <a:ext cx="5583709" cy="13170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𝐿𝑜𝑠𝑠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𝐹𝑢𝑛𝑐𝑡𝑖𝑜𝑛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𝐿𝑜𝑠𝑠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𝐹𝑢𝑛𝑐𝑡𝑖𝑜𝑛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IN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large, it might set one of the weights to zero, effectively removing that feature from the model</a:t>
                </a: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97" y="2987889"/>
                <a:ext cx="5583709" cy="1317092"/>
              </a:xfrm>
              <a:prstGeom prst="rect">
                <a:avLst/>
              </a:prstGeom>
              <a:blipFill>
                <a:blip r:embed="rId4"/>
                <a:stretch>
                  <a:fillRect l="-983" b="-60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372591" y="5402014"/>
                <a:ext cx="262460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91" y="5402014"/>
                <a:ext cx="2624609" cy="369332"/>
              </a:xfrm>
              <a:prstGeom prst="rect">
                <a:avLst/>
              </a:prstGeom>
              <a:blipFill>
                <a:blip r:embed="rId5"/>
                <a:stretch>
                  <a:fillRect t="-8197" b="-49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372591" y="3684234"/>
                <a:ext cx="6841009" cy="16421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endParaRPr lang="en-IN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𝐿𝑜𝑠𝑠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𝐹𝑢𝑛𝑐𝑡𝑖𝑜𝑛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−</m:t>
                                  </m:r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91" y="3684234"/>
                <a:ext cx="6841009" cy="16421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2"/>
              <p:cNvSpPr txBox="1">
                <a:spLocks/>
              </p:cNvSpPr>
              <p:nvPr/>
            </p:nvSpPr>
            <p:spPr>
              <a:xfrm>
                <a:off x="266700" y="5891482"/>
                <a:ext cx="6598489" cy="67754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sz="18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8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removed from the model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8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It can be used as a feature selection</a:t>
                </a:r>
                <a:endParaRPr lang="en-IN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5891482"/>
                <a:ext cx="6598489" cy="677542"/>
              </a:xfrm>
              <a:prstGeom prst="rect">
                <a:avLst/>
              </a:prstGeom>
              <a:blipFill>
                <a:blip r:embed="rId7"/>
                <a:stretch>
                  <a:fillRect l="-647" b="-589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 descr="Data and Predictions (Lasso Regularization)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6531" y="2105025"/>
            <a:ext cx="4676775" cy="48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25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651"/>
            <a:ext cx="105156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L2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Regularization 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(Ridge)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692519" y="0"/>
          <a:ext cx="2499481" cy="21050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3237609946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3341116724"/>
                    </a:ext>
                  </a:extLst>
                </a:gridCol>
                <a:gridCol w="696081">
                  <a:extLst>
                    <a:ext uri="{9D8B030D-6E8A-4147-A177-3AD203B41FA5}">
                      <a16:colId xmlns:a16="http://schemas.microsoft.com/office/drawing/2014/main" val="3056717440"/>
                    </a:ext>
                  </a:extLst>
                </a:gridCol>
              </a:tblGrid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 x_1 )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 x_2 )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 y 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505266"/>
                  </a:ext>
                </a:extLst>
              </a:tr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999622"/>
                  </a:ext>
                </a:extLst>
              </a:tr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967030"/>
                  </a:ext>
                </a:extLst>
              </a:tr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0623"/>
                  </a:ext>
                </a:extLst>
              </a:tr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12979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215900" y="2867159"/>
                <a:ext cx="24518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" y="2867159"/>
                <a:ext cx="2451889" cy="369332"/>
              </a:xfrm>
              <a:prstGeom prst="rect">
                <a:avLst/>
              </a:prstGeom>
              <a:blipFill>
                <a:blip r:embed="rId3"/>
                <a:stretch>
                  <a:fillRect t="-8197"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214079" y="3236491"/>
                <a:ext cx="4677242" cy="763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𝐿𝑜𝑠𝑠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𝐹𝑢𝑛𝑐𝑡𝑖𝑜𝑛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𝐿𝑜𝑠𝑠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𝐹𝑢𝑛𝑐𝑡𝑖𝑜𝑛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79" y="3236491"/>
                <a:ext cx="4677242" cy="763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214079" y="3515779"/>
                <a:ext cx="6644519" cy="1226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𝐿𝑜𝑠𝑠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𝐹𝑢𝑛𝑐𝑡𝑖𝑜𝑛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−</m:t>
                                  </m:r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79" y="3515779"/>
                <a:ext cx="6644519" cy="12266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173484" y="4769235"/>
                <a:ext cx="25367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0.8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84" y="4769235"/>
                <a:ext cx="2536720" cy="369332"/>
              </a:xfrm>
              <a:prstGeom prst="rect">
                <a:avLst/>
              </a:prstGeom>
              <a:blipFill>
                <a:blip r:embed="rId6"/>
                <a:stretch>
                  <a:fillRect t="-8197" b="-49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14078" y="1690688"/>
            <a:ext cx="64026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Adds </a:t>
            </a: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squared value of the coefficients as a penalty term to the loss function. </a:t>
            </a:r>
            <a:endParaRPr lang="en-US" dirty="0" smtClean="0">
              <a:solidFill>
                <a:srgbClr val="11111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It </a:t>
            </a: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tends to shrink the coefficients but does not set any of them to zero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4078" y="555463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</a:t>
            </a: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weights </a:t>
            </a: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are </a:t>
            </a: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shrunk but not set to zero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5122" name="Picture 2" descr="Data and Predictions (Ridge Regularization)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225" y="2113829"/>
            <a:ext cx="4676775" cy="48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796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Comparison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692519" y="0"/>
          <a:ext cx="2499481" cy="21050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3237609946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3341116724"/>
                    </a:ext>
                  </a:extLst>
                </a:gridCol>
                <a:gridCol w="696081">
                  <a:extLst>
                    <a:ext uri="{9D8B030D-6E8A-4147-A177-3AD203B41FA5}">
                      <a16:colId xmlns:a16="http://schemas.microsoft.com/office/drawing/2014/main" val="3056717440"/>
                    </a:ext>
                  </a:extLst>
                </a:gridCol>
              </a:tblGrid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 x_1 )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 x_2 )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 y 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505266"/>
                  </a:ext>
                </a:extLst>
              </a:tr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999622"/>
                  </a:ext>
                </a:extLst>
              </a:tr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967030"/>
                  </a:ext>
                </a:extLst>
              </a:tr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0623"/>
                  </a:ext>
                </a:extLst>
              </a:tr>
              <a:tr h="2361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129790"/>
                  </a:ext>
                </a:extLst>
              </a:tr>
            </a:tbl>
          </a:graphicData>
        </a:graphic>
      </p:graphicFrame>
      <p:pic>
        <p:nvPicPr>
          <p:cNvPr id="2050" name="Picture 2" descr="Loss Curv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81" y="2230437"/>
            <a:ext cx="10337478" cy="438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8050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5" y="-3780"/>
            <a:ext cx="105156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Dropout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5594" y="1291927"/>
            <a:ext cx="1190081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Randomly </a:t>
            </a: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“dropping out” (i.e., setting to zero) a fraction of the neurons during </a:t>
            </a: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training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Forces </a:t>
            </a: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network to learn more robust features that are not reliant on any single neuron</a:t>
            </a: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Dropout can be different for different layers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Helps in shrinking weights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Finding the optimal dropout rate can be time-consuming and may require extensive experimentation</a:t>
            </a: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Finding the optimal dropout rate can be time-consuming and may require extensive experimentation.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Training may be slow as it needs more epochs to converge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Model may get </a:t>
            </a:r>
            <a:r>
              <a:rPr lang="en-US" b="1" dirty="0" err="1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underfitted</a:t>
            </a:r>
            <a:r>
              <a:rPr lang="en-US" b="1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dropout rate is high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11111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5176" name="Group 5175"/>
          <p:cNvGrpSpPr/>
          <p:nvPr/>
        </p:nvGrpSpPr>
        <p:grpSpPr>
          <a:xfrm>
            <a:off x="6480880" y="4552950"/>
            <a:ext cx="5304720" cy="2262298"/>
            <a:chOff x="6480880" y="3759399"/>
            <a:chExt cx="5304720" cy="260210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Rectangle 11"/>
                <p:cNvSpPr/>
                <p:nvPr/>
              </p:nvSpPr>
              <p:spPr>
                <a:xfrm>
                  <a:off x="6480880" y="3759399"/>
                  <a:ext cx="54957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0880" y="3759399"/>
                  <a:ext cx="549574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212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Rectangle 12"/>
                <p:cNvSpPr/>
                <p:nvPr/>
              </p:nvSpPr>
              <p:spPr>
                <a:xfrm>
                  <a:off x="6502943" y="4501753"/>
                  <a:ext cx="556691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2943" y="4501753"/>
                  <a:ext cx="556691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212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Rectangle 13"/>
                <p:cNvSpPr/>
                <p:nvPr/>
              </p:nvSpPr>
              <p:spPr>
                <a:xfrm>
                  <a:off x="6531962" y="5183710"/>
                  <a:ext cx="556691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1962" y="5183710"/>
                  <a:ext cx="556691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Rectangle 14"/>
                <p:cNvSpPr/>
                <p:nvPr/>
              </p:nvSpPr>
              <p:spPr>
                <a:xfrm>
                  <a:off x="6524241" y="5899836"/>
                  <a:ext cx="556691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4241" y="5899836"/>
                  <a:ext cx="556691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/>
            <p:cNvSpPr/>
            <p:nvPr/>
          </p:nvSpPr>
          <p:spPr>
            <a:xfrm>
              <a:off x="7649713" y="5230542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642208" y="4598209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563128" y="3810822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689600" y="5938313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563128" y="4522771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563128" y="5231132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8563128" y="5969730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9484048" y="3800514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9484048" y="4522771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9484048" y="5221607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9484048" y="5959124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7651663" y="3810459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8615849" y="3847097"/>
              <a:ext cx="254558" cy="25455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8615849" y="3847097"/>
              <a:ext cx="254558" cy="25455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9538414" y="3856288"/>
              <a:ext cx="254558" cy="25455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9538414" y="3856288"/>
              <a:ext cx="254558" cy="25455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25" idx="1"/>
              <a:endCxn id="25" idx="5"/>
            </p:cNvCxnSpPr>
            <p:nvPr/>
          </p:nvCxnSpPr>
          <p:spPr>
            <a:xfrm>
              <a:off x="9536769" y="5274328"/>
              <a:ext cx="254558" cy="25455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25" idx="3"/>
              <a:endCxn id="25" idx="7"/>
            </p:cNvCxnSpPr>
            <p:nvPr/>
          </p:nvCxnSpPr>
          <p:spPr>
            <a:xfrm flipV="1">
              <a:off x="9536769" y="5274328"/>
              <a:ext cx="254558" cy="25455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22" idx="1"/>
              <a:endCxn id="22" idx="5"/>
            </p:cNvCxnSpPr>
            <p:nvPr/>
          </p:nvCxnSpPr>
          <p:spPr>
            <a:xfrm>
              <a:off x="8615849" y="6022451"/>
              <a:ext cx="254558" cy="25455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22" idx="3"/>
              <a:endCxn id="22" idx="7"/>
            </p:cNvCxnSpPr>
            <p:nvPr/>
          </p:nvCxnSpPr>
          <p:spPr>
            <a:xfrm flipV="1">
              <a:off x="8615849" y="6022451"/>
              <a:ext cx="254558" cy="25455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19" idx="1"/>
              <a:endCxn id="19" idx="5"/>
            </p:cNvCxnSpPr>
            <p:nvPr/>
          </p:nvCxnSpPr>
          <p:spPr>
            <a:xfrm>
              <a:off x="7742321" y="5991034"/>
              <a:ext cx="254558" cy="25455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19" idx="3"/>
              <a:endCxn id="19" idx="7"/>
            </p:cNvCxnSpPr>
            <p:nvPr/>
          </p:nvCxnSpPr>
          <p:spPr>
            <a:xfrm flipV="1">
              <a:off x="7742321" y="5991034"/>
              <a:ext cx="254558" cy="25455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7694929" y="4650450"/>
              <a:ext cx="254558" cy="25455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V="1">
              <a:off x="7694929" y="4650450"/>
              <a:ext cx="254558" cy="25455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2" idx="3"/>
              <a:endCxn id="27" idx="2"/>
            </p:cNvCxnSpPr>
            <p:nvPr/>
          </p:nvCxnSpPr>
          <p:spPr>
            <a:xfrm>
              <a:off x="7030454" y="3990232"/>
              <a:ext cx="621209" cy="2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2" idx="3"/>
              <a:endCxn id="16" idx="2"/>
            </p:cNvCxnSpPr>
            <p:nvPr/>
          </p:nvCxnSpPr>
          <p:spPr>
            <a:xfrm>
              <a:off x="7030454" y="3990232"/>
              <a:ext cx="619259" cy="14203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3" idx="3"/>
              <a:endCxn id="27" idx="2"/>
            </p:cNvCxnSpPr>
            <p:nvPr/>
          </p:nvCxnSpPr>
          <p:spPr>
            <a:xfrm flipV="1">
              <a:off x="7059634" y="3990459"/>
              <a:ext cx="592029" cy="7421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13" idx="3"/>
              <a:endCxn id="16" idx="2"/>
            </p:cNvCxnSpPr>
            <p:nvPr/>
          </p:nvCxnSpPr>
          <p:spPr>
            <a:xfrm>
              <a:off x="7059634" y="4732586"/>
              <a:ext cx="590079" cy="6779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14" idx="3"/>
              <a:endCxn id="27" idx="2"/>
            </p:cNvCxnSpPr>
            <p:nvPr/>
          </p:nvCxnSpPr>
          <p:spPr>
            <a:xfrm flipV="1">
              <a:off x="7088653" y="3990459"/>
              <a:ext cx="563010" cy="14240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4" idx="3"/>
              <a:endCxn id="16" idx="2"/>
            </p:cNvCxnSpPr>
            <p:nvPr/>
          </p:nvCxnSpPr>
          <p:spPr>
            <a:xfrm flipV="1">
              <a:off x="7088653" y="5410542"/>
              <a:ext cx="561060" cy="40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15" idx="3"/>
              <a:endCxn id="27" idx="2"/>
            </p:cNvCxnSpPr>
            <p:nvPr/>
          </p:nvCxnSpPr>
          <p:spPr>
            <a:xfrm flipV="1">
              <a:off x="7080932" y="3990459"/>
              <a:ext cx="570731" cy="214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5" idx="3"/>
              <a:endCxn id="16" idx="2"/>
            </p:cNvCxnSpPr>
            <p:nvPr/>
          </p:nvCxnSpPr>
          <p:spPr>
            <a:xfrm flipV="1">
              <a:off x="7080932" y="5410542"/>
              <a:ext cx="568781" cy="7201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27" idx="6"/>
              <a:endCxn id="20" idx="2"/>
            </p:cNvCxnSpPr>
            <p:nvPr/>
          </p:nvCxnSpPr>
          <p:spPr>
            <a:xfrm>
              <a:off x="8011663" y="3990459"/>
              <a:ext cx="551465" cy="7123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27" idx="6"/>
              <a:endCxn id="21" idx="2"/>
            </p:cNvCxnSpPr>
            <p:nvPr/>
          </p:nvCxnSpPr>
          <p:spPr>
            <a:xfrm>
              <a:off x="8011663" y="3990459"/>
              <a:ext cx="551465" cy="142067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16" idx="6"/>
              <a:endCxn id="20" idx="2"/>
            </p:cNvCxnSpPr>
            <p:nvPr/>
          </p:nvCxnSpPr>
          <p:spPr>
            <a:xfrm flipV="1">
              <a:off x="8009713" y="4702771"/>
              <a:ext cx="553415" cy="7077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stCxn id="16" idx="6"/>
              <a:endCxn id="21" idx="2"/>
            </p:cNvCxnSpPr>
            <p:nvPr/>
          </p:nvCxnSpPr>
          <p:spPr>
            <a:xfrm>
              <a:off x="8009713" y="5410542"/>
              <a:ext cx="553415" cy="5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20" idx="6"/>
              <a:endCxn id="24" idx="2"/>
            </p:cNvCxnSpPr>
            <p:nvPr/>
          </p:nvCxnSpPr>
          <p:spPr>
            <a:xfrm>
              <a:off x="8923128" y="4702771"/>
              <a:ext cx="5609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20" idx="6"/>
              <a:endCxn id="26" idx="2"/>
            </p:cNvCxnSpPr>
            <p:nvPr/>
          </p:nvCxnSpPr>
          <p:spPr>
            <a:xfrm>
              <a:off x="8923128" y="4702771"/>
              <a:ext cx="560920" cy="14363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21" idx="6"/>
              <a:endCxn id="24" idx="2"/>
            </p:cNvCxnSpPr>
            <p:nvPr/>
          </p:nvCxnSpPr>
          <p:spPr>
            <a:xfrm flipV="1">
              <a:off x="8923128" y="4702771"/>
              <a:ext cx="560920" cy="7083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21" idx="6"/>
              <a:endCxn id="26" idx="2"/>
            </p:cNvCxnSpPr>
            <p:nvPr/>
          </p:nvCxnSpPr>
          <p:spPr>
            <a:xfrm>
              <a:off x="8923128" y="5411132"/>
              <a:ext cx="560920" cy="7279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/>
            <p:cNvSpPr/>
            <p:nvPr/>
          </p:nvSpPr>
          <p:spPr>
            <a:xfrm>
              <a:off x="10389248" y="4905008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" name="Straight Arrow Connector 56"/>
            <p:cNvCxnSpPr>
              <a:stCxn id="24" idx="6"/>
              <a:endCxn id="56" idx="2"/>
            </p:cNvCxnSpPr>
            <p:nvPr/>
          </p:nvCxnSpPr>
          <p:spPr>
            <a:xfrm>
              <a:off x="9844048" y="4702771"/>
              <a:ext cx="545200" cy="3822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26" idx="6"/>
              <a:endCxn id="56" idx="2"/>
            </p:cNvCxnSpPr>
            <p:nvPr/>
          </p:nvCxnSpPr>
          <p:spPr>
            <a:xfrm flipV="1">
              <a:off x="9844048" y="5085008"/>
              <a:ext cx="545200" cy="10541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Rectangle 58"/>
                <p:cNvSpPr/>
                <p:nvPr/>
              </p:nvSpPr>
              <p:spPr>
                <a:xfrm>
                  <a:off x="11355226" y="4853550"/>
                  <a:ext cx="43037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59" name="Rectangle 5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5226" y="4853550"/>
                  <a:ext cx="430374" cy="461665"/>
                </a:xfrm>
                <a:prstGeom prst="rect">
                  <a:avLst/>
                </a:prstGeom>
                <a:blipFill>
                  <a:blip r:embed="rId7"/>
                  <a:stretch>
                    <a:fillRect t="-7576" r="-22857" b="-2272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Arrow Connector 59"/>
            <p:cNvCxnSpPr>
              <a:stCxn id="56" idx="6"/>
              <a:endCxn id="59" idx="1"/>
            </p:cNvCxnSpPr>
            <p:nvPr/>
          </p:nvCxnSpPr>
          <p:spPr>
            <a:xfrm flipV="1">
              <a:off x="10749248" y="5084383"/>
              <a:ext cx="605978" cy="6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75" name="Group 5174"/>
          <p:cNvGrpSpPr/>
          <p:nvPr/>
        </p:nvGrpSpPr>
        <p:grpSpPr>
          <a:xfrm>
            <a:off x="489397" y="4624206"/>
            <a:ext cx="5304720" cy="2200968"/>
            <a:chOff x="794477" y="3869195"/>
            <a:chExt cx="5304720" cy="25925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Rectangle 76"/>
                <p:cNvSpPr/>
                <p:nvPr/>
              </p:nvSpPr>
              <p:spPr>
                <a:xfrm>
                  <a:off x="794477" y="3869195"/>
                  <a:ext cx="54957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77" name="Rectangle 7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477" y="3869195"/>
                  <a:ext cx="549574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562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Rectangle 77"/>
                <p:cNvSpPr/>
                <p:nvPr/>
              </p:nvSpPr>
              <p:spPr>
                <a:xfrm>
                  <a:off x="816540" y="4659174"/>
                  <a:ext cx="556691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78" name="Rectangle 7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540" y="4659174"/>
                  <a:ext cx="556691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562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Rectangle 78"/>
                <p:cNvSpPr/>
                <p:nvPr/>
              </p:nvSpPr>
              <p:spPr>
                <a:xfrm>
                  <a:off x="845559" y="5293506"/>
                  <a:ext cx="556691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79" name="Rectangle 7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559" y="5293506"/>
                  <a:ext cx="556691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1562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Rectangle 79"/>
                <p:cNvSpPr/>
                <p:nvPr/>
              </p:nvSpPr>
              <p:spPr>
                <a:xfrm>
                  <a:off x="837838" y="6000107"/>
                  <a:ext cx="556691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80" name="Rectangle 7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838" y="6000107"/>
                  <a:ext cx="556691" cy="461665"/>
                </a:xfrm>
                <a:prstGeom prst="rect">
                  <a:avLst/>
                </a:prstGeom>
                <a:blipFill>
                  <a:blip r:embed="rId11"/>
                  <a:stretch>
                    <a:fillRect b="-1538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Oval 80"/>
            <p:cNvSpPr/>
            <p:nvPr/>
          </p:nvSpPr>
          <p:spPr>
            <a:xfrm>
              <a:off x="1963310" y="5340338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>
              <a:off x="1955805" y="4708005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2876725" y="3920618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2003197" y="6048109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/>
            <p:cNvSpPr/>
            <p:nvPr/>
          </p:nvSpPr>
          <p:spPr>
            <a:xfrm>
              <a:off x="2876725" y="4632567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2876725" y="5340928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>
              <a:off x="2876725" y="6041426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/>
            <p:nvPr/>
          </p:nvSpPr>
          <p:spPr>
            <a:xfrm>
              <a:off x="3797645" y="3910310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/>
            <p:cNvSpPr/>
            <p:nvPr/>
          </p:nvSpPr>
          <p:spPr>
            <a:xfrm>
              <a:off x="3797645" y="4632567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/>
            <p:cNvSpPr/>
            <p:nvPr/>
          </p:nvSpPr>
          <p:spPr>
            <a:xfrm>
              <a:off x="3797645" y="5359978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/>
            <p:cNvSpPr/>
            <p:nvPr/>
          </p:nvSpPr>
          <p:spPr>
            <a:xfrm>
              <a:off x="3797645" y="6040345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/>
            <p:cNvSpPr/>
            <p:nvPr/>
          </p:nvSpPr>
          <p:spPr>
            <a:xfrm>
              <a:off x="1965260" y="3920255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5" name="Straight Arrow Connector 104"/>
            <p:cNvCxnSpPr>
              <a:stCxn id="77" idx="3"/>
              <a:endCxn id="92" idx="2"/>
            </p:cNvCxnSpPr>
            <p:nvPr/>
          </p:nvCxnSpPr>
          <p:spPr>
            <a:xfrm>
              <a:off x="1344051" y="4100028"/>
              <a:ext cx="621209" cy="2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/>
            <p:cNvCxnSpPr>
              <a:stCxn id="77" idx="3"/>
              <a:endCxn id="81" idx="2"/>
            </p:cNvCxnSpPr>
            <p:nvPr/>
          </p:nvCxnSpPr>
          <p:spPr>
            <a:xfrm>
              <a:off x="1344051" y="4100028"/>
              <a:ext cx="619259" cy="14203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/>
            <p:cNvCxnSpPr>
              <a:stCxn id="78" idx="3"/>
              <a:endCxn id="92" idx="2"/>
            </p:cNvCxnSpPr>
            <p:nvPr/>
          </p:nvCxnSpPr>
          <p:spPr>
            <a:xfrm flipV="1">
              <a:off x="1373231" y="4100255"/>
              <a:ext cx="592029" cy="78975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/>
            <p:cNvCxnSpPr>
              <a:stCxn id="78" idx="3"/>
              <a:endCxn id="81" idx="2"/>
            </p:cNvCxnSpPr>
            <p:nvPr/>
          </p:nvCxnSpPr>
          <p:spPr>
            <a:xfrm>
              <a:off x="1373231" y="4890007"/>
              <a:ext cx="590079" cy="6303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>
              <a:stCxn id="79" idx="3"/>
              <a:endCxn id="92" idx="2"/>
            </p:cNvCxnSpPr>
            <p:nvPr/>
          </p:nvCxnSpPr>
          <p:spPr>
            <a:xfrm flipV="1">
              <a:off x="1402250" y="4100255"/>
              <a:ext cx="563010" cy="14240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>
              <a:stCxn id="79" idx="3"/>
              <a:endCxn id="81" idx="2"/>
            </p:cNvCxnSpPr>
            <p:nvPr/>
          </p:nvCxnSpPr>
          <p:spPr>
            <a:xfrm flipV="1">
              <a:off x="1402250" y="5520338"/>
              <a:ext cx="561060" cy="40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>
              <a:stCxn id="80" idx="3"/>
              <a:endCxn id="92" idx="2"/>
            </p:cNvCxnSpPr>
            <p:nvPr/>
          </p:nvCxnSpPr>
          <p:spPr>
            <a:xfrm flipV="1">
              <a:off x="1394529" y="4100255"/>
              <a:ext cx="570731" cy="21306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>
              <a:stCxn id="80" idx="3"/>
              <a:endCxn id="81" idx="2"/>
            </p:cNvCxnSpPr>
            <p:nvPr/>
          </p:nvCxnSpPr>
          <p:spPr>
            <a:xfrm flipV="1">
              <a:off x="1394529" y="5520338"/>
              <a:ext cx="568781" cy="7106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/>
            <p:cNvCxnSpPr>
              <a:stCxn id="92" idx="6"/>
              <a:endCxn id="85" idx="2"/>
            </p:cNvCxnSpPr>
            <p:nvPr/>
          </p:nvCxnSpPr>
          <p:spPr>
            <a:xfrm>
              <a:off x="2325260" y="4100255"/>
              <a:ext cx="551465" cy="7123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>
              <a:stCxn id="92" idx="6"/>
              <a:endCxn id="86" idx="2"/>
            </p:cNvCxnSpPr>
            <p:nvPr/>
          </p:nvCxnSpPr>
          <p:spPr>
            <a:xfrm>
              <a:off x="2325260" y="4100255"/>
              <a:ext cx="551465" cy="142067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/>
            <p:cNvCxnSpPr>
              <a:stCxn id="81" idx="6"/>
              <a:endCxn id="85" idx="2"/>
            </p:cNvCxnSpPr>
            <p:nvPr/>
          </p:nvCxnSpPr>
          <p:spPr>
            <a:xfrm flipV="1">
              <a:off x="2323310" y="4812567"/>
              <a:ext cx="553415" cy="7077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/>
            <p:cNvCxnSpPr>
              <a:stCxn id="81" idx="6"/>
              <a:endCxn id="86" idx="2"/>
            </p:cNvCxnSpPr>
            <p:nvPr/>
          </p:nvCxnSpPr>
          <p:spPr>
            <a:xfrm>
              <a:off x="2323310" y="5520338"/>
              <a:ext cx="553415" cy="5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>
              <a:stCxn id="85" idx="6"/>
              <a:endCxn id="89" idx="2"/>
            </p:cNvCxnSpPr>
            <p:nvPr/>
          </p:nvCxnSpPr>
          <p:spPr>
            <a:xfrm>
              <a:off x="3236725" y="4812567"/>
              <a:ext cx="5609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/>
            <p:cNvCxnSpPr>
              <a:stCxn id="85" idx="6"/>
              <a:endCxn id="91" idx="2"/>
            </p:cNvCxnSpPr>
            <p:nvPr/>
          </p:nvCxnSpPr>
          <p:spPr>
            <a:xfrm>
              <a:off x="3236725" y="4812567"/>
              <a:ext cx="560920" cy="14077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/>
            <p:cNvCxnSpPr>
              <a:stCxn id="86" idx="6"/>
              <a:endCxn id="89" idx="2"/>
            </p:cNvCxnSpPr>
            <p:nvPr/>
          </p:nvCxnSpPr>
          <p:spPr>
            <a:xfrm flipV="1">
              <a:off x="3236725" y="4812567"/>
              <a:ext cx="560920" cy="7083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>
              <a:stCxn id="86" idx="6"/>
              <a:endCxn id="91" idx="2"/>
            </p:cNvCxnSpPr>
            <p:nvPr/>
          </p:nvCxnSpPr>
          <p:spPr>
            <a:xfrm>
              <a:off x="3236725" y="5520928"/>
              <a:ext cx="560920" cy="6994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Oval 120"/>
            <p:cNvSpPr/>
            <p:nvPr/>
          </p:nvSpPr>
          <p:spPr>
            <a:xfrm>
              <a:off x="4702845" y="5014804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2" name="Straight Arrow Connector 121"/>
            <p:cNvCxnSpPr>
              <a:stCxn id="89" idx="6"/>
              <a:endCxn id="121" idx="2"/>
            </p:cNvCxnSpPr>
            <p:nvPr/>
          </p:nvCxnSpPr>
          <p:spPr>
            <a:xfrm>
              <a:off x="4157645" y="4812567"/>
              <a:ext cx="545200" cy="3822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>
              <a:stCxn id="91" idx="6"/>
              <a:endCxn id="121" idx="2"/>
            </p:cNvCxnSpPr>
            <p:nvPr/>
          </p:nvCxnSpPr>
          <p:spPr>
            <a:xfrm flipV="1">
              <a:off x="4157645" y="5194804"/>
              <a:ext cx="545200" cy="102554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4" name="Rectangle 123"/>
                <p:cNvSpPr/>
                <p:nvPr/>
              </p:nvSpPr>
              <p:spPr>
                <a:xfrm>
                  <a:off x="5668823" y="4963346"/>
                  <a:ext cx="43037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24" name="Rectangle 1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8823" y="4963346"/>
                  <a:ext cx="430374" cy="461665"/>
                </a:xfrm>
                <a:prstGeom prst="rect">
                  <a:avLst/>
                </a:prstGeom>
                <a:blipFill>
                  <a:blip r:embed="rId12"/>
                  <a:stretch>
                    <a:fillRect t="-7813" r="-22857" b="-2656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Straight Arrow Connector 124"/>
            <p:cNvCxnSpPr>
              <a:stCxn id="121" idx="6"/>
              <a:endCxn id="124" idx="1"/>
            </p:cNvCxnSpPr>
            <p:nvPr/>
          </p:nvCxnSpPr>
          <p:spPr>
            <a:xfrm flipV="1">
              <a:off x="5062845" y="5194179"/>
              <a:ext cx="605978" cy="6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>
              <a:stCxn id="87" idx="6"/>
              <a:endCxn id="91" idx="2"/>
            </p:cNvCxnSpPr>
            <p:nvPr/>
          </p:nvCxnSpPr>
          <p:spPr>
            <a:xfrm flipV="1">
              <a:off x="3236725" y="6220345"/>
              <a:ext cx="560920" cy="10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84" idx="6"/>
              <a:endCxn id="87" idx="2"/>
            </p:cNvCxnSpPr>
            <p:nvPr/>
          </p:nvCxnSpPr>
          <p:spPr>
            <a:xfrm flipV="1">
              <a:off x="2363197" y="6221426"/>
              <a:ext cx="513528" cy="66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stCxn id="78" idx="3"/>
              <a:endCxn id="82" idx="2"/>
            </p:cNvCxnSpPr>
            <p:nvPr/>
          </p:nvCxnSpPr>
          <p:spPr>
            <a:xfrm flipV="1">
              <a:off x="1373231" y="4888005"/>
              <a:ext cx="582574" cy="20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stCxn id="79" idx="3"/>
              <a:endCxn id="84" idx="2"/>
            </p:cNvCxnSpPr>
            <p:nvPr/>
          </p:nvCxnSpPr>
          <p:spPr>
            <a:xfrm>
              <a:off x="1402250" y="5524339"/>
              <a:ext cx="600947" cy="70377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/>
            <p:cNvCxnSpPr>
              <a:stCxn id="80" idx="3"/>
              <a:endCxn id="82" idx="2"/>
            </p:cNvCxnSpPr>
            <p:nvPr/>
          </p:nvCxnSpPr>
          <p:spPr>
            <a:xfrm flipV="1">
              <a:off x="1394529" y="4888005"/>
              <a:ext cx="561276" cy="134293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80" idx="3"/>
              <a:endCxn id="84" idx="2"/>
            </p:cNvCxnSpPr>
            <p:nvPr/>
          </p:nvCxnSpPr>
          <p:spPr>
            <a:xfrm flipV="1">
              <a:off x="1394529" y="6228109"/>
              <a:ext cx="608668" cy="28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/>
            <p:cNvCxnSpPr>
              <a:stCxn id="79" idx="3"/>
              <a:endCxn id="82" idx="2"/>
            </p:cNvCxnSpPr>
            <p:nvPr/>
          </p:nvCxnSpPr>
          <p:spPr>
            <a:xfrm flipV="1">
              <a:off x="1402250" y="4888005"/>
              <a:ext cx="553555" cy="6363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/>
            <p:cNvCxnSpPr>
              <a:stCxn id="82" idx="6"/>
            </p:cNvCxnSpPr>
            <p:nvPr/>
          </p:nvCxnSpPr>
          <p:spPr>
            <a:xfrm>
              <a:off x="2315805" y="4888005"/>
              <a:ext cx="484156" cy="5614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/>
            <p:cNvCxnSpPr>
              <a:stCxn id="92" idx="6"/>
              <a:endCxn id="83" idx="2"/>
            </p:cNvCxnSpPr>
            <p:nvPr/>
          </p:nvCxnSpPr>
          <p:spPr>
            <a:xfrm>
              <a:off x="2325260" y="4100255"/>
              <a:ext cx="551465" cy="3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/>
            <p:cNvCxnSpPr>
              <a:stCxn id="83" idx="6"/>
              <a:endCxn id="88" idx="2"/>
            </p:cNvCxnSpPr>
            <p:nvPr/>
          </p:nvCxnSpPr>
          <p:spPr>
            <a:xfrm flipV="1">
              <a:off x="3236725" y="4090310"/>
              <a:ext cx="560920" cy="103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/>
            <p:cNvCxnSpPr>
              <a:stCxn id="86" idx="6"/>
              <a:endCxn id="88" idx="3"/>
            </p:cNvCxnSpPr>
            <p:nvPr/>
          </p:nvCxnSpPr>
          <p:spPr>
            <a:xfrm flipV="1">
              <a:off x="3236725" y="4217589"/>
              <a:ext cx="613641" cy="13033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Arrow Connector 162"/>
            <p:cNvCxnSpPr>
              <a:stCxn id="87" idx="6"/>
              <a:endCxn id="90" idx="2"/>
            </p:cNvCxnSpPr>
            <p:nvPr/>
          </p:nvCxnSpPr>
          <p:spPr>
            <a:xfrm flipV="1">
              <a:off x="3236725" y="5539978"/>
              <a:ext cx="560920" cy="6814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/>
            <p:cNvCxnSpPr>
              <a:stCxn id="81" idx="6"/>
              <a:endCxn id="87" idx="1"/>
            </p:cNvCxnSpPr>
            <p:nvPr/>
          </p:nvCxnSpPr>
          <p:spPr>
            <a:xfrm>
              <a:off x="2323310" y="5520338"/>
              <a:ext cx="606136" cy="5738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/>
            <p:cNvCxnSpPr>
              <a:stCxn id="88" idx="6"/>
              <a:endCxn id="121" idx="2"/>
            </p:cNvCxnSpPr>
            <p:nvPr/>
          </p:nvCxnSpPr>
          <p:spPr>
            <a:xfrm>
              <a:off x="4157645" y="4090310"/>
              <a:ext cx="545200" cy="11044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Arrow Connector 175"/>
            <p:cNvCxnSpPr>
              <a:stCxn id="90" idx="6"/>
              <a:endCxn id="121" idx="2"/>
            </p:cNvCxnSpPr>
            <p:nvPr/>
          </p:nvCxnSpPr>
          <p:spPr>
            <a:xfrm flipV="1">
              <a:off x="4157645" y="5194804"/>
              <a:ext cx="545200" cy="3451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3718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596"/>
            <a:ext cx="105156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Early stopping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5594" y="1674885"/>
            <a:ext cx="11900811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Monitors </a:t>
            </a: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model’s performance on a validation set during </a:t>
            </a: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training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Stops </a:t>
            </a: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training process when the performance starts to </a:t>
            </a: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degrade/</a:t>
            </a:r>
            <a:r>
              <a:rPr lang="en-US" dirty="0" err="1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overfit</a:t>
            </a:r>
            <a:endParaRPr lang="en-US" dirty="0" smtClean="0">
              <a:solidFill>
                <a:srgbClr val="11111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Training </a:t>
            </a: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is stopped when the validation loss stops decreasing and starts to increase, indicating overfitting.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774645" y="3114675"/>
            <a:ext cx="6547684" cy="3581733"/>
            <a:chOff x="774645" y="3114675"/>
            <a:chExt cx="6547684" cy="3581733"/>
          </a:xfrm>
        </p:grpSpPr>
        <p:grpSp>
          <p:nvGrpSpPr>
            <p:cNvPr id="3" name="Group 2"/>
            <p:cNvGrpSpPr/>
            <p:nvPr/>
          </p:nvGrpSpPr>
          <p:grpSpPr>
            <a:xfrm>
              <a:off x="838201" y="3114675"/>
              <a:ext cx="6484128" cy="3581733"/>
              <a:chOff x="838200" y="1094704"/>
              <a:chExt cx="13037172" cy="5628952"/>
            </a:xfrm>
          </p:grpSpPr>
          <p:cxnSp>
            <p:nvCxnSpPr>
              <p:cNvPr id="126" name="Straight Arrow Connector 125"/>
              <p:cNvCxnSpPr/>
              <p:nvPr/>
            </p:nvCxnSpPr>
            <p:spPr>
              <a:xfrm flipV="1">
                <a:off x="1519707" y="1429555"/>
                <a:ext cx="0" cy="497124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Arrow Connector 126"/>
              <p:cNvCxnSpPr/>
              <p:nvPr/>
            </p:nvCxnSpPr>
            <p:spPr>
              <a:xfrm>
                <a:off x="838200" y="6143223"/>
                <a:ext cx="9877023" cy="1287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TextBox 127"/>
              <p:cNvSpPr txBox="1"/>
              <p:nvPr/>
            </p:nvSpPr>
            <p:spPr>
              <a:xfrm>
                <a:off x="4154279" y="6143224"/>
                <a:ext cx="1797299" cy="5804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Epochs</a:t>
                </a:r>
                <a:endParaRPr lang="en-US" dirty="0">
                  <a:latin typeface="Times New Roman" charset="0"/>
                  <a:ea typeface="Times New Roman" charset="0"/>
                  <a:cs typeface="Times New Roman" charset="0"/>
                </a:endParaRPr>
              </a:p>
            </p:txBody>
          </p:sp>
          <p:sp>
            <p:nvSpPr>
              <p:cNvPr id="129" name="Freeform 128"/>
              <p:cNvSpPr/>
              <p:nvPr/>
            </p:nvSpPr>
            <p:spPr>
              <a:xfrm>
                <a:off x="1854558" y="1416676"/>
                <a:ext cx="8113690" cy="4520485"/>
              </a:xfrm>
              <a:custGeom>
                <a:avLst/>
                <a:gdLst>
                  <a:gd name="connsiteX0" fmla="*/ 0 w 7856112"/>
                  <a:gd name="connsiteY0" fmla="*/ 0 h 4443212"/>
                  <a:gd name="connsiteX1" fmla="*/ 1931831 w 7856112"/>
                  <a:gd name="connsiteY1" fmla="*/ 3258355 h 4443212"/>
                  <a:gd name="connsiteX2" fmla="*/ 7856112 w 7856112"/>
                  <a:gd name="connsiteY2" fmla="*/ 4443212 h 4443212"/>
                  <a:gd name="connsiteX3" fmla="*/ 7662929 w 7856112"/>
                  <a:gd name="connsiteY3" fmla="*/ 4404575 h 4443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6112" h="4443212">
                    <a:moveTo>
                      <a:pt x="0" y="0"/>
                    </a:moveTo>
                    <a:cubicBezTo>
                      <a:pt x="311239" y="1258910"/>
                      <a:pt x="622479" y="2517820"/>
                      <a:pt x="1931831" y="3258355"/>
                    </a:cubicBezTo>
                    <a:cubicBezTo>
                      <a:pt x="3241183" y="3998890"/>
                      <a:pt x="7856112" y="4443212"/>
                      <a:pt x="7856112" y="4443212"/>
                    </a:cubicBezTo>
                    <a:lnTo>
                      <a:pt x="7662929" y="4404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Freeform 129"/>
              <p:cNvSpPr/>
              <p:nvPr/>
            </p:nvSpPr>
            <p:spPr>
              <a:xfrm>
                <a:off x="2201216" y="1094704"/>
                <a:ext cx="8732948" cy="3599512"/>
              </a:xfrm>
              <a:custGeom>
                <a:avLst/>
                <a:gdLst>
                  <a:gd name="connsiteX0" fmla="*/ 0 w 7688687"/>
                  <a:gd name="connsiteY0" fmla="*/ 0 h 3014737"/>
                  <a:gd name="connsiteX1" fmla="*/ 1352281 w 7688687"/>
                  <a:gd name="connsiteY1" fmla="*/ 2820473 h 3014737"/>
                  <a:gd name="connsiteX2" fmla="*/ 4275786 w 7688687"/>
                  <a:gd name="connsiteY2" fmla="*/ 2588654 h 3014737"/>
                  <a:gd name="connsiteX3" fmla="*/ 7688687 w 7688687"/>
                  <a:gd name="connsiteY3" fmla="*/ 1133341 h 3014737"/>
                  <a:gd name="connsiteX4" fmla="*/ 7688687 w 7688687"/>
                  <a:gd name="connsiteY4" fmla="*/ 1133341 h 3014737"/>
                  <a:gd name="connsiteX5" fmla="*/ 7688687 w 7688687"/>
                  <a:gd name="connsiteY5" fmla="*/ 1133341 h 301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688687" h="3014737">
                    <a:moveTo>
                      <a:pt x="0" y="0"/>
                    </a:moveTo>
                    <a:cubicBezTo>
                      <a:pt x="319825" y="1194515"/>
                      <a:pt x="639650" y="2389031"/>
                      <a:pt x="1352281" y="2820473"/>
                    </a:cubicBezTo>
                    <a:cubicBezTo>
                      <a:pt x="2064912" y="3251915"/>
                      <a:pt x="3219718" y="2869843"/>
                      <a:pt x="4275786" y="2588654"/>
                    </a:cubicBezTo>
                    <a:cubicBezTo>
                      <a:pt x="5331854" y="2307465"/>
                      <a:pt x="7688687" y="1133341"/>
                      <a:pt x="7688687" y="1133341"/>
                    </a:cubicBezTo>
                    <a:lnTo>
                      <a:pt x="7688687" y="1133341"/>
                    </a:lnTo>
                    <a:lnTo>
                      <a:pt x="7688687" y="1133341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10577425" y="2060620"/>
                <a:ext cx="3297947" cy="5804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6">
                        <a:lumMod val="50000"/>
                      </a:schemeClr>
                    </a:solidFill>
                    <a:latin typeface="Times" charset="0"/>
                    <a:ea typeface="Times" charset="0"/>
                    <a:cs typeface="Times" charset="0"/>
                  </a:rPr>
                  <a:t>Validation error</a:t>
                </a:r>
                <a:endParaRPr lang="en-US" dirty="0">
                  <a:solidFill>
                    <a:schemeClr val="accent6">
                      <a:lumMod val="50000"/>
                    </a:schemeClr>
                  </a:solidFill>
                  <a:latin typeface="Times" charset="0"/>
                  <a:ea typeface="Times" charset="0"/>
                  <a:cs typeface="Times" charset="0"/>
                </a:endParaRPr>
              </a:p>
            </p:txBody>
          </p:sp>
          <p:sp>
            <p:nvSpPr>
              <p:cNvPr id="132" name="TextBox 131"/>
              <p:cNvSpPr txBox="1"/>
              <p:nvPr/>
            </p:nvSpPr>
            <p:spPr>
              <a:xfrm>
                <a:off x="9875575" y="5439040"/>
                <a:ext cx="14782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  <a:latin typeface="Times New Roman" charset="0"/>
                    <a:ea typeface="Times New Roman" charset="0"/>
                    <a:cs typeface="Times New Roman" charset="0"/>
                  </a:rPr>
                  <a:t>Training error</a:t>
                </a:r>
              </a:p>
            </p:txBody>
          </p:sp>
        </p:grpSp>
        <p:sp>
          <p:nvSpPr>
            <p:cNvPr id="133" name="TextBox 132"/>
            <p:cNvSpPr txBox="1"/>
            <p:nvPr/>
          </p:nvSpPr>
          <p:spPr>
            <a:xfrm rot="16200000">
              <a:off x="512361" y="4642743"/>
              <a:ext cx="8938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charset="0"/>
                  <a:ea typeface="Times New Roman" charset="0"/>
                  <a:cs typeface="Times New Roman" charset="0"/>
                </a:rPr>
                <a:t>Loss</a:t>
              </a:r>
              <a:endParaRPr lang="en-US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21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565"/>
            <a:ext cx="105156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Data Augmentation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8200" y="1690688"/>
            <a:ext cx="11900811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Improves generalization ability of the model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Provides variations in the data to the model during the training phase and prevents overfitting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Geometric Transformations</a:t>
            </a: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Rotation, translation, scaling, flipping, and cropping.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 Transformations</a:t>
            </a: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Adjusting brightness, contrast, saturation, and hue.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Noise Addition</a:t>
            </a: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Adding random noise to the images.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Other Techniques</a:t>
            </a: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Random </a:t>
            </a:r>
            <a:r>
              <a:rPr lang="en-US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erasing, </a:t>
            </a: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cutout, </a:t>
            </a:r>
            <a:r>
              <a:rPr lang="en-US" dirty="0" err="1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mixup</a:t>
            </a: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cut mix, </a:t>
            </a:r>
            <a:r>
              <a:rPr lang="en-US" dirty="0" err="1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etx</a:t>
            </a:r>
            <a:r>
              <a:rPr lang="en-US" dirty="0" smtClean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en-US" dirty="0">
              <a:solidFill>
                <a:srgbClr val="11111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42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Exponentially weighted averages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A9F4E6CC-F211-40AC-A334-0861ABC24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401" y="1467060"/>
            <a:ext cx="5171743" cy="2868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663834" y="1467060"/>
                <a:ext cx="11900811" cy="35380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charset="0"/>
                  </a:rPr>
                  <a:t>Temperature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charset="0"/>
                  </a:rPr>
                  <a:t>for a one year period in </a:t>
                </a:r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charset="0"/>
                  </a:rPr>
                  <a:t>Delhi</a:t>
                </a:r>
              </a:p>
              <a:p>
                <a:endParaRPr lang="en-US" dirty="0" smtClean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V</a:t>
                </a:r>
                <a:r>
                  <a:rPr lang="en-US" baseline="-250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100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= 0.9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charset="0"/>
                        <a:ea typeface="Times New Roman" charset="0"/>
                        <a:cs typeface="Times New Roman" charset="0"/>
                      </a:rPr>
                      <m:t>V</m:t>
                    </m:r>
                  </m:oMath>
                </a14:m>
                <a:r>
                  <a:rPr lang="en-US" baseline="-25000" dirty="0">
                    <a:latin typeface="Times New Roman" charset="0"/>
                    <a:ea typeface="Times New Roman" charset="0"/>
                    <a:cs typeface="Times New Roman" charset="0"/>
                  </a:rPr>
                  <a:t>99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+0.1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charset="0"/>
                        <a:ea typeface="Times New Roman" charset="0"/>
                        <a:cs typeface="Times New Roman" charset="0"/>
                      </a:rPr>
                      <m:t>θ</m:t>
                    </m:r>
                    <m:r>
                      <a:rPr lang="en-US" i="1" baseline="-25000">
                        <a:latin typeface="Cambria Math" charset="0"/>
                        <a:ea typeface="Times New Roman" charset="0"/>
                        <a:cs typeface="Times New Roman" charset="0"/>
                      </a:rPr>
                      <m:t>100</m:t>
                    </m:r>
                  </m:oMath>
                </a14:m>
                <a:endParaRPr lang="en-US" baseline="-25000" dirty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V</a:t>
                </a:r>
                <a:r>
                  <a:rPr lang="en-US" baseline="-25000" dirty="0">
                    <a:latin typeface="Times New Roman" charset="0"/>
                    <a:ea typeface="Times New Roman" charset="0"/>
                    <a:cs typeface="Times New Roman" charset="0"/>
                  </a:rPr>
                  <a:t>99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= 0.9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charset="0"/>
                        <a:ea typeface="Times New Roman" charset="0"/>
                        <a:cs typeface="Times New Roman" charset="0"/>
                      </a:rPr>
                      <m:t>V</m:t>
                    </m:r>
                  </m:oMath>
                </a14:m>
                <a:r>
                  <a:rPr lang="en-US" baseline="-25000" dirty="0">
                    <a:latin typeface="Times New Roman" charset="0"/>
                    <a:ea typeface="Times New Roman" charset="0"/>
                    <a:cs typeface="Times New Roman" charset="0"/>
                  </a:rPr>
                  <a:t>98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+0.1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charset="0"/>
                        <a:ea typeface="Times New Roman" charset="0"/>
                        <a:cs typeface="Times New Roman" charset="0"/>
                      </a:rPr>
                      <m:t>θ</m:t>
                    </m:r>
                  </m:oMath>
                </a14:m>
                <a:r>
                  <a:rPr lang="en-US" baseline="-25000" dirty="0">
                    <a:latin typeface="Times New Roman" charset="0"/>
                    <a:ea typeface="Times New Roman" charset="0"/>
                    <a:cs typeface="Times New Roman" charset="0"/>
                  </a:rPr>
                  <a:t>99</a:t>
                </a:r>
              </a:p>
              <a:p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V</a:t>
                </a:r>
                <a:r>
                  <a:rPr lang="en-US" baseline="-25000" dirty="0">
                    <a:latin typeface="Times New Roman" charset="0"/>
                    <a:ea typeface="Times New Roman" charset="0"/>
                    <a:cs typeface="Times New Roman" charset="0"/>
                  </a:rPr>
                  <a:t>98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= 0.9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charset="0"/>
                        <a:ea typeface="Times New Roman" charset="0"/>
                        <a:cs typeface="Times New Roman" charset="0"/>
                      </a:rPr>
                      <m:t>V</m:t>
                    </m:r>
                  </m:oMath>
                </a14:m>
                <a:r>
                  <a:rPr lang="en-US" baseline="-25000" dirty="0">
                    <a:latin typeface="Times New Roman" charset="0"/>
                    <a:ea typeface="Times New Roman" charset="0"/>
                    <a:cs typeface="Times New Roman" charset="0"/>
                  </a:rPr>
                  <a:t>97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+0.1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charset="0"/>
                        <a:ea typeface="Times New Roman" charset="0"/>
                        <a:cs typeface="Times New Roman" charset="0"/>
                      </a:rPr>
                      <m:t>θ</m:t>
                    </m:r>
                  </m:oMath>
                </a14:m>
                <a:r>
                  <a:rPr lang="en-US" baseline="-25000" dirty="0">
                    <a:latin typeface="Times New Roman" charset="0"/>
                    <a:ea typeface="Times New Roman" charset="0"/>
                    <a:cs typeface="Times New Roman" charset="0"/>
                  </a:rPr>
                  <a:t>98</a:t>
                </a:r>
              </a:p>
              <a:p>
                <a:r>
                  <a:rPr lang="en-US" dirty="0" err="1">
                    <a:latin typeface="Times New Roman" charset="0"/>
                    <a:ea typeface="Times New Roman" charset="0"/>
                    <a:cs typeface="Times New Roman" charset="0"/>
                  </a:rPr>
                  <a:t>V</a:t>
                </a:r>
                <a:r>
                  <a:rPr lang="en-US" baseline="-25000" dirty="0" err="1">
                    <a:latin typeface="Times New Roman" charset="0"/>
                    <a:ea typeface="Times New Roman" charset="0"/>
                    <a:cs typeface="Times New Roman" charset="0"/>
                  </a:rPr>
                  <a:t>t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Times New Roman" charset="0"/>
                        <a:cs typeface="Times New Roman" charset="0"/>
                      </a:rPr>
                      <m:t>𝛽</m:t>
                    </m:r>
                    <m:r>
                      <m:rPr>
                        <m:sty m:val="p"/>
                      </m:rPr>
                      <a:rPr lang="en-US">
                        <a:latin typeface="Cambria Math" charset="0"/>
                        <a:ea typeface="Times New Roman" charset="0"/>
                        <a:cs typeface="Times New Roman" charset="0"/>
                      </a:rPr>
                      <m:t>V</m:t>
                    </m:r>
                  </m:oMath>
                </a14:m>
                <a:r>
                  <a:rPr lang="en-US" baseline="-25000" dirty="0">
                    <a:latin typeface="Times New Roman" charset="0"/>
                    <a:ea typeface="Times New Roman" charset="0"/>
                    <a:cs typeface="Times New Roman" charset="0"/>
                  </a:rPr>
                  <a:t>t-1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+(1-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Times New Roman" charset="0"/>
                        <a:cs typeface="Times New Roman" charset="0"/>
                      </a:rPr>
                      <m:t>𝛽</m:t>
                    </m:r>
                    <m:r>
                      <a:rPr lang="en-US">
                        <a:latin typeface="Cambria Math" charset="0"/>
                        <a:ea typeface="Times New Roman" charset="0"/>
                        <a:cs typeface="Times New Roman" charset="0"/>
                      </a:rPr>
                      <m:t>)</m:t>
                    </m:r>
                    <m:r>
                      <m:rPr>
                        <m:sty m:val="p"/>
                      </m:rPr>
                      <a:rPr lang="el-GR" i="1">
                        <a:latin typeface="Cambria Math" charset="0"/>
                        <a:ea typeface="Times New Roman" charset="0"/>
                        <a:cs typeface="Times New Roman" charset="0"/>
                      </a:rPr>
                      <m:t>θ</m:t>
                    </m:r>
                    <m:r>
                      <a:rPr lang="en-US" i="1" baseline="-25000">
                        <a:latin typeface="Cambria Math" charset="0"/>
                        <a:ea typeface="Times New Roman" charset="0"/>
                        <a:cs typeface="Times New Roman" charset="0"/>
                      </a:rPr>
                      <m:t>𝑡</m:t>
                    </m:r>
                  </m:oMath>
                </a14:m>
                <a:endParaRPr lang="en-US" baseline="-25000" dirty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endParaRPr lang="en-US" i="1" dirty="0" smtClean="0">
                  <a:latin typeface="Cambria Math" charset="0"/>
                  <a:ea typeface="Times New Roman" charset="0"/>
                  <a:cs typeface="Times New Roman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Times New Roman" charset="0"/>
                        <a:cs typeface="Times New Roman" charset="0"/>
                      </a:rPr>
                      <m:t>𝛽</m:t>
                    </m:r>
                  </m:oMath>
                </a14:m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=0.9          </a:t>
                </a:r>
                <a:endParaRPr lang="en-US" dirty="0" smtClean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endParaRPr lang="en-US" dirty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r>
                  <a:rPr lang="en-US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V</a:t>
                </a:r>
                <a:r>
                  <a:rPr lang="en-US" baseline="-25000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t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 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is 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average 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over 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0" i="0" smtClean="0">
                            <a:latin typeface="Cambria Math" panose="02040503050406030204" pitchFamily="18" charset="0"/>
                            <a:ea typeface="Times New Roman" charset="0"/>
                            <a:cs typeface="Times New Roman" charset="0"/>
                          </a:rPr>
                        </m:ctrlPr>
                      </m:fPr>
                      <m:num>
                        <m:r>
                          <a:rPr lang="en-IN" b="0" i="0" smtClean="0">
                            <a:latin typeface="Cambria Math" panose="02040503050406030204" pitchFamily="18" charset="0"/>
                            <a:ea typeface="Times New Roman" charset="0"/>
                            <a:cs typeface="Times New Roman" charset="0"/>
                          </a:rPr>
                          <m:t>1</m:t>
                        </m:r>
                      </m:num>
                      <m:den>
                        <m:r>
                          <a:rPr lang="en-IN" b="0" i="0" smtClean="0">
                            <a:latin typeface="Cambria Math" panose="02040503050406030204" pitchFamily="18" charset="0"/>
                            <a:ea typeface="Times New Roman" charset="0"/>
                            <a:cs typeface="Times New Roman" charset="0"/>
                          </a:rPr>
                          <m:t>1−</m:t>
                        </m:r>
                        <m:r>
                          <a:rPr lang="en-US" i="1">
                            <a:latin typeface="Cambria Math" charset="0"/>
                            <a:ea typeface="Times New Roman" charset="0"/>
                            <a:cs typeface="Times New Roman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 days </a:t>
                </a:r>
                <a:r>
                  <a:rPr lang="en-US" dirty="0" err="1">
                    <a:latin typeface="Times New Roman" charset="0"/>
                    <a:ea typeface="Times New Roman" charset="0"/>
                    <a:cs typeface="Times New Roman" charset="0"/>
                  </a:rPr>
                  <a:t>eg</a:t>
                </a:r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Times New Roman" charset="0"/>
                            <a:cs typeface="Times New Roman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  <a:ea typeface="Times New Roman" charset="0"/>
                            <a:cs typeface="Times New Roman" charset="0"/>
                          </a:rPr>
                          <m:t>1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  <a:ea typeface="Times New Roman" charset="0"/>
                            <a:cs typeface="Times New Roman" charset="0"/>
                          </a:rPr>
                          <m:t>1−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Times New Roman" charset="0"/>
                            <a:cs typeface="Times New Roman" charset="0"/>
                          </a:rPr>
                          <m:t>0.9</m:t>
                        </m:r>
                      </m:den>
                    </m:f>
                  </m:oMath>
                </a14:m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 = 10 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days</a:t>
                </a:r>
              </a:p>
              <a:p>
                <a:endParaRPr lang="en-US" dirty="0" smtClean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r>
                  <a:rPr lang="en-US" b="1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Cold </a:t>
                </a:r>
                <a:r>
                  <a:rPr lang="en-US" b="1" dirty="0">
                    <a:latin typeface="Times New Roman" charset="0"/>
                    <a:ea typeface="Times New Roman" charset="0"/>
                    <a:cs typeface="Times New Roman" charset="0"/>
                  </a:rPr>
                  <a:t>start-up in case the initial values are </a:t>
                </a:r>
                <a:r>
                  <a:rPr lang="en-US" b="1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low</a:t>
                </a: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34" y="1467060"/>
                <a:ext cx="11900811" cy="3538020"/>
              </a:xfrm>
              <a:prstGeom prst="rect">
                <a:avLst/>
              </a:prstGeom>
              <a:blipFill>
                <a:blip r:embed="rId4"/>
                <a:stretch>
                  <a:fillRect l="-461" t="-1897" b="-18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2365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FBA59C-9096-4BF6-B7F4-FEE0CD0DF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409" y="0"/>
            <a:ext cx="4905591" cy="23886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3343D2-523D-4FA4-BC3A-DFF68051DD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1054" y="1200196"/>
                <a:ext cx="10822746" cy="5395912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charset="0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∂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𝛽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charset="0"/>
                  </a:rPr>
                  <a:t> on current mini-batch</a:t>
                </a:r>
              </a:p>
              <a:p>
                <a:pPr marL="0" indent="0">
                  <a:buNone/>
                </a:pPr>
                <a:endParaRPr lang="en-US" sz="1800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𝑉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𝛾</m:t>
                        </m:r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𝑉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I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+</m:t>
                    </m:r>
                    <m:d>
                      <m:dPr>
                        <m:ctrlP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1-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𝛾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𝜕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𝛽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800" baseline="-25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𝛽</m:t>
                          </m:r>
                        </m:e>
                        <m:sub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𝛽</m:t>
                          </m:r>
                        </m:e>
                        <m:sub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charset="0"/>
                        </a:rPr>
                        <m:t>−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charset="0"/>
                        </a:rPr>
                        <m:t>𝛼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800" baseline="-25000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charset="0"/>
                </a:endParaRPr>
              </a:p>
              <a:p>
                <a:pPr marL="0" indent="0">
                  <a:buNone/>
                </a:pPr>
                <a:endParaRPr lang="en-US" sz="1800" baseline="-25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𝛾</m:t>
                    </m:r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charset="0"/>
                  </a:rPr>
                  <a:t>is new hyperparameter and the recommended value is </a:t>
                </a:r>
                <a:r>
                  <a:rPr lang="en-US" sz="18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charset="0"/>
                  </a:rPr>
                  <a:t>0.9</a:t>
                </a:r>
              </a:p>
              <a:p>
                <a:pPr marL="0" indent="0">
                  <a:buNone/>
                </a:pPr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charset="0"/>
                </a:endParaRPr>
              </a:p>
              <a:p>
                <a:pPr marL="285750" indent="-285750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It helps accelerate gradient vectors in the right directions, that helps in faster </a:t>
                </a:r>
                <a:r>
                  <a:rPr lang="en-US" sz="1800" dirty="0" smtClean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convergence</a:t>
                </a:r>
                <a:endParaRPr lang="en-US" sz="1800" dirty="0">
                  <a:solidFill>
                    <a:srgbClr val="11111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It will moderate the movements in the vertical direction and will help us move faster in the horizontal </a:t>
                </a:r>
                <a:r>
                  <a:rPr lang="en-US" sz="1800" dirty="0" smtClean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direction</a:t>
                </a:r>
                <a:endParaRPr lang="en-US" sz="1800" dirty="0">
                  <a:solidFill>
                    <a:srgbClr val="11111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Instead of calculating gradients independently we use exponentially weighted averages to calculate the gradient</a:t>
                </a:r>
              </a:p>
              <a:p>
                <a:pPr marL="0" indent="0">
                  <a:buNone/>
                </a:pPr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3343D2-523D-4FA4-BC3A-DFF68051DD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1054" y="1200196"/>
                <a:ext cx="10822746" cy="5395912"/>
              </a:xfrm>
              <a:blipFill>
                <a:blip r:embed="rId3"/>
                <a:stretch>
                  <a:fillRect l="-450" t="-31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29BE3-E591-40E9-8C7A-CB4442F46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1E5A7-543A-441C-A55B-8761364414CE}" type="datetime3">
              <a:rPr lang="en-US" smtClean="0"/>
              <a:t>31 August 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B378D-11E1-4CE8-807C-9AF740EA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D1BB6-7CA4-40A0-A404-5A93B00F0941}" type="slidenum">
              <a:rPr lang="en-US" smtClean="0"/>
              <a:t>24</a:t>
            </a:fld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Momentum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15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458FE4-D12E-4C92-9873-44287DD8A8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18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charset="0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𝜕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𝛽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charset="0"/>
                  </a:rPr>
                  <a:t>on current </a:t>
                </a:r>
                <a:r>
                  <a:rPr lang="en-US" sz="18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charset="0"/>
                  </a:rPr>
                  <a:t>mini-batch</a:t>
                </a:r>
              </a:p>
              <a:p>
                <a:pPr>
                  <a:lnSpc>
                    <a:spcPct val="110000"/>
                  </a:lnSpc>
                </a:pPr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I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charset="0"/>
                        </a:rPr>
                        <m:t>=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𝛾</m:t>
                          </m:r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I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charset="0"/>
                        </a:rPr>
                        <m:t>+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1−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𝛾</m:t>
                          </m:r>
                        </m:e>
                      </m:d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𝛽</m:t>
                          </m:r>
                        </m:e>
                        <m:sub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I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𝛽</m:t>
                          </m:r>
                        </m:e>
                        <m:sub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I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charset="0"/>
                        </a:rPr>
                        <m:t>−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charset="0"/>
                        </a:rPr>
                        <m:t>𝛼</m:t>
                      </m:r>
                      <m:f>
                        <m:fPr>
                          <m:ctrlP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+ ∈</m:t>
                          </m:r>
                        </m:den>
                      </m:f>
                    </m:oMath>
                  </m:oMathPara>
                </a14:m>
                <a:endParaRPr lang="en-US" sz="1800" baseline="30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∈ = </m:t>
                    </m:r>
                  </m:oMath>
                </a14:m>
                <a:r>
                  <a:rPr lang="en-US" sz="18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charset="0"/>
                  </a:rPr>
                  <a:t>10</a:t>
                </a:r>
                <a:r>
                  <a:rPr lang="en-US" sz="1800" baseline="30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charset="0"/>
                  </a:rPr>
                  <a:t>-8</a:t>
                </a:r>
                <a:endParaRPr lang="en-US" sz="1800" baseline="30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458FE4-D12E-4C92-9873-44287DD8A8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7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70483A1F-B65D-4028-810B-E2E585D15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730" y="2785444"/>
            <a:ext cx="4159251" cy="202844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29BB9-92D9-4479-A415-64D60A5B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1CEB9-7B77-4FCD-8357-5218C2E9A360}" type="datetime3">
              <a:rPr lang="en-US" smtClean="0"/>
              <a:t>31 August 2024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72E87BB-9E29-4392-9B3E-F550FAE1E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D1BB6-7CA4-40A0-A404-5A93B00F0941}" type="slidenum">
              <a:rPr lang="en-US" smtClean="0"/>
              <a:t>25</a:t>
            </a:fld>
            <a:endParaRPr lang="en-US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RMSProp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(Root Mean Square Prop)</a:t>
            </a:r>
          </a:p>
        </p:txBody>
      </p:sp>
    </p:spTree>
    <p:extLst>
      <p:ext uri="{BB962C8B-B14F-4D97-AF65-F5344CB8AC3E}">
        <p14:creationId xmlns:p14="http://schemas.microsoft.com/office/powerpoint/2010/main" val="3535888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4E4A77-82DD-4085-83C5-1AF79999D9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28700"/>
                <a:ext cx="10624930" cy="5524500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𝜕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𝛽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on current </a:t>
                </a:r>
                <a:r>
                  <a:rPr lang="en-US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mini-batch</a:t>
                </a:r>
              </a:p>
              <a:p>
                <a:pPr>
                  <a:lnSpc>
                    <a:spcPct val="110000"/>
                  </a:lnSpc>
                </a:pPr>
                <a:endParaRPr lang="en-US" dirty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charset="0"/>
                        </a:rPr>
                        <m:t>+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aseline="30000" dirty="0" smtClean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Times New Roman" charset="0"/>
                            <a:cs typeface="Times New Roman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charset="0"/>
                                <a:cs typeface="Times New Roman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>
                    <a:latin typeface="Times New Roman" charset="0"/>
                    <a:ea typeface="Times New Roman" charset="0"/>
                    <a:cs typeface="Times New Roman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  <a:ea typeface="Times New Roman" charset="0"/>
                            <a:cs typeface="Times New Roman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charset="0"/>
                                <a:cs typeface="Times New Roman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+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dirty="0">
                            <a:latin typeface="Times New Roman" charset="0"/>
                            <a:ea typeface="Times New Roman" charset="0"/>
                            <a:cs typeface="Times New Roman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𝜕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charset="0"/>
                            <a:cs typeface="Times New Roman" charset="0"/>
                          </a:rPr>
                          <m:t>𝛽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aseline="30000" dirty="0" smtClean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baseline="30000" dirty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charset="0"/>
                        </a:rPr>
                        <m:t>𝛼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Times New Roman" charset="0"/>
                                  <a:cs typeface="Times New Roman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Times New Roman" charset="0"/>
                                      <a:cs typeface="Times New Roman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charset="0"/>
                            </a:rPr>
                            <m:t>+ ∈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pPr>
                  <a:lnSpc>
                    <a:spcPct val="110000"/>
                  </a:lnSpc>
                </a:pPr>
                <a:endParaRPr lang="en-US" dirty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dirty="0">
                  <a:latin typeface="Times New Roman" charset="0"/>
                  <a:ea typeface="Times New Roman" charset="0"/>
                  <a:cs typeface="Times New Roman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4E4A77-82DD-4085-83C5-1AF79999D9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28700"/>
                <a:ext cx="10624930" cy="5524500"/>
              </a:xfrm>
              <a:blipFill>
                <a:blip r:embed="rId2"/>
                <a:stretch>
                  <a:fillRect l="-1146" t="-8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5EFA4F-286D-4322-8942-2AC6C6AF1C94}"/>
                  </a:ext>
                </a:extLst>
              </p:cNvPr>
              <p:cNvSpPr txBox="1"/>
              <p:nvPr/>
            </p:nvSpPr>
            <p:spPr>
              <a:xfrm>
                <a:off x="5675105" y="4614208"/>
                <a:ext cx="5788025" cy="23413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𝛾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charset="0"/>
                    <a:ea typeface="Times New Roman" charset="0"/>
                    <a:cs typeface="Times New Roman" charset="0"/>
                  </a:rPr>
                  <a:t>=0.9  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𝜕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charset="0"/>
                            <a:cs typeface="Times New Roman" charset="0"/>
                          </a:rPr>
                          <m:t>𝛽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charset="0"/>
                    <a:ea typeface="Times New Roman" charset="0"/>
                    <a:cs typeface="Times New Roman" charset="0"/>
                  </a:rPr>
                  <a:t>)  also referred to as moment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𝛾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charset="0"/>
                    <a:ea typeface="Times New Roman" charset="0"/>
                    <a:cs typeface="Times New Roman" charset="0"/>
                  </a:rPr>
                  <a:t>=0.999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charset="0"/>
                    <a:ea typeface="Times New Roman" charset="0"/>
                    <a:cs typeface="Times New Roman" charset="0"/>
                  </a:rPr>
                  <a:t>) also referred to as moment 2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Times New Roman" charset="0"/>
                        <a:cs typeface="Times New Roman" charset="0"/>
                      </a:rPr>
                      <m:t>∈</m:t>
                    </m:r>
                  </m:oMath>
                </a14:m>
                <a:r>
                  <a:rPr lang="en-US" sz="2400" baseline="30000" dirty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lang="en-US" sz="2400" dirty="0">
                    <a:latin typeface="Times New Roman" charset="0"/>
                    <a:ea typeface="Times New Roman" charset="0"/>
                    <a:cs typeface="Times New Roman" charset="0"/>
                  </a:rPr>
                  <a:t>= 10</a:t>
                </a:r>
                <a:r>
                  <a:rPr lang="en-US" sz="2400" baseline="30000" dirty="0">
                    <a:latin typeface="Times New Roman" charset="0"/>
                    <a:ea typeface="Times New Roman" charset="0"/>
                    <a:cs typeface="Times New Roman" charset="0"/>
                  </a:rPr>
                  <a:t>-8</a:t>
                </a:r>
              </a:p>
              <a:p>
                <a:endParaRPr lang="en-US" sz="2400" dirty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r>
                  <a:rPr lang="en-US" sz="2400" dirty="0">
                    <a:latin typeface="Times New Roman" charset="0"/>
                    <a:ea typeface="Times New Roman" charset="0"/>
                    <a:cs typeface="Times New Roman" charset="0"/>
                  </a:rPr>
                  <a:t>Adaptive Moment estimation</a:t>
                </a:r>
              </a:p>
              <a:p>
                <a:r>
                  <a:rPr lang="en-US" sz="2400" dirty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5EFA4F-286D-4322-8942-2AC6C6AF1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105" y="4614208"/>
                <a:ext cx="5788025" cy="2341347"/>
              </a:xfrm>
              <a:prstGeom prst="rect">
                <a:avLst/>
              </a:prstGeom>
              <a:blipFill>
                <a:blip r:embed="rId3"/>
                <a:stretch>
                  <a:fillRect l="-1686" t="-2083" r="-2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ADCEE-874B-48D2-AB37-43D840439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4E6F-6590-4CBF-B389-57A4F80E74C3}" type="datetime3">
              <a:rPr lang="en-US" smtClean="0"/>
              <a:t>31 August 2024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0C089-3CFA-45BD-83B7-E48FC7846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D1BB6-7CA4-40A0-A404-5A93B00F0941}" type="slidenum">
              <a:rPr lang="en-US" smtClean="0"/>
              <a:t>26</a:t>
            </a:fld>
            <a:endParaRPr lang="en-US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21423"/>
            <a:ext cx="10515600" cy="839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Adam optimization Algorithm</a:t>
            </a:r>
          </a:p>
        </p:txBody>
      </p:sp>
    </p:spTree>
    <p:extLst>
      <p:ext uri="{BB962C8B-B14F-4D97-AF65-F5344CB8AC3E}">
        <p14:creationId xmlns:p14="http://schemas.microsoft.com/office/powerpoint/2010/main" val="301287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5437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Optimizers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220535-A85A-4058-AC3B-E7D85794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D1BB6-7CA4-40A0-A404-5A93B00F0941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03348" y="1185210"/>
              <a:ext cx="11785304" cy="4754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9223">
                      <a:extLst>
                        <a:ext uri="{9D8B030D-6E8A-4147-A177-3AD203B41FA5}">
                          <a16:colId xmlns:a16="http://schemas.microsoft.com/office/drawing/2014/main" val="930060248"/>
                        </a:ext>
                      </a:extLst>
                    </a:gridCol>
                    <a:gridCol w="2947386">
                      <a:extLst>
                        <a:ext uri="{9D8B030D-6E8A-4147-A177-3AD203B41FA5}">
                          <a16:colId xmlns:a16="http://schemas.microsoft.com/office/drawing/2014/main" val="2040818863"/>
                        </a:ext>
                      </a:extLst>
                    </a:gridCol>
                    <a:gridCol w="3693111">
                      <a:extLst>
                        <a:ext uri="{9D8B030D-6E8A-4147-A177-3AD203B41FA5}">
                          <a16:colId xmlns:a16="http://schemas.microsoft.com/office/drawing/2014/main" val="3009389228"/>
                        </a:ext>
                      </a:extLst>
                    </a:gridCol>
                    <a:gridCol w="3865584">
                      <a:extLst>
                        <a:ext uri="{9D8B030D-6E8A-4147-A177-3AD203B41FA5}">
                          <a16:colId xmlns:a16="http://schemas.microsoft.com/office/drawing/2014/main" val="1709732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Batch GD</a:t>
                          </a: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−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charset="0"/>
                                  </a:rPr>
                                  <m:t>𝛼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⋅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𝛻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𝐽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(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𝜃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Guarantees convergence to the global minimum.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Stable and smooth updates.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Slow for large datasets.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Requires loading the entire dataset into memory.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8861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Stochastic GD</a:t>
                          </a: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−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charset="0"/>
                                  </a:rPr>
                                  <m:t>𝛼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⋅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𝛻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𝐽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(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𝜃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</m:sup>
                                </m:sSup>
                                <m:r>
                                  <a:rPr lang="en-I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IN" b="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Faster iteration speed. 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Can escape local minima (due to noisy updates).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Suitable for online learning.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Convergence can be noisy and less stable. 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Requires careful tuning of the learning rate.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0823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0" dirty="0" smtClean="0">
                              <a:solidFill>
                                <a:srgbClr val="242424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Mini – Batch GD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0" lang="en-IN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l-GR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0" lang="en-US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0" lang="en-IN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l-GR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−</m:t>
                                </m:r>
                                <m:r>
                                  <a:rPr kumimoji="0" lang="en-US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charset="0"/>
                                  </a:rPr>
                                  <m:t>𝛼</m:t>
                                </m:r>
                                <m:r>
                                  <a:rPr lang="el-GR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⋅</m:t>
                                </m:r>
                                <m:f>
                                  <m:fPr>
                                    <m:ctrlPr>
                                      <a:rPr lang="el-G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𝑚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l-G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  <m: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𝑚</m:t>
                                    </m:r>
                                  </m:sup>
                                  <m:e>
                                    <m:r>
                                      <a:rPr lang="el-G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𝛻</m:t>
                                    </m:r>
                                    <m: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𝐽</m:t>
                                    </m:r>
                                    <m: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(</m:t>
                                    </m:r>
                                    <m:r>
                                      <a:rPr lang="el-G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𝜃</m:t>
                                    </m:r>
                                    <m: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, </m:t>
                                    </m:r>
                                    <m:sSup>
                                      <m:sSupPr>
                                        <m:ctrlPr>
                                          <a:rPr lang="en-I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I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I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  <m: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600" b="0" dirty="0">
                                        <a:solidFill>
                                          <a:schemeClr val="tx1"/>
                                        </a:solidFill>
                                        <a:latin typeface="Calibri" panose="020F0502020204030204" pitchFamily="34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 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IN" sz="16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Balance between Batch GD and SGD: faster than Batch GD and more stable than SGD.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Efficient computation using vectorization.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Still needs tuning of learning rate and batch size.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Less stable than full Batch GD.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2732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Momentum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l-G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l-G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𝛾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𝑡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−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charset="0"/>
                                  </a:rPr>
                                  <m:t>𝛼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⋅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𝛻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𝐽</m:t>
                                </m:r>
                                <m:d>
                                  <m:dPr>
                                    <m:ctrlP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a:rPr lang="el-G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l-G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Accelerates convergence for high-curvature, small, and noisy gradients.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Reduces oscillation.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IN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Requires additional </a:t>
                          </a:r>
                          <a:r>
                            <a:rPr lang="en-IN" sz="1800" b="0" kern="120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hyperparameter</a:t>
                          </a:r>
                          <a:r>
                            <a:rPr lang="en-IN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(momentum coefficient </a:t>
                          </a:r>
                          <a14:m>
                            <m:oMath xmlns:m="http://schemas.openxmlformats.org/officeDocument/2006/math">
                              <m:r>
                                <a:rPr lang="el-G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/>
                                  <a:sym typeface="Times New Roman"/>
                                </a:rPr>
                                <m:t>𝛾</m:t>
                              </m:r>
                            </m:oMath>
                          </a14:m>
                          <a:r>
                            <a:rPr lang="el-GR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).</a:t>
                          </a:r>
                          <a:r>
                            <a:rPr lang="el-GR" sz="1800" b="0" kern="1200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IN" sz="1800" b="0" kern="1200" dirty="0" smtClean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IN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Can overshoot minima.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937918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03348" y="1185210"/>
              <a:ext cx="11785304" cy="4754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9223">
                      <a:extLst>
                        <a:ext uri="{9D8B030D-6E8A-4147-A177-3AD203B41FA5}">
                          <a16:colId xmlns:a16="http://schemas.microsoft.com/office/drawing/2014/main" val="930060248"/>
                        </a:ext>
                      </a:extLst>
                    </a:gridCol>
                    <a:gridCol w="2947386">
                      <a:extLst>
                        <a:ext uri="{9D8B030D-6E8A-4147-A177-3AD203B41FA5}">
                          <a16:colId xmlns:a16="http://schemas.microsoft.com/office/drawing/2014/main" val="2040818863"/>
                        </a:ext>
                      </a:extLst>
                    </a:gridCol>
                    <a:gridCol w="3693111">
                      <a:extLst>
                        <a:ext uri="{9D8B030D-6E8A-4147-A177-3AD203B41FA5}">
                          <a16:colId xmlns:a16="http://schemas.microsoft.com/office/drawing/2014/main" val="3009389228"/>
                        </a:ext>
                      </a:extLst>
                    </a:gridCol>
                    <a:gridCol w="3865584">
                      <a:extLst>
                        <a:ext uri="{9D8B030D-6E8A-4147-A177-3AD203B41FA5}">
                          <a16:colId xmlns:a16="http://schemas.microsoft.com/office/drawing/2014/main" val="170973229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Batch GD</a:t>
                          </a: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595" t="-3333" r="-256612" b="-4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Guarantees convergence to the global minimum.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Stable and smooth updates.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Slow for large datasets.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Requires loading the entire dataset into memory.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8861126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Stochastic GD</a:t>
                          </a: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595" t="-79487" r="-256612" b="-23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Faster iteration speed. 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Can escape local minima (due to noisy updates).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Suitable for online learning.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Convergence can be noisy and less stable. 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Requires careful tuning of the learning rate.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0823919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0" dirty="0" smtClean="0">
                              <a:solidFill>
                                <a:srgbClr val="242424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Mini – Batch GD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595" t="-145228" r="-256612" b="-87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Balance between Batch GD and SGD: faster than Batch GD and more stable than SGD.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Efficient computation using vectorization.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Still needs tuning of learning rate and batch size.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Less stable than full Batch GD.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273291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Momentum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595" t="-303077" r="-256612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Accelerates convergence for high-curvature, small, and noisy gradients.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Reduces oscillation.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5205" t="-303077" r="-315" b="-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93791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0298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5437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Optimizers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220535-A85A-4058-AC3B-E7D85794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D1BB6-7CA4-40A0-A404-5A93B00F0941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61503"/>
                  </p:ext>
                </p:extLst>
              </p:nvPr>
            </p:nvGraphicFramePr>
            <p:xfrm>
              <a:off x="203348" y="1185210"/>
              <a:ext cx="11785304" cy="292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9223">
                      <a:extLst>
                        <a:ext uri="{9D8B030D-6E8A-4147-A177-3AD203B41FA5}">
                          <a16:colId xmlns:a16="http://schemas.microsoft.com/office/drawing/2014/main" val="930060248"/>
                        </a:ext>
                      </a:extLst>
                    </a:gridCol>
                    <a:gridCol w="2947386">
                      <a:extLst>
                        <a:ext uri="{9D8B030D-6E8A-4147-A177-3AD203B41FA5}">
                          <a16:colId xmlns:a16="http://schemas.microsoft.com/office/drawing/2014/main" val="2040818863"/>
                        </a:ext>
                      </a:extLst>
                    </a:gridCol>
                    <a:gridCol w="3693111">
                      <a:extLst>
                        <a:ext uri="{9D8B030D-6E8A-4147-A177-3AD203B41FA5}">
                          <a16:colId xmlns:a16="http://schemas.microsoft.com/office/drawing/2014/main" val="3009389228"/>
                        </a:ext>
                      </a:extLst>
                    </a:gridCol>
                    <a:gridCol w="3865584">
                      <a:extLst>
                        <a:ext uri="{9D8B030D-6E8A-4147-A177-3AD203B41FA5}">
                          <a16:colId xmlns:a16="http://schemas.microsoft.com/office/drawing/2014/main" val="1709732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 Prop</a:t>
                          </a:r>
                          <a:endParaRPr lang="en-IN" sz="1800" b="0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10000"/>
                            </a:lnSpc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kumimoji="0" lang="en-US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kumimoji="0" lang="en-IN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charset="0"/>
                                  </a:rPr>
                                  <m:t>= </m:t>
                                </m:r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𝛾</m:t>
                                    </m:r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kumimoji="0" lang="en-US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kumimoji="0" lang="en-IN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kumimoji="0" lang="en-US" sz="18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1−</m:t>
                                    </m:r>
                                    <m: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𝛾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kumimoji="0" lang="en-US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kumimoji="0" lang="en-IN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10000"/>
                            </a:lnSpc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charset="0"/>
                                  </a:rPr>
                                  <m:t>−</m:t>
                                </m:r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charset="0"/>
                                  </a:rPr>
                                  <m:t>𝛼</m:t>
                                </m:r>
                                <m:f>
                                  <m:fPr>
                                    <m:ctrlP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kumimoji="0" lang="en-US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kumimoji="0" lang="en-IN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kumimoji="0" lang="en-IN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kumimoji="0" lang="en-US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en-IN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kumimoji="0" lang="en-US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charset="0"/>
                                              </a:rPr>
                                              <m:t>𝜕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0" lang="en-US" sz="18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0" lang="en-US" sz="18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0" lang="en-IN" sz="18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e>
                                    </m:rad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+ ∈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en-US" sz="1800" b="0" i="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Adapts learning rate for each parameter</a:t>
                          </a:r>
                        </a:p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en-US" sz="1800" b="0" i="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Prevents learning rate from becoming too small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en-US" sz="18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Requires careful tuning of </a:t>
                          </a:r>
                          <a:r>
                            <a:rPr lang="en-US" sz="1800" b="0" i="0" kern="1200" dirty="0" err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hyperparameters</a:t>
                          </a:r>
                          <a:endParaRPr lang="en-US" sz="1800" b="0" i="0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en-US" sz="18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Can be sensitive to the choice of learning rate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8861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lnSpc>
                              <a:spcPct val="11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charset="0"/>
                                  </a:rPr>
                                  <m:t>=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𝛾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𝛾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aseline="30000" dirty="0" smtClean="0">
                            <a:latin typeface="Times New Roman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indent="0">
                            <a:lnSpc>
                              <a:spcPct val="11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dirty="0">
                                    <a:latin typeface="Times New Roman" charset="0"/>
                                    <a:ea typeface="Times New Roman" charset="0"/>
                                    <a:cs typeface="Times New Roman" charset="0"/>
                                  </a:rPr>
                                  <m:t>=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𝛾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dirty="0">
                                        <a:latin typeface="Times New Roman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𝛾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aseline="30000" dirty="0" smtClean="0">
                            <a:latin typeface="Times New Roman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indent="0">
                            <a:lnSpc>
                              <a:spcPct val="110000"/>
                            </a:lnSpc>
                            <a:buNone/>
                          </a:pPr>
                          <a:endParaRPr lang="en-US" baseline="30000" dirty="0">
                            <a:latin typeface="Times New Roman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indent="0">
                            <a:lnSpc>
                              <a:spcPct val="11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charset="0"/>
                                  </a:rPr>
                                  <m:t>𝛼</m:t>
                                </m:r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Times New Roman" charset="0"/>
                                                <a:cs typeface="Times New Roman" charset="0"/>
                                              </a:rPr>
                                              <m:t>𝛽</m:t>
                                            </m:r>
                                          </m:e>
                                          <m:sub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charset="0"/>
                                              </a:rPr>
                                              <m:t>𝜕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e>
                                    </m:rad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charset="0"/>
                                      </a:rPr>
                                      <m:t>+ ∈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b="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Char char="-"/>
                            <a:tabLst/>
                            <a:defRPr/>
                          </a:pPr>
                          <a:r>
                            <a:rPr lang="en-US" sz="18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 Combines the benefits of </a:t>
                          </a:r>
                          <a:r>
                            <a:rPr lang="en-US" sz="1800" b="0" i="0" kern="1200" dirty="0" err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RMSProp</a:t>
                          </a:r>
                          <a:r>
                            <a:rPr lang="en-US" sz="18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and Momentum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Char char="-"/>
                            <a:tabLst/>
                            <a:defRPr/>
                          </a:pPr>
                          <a:r>
                            <a:rPr lang="en-US" sz="18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Adapts learning rates for each parameter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Char char="-"/>
                            <a:tabLst/>
                            <a:defRPr/>
                          </a:pPr>
                          <a:r>
                            <a:rPr lang="en-US" sz="18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Works well with sparse gradients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Char char="-"/>
                            <a:tabLst/>
                            <a:defRPr/>
                          </a:pPr>
                          <a:r>
                            <a:rPr lang="en-US" sz="18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Computationally more expensive due to additional calculations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Char char="-"/>
                            <a:tabLst/>
                            <a:defRPr/>
                          </a:pPr>
                          <a:r>
                            <a:rPr lang="en-US" sz="18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Requires tuning of multiple </a:t>
                          </a:r>
                          <a:r>
                            <a:rPr lang="en-US" sz="1800" b="0" i="0" kern="1200" dirty="0" err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hyperparameters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08239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61503"/>
                  </p:ext>
                </p:extLst>
              </p:nvPr>
            </p:nvGraphicFramePr>
            <p:xfrm>
              <a:off x="203348" y="1185210"/>
              <a:ext cx="11785304" cy="292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9223">
                      <a:extLst>
                        <a:ext uri="{9D8B030D-6E8A-4147-A177-3AD203B41FA5}">
                          <a16:colId xmlns:a16="http://schemas.microsoft.com/office/drawing/2014/main" val="930060248"/>
                        </a:ext>
                      </a:extLst>
                    </a:gridCol>
                    <a:gridCol w="2947386">
                      <a:extLst>
                        <a:ext uri="{9D8B030D-6E8A-4147-A177-3AD203B41FA5}">
                          <a16:colId xmlns:a16="http://schemas.microsoft.com/office/drawing/2014/main" val="2040818863"/>
                        </a:ext>
                      </a:extLst>
                    </a:gridCol>
                    <a:gridCol w="3693111">
                      <a:extLst>
                        <a:ext uri="{9D8B030D-6E8A-4147-A177-3AD203B41FA5}">
                          <a16:colId xmlns:a16="http://schemas.microsoft.com/office/drawing/2014/main" val="3009389228"/>
                        </a:ext>
                      </a:extLst>
                    </a:gridCol>
                    <a:gridCol w="3865584">
                      <a:extLst>
                        <a:ext uri="{9D8B030D-6E8A-4147-A177-3AD203B41FA5}">
                          <a16:colId xmlns:a16="http://schemas.microsoft.com/office/drawing/2014/main" val="170973229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RMS Prop</a:t>
                          </a:r>
                          <a:endParaRPr lang="en-IN" sz="1800" b="0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595" t="-3077" r="-256612" b="-15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en-US" sz="1800" b="0" i="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Adapts learning rate for each parameter</a:t>
                          </a:r>
                        </a:p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en-US" sz="1800" b="0" i="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Prevents learning rate from becoming too small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en-US" sz="18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Requires careful tuning of </a:t>
                          </a:r>
                          <a:r>
                            <a:rPr lang="en-US" sz="1800" b="0" i="0" kern="1200" dirty="0" err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hyperparameters</a:t>
                          </a:r>
                          <a:endParaRPr lang="en-US" sz="1800" b="0" i="0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en-US" sz="18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Can be sensitive to the choice of learning rate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8861126"/>
                      </a:ext>
                    </a:extLst>
                  </a:tr>
                  <a:tr h="173736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595" t="-70280" r="-256612" b="-4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Char char="-"/>
                            <a:tabLst/>
                            <a:defRPr/>
                          </a:pPr>
                          <a:r>
                            <a:rPr lang="en-US" sz="18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 Combines the benefits of </a:t>
                          </a:r>
                          <a:r>
                            <a:rPr lang="en-US" sz="1800" b="0" i="0" kern="1200" dirty="0" err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RMSProp</a:t>
                          </a:r>
                          <a:r>
                            <a:rPr lang="en-US" sz="18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and Momentum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Char char="-"/>
                            <a:tabLst/>
                            <a:defRPr/>
                          </a:pPr>
                          <a:r>
                            <a:rPr lang="en-US" sz="18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Adapts learning rates for each parameter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Char char="-"/>
                            <a:tabLst/>
                            <a:defRPr/>
                          </a:pPr>
                          <a:r>
                            <a:rPr lang="en-US" sz="18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Works well with sparse gradients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Char char="-"/>
                            <a:tabLst/>
                            <a:defRPr/>
                          </a:pPr>
                          <a:r>
                            <a:rPr lang="en-US" sz="18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Computationally more expensive due to additional calculations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Char char="-"/>
                            <a:tabLst/>
                            <a:defRPr/>
                          </a:pPr>
                          <a:r>
                            <a:rPr lang="en-US" sz="18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Requires tuning of multiple </a:t>
                          </a:r>
                          <a:r>
                            <a:rPr lang="en-US" sz="1800" b="0" i="0" kern="1200" dirty="0" err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hyperparameters</a:t>
                          </a:r>
                          <a:endParaRPr lang="en-IN" sz="1800" b="0" i="0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08239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4563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7CE9-A25C-4E8D-BECB-51E2F4E63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239" y="809802"/>
            <a:ext cx="9516718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Times New Roman" charset="0"/>
                <a:ea typeface="Times New Roman" charset="0"/>
                <a:cs typeface="Times New Roman" charset="0"/>
              </a:rPr>
              <a:t>How to try Hyperparameters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8606113"/>
              </p:ext>
            </p:extLst>
          </p:nvPr>
        </p:nvGraphicFramePr>
        <p:xfrm>
          <a:off x="546652" y="1732858"/>
          <a:ext cx="11194775" cy="4734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lded Corner 4"/>
          <p:cNvSpPr/>
          <p:nvPr/>
        </p:nvSpPr>
        <p:spPr>
          <a:xfrm>
            <a:off x="7726017" y="365124"/>
            <a:ext cx="2941983" cy="2214920"/>
          </a:xfrm>
          <a:prstGeom prst="foldedCorner">
            <a:avLst>
              <a:gd name="adj" fmla="val 26552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500" dirty="0">
                <a:latin typeface="Times New Roman" charset="0"/>
                <a:ea typeface="Times New Roman" charset="0"/>
                <a:cs typeface="Times New Roman" charset="0"/>
              </a:rPr>
              <a:t>First focus on Most important ones and then the lesser ones in the sequence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352B81-7743-4626-BAB6-394268167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1EB74-1A0C-4AFE-858A-A71BEA03AC1D}" type="datetime3">
              <a:rPr lang="en-US" smtClean="0"/>
              <a:t>31 August 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4D70A-FBA9-4CFE-96FE-A718738CA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D1BB6-7CA4-40A0-A404-5A93B00F094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01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13959" y="1475232"/>
            <a:ext cx="2353056" cy="2641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1259" y="3214084"/>
            <a:ext cx="3535756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25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spc="35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369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1728</Words>
  <Application>Microsoft Office PowerPoint</Application>
  <PresentationFormat>Widescreen</PresentationFormat>
  <Paragraphs>400</Paragraphs>
  <Slides>30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Cambria Math</vt:lpstr>
      <vt:lpstr>Times</vt:lpstr>
      <vt:lpstr>Times New Roman</vt:lpstr>
      <vt:lpstr>Office Theme</vt:lpstr>
      <vt:lpstr>How To Improve the Model</vt:lpstr>
      <vt:lpstr>Scope of Improvement</vt:lpstr>
      <vt:lpstr>Dataset Splitting</vt:lpstr>
      <vt:lpstr>Dataset Splitting</vt:lpstr>
      <vt:lpstr>Val &amp; Test Set</vt:lpstr>
      <vt:lpstr>PowerPoint Presentation</vt:lpstr>
      <vt:lpstr>Normalization</vt:lpstr>
      <vt:lpstr>Batch GD, Mini-Batch GD &amp; Stochastic GD</vt:lpstr>
      <vt:lpstr>Regularization</vt:lpstr>
      <vt:lpstr>Why</vt:lpstr>
      <vt:lpstr>Why</vt:lpstr>
      <vt:lpstr>Why</vt:lpstr>
      <vt:lpstr>When</vt:lpstr>
      <vt:lpstr>How</vt:lpstr>
      <vt:lpstr>Without Regularization</vt:lpstr>
      <vt:lpstr>Types of Regularization</vt:lpstr>
      <vt:lpstr>L1 Regularization (Lasso)</vt:lpstr>
      <vt:lpstr>L2 Regularization (Ridge)</vt:lpstr>
      <vt:lpstr>Comparison</vt:lpstr>
      <vt:lpstr>Dropout</vt:lpstr>
      <vt:lpstr>Early stopping</vt:lpstr>
      <vt:lpstr>Data Augmentation</vt:lpstr>
      <vt:lpstr>Exponentially weighted averages</vt:lpstr>
      <vt:lpstr>PowerPoint Presentation</vt:lpstr>
      <vt:lpstr>PowerPoint Presentation</vt:lpstr>
      <vt:lpstr>PowerPoint Presentation</vt:lpstr>
      <vt:lpstr>Optimizers</vt:lpstr>
      <vt:lpstr>Optimizers</vt:lpstr>
      <vt:lpstr>How to try Hyperparameters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Digital Data</dc:title>
  <dc:creator>Rishav Singh</dc:creator>
  <cp:lastModifiedBy>Rishav Singh</cp:lastModifiedBy>
  <cp:revision>67</cp:revision>
  <dcterms:created xsi:type="dcterms:W3CDTF">2024-07-30T02:59:53Z</dcterms:created>
  <dcterms:modified xsi:type="dcterms:W3CDTF">2024-08-30T19:49:30Z</dcterms:modified>
</cp:coreProperties>
</file>