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86" r:id="rId2"/>
    <p:sldId id="294" r:id="rId3"/>
    <p:sldId id="312" r:id="rId4"/>
    <p:sldId id="298" r:id="rId5"/>
    <p:sldId id="299" r:id="rId6"/>
    <p:sldId id="308" r:id="rId7"/>
    <p:sldId id="301" r:id="rId8"/>
    <p:sldId id="304" r:id="rId9"/>
    <p:sldId id="300" r:id="rId10"/>
    <p:sldId id="305" r:id="rId11"/>
    <p:sldId id="306" r:id="rId12"/>
    <p:sldId id="307" r:id="rId13"/>
    <p:sldId id="310" r:id="rId14"/>
    <p:sldId id="311" r:id="rId15"/>
    <p:sldId id="309" r:id="rId16"/>
    <p:sldId id="297" r:id="rId17"/>
  </p:sldIdLst>
  <p:sldSz cx="12192000" cy="6858000"/>
  <p:notesSz cx="12192000" cy="6858000"/>
  <p:embeddedFontLst>
    <p:embeddedFont>
      <p:font typeface="Cambria Math" panose="02040503050406030204" pitchFamily="18" charset="0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ambria" panose="02040503050406030204" pitchFamily="18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20">
          <p15:clr>
            <a:srgbClr val="000000"/>
          </p15:clr>
        </p15:guide>
        <p15:guide id="2" pos="215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9" roundtripDataSignature="AMtx7mg0rb7K25jzeb82yl9W760+b1lC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E0CDCE9-8EFF-456A-BFA7-76C2DBC4E188}">
  <a:tblStyle styleId="{AE0CDCE9-8EFF-456A-BFA7-76C2DBC4E18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378" y="108"/>
      </p:cViewPr>
      <p:guideLst>
        <p:guide orient="horz" pos="2920"/>
        <p:guide pos="21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79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82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979" y="0"/>
            <a:ext cx="52832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8007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8711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obj">
  <p:cSld name="OBJEC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/>
          <p:nvPr/>
        </p:nvSpPr>
        <p:spPr>
          <a:xfrm>
            <a:off x="3828288" y="4343400"/>
            <a:ext cx="4572000" cy="401320"/>
          </a:xfrm>
          <a:custGeom>
            <a:avLst/>
            <a:gdLst/>
            <a:ahLst/>
            <a:cxnLst/>
            <a:rect l="l" t="t" r="r" b="b"/>
            <a:pathLst>
              <a:path w="4572000" h="401320" extrusionOk="0">
                <a:moveTo>
                  <a:pt x="0" y="400812"/>
                </a:moveTo>
                <a:lnTo>
                  <a:pt x="4572000" y="400812"/>
                </a:lnTo>
                <a:lnTo>
                  <a:pt x="4572000" y="0"/>
                </a:lnTo>
                <a:lnTo>
                  <a:pt x="0" y="0"/>
                </a:lnTo>
                <a:lnTo>
                  <a:pt x="0" y="400812"/>
                </a:lnTo>
                <a:close/>
              </a:path>
            </a:pathLst>
          </a:custGeom>
          <a:solidFill>
            <a:srgbClr val="D3212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9"/>
          <p:cNvSpPr txBox="1">
            <a:spLocks noGrp="1"/>
          </p:cNvSpPr>
          <p:nvPr>
            <p:ph type="title"/>
          </p:nvPr>
        </p:nvSpPr>
        <p:spPr>
          <a:xfrm>
            <a:off x="2982595" y="2699080"/>
            <a:ext cx="6226809" cy="697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9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9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9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2"/>
          <p:cNvSpPr txBox="1">
            <a:spLocks noGrp="1"/>
          </p:cNvSpPr>
          <p:nvPr>
            <p:ph type="title"/>
          </p:nvPr>
        </p:nvSpPr>
        <p:spPr>
          <a:xfrm>
            <a:off x="2982595" y="2699080"/>
            <a:ext cx="6226809" cy="697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2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2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3"/>
          <p:cNvSpPr/>
          <p:nvPr/>
        </p:nvSpPr>
        <p:spPr>
          <a:xfrm>
            <a:off x="243751" y="1989327"/>
            <a:ext cx="3236810" cy="28829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2595" y="2699080"/>
            <a:ext cx="6226809" cy="13542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6939" y="1621564"/>
            <a:ext cx="10358120" cy="1384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0773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>
            <a:spLocks noGrp="1"/>
          </p:cNvSpPr>
          <p:nvPr>
            <p:ph type="title"/>
          </p:nvPr>
        </p:nvSpPr>
        <p:spPr>
          <a:xfrm>
            <a:off x="2982595" y="2699080"/>
            <a:ext cx="6226809" cy="697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8"/>
          <p:cNvSpPr txBox="1">
            <a:spLocks noGrp="1"/>
          </p:cNvSpPr>
          <p:nvPr>
            <p:ph type="body" idx="1"/>
          </p:nvPr>
        </p:nvSpPr>
        <p:spPr>
          <a:xfrm>
            <a:off x="916939" y="1621564"/>
            <a:ext cx="10358120" cy="3051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8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8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"/>
          <p:cNvSpPr/>
          <p:nvPr/>
        </p:nvSpPr>
        <p:spPr>
          <a:xfrm>
            <a:off x="0" y="0"/>
            <a:ext cx="12191999" cy="685799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1"/>
          <p:cNvSpPr/>
          <p:nvPr/>
        </p:nvSpPr>
        <p:spPr>
          <a:xfrm>
            <a:off x="5013959" y="1475232"/>
            <a:ext cx="2353056" cy="264109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1"/>
          <p:cNvSpPr txBox="1">
            <a:spLocks noGrp="1"/>
          </p:cNvSpPr>
          <p:nvPr>
            <p:ph type="title"/>
          </p:nvPr>
        </p:nvSpPr>
        <p:spPr>
          <a:xfrm>
            <a:off x="2834691" y="3083718"/>
            <a:ext cx="6522619" cy="69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Feature Selection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2982595" y="2699080"/>
            <a:ext cx="6226809" cy="677108"/>
          </a:xfrm>
        </p:spPr>
        <p:txBody>
          <a:bodyPr/>
          <a:lstStyle/>
          <a:p>
            <a:r>
              <a:rPr lang="en-US" altLang="en-US"/>
              <a:t>Characteristics of SVM</a:t>
            </a:r>
          </a:p>
        </p:txBody>
      </p:sp>
      <p:sp>
        <p:nvSpPr>
          <p:cNvPr id="4" name="Google Shape;277;p32"/>
          <p:cNvSpPr txBox="1"/>
          <p:nvPr/>
        </p:nvSpPr>
        <p:spPr>
          <a:xfrm>
            <a:off x="216024" y="143488"/>
            <a:ext cx="7615546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in the real world.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48" y="1140875"/>
            <a:ext cx="10337740" cy="516031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54140" y="6301188"/>
            <a:ext cx="22445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https://archive.ics.uci.edu/</a:t>
            </a:r>
          </a:p>
        </p:txBody>
      </p:sp>
    </p:spTree>
    <p:extLst>
      <p:ext uri="{BB962C8B-B14F-4D97-AF65-F5344CB8AC3E}">
        <p14:creationId xmlns:p14="http://schemas.microsoft.com/office/powerpoint/2010/main" val="295836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2982595" y="2699080"/>
            <a:ext cx="6226809" cy="677108"/>
          </a:xfrm>
        </p:spPr>
        <p:txBody>
          <a:bodyPr/>
          <a:lstStyle/>
          <a:p>
            <a:r>
              <a:rPr lang="en-US" altLang="en-US"/>
              <a:t>Characteristics of SVM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1137" y="1217950"/>
            <a:ext cx="11740863" cy="5546834"/>
          </a:xfrm>
        </p:spPr>
        <p:txBody>
          <a:bodyPr>
            <a:normAutofit fontScale="92500" lnSpcReduction="10000"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b="1" dirty="0" smtClean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Improves </a:t>
            </a:r>
            <a:r>
              <a:rPr lang="en-US" altLang="en-US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Model Performance</a:t>
            </a:r>
            <a:r>
              <a:rPr lang="en-US" alt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Removing irrelevant or redundant features can lead to better accuracy, precision, and recall in the model’s predictions.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b="1" dirty="0" smtClean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Reduces </a:t>
            </a:r>
            <a:r>
              <a:rPr lang="en-US" altLang="en-US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Training Time</a:t>
            </a:r>
            <a:r>
              <a:rPr lang="en-US" alt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With fewer features, the model requires less computational power and time to train, making the process more efficient.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b="1" dirty="0" smtClean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Simplifies </a:t>
            </a:r>
            <a:r>
              <a:rPr lang="en-US" altLang="en-US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Models</a:t>
            </a:r>
            <a:r>
              <a:rPr lang="en-US" alt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A model with fewer features is easier to interpret and understand, which is beneficial for explaining the results to stakeholders.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b="1" dirty="0" smtClean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Enhances </a:t>
            </a:r>
            <a:r>
              <a:rPr lang="en-US" altLang="en-US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Generalization</a:t>
            </a:r>
            <a:r>
              <a:rPr lang="en-US" alt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By focusing on the most important features, the model is more likely to generalize well to new, unseen data.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b="1" dirty="0" smtClean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Reduces </a:t>
            </a:r>
            <a:r>
              <a:rPr lang="en-US" altLang="en-US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Noise</a:t>
            </a:r>
            <a:r>
              <a:rPr lang="en-US" alt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Eliminating irrelevant features helps reduce the noise in the data, leading to cleaner and more robust models.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b="1" dirty="0" smtClean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Improves </a:t>
            </a:r>
            <a:r>
              <a:rPr lang="en-US" altLang="en-US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Data Understanding</a:t>
            </a:r>
            <a:r>
              <a:rPr lang="en-US" alt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The process of feature selection helps in better understanding the data and identifying the most influential variables.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b="1" dirty="0" smtClean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Optimizes </a:t>
            </a:r>
            <a:r>
              <a:rPr lang="en-US" altLang="en-US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Resource Usage</a:t>
            </a:r>
            <a:r>
              <a:rPr lang="en-US" alt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Reducing the number of features can save storage and processing resources, which is particularly important in large-scale applications</a:t>
            </a:r>
            <a:r>
              <a:rPr lang="en-US" altLang="en-US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Reduces Overfitting</a:t>
            </a:r>
            <a:r>
              <a:rPr lang="en-US" alt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By selecting only the most relevant features, it decreases the complexity of the model, which helps prevent overfitting.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Google Shape;277;p32"/>
          <p:cNvSpPr txBox="1"/>
          <p:nvPr/>
        </p:nvSpPr>
        <p:spPr>
          <a:xfrm>
            <a:off x="304800" y="381000"/>
            <a:ext cx="7615546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Selection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445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6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6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65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65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2982595" y="2699080"/>
            <a:ext cx="6226809" cy="677108"/>
          </a:xfrm>
        </p:spPr>
        <p:txBody>
          <a:bodyPr/>
          <a:lstStyle/>
          <a:p>
            <a:r>
              <a:rPr lang="en-US" altLang="en-US" dirty="0"/>
              <a:t>Characteristics of SVM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1137" y="1217950"/>
            <a:ext cx="11740863" cy="554683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High-Dimensional Data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: When you have datasets with a large number of features, feature selection helps to reduce dimensionality, making the model more manageable and less prone to overfitting.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b="1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Improving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Interpretability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: When you need a model that is easy to interpret and explain to stakeholders, feature selection can simplify the model by focusing on the most important features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Reducing Computational Costs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: If training a model is time-consuming or resource-intensive due to a large number of features, feature selection can significantly reduce computational requirements.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b="1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In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Preprocessing Pipelines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: Feature selection is often used as a step in data preprocessing pipelines to prepare the data for more effective machine learning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Before Applying Complex Models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: When planning to use complex or ensemble models, reducing the feature space beforehand can make the process more efficient and lead to better performance.</a:t>
            </a:r>
          </a:p>
        </p:txBody>
      </p:sp>
      <p:sp>
        <p:nvSpPr>
          <p:cNvPr id="4" name="Google Shape;277;p32"/>
          <p:cNvSpPr txBox="1"/>
          <p:nvPr/>
        </p:nvSpPr>
        <p:spPr>
          <a:xfrm>
            <a:off x="304800" y="381000"/>
            <a:ext cx="7615546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Selection – When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3771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2982595" y="2699080"/>
            <a:ext cx="6226809" cy="677108"/>
          </a:xfrm>
        </p:spPr>
        <p:txBody>
          <a:bodyPr/>
          <a:lstStyle/>
          <a:p>
            <a:r>
              <a:rPr lang="en-US" altLang="en-US" dirty="0"/>
              <a:t>Characteristics of SVM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1137" y="1217950"/>
            <a:ext cx="11740863" cy="554683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Filter Method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b="1" dirty="0"/>
              <a:t>Wrapper </a:t>
            </a:r>
            <a:r>
              <a:rPr lang="en-IN" b="1" dirty="0" smtClean="0"/>
              <a:t>Methods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Google Shape;277;p32"/>
          <p:cNvSpPr txBox="1"/>
          <p:nvPr/>
        </p:nvSpPr>
        <p:spPr>
          <a:xfrm>
            <a:off x="304800" y="381000"/>
            <a:ext cx="7615546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Selection – Types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51137" y="1217950"/>
            <a:ext cx="11740863" cy="55468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Filter Method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i="1" dirty="0" smtClean="0"/>
              <a:t>“Filter methods evaluate the relevance of features by examining their statistical properties independently of any machine learning algorithm. These methods are typically faster and simpler”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b="1" i="1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Correlation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: Measures the linear correlation between each feature and the target variable.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Chi-Square Test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: Assesses the association between categorical features and the target variable.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ANOVA (Analysis of Variance)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: Compares the means of different features to see if they are significantly different with respect to the target variable.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Mutual Information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: Measures the dependency between the feature and the target variable.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Variance Threshold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: Removes all features with low variance, assuming low variance features are less important.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343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build="p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2982595" y="2699080"/>
            <a:ext cx="6226809" cy="677108"/>
          </a:xfrm>
        </p:spPr>
        <p:txBody>
          <a:bodyPr/>
          <a:lstStyle/>
          <a:p>
            <a:r>
              <a:rPr lang="en-US" altLang="en-US" dirty="0"/>
              <a:t>Characteristics of SVM</a:t>
            </a:r>
          </a:p>
        </p:txBody>
      </p:sp>
      <p:sp>
        <p:nvSpPr>
          <p:cNvPr id="4" name="Google Shape;277;p32"/>
          <p:cNvSpPr txBox="1"/>
          <p:nvPr/>
        </p:nvSpPr>
        <p:spPr>
          <a:xfrm>
            <a:off x="304800" y="381000"/>
            <a:ext cx="7615546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Selection – Types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25567" y="1244583"/>
            <a:ext cx="11740863" cy="55468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Wrapper Method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i="1" dirty="0"/>
              <a:t>“Wrapper methods involve selecting features by actually training a model and evaluating its performance with different subsets of features. These methods consider the interactions between features and the model's performance as a selection criterion.”</a:t>
            </a:r>
            <a:endParaRPr lang="en-US" i="1" dirty="0" smtClean="0"/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b="1" i="1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Forward Selection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Starts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with an empty set of features and adds one feature at a time. At each step, it evaluates the model's performance with each candidate feature added to the current set and selects the feature that improves the model's performance the most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Backward Elimination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dirty="0"/>
              <a:t>Backward Elimination starts with all features included in the model and removes the least significant feature one at a time. At each step, the feature whose removal results in the smallest drop in performance (or the largest improvement) is eliminated</a:t>
            </a:r>
            <a:r>
              <a:rPr lang="en-US" dirty="0" smtClean="0"/>
              <a:t>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807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2982595" y="2699080"/>
            <a:ext cx="6226809" cy="677108"/>
          </a:xfrm>
        </p:spPr>
        <p:txBody>
          <a:bodyPr/>
          <a:lstStyle/>
          <a:p>
            <a:r>
              <a:rPr lang="en-US" altLang="en-US" dirty="0"/>
              <a:t>Characteristics of SVM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1137" y="1217950"/>
            <a:ext cx="11740863" cy="5546834"/>
          </a:xfrm>
        </p:spPr>
        <p:txBody>
          <a:bodyPr>
            <a:normAutofit fontScale="92500" lnSpcReduction="10000"/>
          </a:bodyPr>
          <a:lstStyle/>
          <a:p>
            <a:pPr marL="228600" indent="0"/>
            <a:r>
              <a:rPr lang="en-US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Correlation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statistical measure that describes the strength and direction of the relationship between two variables. </a:t>
            </a:r>
            <a:endParaRPr lang="en-US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Quantifies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how much one variable changes in response to changes in another. </a:t>
            </a:r>
            <a:endParaRPr lang="en-US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Correlation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is widely used in data analysis to determine the degree of association between variables, which can help in identifying patterns, making predictions, and guiding decision-making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Direction: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Positive </a:t>
            </a:r>
            <a:r>
              <a:rPr lang="en-US" altLang="en-US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Correlation</a:t>
            </a:r>
            <a:r>
              <a:rPr lang="en-US" alt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When one variable increases, the other also increases. For example, height and weight typically have a positive </a:t>
            </a:r>
            <a:r>
              <a:rPr lang="en-US" altLang="en-US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correlation.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endParaRPr lang="en-US" altLang="en-US" b="1" dirty="0" smtClean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Negative </a:t>
            </a:r>
            <a:r>
              <a:rPr lang="en-US" altLang="en-US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Correlation</a:t>
            </a:r>
            <a:r>
              <a:rPr lang="en-US" alt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When one variable increases, the other decreases. For example, the number of hours spent on social media might negatively correlate with academic </a:t>
            </a:r>
            <a:r>
              <a:rPr lang="en-US" altLang="en-US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performance.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endParaRPr lang="en-US" altLang="en-US" b="1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 </a:t>
            </a:r>
            <a:r>
              <a:rPr lang="en-US" altLang="en-US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Correlation</a:t>
            </a:r>
            <a:r>
              <a:rPr lang="en-US" alt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No consistent pattern of association; the variables are independent of each other.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Types of correlation: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Pearson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Spearman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Kindle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Google Shape;277;p32"/>
          <p:cNvSpPr txBox="1"/>
          <p:nvPr/>
        </p:nvSpPr>
        <p:spPr>
          <a:xfrm>
            <a:off x="304800" y="381000"/>
            <a:ext cx="7615546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Correlation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868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6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6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65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65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65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65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1137" y="1217950"/>
            <a:ext cx="11740863" cy="5546834"/>
          </a:xfrm>
        </p:spPr>
        <p:txBody>
          <a:bodyPr>
            <a:norm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dirty="0" smtClean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Measures </a:t>
            </a:r>
            <a:r>
              <a:rPr lang="en-US" alt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linear relationship between two continuous </a:t>
            </a:r>
            <a:r>
              <a:rPr lang="en-US" altLang="en-US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variables.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Assumes </a:t>
            </a:r>
            <a:r>
              <a:rPr lang="en-US" alt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data is normally distributed and the relationship is linear. </a:t>
            </a:r>
            <a:endParaRPr lang="en-US" altLang="en-US" dirty="0" smtClean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Range is from -1 to +1.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en-US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Indicates a perfect positive linear relationship between the two variables. </a:t>
            </a:r>
            <a:endParaRPr lang="en-US" altLang="en-US" dirty="0" smtClean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en-US" alt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Indicates no linear relationship between the variables. </a:t>
            </a:r>
            <a:endParaRPr lang="en-US" altLang="en-US" dirty="0" smtClean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</a:t>
            </a:r>
            <a:r>
              <a:rPr lang="en-US" altLang="en-US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Indicates a perfect negative linear relationship between the two variables. </a:t>
            </a:r>
          </a:p>
        </p:txBody>
      </p:sp>
      <p:sp>
        <p:nvSpPr>
          <p:cNvPr id="4" name="Google Shape;277;p32"/>
          <p:cNvSpPr txBox="1"/>
          <p:nvPr/>
        </p:nvSpPr>
        <p:spPr>
          <a:xfrm>
            <a:off x="304800" y="381000"/>
            <a:ext cx="7615546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Correlation - Pearson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373395"/>
              </p:ext>
            </p:extLst>
          </p:nvPr>
        </p:nvGraphicFramePr>
        <p:xfrm>
          <a:off x="8273757" y="3444536"/>
          <a:ext cx="3190274" cy="3052759"/>
        </p:xfrm>
        <a:graphic>
          <a:graphicData uri="http://schemas.openxmlformats.org/drawingml/2006/table">
            <a:tbl>
              <a:tblPr/>
              <a:tblGrid>
                <a:gridCol w="1075648">
                  <a:extLst>
                    <a:ext uri="{9D8B030D-6E8A-4147-A177-3AD203B41FA5}">
                      <a16:colId xmlns:a16="http://schemas.microsoft.com/office/drawing/2014/main" val="3720801963"/>
                    </a:ext>
                  </a:extLst>
                </a:gridCol>
                <a:gridCol w="2114626">
                  <a:extLst>
                    <a:ext uri="{9D8B030D-6E8A-4147-A177-3AD203B41FA5}">
                      <a16:colId xmlns:a16="http://schemas.microsoft.com/office/drawing/2014/main" val="1621660483"/>
                    </a:ext>
                  </a:extLst>
                </a:gridCol>
              </a:tblGrid>
              <a:tr h="5775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4C4C4C"/>
                          </a:solidFill>
                          <a:effectLst/>
                          <a:latin typeface="Cambria" panose="02040503050406030204" pitchFamily="18" charset="0"/>
                        </a:rPr>
                        <a:t>Test score (out of 10)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>
                          <a:solidFill>
                            <a:srgbClr val="4C4C4C"/>
                          </a:solidFill>
                          <a:effectLst/>
                          <a:latin typeface="Cambria" panose="02040503050406030204" pitchFamily="18" charset="0"/>
                        </a:rPr>
                        <a:t>Hours playing video games per week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368341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8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140131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3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17687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5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1.5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146653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7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790616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2.5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205340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3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213354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6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1.5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692553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7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411612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4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290445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9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1.5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73972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72721" y="3991367"/>
                <a:ext cx="4264501" cy="7328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acc>
                                <m:accPr>
                                  <m:chr m:val="̅"/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acc>
                                <m:accPr>
                                  <m:chr m:val="̅"/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IN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I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IN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− 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I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0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0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IN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I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IN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− 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I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0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IN" sz="20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721" y="3991367"/>
                <a:ext cx="4264501" cy="7328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9755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build="p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77;p32"/>
          <p:cNvSpPr txBox="1"/>
          <p:nvPr/>
        </p:nvSpPr>
        <p:spPr>
          <a:xfrm>
            <a:off x="304800" y="381000"/>
            <a:ext cx="7615546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Correlation - Pearson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826888" y="226694"/>
                <a:ext cx="4264501" cy="7328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acc>
                                <m:accPr>
                                  <m:chr m:val="̅"/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acc>
                                <m:accPr>
                                  <m:chr m:val="̅"/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IN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I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IN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− 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I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0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0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IN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I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IN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− 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I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0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IN" sz="20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6888" y="226694"/>
                <a:ext cx="4264501" cy="7328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2960704"/>
                  </p:ext>
                </p:extLst>
              </p:nvPr>
            </p:nvGraphicFramePr>
            <p:xfrm>
              <a:off x="233779" y="1131900"/>
              <a:ext cx="9409081" cy="3415999"/>
            </p:xfrm>
            <a:graphic>
              <a:graphicData uri="http://schemas.openxmlformats.org/drawingml/2006/table">
                <a:tbl>
                  <a:tblPr/>
                  <a:tblGrid>
                    <a:gridCol w="1312612">
                      <a:extLst>
                        <a:ext uri="{9D8B030D-6E8A-4147-A177-3AD203B41FA5}">
                          <a16:colId xmlns:a16="http://schemas.microsoft.com/office/drawing/2014/main" val="3720801963"/>
                        </a:ext>
                      </a:extLst>
                    </a:gridCol>
                    <a:gridCol w="2364870">
                      <a:extLst>
                        <a:ext uri="{9D8B030D-6E8A-4147-A177-3AD203B41FA5}">
                          <a16:colId xmlns:a16="http://schemas.microsoft.com/office/drawing/2014/main" val="1621660483"/>
                        </a:ext>
                      </a:extLst>
                    </a:gridCol>
                    <a:gridCol w="839350">
                      <a:extLst>
                        <a:ext uri="{9D8B030D-6E8A-4147-A177-3AD203B41FA5}">
                          <a16:colId xmlns:a16="http://schemas.microsoft.com/office/drawing/2014/main" val="3444306551"/>
                        </a:ext>
                      </a:extLst>
                    </a:gridCol>
                    <a:gridCol w="869285">
                      <a:extLst>
                        <a:ext uri="{9D8B030D-6E8A-4147-A177-3AD203B41FA5}">
                          <a16:colId xmlns:a16="http://schemas.microsoft.com/office/drawing/2014/main" val="1278895332"/>
                        </a:ext>
                      </a:extLst>
                    </a:gridCol>
                    <a:gridCol w="1927835">
                      <a:extLst>
                        <a:ext uri="{9D8B030D-6E8A-4147-A177-3AD203B41FA5}">
                          <a16:colId xmlns:a16="http://schemas.microsoft.com/office/drawing/2014/main" val="2473195977"/>
                        </a:ext>
                      </a:extLst>
                    </a:gridCol>
                    <a:gridCol w="1038687">
                      <a:extLst>
                        <a:ext uri="{9D8B030D-6E8A-4147-A177-3AD203B41FA5}">
                          <a16:colId xmlns:a16="http://schemas.microsoft.com/office/drawing/2014/main" val="2479174859"/>
                        </a:ext>
                      </a:extLst>
                    </a:gridCol>
                    <a:gridCol w="1056442">
                      <a:extLst>
                        <a:ext uri="{9D8B030D-6E8A-4147-A177-3AD203B41FA5}">
                          <a16:colId xmlns:a16="http://schemas.microsoft.com/office/drawing/2014/main" val="2458577466"/>
                        </a:ext>
                      </a:extLst>
                    </a:gridCol>
                  </a:tblGrid>
                  <a:tr h="577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1" i="0" u="none" strike="noStrike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Test score (out of 10)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7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1" i="0" u="none" strike="noStrike" dirty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Hours playing video games per week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7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IN" sz="1800" b="0" i="1" smtClean="0">
                                    <a:latin typeface="Cambria Math" panose="02040503050406030204" pitchFamily="18" charset="0"/>
                                  </a:rPr>
                                  <m:t>−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I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I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sz="1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1800" b="1" i="0" u="none" strike="noStrike" dirty="0">
                            <a:solidFill>
                              <a:srgbClr val="4C4C4C"/>
                            </a:solidFill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7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−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I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8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N" sz="1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1800" b="1" i="0" u="none" strike="noStrike" dirty="0">
                            <a:solidFill>
                              <a:srgbClr val="4C4C4C"/>
                            </a:solidFill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7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IN" sz="1800" b="0" i="1" smtClean="0">
                                    <a:latin typeface="Cambria Math" panose="02040503050406030204" pitchFamily="18" charset="0"/>
                                  </a:rPr>
                                  <m:t>−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I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I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sz="1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IN" sz="1800" b="0" i="1" smtClean="0">
                                    <a:latin typeface="Cambria Math" panose="02040503050406030204" pitchFamily="18" charset="0"/>
                                  </a:rPr>
                                  <m:t>)(</m:t>
                                </m:r>
                                <m:sSub>
                                  <m:sSubPr>
                                    <m:ctrlP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−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I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8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N" sz="1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IN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1" i="0" u="none" strike="noStrike" dirty="0">
                            <a:solidFill>
                              <a:srgbClr val="4C4C4C"/>
                            </a:solidFill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7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N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I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sz="1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  <m:t>− 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I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IN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8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IN" sz="18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b="1" i="0" u="none" strike="noStrike" dirty="0">
                            <a:solidFill>
                              <a:srgbClr val="4C4C4C"/>
                            </a:solidFill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7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N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I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8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N" sz="1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  <m:t>− 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I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IN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IN" sz="18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b="1" i="0" u="none" strike="noStrike" dirty="0">
                            <a:solidFill>
                              <a:srgbClr val="4C4C4C"/>
                            </a:solidFill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7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6368341"/>
                      </a:ext>
                    </a:extLst>
                  </a:tr>
                  <a:tr h="24752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8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2.8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0.28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7.84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0.01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7140131"/>
                      </a:ext>
                    </a:extLst>
                  </a:tr>
                  <a:tr h="24752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3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-2.2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-0.22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4.84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0.01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17687"/>
                      </a:ext>
                    </a:extLst>
                  </a:tr>
                  <a:tr h="24752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5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1.5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-0.2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-0.4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0.08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0.04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0.16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9146653"/>
                      </a:ext>
                    </a:extLst>
                  </a:tr>
                  <a:tr h="24752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7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1.8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-0.9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-1.62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3.24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0.81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4790616"/>
                      </a:ext>
                    </a:extLst>
                  </a:tr>
                  <a:tr h="24752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2.5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-4.2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-2.52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17.64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0.36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3205340"/>
                      </a:ext>
                    </a:extLst>
                  </a:tr>
                  <a:tr h="24752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3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-3.2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1.1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-3.52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10.24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1.21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9213354"/>
                      </a:ext>
                    </a:extLst>
                  </a:tr>
                  <a:tr h="24752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6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1.5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-0.4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-0.32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0.64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0.16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1692553"/>
                      </a:ext>
                    </a:extLst>
                  </a:tr>
                  <a:tr h="24752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7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1.8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0.18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3.24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0.01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2411612"/>
                      </a:ext>
                    </a:extLst>
                  </a:tr>
                  <a:tr h="24752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4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-1.2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-0.12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1.44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0.01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6290445"/>
                      </a:ext>
                    </a:extLst>
                  </a:tr>
                  <a:tr h="24752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9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1.5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3.8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-0.4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-1.52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14.44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0.16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073972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2960704"/>
                  </p:ext>
                </p:extLst>
              </p:nvPr>
            </p:nvGraphicFramePr>
            <p:xfrm>
              <a:off x="233779" y="1131900"/>
              <a:ext cx="9409081" cy="3415999"/>
            </p:xfrm>
            <a:graphic>
              <a:graphicData uri="http://schemas.openxmlformats.org/drawingml/2006/table">
                <a:tbl>
                  <a:tblPr/>
                  <a:tblGrid>
                    <a:gridCol w="1312612">
                      <a:extLst>
                        <a:ext uri="{9D8B030D-6E8A-4147-A177-3AD203B41FA5}">
                          <a16:colId xmlns:a16="http://schemas.microsoft.com/office/drawing/2014/main" val="3720801963"/>
                        </a:ext>
                      </a:extLst>
                    </a:gridCol>
                    <a:gridCol w="2364870">
                      <a:extLst>
                        <a:ext uri="{9D8B030D-6E8A-4147-A177-3AD203B41FA5}">
                          <a16:colId xmlns:a16="http://schemas.microsoft.com/office/drawing/2014/main" val="1621660483"/>
                        </a:ext>
                      </a:extLst>
                    </a:gridCol>
                    <a:gridCol w="839350">
                      <a:extLst>
                        <a:ext uri="{9D8B030D-6E8A-4147-A177-3AD203B41FA5}">
                          <a16:colId xmlns:a16="http://schemas.microsoft.com/office/drawing/2014/main" val="3444306551"/>
                        </a:ext>
                      </a:extLst>
                    </a:gridCol>
                    <a:gridCol w="869285">
                      <a:extLst>
                        <a:ext uri="{9D8B030D-6E8A-4147-A177-3AD203B41FA5}">
                          <a16:colId xmlns:a16="http://schemas.microsoft.com/office/drawing/2014/main" val="1278895332"/>
                        </a:ext>
                      </a:extLst>
                    </a:gridCol>
                    <a:gridCol w="1927835">
                      <a:extLst>
                        <a:ext uri="{9D8B030D-6E8A-4147-A177-3AD203B41FA5}">
                          <a16:colId xmlns:a16="http://schemas.microsoft.com/office/drawing/2014/main" val="2473195977"/>
                        </a:ext>
                      </a:extLst>
                    </a:gridCol>
                    <a:gridCol w="1038687">
                      <a:extLst>
                        <a:ext uri="{9D8B030D-6E8A-4147-A177-3AD203B41FA5}">
                          <a16:colId xmlns:a16="http://schemas.microsoft.com/office/drawing/2014/main" val="2479174859"/>
                        </a:ext>
                      </a:extLst>
                    </a:gridCol>
                    <a:gridCol w="1056442">
                      <a:extLst>
                        <a:ext uri="{9D8B030D-6E8A-4147-A177-3AD203B41FA5}">
                          <a16:colId xmlns:a16="http://schemas.microsoft.com/office/drawing/2014/main" val="2458577466"/>
                        </a:ext>
                      </a:extLst>
                    </a:gridCol>
                  </a:tblGrid>
                  <a:tr h="577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1" i="0" u="none" strike="noStrike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Test score (out of 10)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7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1" i="0" u="none" strike="noStrike" dirty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Hours playing video games per week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7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7681" t="-8421" r="-582609" b="-516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18881" t="-8421" r="-462238" b="-516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0063" t="-8421" r="-109177" b="-516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2339" t="-8421" r="-101754" b="-516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3064" t="-8421" r="-578" b="-5168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6368341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8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2.8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0.28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7.84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0.01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7140131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3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-2.2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-0.22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4.84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0.01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17687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5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1.5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-0.2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-0.4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0.08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0.04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0.16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9146653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7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1.8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-0.9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-1.62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3.24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0.81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4790616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2.5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-4.2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-2.52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17.64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0.36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3205340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3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-3.2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1.1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-3.52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10.24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1.21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9213354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6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1.5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-0.4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-0.32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0.64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0.16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1692553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7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1.8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0.18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3.24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0.01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2411612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4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-1.2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-0.12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1.44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0.01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6290445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9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1.5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3.8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-0.4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-1.52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14.44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0.16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073972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0" y="4628293"/>
                <a:ext cx="2342244" cy="5431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1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IN" sz="1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52</m:t>
                          </m:r>
                        </m:num>
                        <m:den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=5.2</m:t>
                      </m:r>
                    </m:oMath>
                  </m:oMathPara>
                </a14:m>
                <a:endParaRPr lang="en-IN" sz="18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628293"/>
                <a:ext cx="2342244" cy="5431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0" y="5433325"/>
                <a:ext cx="2347309" cy="5431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1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IN" sz="1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=1.9</m:t>
                      </m:r>
                    </m:oMath>
                  </m:oMathPara>
                </a14:m>
                <a:endParaRPr lang="en-IN" sz="18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433325"/>
                <a:ext cx="2347309" cy="5431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0" y="6056881"/>
                <a:ext cx="3116062" cy="7562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IN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− </m:t>
                          </m:r>
                          <m:acc>
                            <m:accPr>
                              <m:chr m:val="̅"/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− </m:t>
                          </m:r>
                          <m:acc>
                            <m:accPr>
                              <m:chr m:val="̅"/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=−9.3</m:t>
                      </m:r>
                    </m:oMath>
                  </m:oMathPara>
                </a14:m>
                <a:endParaRPr lang="en-IN" sz="1800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056881"/>
                <a:ext cx="3116062" cy="7562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3213512" y="4677092"/>
                <a:ext cx="2778913" cy="7562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IN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acc>
                                <m:accPr>
                                  <m:chr m:val="̅"/>
                                  <m:ctrlP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=63.6</m:t>
                      </m:r>
                    </m:oMath>
                  </m:oMathPara>
                </a14:m>
                <a:endParaRPr lang="en-IN" sz="18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3512" y="4677092"/>
                <a:ext cx="2778913" cy="7562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3213512" y="5892446"/>
                <a:ext cx="2778913" cy="7562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IN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acc>
                                <m:accPr>
                                  <m:chr m:val="̅"/>
                                  <m:ctrlP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=2.9</m:t>
                      </m:r>
                    </m:oMath>
                  </m:oMathPara>
                </a14:m>
                <a:endParaRPr lang="en-IN" sz="1800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3512" y="5892446"/>
                <a:ext cx="2778913" cy="75623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5909313" y="4709259"/>
                <a:ext cx="3020827" cy="6357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−9.3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63.6 ∗2.9</m:t>
                              </m:r>
                            </m:e>
                          </m:rad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=−0.685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9313" y="4709259"/>
                <a:ext cx="3020827" cy="63575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/>
          <p:cNvCxnSpPr/>
          <p:nvPr/>
        </p:nvCxnSpPr>
        <p:spPr>
          <a:xfrm>
            <a:off x="2965142" y="4547899"/>
            <a:ext cx="0" cy="231010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434614" y="4547899"/>
            <a:ext cx="0" cy="231010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696506" y="5804131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Moderate </a:t>
            </a:r>
            <a:r>
              <a:rPr lang="en-US" dirty="0"/>
              <a:t>to strong negative correlation between the test scores and the hours spent playing video games.</a:t>
            </a:r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5847425" y="4628293"/>
            <a:ext cx="3172288" cy="8050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263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6" grpId="0"/>
      <p:bldP spid="17" grpId="0"/>
      <p:bldP spid="18" grpId="0"/>
      <p:bldP spid="19" grpId="0"/>
      <p:bldP spid="22" grpId="0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1137" y="1217950"/>
            <a:ext cx="11740863" cy="5546834"/>
          </a:xfrm>
        </p:spPr>
        <p:txBody>
          <a:bodyPr>
            <a:norm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dirty="0" smtClean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dirty="0"/>
              <a:t>The Spearman correlation coefficient is a non-parametric measure of rank correlation. </a:t>
            </a:r>
            <a:endParaRPr lang="en-US" dirty="0" smtClean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dirty="0" smtClean="0"/>
              <a:t>It </a:t>
            </a:r>
            <a:r>
              <a:rPr lang="en-US" dirty="0"/>
              <a:t>assesses how well the relationship between two variables can be described using a monotonic function. </a:t>
            </a:r>
            <a:endParaRPr lang="en-US" dirty="0" smtClean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dirty="0" smtClean="0"/>
              <a:t>For linear and non linear relationship.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Range is from -1 to +1.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en-US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Indicates a perfect positive linear relationship between the two variables. </a:t>
            </a:r>
            <a:endParaRPr lang="en-US" altLang="en-US" dirty="0" smtClean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en-US" alt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Indicates no linear relationship between the variables. </a:t>
            </a:r>
            <a:endParaRPr lang="en-US" altLang="en-US" dirty="0" smtClean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</a:t>
            </a:r>
            <a:r>
              <a:rPr lang="en-US" altLang="en-US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Indicates a perfect negative linear relationship between the two variables. </a:t>
            </a:r>
          </a:p>
        </p:txBody>
      </p:sp>
      <p:sp>
        <p:nvSpPr>
          <p:cNvPr id="4" name="Google Shape;277;p32"/>
          <p:cNvSpPr txBox="1"/>
          <p:nvPr/>
        </p:nvSpPr>
        <p:spPr>
          <a:xfrm>
            <a:off x="304800" y="381000"/>
            <a:ext cx="7615546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Correlation - Spearman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73757" y="3444536"/>
          <a:ext cx="3190274" cy="3052759"/>
        </p:xfrm>
        <a:graphic>
          <a:graphicData uri="http://schemas.openxmlformats.org/drawingml/2006/table">
            <a:tbl>
              <a:tblPr/>
              <a:tblGrid>
                <a:gridCol w="1075648">
                  <a:extLst>
                    <a:ext uri="{9D8B030D-6E8A-4147-A177-3AD203B41FA5}">
                      <a16:colId xmlns:a16="http://schemas.microsoft.com/office/drawing/2014/main" val="3720801963"/>
                    </a:ext>
                  </a:extLst>
                </a:gridCol>
                <a:gridCol w="2114626">
                  <a:extLst>
                    <a:ext uri="{9D8B030D-6E8A-4147-A177-3AD203B41FA5}">
                      <a16:colId xmlns:a16="http://schemas.microsoft.com/office/drawing/2014/main" val="1621660483"/>
                    </a:ext>
                  </a:extLst>
                </a:gridCol>
              </a:tblGrid>
              <a:tr h="5775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4C4C4C"/>
                          </a:solidFill>
                          <a:effectLst/>
                          <a:latin typeface="Cambria" panose="02040503050406030204" pitchFamily="18" charset="0"/>
                        </a:rPr>
                        <a:t>Test score (out of 10)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>
                          <a:solidFill>
                            <a:srgbClr val="4C4C4C"/>
                          </a:solidFill>
                          <a:effectLst/>
                          <a:latin typeface="Cambria" panose="02040503050406030204" pitchFamily="18" charset="0"/>
                        </a:rPr>
                        <a:t>Hours playing video games per week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368341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8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140131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3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17687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5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1.5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146653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7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790616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2.5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205340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3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213354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6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1.5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692553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7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411612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4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290445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9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1.5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73972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1137" y="3991367"/>
                <a:ext cx="1800813" cy="6713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1 −6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 −1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IN" sz="20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37" y="3991367"/>
                <a:ext cx="1800813" cy="6713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451137" y="4970915"/>
                <a:ext cx="764331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i="1" dirty="0">
                    <a:latin typeface="Cambria Math" panose="02040503050406030204" pitchFamily="18" charset="0"/>
                  </a:rPr>
                  <a:t>is </a:t>
                </a:r>
                <a:r>
                  <a:rPr lang="en-US" sz="1800" i="1" dirty="0">
                    <a:latin typeface="Cambria Math" panose="02040503050406030204" pitchFamily="18" charset="0"/>
                  </a:rPr>
                  <a:t>the difference between the ranks of corresponding values of </a:t>
                </a:r>
                <a14:m>
                  <m:oMath xmlns:m="http://schemas.openxmlformats.org/officeDocument/2006/math">
                    <m:r>
                      <a:rPr lang="en-IN" sz="1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800" i="1" dirty="0">
                    <a:latin typeface="Cambria Math" panose="02040503050406030204" pitchFamily="18" charset="0"/>
                  </a:rPr>
                  <a:t> </a:t>
                </a:r>
                <a:r>
                  <a:rPr lang="en-US" sz="1800" i="1" dirty="0">
                    <a:latin typeface="Cambria Math" panose="020405030504060302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IN" sz="18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IN" sz="18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37" y="4970915"/>
                <a:ext cx="7643310" cy="369332"/>
              </a:xfrm>
              <a:prstGeom prst="rect">
                <a:avLst/>
              </a:prstGeom>
              <a:blipFill>
                <a:blip r:embed="rId3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51137" y="5498517"/>
                <a:ext cx="764331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i="1" dirty="0" smtClean="0">
                    <a:latin typeface="Cambria Math" panose="02040503050406030204" pitchFamily="18" charset="0"/>
                  </a:rPr>
                  <a:t> </a:t>
                </a:r>
                <a:r>
                  <a:rPr lang="en-US" sz="1800" i="1" dirty="0">
                    <a:latin typeface="Cambria Math" panose="02040503050406030204" pitchFamily="18" charset="0"/>
                  </a:rPr>
                  <a:t>is </a:t>
                </a:r>
                <a:r>
                  <a:rPr lang="en-US" sz="1800" i="1" dirty="0">
                    <a:latin typeface="Cambria Math" panose="02040503050406030204" pitchFamily="18" charset="0"/>
                  </a:rPr>
                  <a:t>the </a:t>
                </a:r>
                <a:r>
                  <a:rPr lang="en-IN" sz="1800" i="1" dirty="0" smtClean="0">
                    <a:latin typeface="Cambria Math" panose="02040503050406030204" pitchFamily="18" charset="0"/>
                  </a:rPr>
                  <a:t>number of data points</a:t>
                </a:r>
                <a:endParaRPr lang="en-IN" sz="18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37" y="5498517"/>
                <a:ext cx="7643310" cy="369332"/>
              </a:xfrm>
              <a:prstGeom prst="rect">
                <a:avLst/>
              </a:prstGeom>
              <a:blipFill>
                <a:blip r:embed="rId4"/>
                <a:stretch>
                  <a:fillRect t="-11475" b="-229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7136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build="p"/>
      <p:bldP spid="9" grpId="0"/>
      <p:bldP spid="2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77;p32"/>
          <p:cNvSpPr txBox="1"/>
          <p:nvPr/>
        </p:nvSpPr>
        <p:spPr>
          <a:xfrm>
            <a:off x="304800" y="381000"/>
            <a:ext cx="7615546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Correlation - Spearman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65512" y="1266183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Rank the data</a:t>
            </a:r>
            <a:endParaRPr lang="en-IN" dirty="0"/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640151"/>
              </p:ext>
            </p:extLst>
          </p:nvPr>
        </p:nvGraphicFramePr>
        <p:xfrm>
          <a:off x="9081625" y="1622859"/>
          <a:ext cx="3190274" cy="3052759"/>
        </p:xfrm>
        <a:graphic>
          <a:graphicData uri="http://schemas.openxmlformats.org/drawingml/2006/table">
            <a:tbl>
              <a:tblPr/>
              <a:tblGrid>
                <a:gridCol w="1075648">
                  <a:extLst>
                    <a:ext uri="{9D8B030D-6E8A-4147-A177-3AD203B41FA5}">
                      <a16:colId xmlns:a16="http://schemas.microsoft.com/office/drawing/2014/main" val="3720801963"/>
                    </a:ext>
                  </a:extLst>
                </a:gridCol>
                <a:gridCol w="2114626">
                  <a:extLst>
                    <a:ext uri="{9D8B030D-6E8A-4147-A177-3AD203B41FA5}">
                      <a16:colId xmlns:a16="http://schemas.microsoft.com/office/drawing/2014/main" val="1621660483"/>
                    </a:ext>
                  </a:extLst>
                </a:gridCol>
              </a:tblGrid>
              <a:tr h="5775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4C4C4C"/>
                          </a:solidFill>
                          <a:effectLst/>
                          <a:latin typeface="Cambria" panose="02040503050406030204" pitchFamily="18" charset="0"/>
                        </a:rPr>
                        <a:t>Test score (out of 10)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4C4C4C"/>
                          </a:solidFill>
                          <a:effectLst/>
                          <a:latin typeface="Cambria" panose="02040503050406030204" pitchFamily="18" charset="0"/>
                        </a:rPr>
                        <a:t>Hours playing video games per week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368341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8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140131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3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17687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5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1.5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146653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7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790616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2.5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205340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3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213354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6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1.5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692553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7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411612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4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290445"/>
                  </a:ext>
                </a:extLst>
              </a:tr>
              <a:tr h="2475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9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1.5</a:t>
                      </a:r>
                    </a:p>
                  </a:txBody>
                  <a:tcPr marL="9167" marR="9167" marT="91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739726"/>
                  </a:ext>
                </a:extLst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165512" y="4712199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Handle Ties</a:t>
            </a:r>
            <a:endParaRPr lang="en-IN" dirty="0"/>
          </a:p>
        </p:txBody>
      </p:sp>
      <p:sp>
        <p:nvSpPr>
          <p:cNvPr id="28" name="Rectangle 27"/>
          <p:cNvSpPr/>
          <p:nvPr/>
        </p:nvSpPr>
        <p:spPr>
          <a:xfrm>
            <a:off x="165512" y="5166440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Tied Ranks are 7 &amp; 8</a:t>
            </a:r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119165"/>
              </p:ext>
            </p:extLst>
          </p:nvPr>
        </p:nvGraphicFramePr>
        <p:xfrm>
          <a:off x="257398" y="1637399"/>
          <a:ext cx="2526852" cy="3063893"/>
        </p:xfrm>
        <a:graphic>
          <a:graphicData uri="http://schemas.openxmlformats.org/drawingml/2006/table">
            <a:tbl>
              <a:tblPr/>
              <a:tblGrid>
                <a:gridCol w="1837732">
                  <a:extLst>
                    <a:ext uri="{9D8B030D-6E8A-4147-A177-3AD203B41FA5}">
                      <a16:colId xmlns:a16="http://schemas.microsoft.com/office/drawing/2014/main" val="3894232196"/>
                    </a:ext>
                  </a:extLst>
                </a:gridCol>
                <a:gridCol w="689120">
                  <a:extLst>
                    <a:ext uri="{9D8B030D-6E8A-4147-A177-3AD203B41FA5}">
                      <a16:colId xmlns:a16="http://schemas.microsoft.com/office/drawing/2014/main" val="3177951797"/>
                    </a:ext>
                  </a:extLst>
                </a:gridCol>
              </a:tblGrid>
              <a:tr h="5321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4C4C4C"/>
                          </a:solidFill>
                          <a:effectLst/>
                          <a:latin typeface="Cambria" panose="02040503050406030204" pitchFamily="18" charset="0"/>
                        </a:rPr>
                        <a:t>Sorted Test score (out of 10)</a:t>
                      </a:r>
                    </a:p>
                  </a:txBody>
                  <a:tcPr marL="9336" marR="9336" marT="9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>
                          <a:solidFill>
                            <a:srgbClr val="4C4C4C"/>
                          </a:solidFill>
                          <a:effectLst/>
                          <a:latin typeface="Cambria" panose="02040503050406030204" pitchFamily="18" charset="0"/>
                        </a:rPr>
                        <a:t>Rank</a:t>
                      </a:r>
                    </a:p>
                  </a:txBody>
                  <a:tcPr marL="9336" marR="9336" marT="9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1105741"/>
                  </a:ext>
                </a:extLst>
              </a:tr>
              <a:tr h="25206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 marL="9336" marR="9336" marT="9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 marL="9336" marR="9336" marT="9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63812"/>
                  </a:ext>
                </a:extLst>
              </a:tr>
              <a:tr h="25206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</a:t>
                      </a:r>
                    </a:p>
                  </a:txBody>
                  <a:tcPr marL="9336" marR="9336" marT="9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</a:t>
                      </a:r>
                    </a:p>
                  </a:txBody>
                  <a:tcPr marL="9336" marR="9336" marT="9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339656"/>
                  </a:ext>
                </a:extLst>
              </a:tr>
              <a:tr h="25206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3</a:t>
                      </a:r>
                    </a:p>
                  </a:txBody>
                  <a:tcPr marL="9336" marR="9336" marT="9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3</a:t>
                      </a:r>
                    </a:p>
                  </a:txBody>
                  <a:tcPr marL="9336" marR="9336" marT="9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504409"/>
                  </a:ext>
                </a:extLst>
              </a:tr>
              <a:tr h="25206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4</a:t>
                      </a:r>
                    </a:p>
                  </a:txBody>
                  <a:tcPr marL="9336" marR="9336" marT="9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4</a:t>
                      </a:r>
                    </a:p>
                  </a:txBody>
                  <a:tcPr marL="9336" marR="9336" marT="9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076212"/>
                  </a:ext>
                </a:extLst>
              </a:tr>
              <a:tr h="25206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5</a:t>
                      </a:r>
                    </a:p>
                  </a:txBody>
                  <a:tcPr marL="9336" marR="9336" marT="9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5</a:t>
                      </a:r>
                    </a:p>
                  </a:txBody>
                  <a:tcPr marL="9336" marR="9336" marT="9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302131"/>
                  </a:ext>
                </a:extLst>
              </a:tr>
              <a:tr h="25206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6</a:t>
                      </a:r>
                    </a:p>
                  </a:txBody>
                  <a:tcPr marL="9336" marR="9336" marT="9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6</a:t>
                      </a:r>
                    </a:p>
                  </a:txBody>
                  <a:tcPr marL="9336" marR="9336" marT="9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529311"/>
                  </a:ext>
                </a:extLst>
              </a:tr>
              <a:tr h="25206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7</a:t>
                      </a:r>
                    </a:p>
                  </a:txBody>
                  <a:tcPr marL="9336" marR="9336" marT="9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7</a:t>
                      </a:r>
                    </a:p>
                  </a:txBody>
                  <a:tcPr marL="9336" marR="9336" marT="9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083774"/>
                  </a:ext>
                </a:extLst>
              </a:tr>
              <a:tr h="25206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7</a:t>
                      </a:r>
                    </a:p>
                  </a:txBody>
                  <a:tcPr marL="9336" marR="9336" marT="9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8</a:t>
                      </a:r>
                    </a:p>
                  </a:txBody>
                  <a:tcPr marL="9336" marR="9336" marT="9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635545"/>
                  </a:ext>
                </a:extLst>
              </a:tr>
              <a:tr h="25206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8</a:t>
                      </a:r>
                    </a:p>
                  </a:txBody>
                  <a:tcPr marL="9336" marR="9336" marT="9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9</a:t>
                      </a:r>
                    </a:p>
                  </a:txBody>
                  <a:tcPr marL="9336" marR="9336" marT="9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002774"/>
                  </a:ext>
                </a:extLst>
              </a:tr>
              <a:tr h="25206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9</a:t>
                      </a:r>
                    </a:p>
                  </a:txBody>
                  <a:tcPr marL="9336" marR="9336" marT="9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10</a:t>
                      </a:r>
                    </a:p>
                  </a:txBody>
                  <a:tcPr marL="9336" marR="9336" marT="93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61446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165512" y="5620681"/>
                <a:ext cx="6096000" cy="39581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dirty="0" smtClean="0"/>
                  <a:t>Average rank for both values of 7: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7+8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=7.5</m:t>
                    </m:r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12" y="5620681"/>
                <a:ext cx="6096000" cy="395814"/>
              </a:xfrm>
              <a:prstGeom prst="rect">
                <a:avLst/>
              </a:prstGeom>
              <a:blipFill>
                <a:blip r:embed="rId2"/>
                <a:stretch>
                  <a:fillRect l="-300" b="-4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165512" y="1609462"/>
            <a:ext cx="2684220" cy="31382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9" name="Table 2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5318552"/>
                  </p:ext>
                </p:extLst>
              </p:nvPr>
            </p:nvGraphicFramePr>
            <p:xfrm>
              <a:off x="304800" y="1613381"/>
              <a:ext cx="3826331" cy="3065783"/>
            </p:xfrm>
            <a:graphic>
              <a:graphicData uri="http://schemas.openxmlformats.org/drawingml/2006/table">
                <a:tbl>
                  <a:tblPr/>
                  <a:tblGrid>
                    <a:gridCol w="1837732">
                      <a:extLst>
                        <a:ext uri="{9D8B030D-6E8A-4147-A177-3AD203B41FA5}">
                          <a16:colId xmlns:a16="http://schemas.microsoft.com/office/drawing/2014/main" val="3894232196"/>
                        </a:ext>
                      </a:extLst>
                    </a:gridCol>
                    <a:gridCol w="683581">
                      <a:extLst>
                        <a:ext uri="{9D8B030D-6E8A-4147-A177-3AD203B41FA5}">
                          <a16:colId xmlns:a16="http://schemas.microsoft.com/office/drawing/2014/main" val="3177951797"/>
                        </a:ext>
                      </a:extLst>
                    </a:gridCol>
                    <a:gridCol w="1305018">
                      <a:extLst>
                        <a:ext uri="{9D8B030D-6E8A-4147-A177-3AD203B41FA5}">
                          <a16:colId xmlns:a16="http://schemas.microsoft.com/office/drawing/2014/main" val="2272527456"/>
                        </a:ext>
                      </a:extLst>
                    </a:gridCol>
                  </a:tblGrid>
                  <a:tr h="53213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6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Sorted Test score </a:t>
                          </a:r>
                          <a:r>
                            <a:rPr lang="en-US" sz="16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IN" sz="16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)</a:t>
                          </a:r>
                          <a:endParaRPr lang="en-US" sz="1600" b="1" i="0" u="none" strike="noStrike" dirty="0">
                            <a:solidFill>
                              <a:srgbClr val="4C4C4C"/>
                            </a:solidFill>
                            <a:effectLst/>
                            <a:latin typeface="Cambria" panose="02040503050406030204" pitchFamily="18" charset="0"/>
                          </a:endParaRPr>
                        </a:p>
                      </a:txBody>
                      <a:tcPr marL="9336" marR="9336" marT="9336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Rank</a:t>
                          </a:r>
                        </a:p>
                        <a:p>
                          <a:pPr algn="ctr" fontAlgn="ctr"/>
                          <a:r>
                            <a:rPr lang="en-US" sz="16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IN" sz="16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)</a:t>
                          </a:r>
                          <a:endParaRPr lang="en-IN" sz="1600" b="1" i="0" u="none" strike="noStrike" dirty="0">
                            <a:solidFill>
                              <a:srgbClr val="4C4C4C"/>
                            </a:solidFill>
                            <a:effectLst/>
                            <a:latin typeface="Cambria" panose="02040503050406030204" pitchFamily="18" charset="0"/>
                          </a:endParaRPr>
                        </a:p>
                      </a:txBody>
                      <a:tcPr marL="9336" marR="9336" marT="9336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Adjusted Rank </a:t>
                          </a:r>
                          <a:r>
                            <a:rPr lang="en-US" sz="16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IN" sz="16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)</a:t>
                          </a:r>
                          <a:endParaRPr lang="en-IN" sz="1600" b="1" i="0" u="none" strike="noStrike" dirty="0">
                            <a:solidFill>
                              <a:srgbClr val="4C4C4C"/>
                            </a:solidFill>
                            <a:effectLst/>
                            <a:latin typeface="Cambria" panose="02040503050406030204" pitchFamily="18" charset="0"/>
                          </a:endParaRPr>
                        </a:p>
                      </a:txBody>
                      <a:tcPr marL="9336" marR="9336" marT="9336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71105741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363812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6339656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9504409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1076212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5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5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5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302131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2529311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7</a:t>
                          </a:r>
                          <a:endParaRPr lang="en-IN" sz="16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Cambria" panose="02040503050406030204" pitchFamily="18" charset="0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7.5</a:t>
                          </a:r>
                          <a:endParaRPr lang="en-IN" sz="16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Cambria" panose="02040503050406030204" pitchFamily="18" charset="0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3083774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8</a:t>
                          </a:r>
                          <a:endParaRPr lang="en-IN" sz="16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Cambria" panose="02040503050406030204" pitchFamily="18" charset="0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7.5</a:t>
                          </a:r>
                          <a:endParaRPr lang="en-IN" sz="16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Cambria" panose="02040503050406030204" pitchFamily="18" charset="0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5635545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7002774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10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361446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9" name="Table 2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5318552"/>
                  </p:ext>
                </p:extLst>
              </p:nvPr>
            </p:nvGraphicFramePr>
            <p:xfrm>
              <a:off x="304800" y="1613381"/>
              <a:ext cx="3826331" cy="3065783"/>
            </p:xfrm>
            <a:graphic>
              <a:graphicData uri="http://schemas.openxmlformats.org/drawingml/2006/table">
                <a:tbl>
                  <a:tblPr/>
                  <a:tblGrid>
                    <a:gridCol w="1837732">
                      <a:extLst>
                        <a:ext uri="{9D8B030D-6E8A-4147-A177-3AD203B41FA5}">
                          <a16:colId xmlns:a16="http://schemas.microsoft.com/office/drawing/2014/main" val="3894232196"/>
                        </a:ext>
                      </a:extLst>
                    </a:gridCol>
                    <a:gridCol w="683581">
                      <a:extLst>
                        <a:ext uri="{9D8B030D-6E8A-4147-A177-3AD203B41FA5}">
                          <a16:colId xmlns:a16="http://schemas.microsoft.com/office/drawing/2014/main" val="3177951797"/>
                        </a:ext>
                      </a:extLst>
                    </a:gridCol>
                    <a:gridCol w="1305018">
                      <a:extLst>
                        <a:ext uri="{9D8B030D-6E8A-4147-A177-3AD203B41FA5}">
                          <a16:colId xmlns:a16="http://schemas.microsoft.com/office/drawing/2014/main" val="2272527456"/>
                        </a:ext>
                      </a:extLst>
                    </a:gridCol>
                  </a:tblGrid>
                  <a:tr h="5321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336" marR="9336" marT="9336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" t="-5747" r="-108278" b="-502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336" marR="9336" marT="9336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0536" t="-5747" r="-191964" b="-502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336" marR="9336" marT="9336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3925" t="-5747" r="-467" b="-502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1105741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363812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6339656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9504409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1076212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5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5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5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302131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2529311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7</a:t>
                          </a:r>
                          <a:endParaRPr lang="en-IN" sz="16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Cambria" panose="02040503050406030204" pitchFamily="18" charset="0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7.5</a:t>
                          </a:r>
                          <a:endParaRPr lang="en-IN" sz="16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Cambria" panose="02040503050406030204" pitchFamily="18" charset="0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3083774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8</a:t>
                          </a:r>
                          <a:endParaRPr lang="en-IN" sz="16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Cambria" panose="02040503050406030204" pitchFamily="18" charset="0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7.5</a:t>
                          </a:r>
                          <a:endParaRPr lang="en-IN" sz="16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Cambria" panose="02040503050406030204" pitchFamily="18" charset="0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5635545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7002774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10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36144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6" name="Rectangle 45"/>
          <p:cNvSpPr/>
          <p:nvPr/>
        </p:nvSpPr>
        <p:spPr>
          <a:xfrm>
            <a:off x="4533325" y="1266183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Rank the data</a:t>
            </a:r>
            <a:endParaRPr lang="en-IN" dirty="0"/>
          </a:p>
        </p:txBody>
      </p:sp>
      <p:sp>
        <p:nvSpPr>
          <p:cNvPr id="47" name="Rectangle 46"/>
          <p:cNvSpPr/>
          <p:nvPr/>
        </p:nvSpPr>
        <p:spPr>
          <a:xfrm>
            <a:off x="4533325" y="4712199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Handle Ties</a:t>
            </a:r>
            <a:endParaRPr lang="en-IN" dirty="0"/>
          </a:p>
        </p:txBody>
      </p:sp>
      <p:sp>
        <p:nvSpPr>
          <p:cNvPr id="48" name="Rectangle 47"/>
          <p:cNvSpPr/>
          <p:nvPr/>
        </p:nvSpPr>
        <p:spPr>
          <a:xfrm>
            <a:off x="4533325" y="5166440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Tied Ranks are 2,3 &amp; 4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9" name="Table 4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3357251"/>
                  </p:ext>
                </p:extLst>
              </p:nvPr>
            </p:nvGraphicFramePr>
            <p:xfrm>
              <a:off x="4625211" y="1628528"/>
              <a:ext cx="2526852" cy="3065783"/>
            </p:xfrm>
            <a:graphic>
              <a:graphicData uri="http://schemas.openxmlformats.org/drawingml/2006/table">
                <a:tbl>
                  <a:tblPr/>
                  <a:tblGrid>
                    <a:gridCol w="1837732">
                      <a:extLst>
                        <a:ext uri="{9D8B030D-6E8A-4147-A177-3AD203B41FA5}">
                          <a16:colId xmlns:a16="http://schemas.microsoft.com/office/drawing/2014/main" val="3894232196"/>
                        </a:ext>
                      </a:extLst>
                    </a:gridCol>
                    <a:gridCol w="689120">
                      <a:extLst>
                        <a:ext uri="{9D8B030D-6E8A-4147-A177-3AD203B41FA5}">
                          <a16:colId xmlns:a16="http://schemas.microsoft.com/office/drawing/2014/main" val="3177951797"/>
                        </a:ext>
                      </a:extLst>
                    </a:gridCol>
                  </a:tblGrid>
                  <a:tr h="53213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600" b="1" i="0" u="none" strike="noStrike" dirty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Sorted </a:t>
                          </a:r>
                          <a:r>
                            <a:rPr lang="en-US" sz="16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Hours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)</a:t>
                          </a:r>
                          <a:endParaRPr lang="en-US" sz="1600" b="1" i="0" u="none" strike="noStrike" dirty="0">
                            <a:solidFill>
                              <a:srgbClr val="4C4C4C"/>
                            </a:solidFill>
                            <a:effectLst/>
                            <a:latin typeface="Cambria" panose="02040503050406030204" pitchFamily="18" charset="0"/>
                          </a:endParaRPr>
                        </a:p>
                      </a:txBody>
                      <a:tcPr marL="9336" marR="9336" marT="9336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i="0" u="none" strike="noStrike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Rank</a:t>
                          </a:r>
                        </a:p>
                      </a:txBody>
                      <a:tcPr marL="9336" marR="9336" marT="9336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71105741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363812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1.5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6339656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1.5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9504409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1.5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1076212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5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302131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2529311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3083774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5635545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2.5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7002774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10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361446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9" name="Table 4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3357251"/>
                  </p:ext>
                </p:extLst>
              </p:nvPr>
            </p:nvGraphicFramePr>
            <p:xfrm>
              <a:off x="4625211" y="1628528"/>
              <a:ext cx="2526852" cy="3065783"/>
            </p:xfrm>
            <a:graphic>
              <a:graphicData uri="http://schemas.openxmlformats.org/drawingml/2006/table">
                <a:tbl>
                  <a:tblPr/>
                  <a:tblGrid>
                    <a:gridCol w="1837732">
                      <a:extLst>
                        <a:ext uri="{9D8B030D-6E8A-4147-A177-3AD203B41FA5}">
                          <a16:colId xmlns:a16="http://schemas.microsoft.com/office/drawing/2014/main" val="3894232196"/>
                        </a:ext>
                      </a:extLst>
                    </a:gridCol>
                    <a:gridCol w="689120">
                      <a:extLst>
                        <a:ext uri="{9D8B030D-6E8A-4147-A177-3AD203B41FA5}">
                          <a16:colId xmlns:a16="http://schemas.microsoft.com/office/drawing/2014/main" val="3177951797"/>
                        </a:ext>
                      </a:extLst>
                    </a:gridCol>
                  </a:tblGrid>
                  <a:tr h="5321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336" marR="9336" marT="9336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149" r="-37624" b="-502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i="0" u="none" strike="noStrike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Rank</a:t>
                          </a:r>
                        </a:p>
                      </a:txBody>
                      <a:tcPr marL="9336" marR="9336" marT="9336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71105741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363812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1.5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6339656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1.5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9504409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1.5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1076212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5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302131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2529311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3083774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5635545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2.5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7002774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10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36144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Rectangle 49"/>
              <p:cNvSpPr/>
              <p:nvPr/>
            </p:nvSpPr>
            <p:spPr>
              <a:xfrm>
                <a:off x="4533325" y="5474217"/>
                <a:ext cx="6096000" cy="39581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dirty="0" smtClean="0"/>
                  <a:t>Average rank for both values of 7: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2+3+4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3325" y="5474217"/>
                <a:ext cx="6096000" cy="395814"/>
              </a:xfrm>
              <a:prstGeom prst="rect">
                <a:avLst/>
              </a:prstGeom>
              <a:blipFill>
                <a:blip r:embed="rId5"/>
                <a:stretch>
                  <a:fillRect l="-300" b="-4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 50"/>
          <p:cNvSpPr/>
          <p:nvPr/>
        </p:nvSpPr>
        <p:spPr>
          <a:xfrm>
            <a:off x="4546527" y="1593016"/>
            <a:ext cx="2684220" cy="31382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2" name="Table 5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7618064"/>
                  </p:ext>
                </p:extLst>
              </p:nvPr>
            </p:nvGraphicFramePr>
            <p:xfrm>
              <a:off x="4672613" y="1591848"/>
              <a:ext cx="3826331" cy="3065783"/>
            </p:xfrm>
            <a:graphic>
              <a:graphicData uri="http://schemas.openxmlformats.org/drawingml/2006/table">
                <a:tbl>
                  <a:tblPr/>
                  <a:tblGrid>
                    <a:gridCol w="1837732">
                      <a:extLst>
                        <a:ext uri="{9D8B030D-6E8A-4147-A177-3AD203B41FA5}">
                          <a16:colId xmlns:a16="http://schemas.microsoft.com/office/drawing/2014/main" val="3894232196"/>
                        </a:ext>
                      </a:extLst>
                    </a:gridCol>
                    <a:gridCol w="683581">
                      <a:extLst>
                        <a:ext uri="{9D8B030D-6E8A-4147-A177-3AD203B41FA5}">
                          <a16:colId xmlns:a16="http://schemas.microsoft.com/office/drawing/2014/main" val="3177951797"/>
                        </a:ext>
                      </a:extLst>
                    </a:gridCol>
                    <a:gridCol w="1305018">
                      <a:extLst>
                        <a:ext uri="{9D8B030D-6E8A-4147-A177-3AD203B41FA5}">
                          <a16:colId xmlns:a16="http://schemas.microsoft.com/office/drawing/2014/main" val="2272527456"/>
                        </a:ext>
                      </a:extLst>
                    </a:gridCol>
                  </a:tblGrid>
                  <a:tr h="53213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6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Sorted </a:t>
                          </a:r>
                          <a:r>
                            <a:rPr lang="en-US" sz="16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Hours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IN" sz="16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)</a:t>
                          </a:r>
                          <a:endParaRPr lang="en-US" sz="1600" b="1" i="0" u="none" strike="noStrike" dirty="0">
                            <a:solidFill>
                              <a:srgbClr val="4C4C4C"/>
                            </a:solidFill>
                            <a:effectLst/>
                            <a:latin typeface="Cambria" panose="02040503050406030204" pitchFamily="18" charset="0"/>
                          </a:endParaRPr>
                        </a:p>
                      </a:txBody>
                      <a:tcPr marL="9336" marR="9336" marT="9336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IN" sz="16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Rank </a:t>
                          </a:r>
                          <a:r>
                            <a:rPr lang="en-US" sz="16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IN" sz="16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)</a:t>
                          </a:r>
                          <a:endParaRPr lang="en-US" sz="1600" b="1" i="0" u="none" strike="noStrike" dirty="0">
                            <a:solidFill>
                              <a:srgbClr val="4C4C4C"/>
                            </a:solidFill>
                            <a:effectLst/>
                            <a:latin typeface="Cambria" panose="02040503050406030204" pitchFamily="18" charset="0"/>
                          </a:endParaRPr>
                        </a:p>
                      </a:txBody>
                      <a:tcPr marL="9336" marR="9336" marT="9336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IN" sz="16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Adjusted Rank</a:t>
                          </a:r>
                          <a:r>
                            <a:rPr lang="en-US" sz="16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IN" sz="16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)</a:t>
                          </a:r>
                          <a:endParaRPr lang="en-US" sz="1600" b="1" i="0" u="none" strike="noStrike" dirty="0">
                            <a:solidFill>
                              <a:srgbClr val="4C4C4C"/>
                            </a:solidFill>
                            <a:effectLst/>
                            <a:latin typeface="Cambria" panose="02040503050406030204" pitchFamily="18" charset="0"/>
                          </a:endParaRPr>
                        </a:p>
                      </a:txBody>
                      <a:tcPr marL="9336" marR="9336" marT="9336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71105741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363812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1.5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  <a:endParaRPr lang="en-IN" sz="16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Cambria" panose="02040503050406030204" pitchFamily="18" charset="0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6339656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1.5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9504409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1.5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  <a:endParaRPr lang="en-IN" sz="16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Cambria" panose="02040503050406030204" pitchFamily="18" charset="0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1076212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5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6.5</a:t>
                          </a:r>
                          <a:endParaRPr lang="en-IN" sz="16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Cambria" panose="02040503050406030204" pitchFamily="18" charset="0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302131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IN" sz="1600" b="0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6.5</a:t>
                          </a:r>
                          <a:endParaRPr kumimoji="0" lang="en-IN" sz="16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2529311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IN" sz="16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6.5</a:t>
                          </a:r>
                          <a:endParaRPr kumimoji="0" lang="en-IN" sz="16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3083774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IN" sz="1600" b="0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6.5</a:t>
                          </a:r>
                          <a:endParaRPr kumimoji="0" lang="en-IN" sz="16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5635545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2.5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7002774"/>
                      </a:ext>
                    </a:extLst>
                  </a:tr>
                  <a:tr h="252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10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361446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2" name="Table 5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7618064"/>
                  </p:ext>
                </p:extLst>
              </p:nvPr>
            </p:nvGraphicFramePr>
            <p:xfrm>
              <a:off x="4672613" y="1591848"/>
              <a:ext cx="3826331" cy="3065783"/>
            </p:xfrm>
            <a:graphic>
              <a:graphicData uri="http://schemas.openxmlformats.org/drawingml/2006/table">
                <a:tbl>
                  <a:tblPr/>
                  <a:tblGrid>
                    <a:gridCol w="1837732">
                      <a:extLst>
                        <a:ext uri="{9D8B030D-6E8A-4147-A177-3AD203B41FA5}">
                          <a16:colId xmlns:a16="http://schemas.microsoft.com/office/drawing/2014/main" val="3894232196"/>
                        </a:ext>
                      </a:extLst>
                    </a:gridCol>
                    <a:gridCol w="683581">
                      <a:extLst>
                        <a:ext uri="{9D8B030D-6E8A-4147-A177-3AD203B41FA5}">
                          <a16:colId xmlns:a16="http://schemas.microsoft.com/office/drawing/2014/main" val="3177951797"/>
                        </a:ext>
                      </a:extLst>
                    </a:gridCol>
                    <a:gridCol w="1305018">
                      <a:extLst>
                        <a:ext uri="{9D8B030D-6E8A-4147-A177-3AD203B41FA5}">
                          <a16:colId xmlns:a16="http://schemas.microsoft.com/office/drawing/2014/main" val="2272527456"/>
                        </a:ext>
                      </a:extLst>
                    </a:gridCol>
                  </a:tblGrid>
                  <a:tr h="5321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336" marR="9336" marT="9336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31" t="-6897" r="-108609" b="-502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336" marR="9336" marT="9336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70536" t="-6897" r="-192857" b="-502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336" marR="9336" marT="9336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93023" t="-6897" r="-465" b="-502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1105741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363812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1.5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  <a:endParaRPr lang="en-IN" sz="16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Cambria" panose="02040503050406030204" pitchFamily="18" charset="0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6339656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1.5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9504409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1.5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  <a:endParaRPr lang="en-IN" sz="16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Cambria" panose="02040503050406030204" pitchFamily="18" charset="0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1076212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5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6.5</a:t>
                          </a:r>
                          <a:endParaRPr lang="en-IN" sz="16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Cambria" panose="02040503050406030204" pitchFamily="18" charset="0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302131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IN" sz="1600" b="0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6.5</a:t>
                          </a:r>
                          <a:endParaRPr kumimoji="0" lang="en-IN" sz="16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2529311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IN" sz="16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6.5</a:t>
                          </a:r>
                          <a:endParaRPr kumimoji="0" lang="en-IN" sz="16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3083774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IN" sz="1600" b="0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6.5</a:t>
                          </a:r>
                          <a:endParaRPr kumimoji="0" lang="en-IN" sz="16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5635545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2.5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7002774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10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36144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3" name="Rectangle 52"/>
          <p:cNvSpPr/>
          <p:nvPr/>
        </p:nvSpPr>
        <p:spPr>
          <a:xfrm>
            <a:off x="4533325" y="5870031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Tied Ranks are 5,6,7 &amp; 8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Rectangle 53"/>
              <p:cNvSpPr/>
              <p:nvPr/>
            </p:nvSpPr>
            <p:spPr>
              <a:xfrm>
                <a:off x="4533325" y="6177808"/>
                <a:ext cx="6096000" cy="40113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dirty="0" smtClean="0"/>
                  <a:t>Average rank for both values of 7: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5+6+7+8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=6.5</m:t>
                    </m:r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3325" y="6177808"/>
                <a:ext cx="6096000" cy="401135"/>
              </a:xfrm>
              <a:prstGeom prst="rect">
                <a:avLst/>
              </a:prstGeom>
              <a:blipFill>
                <a:blip r:embed="rId7"/>
                <a:stretch>
                  <a:fillRect l="-300" b="-30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179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7" grpId="0"/>
      <p:bldP spid="28" grpId="0"/>
      <p:bldP spid="6" grpId="0"/>
      <p:bldP spid="7" grpId="0" animBg="1"/>
      <p:bldP spid="46" grpId="0"/>
      <p:bldP spid="47" grpId="0"/>
      <p:bldP spid="48" grpId="0"/>
      <p:bldP spid="50" grpId="0"/>
      <p:bldP spid="51" grpId="0" animBg="1"/>
      <p:bldP spid="53" grpId="0"/>
      <p:bldP spid="5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77;p32"/>
          <p:cNvSpPr txBox="1"/>
          <p:nvPr/>
        </p:nvSpPr>
        <p:spPr>
          <a:xfrm>
            <a:off x="304800" y="381000"/>
            <a:ext cx="7615546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Correlation - Spearman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04800" y="5378429"/>
                <a:ext cx="1541755" cy="7562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IN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=258</m:t>
                      </m:r>
                    </m:oMath>
                  </m:oMathPara>
                </a14:m>
                <a:endParaRPr lang="en-IN" sz="1800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5378429"/>
                <a:ext cx="1541755" cy="7562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972395" y="5378429"/>
                <a:ext cx="4694747" cy="6713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1 −6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 −1</m:t>
                              </m:r>
                            </m:e>
                          </m:d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1 −6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(258)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 −1</m:t>
                              </m:r>
                            </m:e>
                          </m:d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=−0.564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2395" y="5378429"/>
                <a:ext cx="4694747" cy="6713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2873404" y="5329630"/>
            <a:ext cx="4859045" cy="8050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3103310" y="6334780"/>
            <a:ext cx="44329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Moderate </a:t>
            </a:r>
            <a:r>
              <a:rPr lang="en-US" dirty="0"/>
              <a:t>to strong negative correlation between the test scores and the hours spent playing video games.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" name="Table 1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1366340"/>
                  </p:ext>
                </p:extLst>
              </p:nvPr>
            </p:nvGraphicFramePr>
            <p:xfrm>
              <a:off x="3621618" y="1410969"/>
              <a:ext cx="4154751" cy="3355821"/>
            </p:xfrm>
            <a:graphic>
              <a:graphicData uri="http://schemas.openxmlformats.org/drawingml/2006/table">
                <a:tbl>
                  <a:tblPr/>
                  <a:tblGrid>
                    <a:gridCol w="1038688">
                      <a:extLst>
                        <a:ext uri="{9D8B030D-6E8A-4147-A177-3AD203B41FA5}">
                          <a16:colId xmlns:a16="http://schemas.microsoft.com/office/drawing/2014/main" val="2306228745"/>
                        </a:ext>
                      </a:extLst>
                    </a:gridCol>
                    <a:gridCol w="1824477">
                      <a:extLst>
                        <a:ext uri="{9D8B030D-6E8A-4147-A177-3AD203B41FA5}">
                          <a16:colId xmlns:a16="http://schemas.microsoft.com/office/drawing/2014/main" val="1037511912"/>
                        </a:ext>
                      </a:extLst>
                    </a:gridCol>
                    <a:gridCol w="605148">
                      <a:extLst>
                        <a:ext uri="{9D8B030D-6E8A-4147-A177-3AD203B41FA5}">
                          <a16:colId xmlns:a16="http://schemas.microsoft.com/office/drawing/2014/main" val="1883920545"/>
                        </a:ext>
                      </a:extLst>
                    </a:gridCol>
                    <a:gridCol w="686438">
                      <a:extLst>
                        <a:ext uri="{9D8B030D-6E8A-4147-A177-3AD203B41FA5}">
                          <a16:colId xmlns:a16="http://schemas.microsoft.com/office/drawing/2014/main" val="976965788"/>
                        </a:ext>
                      </a:extLst>
                    </a:gridCol>
                  </a:tblGrid>
                  <a:tr h="51737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500" b="1" i="0" u="none" strike="noStrike" dirty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Test score (out of 10)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500" b="1" i="0" u="none" strike="noStrike" dirty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Hours playing video games per week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4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Rank</a:t>
                          </a:r>
                        </a:p>
                        <a:p>
                          <a:pPr algn="ctr" fontAlgn="ctr"/>
                          <a:r>
                            <a:rPr lang="en-US" sz="14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)</a:t>
                          </a:r>
                          <a:endParaRPr lang="en-IN" sz="1400" b="1" i="0" u="none" strike="noStrike" dirty="0">
                            <a:solidFill>
                              <a:srgbClr val="4C4C4C"/>
                            </a:solidFill>
                            <a:effectLst/>
                            <a:latin typeface="Cambria" panose="02040503050406030204" pitchFamily="18" charset="0"/>
                          </a:endParaRPr>
                        </a:p>
                      </a:txBody>
                      <a:tcPr marL="8076" marR="8076" marT="8076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4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Rank</a:t>
                          </a:r>
                        </a:p>
                        <a:p>
                          <a:pPr algn="ctr" fontAlgn="ctr"/>
                          <a:r>
                            <a:rPr lang="en-US" sz="14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)</a:t>
                          </a:r>
                          <a:r>
                            <a:rPr lang="en-IN" sz="14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​</a:t>
                          </a:r>
                          <a:endParaRPr lang="en-IN" sz="1400" b="1" i="0" u="none" strike="noStrike" dirty="0">
                            <a:solidFill>
                              <a:srgbClr val="4C4C4C"/>
                            </a:solidFill>
                            <a:effectLst/>
                            <a:latin typeface="Cambria" panose="02040503050406030204" pitchFamily="18" charset="0"/>
                          </a:endParaRPr>
                        </a:p>
                      </a:txBody>
                      <a:tcPr marL="8076" marR="8076" marT="8076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39562815"/>
                      </a:ext>
                    </a:extLst>
                  </a:tr>
                  <a:tr h="24128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8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9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759276"/>
                      </a:ext>
                    </a:extLst>
                  </a:tr>
                  <a:tr h="24128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1315183"/>
                      </a:ext>
                    </a:extLst>
                  </a:tr>
                  <a:tr h="24128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646715"/>
                      </a:ext>
                    </a:extLst>
                  </a:tr>
                  <a:tr h="24128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7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7.5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066565"/>
                      </a:ext>
                    </a:extLst>
                  </a:tr>
                  <a:tr h="24128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9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5285019"/>
                      </a:ext>
                    </a:extLst>
                  </a:tr>
                  <a:tr h="24128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10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6835364"/>
                      </a:ext>
                    </a:extLst>
                  </a:tr>
                  <a:tr h="24128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588926"/>
                      </a:ext>
                    </a:extLst>
                  </a:tr>
                  <a:tr h="24128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7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7.5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8390392"/>
                      </a:ext>
                    </a:extLst>
                  </a:tr>
                  <a:tr h="24128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4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4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4441528"/>
                      </a:ext>
                    </a:extLst>
                  </a:tr>
                  <a:tr h="24128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9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10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896049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" name="Table 1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1366340"/>
                  </p:ext>
                </p:extLst>
              </p:nvPr>
            </p:nvGraphicFramePr>
            <p:xfrm>
              <a:off x="3621618" y="1410969"/>
              <a:ext cx="4154751" cy="3355821"/>
            </p:xfrm>
            <a:graphic>
              <a:graphicData uri="http://schemas.openxmlformats.org/drawingml/2006/table">
                <a:tbl>
                  <a:tblPr/>
                  <a:tblGrid>
                    <a:gridCol w="1038688">
                      <a:extLst>
                        <a:ext uri="{9D8B030D-6E8A-4147-A177-3AD203B41FA5}">
                          <a16:colId xmlns:a16="http://schemas.microsoft.com/office/drawing/2014/main" val="2306228745"/>
                        </a:ext>
                      </a:extLst>
                    </a:gridCol>
                    <a:gridCol w="1824477">
                      <a:extLst>
                        <a:ext uri="{9D8B030D-6E8A-4147-A177-3AD203B41FA5}">
                          <a16:colId xmlns:a16="http://schemas.microsoft.com/office/drawing/2014/main" val="1037511912"/>
                        </a:ext>
                      </a:extLst>
                    </a:gridCol>
                    <a:gridCol w="605148">
                      <a:extLst>
                        <a:ext uri="{9D8B030D-6E8A-4147-A177-3AD203B41FA5}">
                          <a16:colId xmlns:a16="http://schemas.microsoft.com/office/drawing/2014/main" val="1883920545"/>
                        </a:ext>
                      </a:extLst>
                    </a:gridCol>
                    <a:gridCol w="686438">
                      <a:extLst>
                        <a:ext uri="{9D8B030D-6E8A-4147-A177-3AD203B41FA5}">
                          <a16:colId xmlns:a16="http://schemas.microsoft.com/office/drawing/2014/main" val="976965788"/>
                        </a:ext>
                      </a:extLst>
                    </a:gridCol>
                  </a:tblGrid>
                  <a:tr h="51737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500" b="1" i="0" u="none" strike="noStrike" dirty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Test score (out of 10)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500" b="1" i="0" u="none" strike="noStrike" dirty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Hours playing video games per week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076" marR="8076" marT="8076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75758" t="-4706" r="-115152" b="-56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076" marR="8076" marT="8076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04425" t="-4706" r="-885" b="-56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9562815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8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9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759276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1315183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646715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7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7.5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066565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9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5285019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10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6835364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588926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7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7.5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8390392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4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4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4441528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9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10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896049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 7"/>
          <p:cNvSpPr/>
          <p:nvPr/>
        </p:nvSpPr>
        <p:spPr>
          <a:xfrm>
            <a:off x="3508055" y="1314400"/>
            <a:ext cx="4381877" cy="35489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8851116"/>
                  </p:ext>
                </p:extLst>
              </p:nvPr>
            </p:nvGraphicFramePr>
            <p:xfrm>
              <a:off x="2582930" y="1410969"/>
              <a:ext cx="6232127" cy="3355821"/>
            </p:xfrm>
            <a:graphic>
              <a:graphicData uri="http://schemas.openxmlformats.org/drawingml/2006/table">
                <a:tbl>
                  <a:tblPr/>
                  <a:tblGrid>
                    <a:gridCol w="1038688">
                      <a:extLst>
                        <a:ext uri="{9D8B030D-6E8A-4147-A177-3AD203B41FA5}">
                          <a16:colId xmlns:a16="http://schemas.microsoft.com/office/drawing/2014/main" val="2306228745"/>
                        </a:ext>
                      </a:extLst>
                    </a:gridCol>
                    <a:gridCol w="1824477">
                      <a:extLst>
                        <a:ext uri="{9D8B030D-6E8A-4147-A177-3AD203B41FA5}">
                          <a16:colId xmlns:a16="http://schemas.microsoft.com/office/drawing/2014/main" val="1037511912"/>
                        </a:ext>
                      </a:extLst>
                    </a:gridCol>
                    <a:gridCol w="605148">
                      <a:extLst>
                        <a:ext uri="{9D8B030D-6E8A-4147-A177-3AD203B41FA5}">
                          <a16:colId xmlns:a16="http://schemas.microsoft.com/office/drawing/2014/main" val="1883920545"/>
                        </a:ext>
                      </a:extLst>
                    </a:gridCol>
                    <a:gridCol w="686438">
                      <a:extLst>
                        <a:ext uri="{9D8B030D-6E8A-4147-A177-3AD203B41FA5}">
                          <a16:colId xmlns:a16="http://schemas.microsoft.com/office/drawing/2014/main" val="976965788"/>
                        </a:ext>
                      </a:extLst>
                    </a:gridCol>
                    <a:gridCol w="1038688">
                      <a:extLst>
                        <a:ext uri="{9D8B030D-6E8A-4147-A177-3AD203B41FA5}">
                          <a16:colId xmlns:a16="http://schemas.microsoft.com/office/drawing/2014/main" val="1404912006"/>
                        </a:ext>
                      </a:extLst>
                    </a:gridCol>
                    <a:gridCol w="1038688">
                      <a:extLst>
                        <a:ext uri="{9D8B030D-6E8A-4147-A177-3AD203B41FA5}">
                          <a16:colId xmlns:a16="http://schemas.microsoft.com/office/drawing/2014/main" val="3929623467"/>
                        </a:ext>
                      </a:extLst>
                    </a:gridCol>
                  </a:tblGrid>
                  <a:tr h="51737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500" b="1" i="0" u="none" strike="noStrike" dirty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Test score (out of 10)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500" b="1" i="0" u="none" strike="noStrike" dirty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Hours playing video games per week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4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Rank</a:t>
                          </a:r>
                        </a:p>
                        <a:p>
                          <a:pPr algn="ctr" fontAlgn="ctr"/>
                          <a:r>
                            <a:rPr lang="en-US" sz="14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)</a:t>
                          </a:r>
                          <a:endParaRPr lang="en-IN" sz="1400" b="1" i="0" u="none" strike="noStrike" dirty="0">
                            <a:solidFill>
                              <a:srgbClr val="4C4C4C"/>
                            </a:solidFill>
                            <a:effectLst/>
                            <a:latin typeface="Cambria" panose="02040503050406030204" pitchFamily="18" charset="0"/>
                          </a:endParaRPr>
                        </a:p>
                      </a:txBody>
                      <a:tcPr marL="8076" marR="8076" marT="8076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4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Rank</a:t>
                          </a:r>
                        </a:p>
                        <a:p>
                          <a:pPr algn="ctr" fontAlgn="ctr"/>
                          <a:r>
                            <a:rPr lang="en-US" sz="14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)</a:t>
                          </a:r>
                          <a:r>
                            <a:rPr lang="en-IN" sz="1400" b="1" i="0" u="none" strike="noStrike" dirty="0" smtClean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​</a:t>
                          </a:r>
                          <a:endParaRPr lang="en-IN" sz="1400" b="1" i="0" u="none" strike="noStrike" dirty="0">
                            <a:solidFill>
                              <a:srgbClr val="4C4C4C"/>
                            </a:solidFill>
                            <a:effectLst/>
                            <a:latin typeface="Cambria" panose="02040503050406030204" pitchFamily="18" charset="0"/>
                          </a:endParaRPr>
                        </a:p>
                      </a:txBody>
                      <a:tcPr marL="8076" marR="8076" marT="8076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400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IN" sz="14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400" b="1" i="0" u="none" strike="noStrike" dirty="0">
                            <a:solidFill>
                              <a:srgbClr val="4C4C4C"/>
                            </a:solidFill>
                            <a:effectLst/>
                            <a:latin typeface="Cambria" panose="02040503050406030204" pitchFamily="18" charset="0"/>
                          </a:endParaRPr>
                        </a:p>
                      </a:txBody>
                      <a:tcPr marL="8076" marR="8076" marT="8076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IN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400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IN" sz="1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en-IN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IN" sz="1400" b="1" i="0" u="none" strike="noStrike" dirty="0">
                            <a:solidFill>
                              <a:srgbClr val="4C4C4C"/>
                            </a:solidFill>
                            <a:effectLst/>
                            <a:latin typeface="Cambria" panose="02040503050406030204" pitchFamily="18" charset="0"/>
                          </a:endParaRPr>
                        </a:p>
                      </a:txBody>
                      <a:tcPr marL="8076" marR="8076" marT="8076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39562815"/>
                      </a:ext>
                    </a:extLst>
                  </a:tr>
                  <a:tr h="24128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8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9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6.25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759276"/>
                      </a:ext>
                    </a:extLst>
                  </a:tr>
                  <a:tr h="24128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-3.5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12.25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1315183"/>
                      </a:ext>
                    </a:extLst>
                  </a:tr>
                  <a:tr h="24128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4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646715"/>
                      </a:ext>
                    </a:extLst>
                  </a:tr>
                  <a:tr h="24128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7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7.5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42.25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066565"/>
                      </a:ext>
                    </a:extLst>
                  </a:tr>
                  <a:tr h="24128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9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-8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64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5285019"/>
                      </a:ext>
                    </a:extLst>
                  </a:tr>
                  <a:tr h="24128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10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-8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64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6835364"/>
                      </a:ext>
                    </a:extLst>
                  </a:tr>
                  <a:tr h="24128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9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588926"/>
                      </a:ext>
                    </a:extLst>
                  </a:tr>
                  <a:tr h="24128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7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7.5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8390392"/>
                      </a:ext>
                    </a:extLst>
                  </a:tr>
                  <a:tr h="24128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4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4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-2.5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6.25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4441528"/>
                      </a:ext>
                    </a:extLst>
                  </a:tr>
                  <a:tr h="24128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9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10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7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49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896049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8851116"/>
                  </p:ext>
                </p:extLst>
              </p:nvPr>
            </p:nvGraphicFramePr>
            <p:xfrm>
              <a:off x="2582930" y="1410969"/>
              <a:ext cx="6232127" cy="3355821"/>
            </p:xfrm>
            <a:graphic>
              <a:graphicData uri="http://schemas.openxmlformats.org/drawingml/2006/table">
                <a:tbl>
                  <a:tblPr/>
                  <a:tblGrid>
                    <a:gridCol w="1038688">
                      <a:extLst>
                        <a:ext uri="{9D8B030D-6E8A-4147-A177-3AD203B41FA5}">
                          <a16:colId xmlns:a16="http://schemas.microsoft.com/office/drawing/2014/main" val="2306228745"/>
                        </a:ext>
                      </a:extLst>
                    </a:gridCol>
                    <a:gridCol w="1824477">
                      <a:extLst>
                        <a:ext uri="{9D8B030D-6E8A-4147-A177-3AD203B41FA5}">
                          <a16:colId xmlns:a16="http://schemas.microsoft.com/office/drawing/2014/main" val="1037511912"/>
                        </a:ext>
                      </a:extLst>
                    </a:gridCol>
                    <a:gridCol w="605148">
                      <a:extLst>
                        <a:ext uri="{9D8B030D-6E8A-4147-A177-3AD203B41FA5}">
                          <a16:colId xmlns:a16="http://schemas.microsoft.com/office/drawing/2014/main" val="1883920545"/>
                        </a:ext>
                      </a:extLst>
                    </a:gridCol>
                    <a:gridCol w="686438">
                      <a:extLst>
                        <a:ext uri="{9D8B030D-6E8A-4147-A177-3AD203B41FA5}">
                          <a16:colId xmlns:a16="http://schemas.microsoft.com/office/drawing/2014/main" val="976965788"/>
                        </a:ext>
                      </a:extLst>
                    </a:gridCol>
                    <a:gridCol w="1038688">
                      <a:extLst>
                        <a:ext uri="{9D8B030D-6E8A-4147-A177-3AD203B41FA5}">
                          <a16:colId xmlns:a16="http://schemas.microsoft.com/office/drawing/2014/main" val="1404912006"/>
                        </a:ext>
                      </a:extLst>
                    </a:gridCol>
                    <a:gridCol w="1038688">
                      <a:extLst>
                        <a:ext uri="{9D8B030D-6E8A-4147-A177-3AD203B41FA5}">
                          <a16:colId xmlns:a16="http://schemas.microsoft.com/office/drawing/2014/main" val="3929623467"/>
                        </a:ext>
                      </a:extLst>
                    </a:gridCol>
                  </a:tblGrid>
                  <a:tr h="51737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500" b="1" i="0" u="none" strike="noStrike" dirty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Test score (out of 10)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500" b="1" i="0" u="none" strike="noStrike" dirty="0">
                              <a:solidFill>
                                <a:srgbClr val="4C4C4C"/>
                              </a:solidFill>
                              <a:effectLst/>
                              <a:latin typeface="Cambria" panose="02040503050406030204" pitchFamily="18" charset="0"/>
                            </a:rPr>
                            <a:t>Hours playing video games per week</a:t>
                          </a:r>
                        </a:p>
                      </a:txBody>
                      <a:tcPr marL="9167" marR="9167" marT="9167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076" marR="8076" marT="8076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70000" t="-4706" r="-455000" b="-56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076" marR="8076" marT="8076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4425" t="-4706" r="-302655" b="-56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076" marR="8076" marT="8076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1765" t="-4706" r="-101176" b="-56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076" marR="8076" marT="8076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98830" t="-4706" r="-585" b="-56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9562815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8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9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6.25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759276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-3.5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12.25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1315183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4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646715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7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7.5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42.25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066565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9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-8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64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5285019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10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-8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64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6835364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9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588926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7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7.5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8390392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4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4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-2.5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6.25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4441528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9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1.5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10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7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5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Cambria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a:t>49</a:t>
                          </a:r>
                        </a:p>
                      </a:txBody>
                      <a:tcPr marL="9525" marR="9525" marT="9525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896049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9690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77;p32"/>
          <p:cNvSpPr txBox="1"/>
          <p:nvPr/>
        </p:nvSpPr>
        <p:spPr>
          <a:xfrm>
            <a:off x="304800" y="381000"/>
            <a:ext cx="7615546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Forward Selection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83407"/>
              </p:ext>
            </p:extLst>
          </p:nvPr>
        </p:nvGraphicFramePr>
        <p:xfrm>
          <a:off x="8717872" y="83498"/>
          <a:ext cx="3394230" cy="1800225"/>
        </p:xfrm>
        <a:graphic>
          <a:graphicData uri="http://schemas.openxmlformats.org/drawingml/2006/table">
            <a:tbl>
              <a:tblPr/>
              <a:tblGrid>
                <a:gridCol w="1455938">
                  <a:extLst>
                    <a:ext uri="{9D8B030D-6E8A-4147-A177-3AD203B41FA5}">
                      <a16:colId xmlns:a16="http://schemas.microsoft.com/office/drawing/2014/main" val="1152567120"/>
                    </a:ext>
                  </a:extLst>
                </a:gridCol>
                <a:gridCol w="435006">
                  <a:extLst>
                    <a:ext uri="{9D8B030D-6E8A-4147-A177-3AD203B41FA5}">
                      <a16:colId xmlns:a16="http://schemas.microsoft.com/office/drawing/2014/main" val="1071137264"/>
                    </a:ext>
                  </a:extLst>
                </a:gridCol>
                <a:gridCol w="568171">
                  <a:extLst>
                    <a:ext uri="{9D8B030D-6E8A-4147-A177-3AD203B41FA5}">
                      <a16:colId xmlns:a16="http://schemas.microsoft.com/office/drawing/2014/main" val="1187859777"/>
                    </a:ext>
                  </a:extLst>
                </a:gridCol>
                <a:gridCol w="514905">
                  <a:extLst>
                    <a:ext uri="{9D8B030D-6E8A-4147-A177-3AD203B41FA5}">
                      <a16:colId xmlns:a16="http://schemas.microsoft.com/office/drawing/2014/main" val="1185405224"/>
                    </a:ext>
                  </a:extLst>
                </a:gridCol>
                <a:gridCol w="420210">
                  <a:extLst>
                    <a:ext uri="{9D8B030D-6E8A-4147-A177-3AD203B41FA5}">
                      <a16:colId xmlns:a16="http://schemas.microsoft.com/office/drawing/2014/main" val="277452458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Observation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6415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688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1794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0845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3035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574937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304800" y="1162227"/>
            <a:ext cx="25827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Step 1: Start with No Features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304800" y="1655369"/>
                <a:ext cx="14074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𝑀𝑒𝑎𝑛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)=9</m:t>
                      </m:r>
                    </m:oMath>
                  </m:oMathPara>
                </a14:m>
                <a:endParaRPr lang="en-IN" sz="18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655369"/>
                <a:ext cx="1407437" cy="276999"/>
              </a:xfrm>
              <a:prstGeom prst="rect">
                <a:avLst/>
              </a:prstGeom>
              <a:blipFill>
                <a:blip r:embed="rId2"/>
                <a:stretch>
                  <a:fillRect l="-3030" t="-2222" r="-3030" b="-3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304800" y="2580097"/>
            <a:ext cx="35589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Step </a:t>
            </a:r>
            <a:r>
              <a:rPr lang="en-US" dirty="0" smtClean="0"/>
              <a:t>2: </a:t>
            </a:r>
            <a:r>
              <a:rPr lang="en-IN" dirty="0"/>
              <a:t>Evaluate Each Feature Individually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304800" y="3073239"/>
                <a:ext cx="13362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180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1800" dirty="0" smtClean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IN" sz="1800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073239"/>
                <a:ext cx="1336263" cy="276999"/>
              </a:xfrm>
              <a:prstGeom prst="rect">
                <a:avLst/>
              </a:prstGeom>
              <a:blipFill>
                <a:blip r:embed="rId3"/>
                <a:stretch>
                  <a:fillRect l="-5936" t="-28261" r="-3196" b="-5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304800" y="2117733"/>
                <a:ext cx="10697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180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1800" dirty="0" smtClean="0"/>
                  <a:t> = 9</a:t>
                </a:r>
                <a:endParaRPr lang="en-IN" sz="1800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117733"/>
                <a:ext cx="1069716" cy="276999"/>
              </a:xfrm>
              <a:prstGeom prst="rect">
                <a:avLst/>
              </a:prstGeom>
              <a:blipFill>
                <a:blip r:embed="rId4"/>
                <a:stretch>
                  <a:fillRect l="-7429" t="-28261" r="-12571" b="-5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304800" y="3535603"/>
                <a:ext cx="13504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180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1800" dirty="0" smtClean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IN" sz="1800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535603"/>
                <a:ext cx="1350434" cy="276999"/>
              </a:xfrm>
              <a:prstGeom prst="rect">
                <a:avLst/>
              </a:prstGeom>
              <a:blipFill>
                <a:blip r:embed="rId5"/>
                <a:stretch>
                  <a:fillRect l="-5856" t="-28889" r="-2252" b="-5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04800" y="3997967"/>
                <a:ext cx="13504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180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1800" dirty="0" smtClean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IN" sz="1800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997967"/>
                <a:ext cx="1350434" cy="276999"/>
              </a:xfrm>
              <a:prstGeom prst="rect">
                <a:avLst/>
              </a:prstGeom>
              <a:blipFill>
                <a:blip r:embed="rId6"/>
                <a:stretch>
                  <a:fillRect l="-5856" t="-28889" r="-2252" b="-5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 23"/>
              <p:cNvSpPr/>
              <p:nvPr/>
            </p:nvSpPr>
            <p:spPr>
              <a:xfrm>
                <a:off x="304800" y="4460331"/>
                <a:ext cx="421576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Step </a:t>
                </a:r>
                <a:r>
                  <a:rPr lang="en-US" dirty="0" smtClean="0"/>
                  <a:t>3: </a:t>
                </a:r>
                <a:r>
                  <a:rPr lang="en-IN" dirty="0" smtClean="0"/>
                  <a:t>Select the best single feature (Assume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 smtClean="0"/>
                  <a:t> )</a:t>
                </a:r>
                <a:endParaRPr lang="en-IN" dirty="0"/>
              </a:p>
            </p:txBody>
          </p:sp>
        </mc:Choice>
        <mc:Fallback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4460331"/>
                <a:ext cx="4215769" cy="307777"/>
              </a:xfrm>
              <a:prstGeom prst="rect">
                <a:avLst/>
              </a:prstGeom>
              <a:blipFill>
                <a:blip r:embed="rId7"/>
                <a:stretch>
                  <a:fillRect l="-434" t="-4000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304800" y="4953473"/>
                <a:ext cx="20970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180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1800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IN" sz="1800" dirty="0"/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4953473"/>
                <a:ext cx="2097049" cy="276999"/>
              </a:xfrm>
              <a:prstGeom prst="rect">
                <a:avLst/>
              </a:prstGeom>
              <a:blipFill>
                <a:blip r:embed="rId8"/>
                <a:stretch>
                  <a:fillRect l="-3779" t="-28889" b="-5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304800" y="5415837"/>
                <a:ext cx="21098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180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1800" dirty="0" smtClean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IN" sz="1800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5415837"/>
                <a:ext cx="2109873" cy="276999"/>
              </a:xfrm>
              <a:prstGeom prst="rect">
                <a:avLst/>
              </a:prstGeom>
              <a:blipFill>
                <a:blip r:embed="rId9"/>
                <a:stretch>
                  <a:fillRect l="-3757" t="-28261" r="-1156" b="-5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 26"/>
              <p:cNvSpPr/>
              <p:nvPr/>
            </p:nvSpPr>
            <p:spPr>
              <a:xfrm>
                <a:off x="304800" y="5878201"/>
                <a:ext cx="425699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Step 4: </a:t>
                </a:r>
                <a:r>
                  <a:rPr lang="en-IN" dirty="0" smtClean="0"/>
                  <a:t>Select the 2 best feature (Assume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 smtClean="0"/>
                  <a:t>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dirty="0" smtClean="0"/>
                  <a:t> )</a:t>
                </a:r>
                <a:endParaRPr lang="en-IN" dirty="0"/>
              </a:p>
            </p:txBody>
          </p:sp>
        </mc:Choice>
        <mc:Fallback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5878201"/>
                <a:ext cx="4256999" cy="307777"/>
              </a:xfrm>
              <a:prstGeom prst="rect">
                <a:avLst/>
              </a:prstGeom>
              <a:blipFill>
                <a:blip r:embed="rId10"/>
                <a:stretch>
                  <a:fillRect l="-430" t="-1961" b="-196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304800" y="6371344"/>
                <a:ext cx="28405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180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1800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IN" sz="1800" dirty="0"/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6371344"/>
                <a:ext cx="2840521" cy="276999"/>
              </a:xfrm>
              <a:prstGeom prst="rect">
                <a:avLst/>
              </a:prstGeom>
              <a:blipFill>
                <a:blip r:embed="rId11"/>
                <a:stretch>
                  <a:fillRect l="-2790" t="-28261" r="-858" b="-5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/>
              <p:cNvSpPr/>
              <p:nvPr/>
            </p:nvSpPr>
            <p:spPr>
              <a:xfrm>
                <a:off x="5468805" y="2130312"/>
                <a:ext cx="649813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b="1" dirty="0" smtClean="0"/>
                  <a:t>Stopping Criteria: </a:t>
                </a:r>
                <a:r>
                  <a:rPr lang="en-IN" dirty="0" smtClean="0"/>
                  <a:t>Suppose in step 4,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b="1" dirty="0" smtClean="0"/>
                  <a:t> </a:t>
                </a:r>
                <a:r>
                  <a:rPr lang="en-IN" dirty="0" smtClean="0"/>
                  <a:t>does not improve the performance of the model significantly then we should stop. </a:t>
                </a:r>
                <a:endParaRPr lang="en-IN" b="1" dirty="0" smtClean="0"/>
              </a:p>
            </p:txBody>
          </p:sp>
        </mc:Choice>
        <mc:Fallback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805" y="2130312"/>
                <a:ext cx="6498134" cy="523220"/>
              </a:xfrm>
              <a:prstGeom prst="rect">
                <a:avLst/>
              </a:prstGeom>
              <a:blipFill>
                <a:blip r:embed="rId12"/>
                <a:stretch>
                  <a:fillRect l="-281" t="-1163" b="-116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5468805" y="2838224"/>
                <a:ext cx="21098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180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1800" dirty="0" smtClean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IN" sz="1800" dirty="0"/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805" y="2838224"/>
                <a:ext cx="2109873" cy="276999"/>
              </a:xfrm>
              <a:prstGeom prst="rect">
                <a:avLst/>
              </a:prstGeom>
              <a:blipFill>
                <a:blip r:embed="rId13"/>
                <a:stretch>
                  <a:fillRect l="-3757" t="-28889" r="-1445" b="-5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31"/>
              <p:cNvSpPr/>
              <p:nvPr/>
            </p:nvSpPr>
            <p:spPr>
              <a:xfrm>
                <a:off x="5468805" y="3299916"/>
                <a:ext cx="6498134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b="1" dirty="0" smtClean="0"/>
                  <a:t> </a:t>
                </a:r>
                <a:r>
                  <a:rPr lang="en-IN" dirty="0" smtClean="0"/>
                  <a:t>shall be used to train the model. These are the selected features</a:t>
                </a:r>
              </a:p>
            </p:txBody>
          </p:sp>
        </mc:Choice>
        <mc:Fallback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805" y="3299916"/>
                <a:ext cx="6498134" cy="307777"/>
              </a:xfrm>
              <a:prstGeom prst="rect">
                <a:avLst/>
              </a:prstGeom>
              <a:blipFill>
                <a:blip r:embed="rId14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/>
          <p:cNvCxnSpPr/>
          <p:nvPr/>
        </p:nvCxnSpPr>
        <p:spPr>
          <a:xfrm>
            <a:off x="4776186" y="2210540"/>
            <a:ext cx="0" cy="464746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586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1" grpId="0"/>
      <p:bldP spid="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77;p32"/>
          <p:cNvSpPr txBox="1"/>
          <p:nvPr/>
        </p:nvSpPr>
        <p:spPr>
          <a:xfrm>
            <a:off x="304800" y="381000"/>
            <a:ext cx="7615546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Backward Selection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717872" y="83498"/>
          <a:ext cx="3394230" cy="1800225"/>
        </p:xfrm>
        <a:graphic>
          <a:graphicData uri="http://schemas.openxmlformats.org/drawingml/2006/table">
            <a:tbl>
              <a:tblPr/>
              <a:tblGrid>
                <a:gridCol w="1455938">
                  <a:extLst>
                    <a:ext uri="{9D8B030D-6E8A-4147-A177-3AD203B41FA5}">
                      <a16:colId xmlns:a16="http://schemas.microsoft.com/office/drawing/2014/main" val="1152567120"/>
                    </a:ext>
                  </a:extLst>
                </a:gridCol>
                <a:gridCol w="435006">
                  <a:extLst>
                    <a:ext uri="{9D8B030D-6E8A-4147-A177-3AD203B41FA5}">
                      <a16:colId xmlns:a16="http://schemas.microsoft.com/office/drawing/2014/main" val="1071137264"/>
                    </a:ext>
                  </a:extLst>
                </a:gridCol>
                <a:gridCol w="568171">
                  <a:extLst>
                    <a:ext uri="{9D8B030D-6E8A-4147-A177-3AD203B41FA5}">
                      <a16:colId xmlns:a16="http://schemas.microsoft.com/office/drawing/2014/main" val="1187859777"/>
                    </a:ext>
                  </a:extLst>
                </a:gridCol>
                <a:gridCol w="514905">
                  <a:extLst>
                    <a:ext uri="{9D8B030D-6E8A-4147-A177-3AD203B41FA5}">
                      <a16:colId xmlns:a16="http://schemas.microsoft.com/office/drawing/2014/main" val="1185405224"/>
                    </a:ext>
                  </a:extLst>
                </a:gridCol>
                <a:gridCol w="420210">
                  <a:extLst>
                    <a:ext uri="{9D8B030D-6E8A-4147-A177-3AD203B41FA5}">
                      <a16:colId xmlns:a16="http://schemas.microsoft.com/office/drawing/2014/main" val="277452458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Observation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6415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688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1794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0845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3035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574937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153880" y="1162227"/>
            <a:ext cx="277191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Step 1: Start with the Full </a:t>
            </a:r>
            <a:r>
              <a:rPr lang="en-US" dirty="0" smtClean="0"/>
              <a:t>Model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153880" y="2744297"/>
                <a:ext cx="5625483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 smtClean="0"/>
                  <a:t>Step 2</a:t>
                </a:r>
                <a:r>
                  <a:rPr lang="en-US" dirty="0"/>
                  <a:t>: Identify and Remove the Least Significant </a:t>
                </a:r>
                <a:r>
                  <a:rPr lang="en-US" dirty="0" smtClean="0"/>
                  <a:t>Predictor 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dirty="0" smtClean="0"/>
                  <a:t> and retrain the model with the remaining features (Lowest value of co-efficient/highest p-value)</a:t>
                </a:r>
                <a:endParaRPr lang="en-IN" dirty="0"/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80" y="2744297"/>
                <a:ext cx="5625483" cy="738664"/>
              </a:xfrm>
              <a:prstGeom prst="rect">
                <a:avLst/>
              </a:prstGeom>
              <a:blipFill>
                <a:blip r:embed="rId2"/>
                <a:stretch>
                  <a:fillRect l="-325" t="-1653" r="-867" b="-82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153880" y="5779122"/>
                <a:ext cx="13504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180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1800" dirty="0" smtClean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IN" sz="1800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80" y="5779122"/>
                <a:ext cx="1350434" cy="276999"/>
              </a:xfrm>
              <a:prstGeom prst="rect">
                <a:avLst/>
              </a:prstGeom>
              <a:blipFill>
                <a:blip r:embed="rId3"/>
                <a:stretch>
                  <a:fillRect l="-5856" t="-28889" r="-2703" b="-5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 23"/>
              <p:cNvSpPr/>
              <p:nvPr/>
            </p:nvSpPr>
            <p:spPr>
              <a:xfrm>
                <a:off x="153880" y="4757254"/>
                <a:ext cx="558943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 smtClean="0"/>
                  <a:t>Step 3: </a:t>
                </a:r>
                <a:r>
                  <a:rPr lang="en-US" dirty="0"/>
                  <a:t>: Identify and Remove the Least Significant Predictor 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 and retrain the model with the remaining features</a:t>
                </a:r>
                <a:endParaRPr lang="en-IN" dirty="0"/>
              </a:p>
            </p:txBody>
          </p:sp>
        </mc:Choice>
        <mc:Fallback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80" y="4757254"/>
                <a:ext cx="5589434" cy="523220"/>
              </a:xfrm>
              <a:prstGeom prst="rect">
                <a:avLst/>
              </a:prstGeom>
              <a:blipFill>
                <a:blip r:embed="rId4"/>
                <a:stretch>
                  <a:fillRect l="-327" t="-1163" b="-116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153880" y="3981608"/>
                <a:ext cx="20970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180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1800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IN" sz="1800" dirty="0"/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80" y="3981608"/>
                <a:ext cx="2097049" cy="276999"/>
              </a:xfrm>
              <a:prstGeom prst="rect">
                <a:avLst/>
              </a:prstGeom>
              <a:blipFill>
                <a:blip r:embed="rId5"/>
                <a:stretch>
                  <a:fillRect l="-3779" t="-28261" b="-5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153880" y="1968651"/>
                <a:ext cx="28405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180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1800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IN" sz="1800" dirty="0"/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80" y="1968651"/>
                <a:ext cx="2840521" cy="276999"/>
              </a:xfrm>
              <a:prstGeom prst="rect">
                <a:avLst/>
              </a:prstGeom>
              <a:blipFill>
                <a:blip r:embed="rId6"/>
                <a:stretch>
                  <a:fillRect l="-2790" t="-28889" r="-1073" b="-5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/>
              <p:cNvSpPr/>
              <p:nvPr/>
            </p:nvSpPr>
            <p:spPr>
              <a:xfrm>
                <a:off x="6566517" y="2697118"/>
                <a:ext cx="5625483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b="1" dirty="0" smtClean="0"/>
                  <a:t>Stopping Criteria: </a:t>
                </a:r>
                <a:r>
                  <a:rPr lang="en-IN" dirty="0" smtClean="0"/>
                  <a:t>Suppose in step 3, after removing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b="1" dirty="0" smtClean="0"/>
                  <a:t> </a:t>
                </a:r>
                <a:r>
                  <a:rPr lang="en-IN" dirty="0" smtClean="0"/>
                  <a:t>the performance of the model is not significantly improved then we should stop. </a:t>
                </a:r>
                <a:endParaRPr lang="en-IN" b="1" dirty="0" smtClean="0"/>
              </a:p>
            </p:txBody>
          </p:sp>
        </mc:Choice>
        <mc:Fallback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517" y="2697118"/>
                <a:ext cx="5625483" cy="738664"/>
              </a:xfrm>
              <a:prstGeom prst="rect">
                <a:avLst/>
              </a:prstGeom>
              <a:blipFill>
                <a:blip r:embed="rId7"/>
                <a:stretch>
                  <a:fillRect l="-325" t="-820" b="-73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6566517" y="3602278"/>
                <a:ext cx="20970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180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1800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IN" sz="1800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517" y="3602278"/>
                <a:ext cx="2097049" cy="276999"/>
              </a:xfrm>
              <a:prstGeom prst="rect">
                <a:avLst/>
              </a:prstGeom>
              <a:blipFill>
                <a:blip r:embed="rId8"/>
                <a:stretch>
                  <a:fillRect l="-3779" t="-28889" b="-5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/>
              <p:cNvSpPr/>
              <p:nvPr/>
            </p:nvSpPr>
            <p:spPr>
              <a:xfrm>
                <a:off x="6566517" y="4101417"/>
                <a:ext cx="562548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b="1" dirty="0" smtClean="0"/>
                  <a:t> </a:t>
                </a:r>
                <a:r>
                  <a:rPr lang="en-IN" dirty="0" smtClean="0"/>
                  <a:t>shall be used to train the model. These are the selected features</a:t>
                </a:r>
              </a:p>
            </p:txBody>
          </p:sp>
        </mc:Choice>
        <mc:Fallback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517" y="4101417"/>
                <a:ext cx="5625483" cy="523220"/>
              </a:xfrm>
              <a:prstGeom prst="rect">
                <a:avLst/>
              </a:prstGeom>
              <a:blipFill>
                <a:blip r:embed="rId9"/>
                <a:stretch>
                  <a:fillRect l="-325" t="-2326" b="-104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/>
          <p:cNvCxnSpPr/>
          <p:nvPr/>
        </p:nvCxnSpPr>
        <p:spPr>
          <a:xfrm>
            <a:off x="5983550" y="2744297"/>
            <a:ext cx="0" cy="411370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767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2" grpId="0"/>
      <p:bldP spid="24" grpId="0"/>
      <p:bldP spid="25" grpId="0"/>
      <p:bldP spid="28" grpId="0"/>
      <p:bldP spid="29" grpId="0"/>
      <p:bldP spid="30" grpId="0"/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77;p32"/>
          <p:cNvSpPr txBox="1"/>
          <p:nvPr/>
        </p:nvSpPr>
        <p:spPr>
          <a:xfrm>
            <a:off x="304800" y="381000"/>
            <a:ext cx="7615546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767479"/>
              </p:ext>
            </p:extLst>
          </p:nvPr>
        </p:nvGraphicFramePr>
        <p:xfrm>
          <a:off x="2285137" y="1166238"/>
          <a:ext cx="8403578" cy="3965055"/>
        </p:xfrm>
        <a:graphic>
          <a:graphicData uri="http://schemas.openxmlformats.org/drawingml/2006/table">
            <a:tbl>
              <a:tblPr/>
              <a:tblGrid>
                <a:gridCol w="2627078">
                  <a:extLst>
                    <a:ext uri="{9D8B030D-6E8A-4147-A177-3AD203B41FA5}">
                      <a16:colId xmlns:a16="http://schemas.microsoft.com/office/drawing/2014/main" val="519674796"/>
                    </a:ext>
                  </a:extLst>
                </a:gridCol>
                <a:gridCol w="2847282">
                  <a:extLst>
                    <a:ext uri="{9D8B030D-6E8A-4147-A177-3AD203B41FA5}">
                      <a16:colId xmlns:a16="http://schemas.microsoft.com/office/drawing/2014/main" val="660078595"/>
                    </a:ext>
                  </a:extLst>
                </a:gridCol>
                <a:gridCol w="2929218">
                  <a:extLst>
                    <a:ext uri="{9D8B030D-6E8A-4147-A177-3AD203B41FA5}">
                      <a16:colId xmlns:a16="http://schemas.microsoft.com/office/drawing/2014/main" val="3628734704"/>
                    </a:ext>
                  </a:extLst>
                </a:gridCol>
              </a:tblGrid>
              <a:tr h="42472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Aspect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Filter Methods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Wrapper Methods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203902"/>
                  </a:ext>
                </a:extLst>
              </a:tr>
              <a:tr h="57010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Dependence on Model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Independent of the model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Dependent on the model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984317"/>
                  </a:ext>
                </a:extLst>
              </a:tr>
              <a:tr h="83519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Computation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Fast and computationally inexpensive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Slower and computationally expensive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3340971"/>
                  </a:ext>
                </a:extLst>
              </a:tr>
              <a:tr h="85515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Accuracy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May not capture feature interactions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Captures feature interactions, usually more accurate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284947"/>
                  </a:ext>
                </a:extLst>
              </a:tr>
              <a:tr h="42472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Overfitting Risk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Lower risk of overfitting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Higher risk of overfitting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284900"/>
                  </a:ext>
                </a:extLst>
              </a:tr>
              <a:tr h="85515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Suitability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Good for high-dimensional datasets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Suitable when computational resources are available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7185959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150921" y="5380672"/>
            <a:ext cx="116563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Filter Methods:</a:t>
            </a:r>
            <a:r>
              <a:rPr lang="en-US" alt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Preferable when you have a very large number of features and need a quick, general assessment of feature relevance</a:t>
            </a:r>
            <a:r>
              <a:rPr lang="en-US" altLang="en-US" sz="18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Wrapper Methods:</a:t>
            </a:r>
            <a:r>
              <a:rPr lang="en-US" alt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Better suited for situations where model accuracy is critical and computational resources allow for the intensive process of training and evaluating multiple models. </a:t>
            </a:r>
          </a:p>
        </p:txBody>
      </p:sp>
    </p:spTree>
    <p:extLst>
      <p:ext uri="{BB962C8B-B14F-4D97-AF65-F5344CB8AC3E}">
        <p14:creationId xmlns:p14="http://schemas.microsoft.com/office/powerpoint/2010/main" val="122845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"/>
          <p:cNvSpPr/>
          <p:nvPr/>
        </p:nvSpPr>
        <p:spPr>
          <a:xfrm>
            <a:off x="0" y="0"/>
            <a:ext cx="12191999" cy="685799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1"/>
          <p:cNvSpPr/>
          <p:nvPr/>
        </p:nvSpPr>
        <p:spPr>
          <a:xfrm>
            <a:off x="5013959" y="1475232"/>
            <a:ext cx="2353056" cy="264109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1"/>
          <p:cNvSpPr txBox="1">
            <a:spLocks noGrp="1"/>
          </p:cNvSpPr>
          <p:nvPr>
            <p:ph type="title"/>
          </p:nvPr>
        </p:nvSpPr>
        <p:spPr>
          <a:xfrm>
            <a:off x="4589171" y="3083718"/>
            <a:ext cx="3013659" cy="69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Thank You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25933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1455</TotalTime>
  <Words>1839</Words>
  <Application>Microsoft Office PowerPoint</Application>
  <PresentationFormat>Widescreen</PresentationFormat>
  <Paragraphs>604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Cambria Math</vt:lpstr>
      <vt:lpstr>Arial</vt:lpstr>
      <vt:lpstr>Calibri</vt:lpstr>
      <vt:lpstr>Cambria</vt:lpstr>
      <vt:lpstr>Office Theme</vt:lpstr>
      <vt:lpstr>Feature Selection</vt:lpstr>
      <vt:lpstr>Characteristics of SVM</vt:lpstr>
      <vt:lpstr>Characteristics of SVM</vt:lpstr>
      <vt:lpstr>Characteristics of SVM</vt:lpstr>
      <vt:lpstr>Characteristics of SVM</vt:lpstr>
      <vt:lpstr>Characteristics of SVM</vt:lpstr>
      <vt:lpstr>Characteristics of SVM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Data</dc:title>
  <dc:creator>rishav.singh@bennett.edu.in</dc:creator>
  <cp:lastModifiedBy>Rishav Singh</cp:lastModifiedBy>
  <cp:revision>139</cp:revision>
  <dcterms:created xsi:type="dcterms:W3CDTF">2021-03-01T04:55:48Z</dcterms:created>
  <dcterms:modified xsi:type="dcterms:W3CDTF">2024-09-02T09:39:20Z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Microsoft® PowerPoint® 2016</vt:lpwstr>
  </property>
  <property fmtid="{D5CDD505-2E9C-101B-9397-08002B2CF9AE}" pid="3" name="KSOProductBuildVer">
    <vt:lpwstr>1033-3.1.1.5096</vt:lpwstr>
  </property>
</Properties>
</file>