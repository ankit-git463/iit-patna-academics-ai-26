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72"/>
  </p:notesMasterIdLst>
  <p:handoutMasterIdLst>
    <p:handoutMasterId r:id="rId73"/>
  </p:handoutMasterIdLst>
  <p:sldIdLst>
    <p:sldId id="778" r:id="rId2"/>
    <p:sldId id="779" r:id="rId3"/>
    <p:sldId id="780" r:id="rId4"/>
    <p:sldId id="781" r:id="rId5"/>
    <p:sldId id="782" r:id="rId6"/>
    <p:sldId id="783" r:id="rId7"/>
    <p:sldId id="784" r:id="rId8"/>
    <p:sldId id="785" r:id="rId9"/>
    <p:sldId id="786" r:id="rId10"/>
    <p:sldId id="787" r:id="rId11"/>
    <p:sldId id="788" r:id="rId12"/>
    <p:sldId id="789" r:id="rId13"/>
    <p:sldId id="790" r:id="rId14"/>
    <p:sldId id="794" r:id="rId15"/>
    <p:sldId id="795" r:id="rId16"/>
    <p:sldId id="796" r:id="rId17"/>
    <p:sldId id="797" r:id="rId18"/>
    <p:sldId id="798" r:id="rId19"/>
    <p:sldId id="799" r:id="rId20"/>
    <p:sldId id="800" r:id="rId21"/>
    <p:sldId id="801" r:id="rId22"/>
    <p:sldId id="802" r:id="rId23"/>
    <p:sldId id="803" r:id="rId24"/>
    <p:sldId id="804" r:id="rId25"/>
    <p:sldId id="805" r:id="rId26"/>
    <p:sldId id="806" r:id="rId27"/>
    <p:sldId id="807" r:id="rId28"/>
    <p:sldId id="808" r:id="rId29"/>
    <p:sldId id="809" r:id="rId30"/>
    <p:sldId id="810" r:id="rId31"/>
    <p:sldId id="811" r:id="rId32"/>
    <p:sldId id="812" r:id="rId33"/>
    <p:sldId id="813" r:id="rId34"/>
    <p:sldId id="814" r:id="rId35"/>
    <p:sldId id="815" r:id="rId36"/>
    <p:sldId id="816" r:id="rId37"/>
    <p:sldId id="817" r:id="rId38"/>
    <p:sldId id="818" r:id="rId39"/>
    <p:sldId id="819" r:id="rId40"/>
    <p:sldId id="820" r:id="rId41"/>
    <p:sldId id="821" r:id="rId42"/>
    <p:sldId id="822" r:id="rId43"/>
    <p:sldId id="823" r:id="rId44"/>
    <p:sldId id="824" r:id="rId45"/>
    <p:sldId id="825" r:id="rId46"/>
    <p:sldId id="826" r:id="rId47"/>
    <p:sldId id="827" r:id="rId48"/>
    <p:sldId id="828" r:id="rId49"/>
    <p:sldId id="829" r:id="rId50"/>
    <p:sldId id="830" r:id="rId51"/>
    <p:sldId id="831" r:id="rId52"/>
    <p:sldId id="894" r:id="rId53"/>
    <p:sldId id="895" r:id="rId54"/>
    <p:sldId id="896" r:id="rId55"/>
    <p:sldId id="897" r:id="rId56"/>
    <p:sldId id="898" r:id="rId57"/>
    <p:sldId id="899" r:id="rId58"/>
    <p:sldId id="900" r:id="rId59"/>
    <p:sldId id="901" r:id="rId60"/>
    <p:sldId id="902" r:id="rId61"/>
    <p:sldId id="904" r:id="rId62"/>
    <p:sldId id="905" r:id="rId63"/>
    <p:sldId id="906" r:id="rId64"/>
    <p:sldId id="909" r:id="rId65"/>
    <p:sldId id="910" r:id="rId66"/>
    <p:sldId id="911" r:id="rId67"/>
    <p:sldId id="912" r:id="rId68"/>
    <p:sldId id="913" r:id="rId69"/>
    <p:sldId id="907" r:id="rId70"/>
    <p:sldId id="908" r:id="rId71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DDDDDD"/>
    <a:srgbClr val="FFCCFF"/>
    <a:srgbClr val="000099"/>
    <a:srgbClr val="FF0000"/>
    <a:srgbClr val="008000"/>
    <a:srgbClr val="66CCFF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191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432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handoutMaster" Target="handoutMasters/handoutMaster1.xml"/><Relationship Id="rId78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yank Agarwal" userId="b8d9c11f-2283-409d-b62d-e548e9e1def5" providerId="ADAL" clId="{4F48000C-3E09-43D4-93AB-C9C11E4C6BBB}"/>
    <pc:docChg chg="delSld modSld">
      <pc:chgData name="Mayank Agarwal" userId="b8d9c11f-2283-409d-b62d-e548e9e1def5" providerId="ADAL" clId="{4F48000C-3E09-43D4-93AB-C9C11E4C6BBB}" dt="2024-11-04T19:13:04.272" v="5" actId="47"/>
      <pc:docMkLst>
        <pc:docMk/>
      </pc:docMkLst>
      <pc:sldChg chg="modSp">
        <pc:chgData name="Mayank Agarwal" userId="b8d9c11f-2283-409d-b62d-e548e9e1def5" providerId="ADAL" clId="{4F48000C-3E09-43D4-93AB-C9C11E4C6BBB}" dt="2024-11-04T19:09:41.986" v="2"/>
        <pc:sldMkLst>
          <pc:docMk/>
          <pc:sldMk cId="1448246127" sldId="782"/>
        </pc:sldMkLst>
        <pc:spChg chg="mod">
          <ac:chgData name="Mayank Agarwal" userId="b8d9c11f-2283-409d-b62d-e548e9e1def5" providerId="ADAL" clId="{4F48000C-3E09-43D4-93AB-C9C11E4C6BBB}" dt="2024-11-04T19:09:40.497" v="1"/>
          <ac:spMkLst>
            <pc:docMk/>
            <pc:sldMk cId="1448246127" sldId="782"/>
            <ac:spMk id="27650" creationId="{00000000-0000-0000-0000-000000000000}"/>
          </ac:spMkLst>
        </pc:spChg>
        <pc:spChg chg="mod">
          <ac:chgData name="Mayank Agarwal" userId="b8d9c11f-2283-409d-b62d-e548e9e1def5" providerId="ADAL" clId="{4F48000C-3E09-43D4-93AB-C9C11E4C6BBB}" dt="2024-11-04T19:09:40.497" v="1"/>
          <ac:spMkLst>
            <pc:docMk/>
            <pc:sldMk cId="1448246127" sldId="782"/>
            <ac:spMk id="27651" creationId="{00000000-0000-0000-0000-000000000000}"/>
          </ac:spMkLst>
        </pc:spChg>
        <pc:spChg chg="mod">
          <ac:chgData name="Mayank Agarwal" userId="b8d9c11f-2283-409d-b62d-e548e9e1def5" providerId="ADAL" clId="{4F48000C-3E09-43D4-93AB-C9C11E4C6BBB}" dt="2024-11-04T19:09:41.986" v="2"/>
          <ac:spMkLst>
            <pc:docMk/>
            <pc:sldMk cId="1448246127" sldId="782"/>
            <ac:spMk id="27671" creationId="{00000000-0000-0000-0000-000000000000}"/>
          </ac:spMkLst>
        </pc:spChg>
      </pc:sldChg>
      <pc:sldChg chg="modSp">
        <pc:chgData name="Mayank Agarwal" userId="b8d9c11f-2283-409d-b62d-e548e9e1def5" providerId="ADAL" clId="{4F48000C-3E09-43D4-93AB-C9C11E4C6BBB}" dt="2024-11-04T19:09:40.497" v="1"/>
        <pc:sldMkLst>
          <pc:docMk/>
          <pc:sldMk cId="3932417668" sldId="783"/>
        </pc:sldMkLst>
        <pc:spChg chg="mod">
          <ac:chgData name="Mayank Agarwal" userId="b8d9c11f-2283-409d-b62d-e548e9e1def5" providerId="ADAL" clId="{4F48000C-3E09-43D4-93AB-C9C11E4C6BBB}" dt="2024-11-04T19:09:40.497" v="1"/>
          <ac:spMkLst>
            <pc:docMk/>
            <pc:sldMk cId="3932417668" sldId="783"/>
            <ac:spMk id="29698" creationId="{00000000-0000-0000-0000-000000000000}"/>
          </ac:spMkLst>
        </pc:spChg>
        <pc:spChg chg="mod">
          <ac:chgData name="Mayank Agarwal" userId="b8d9c11f-2283-409d-b62d-e548e9e1def5" providerId="ADAL" clId="{4F48000C-3E09-43D4-93AB-C9C11E4C6BBB}" dt="2024-11-04T19:09:40.497" v="1"/>
          <ac:spMkLst>
            <pc:docMk/>
            <pc:sldMk cId="3932417668" sldId="783"/>
            <ac:spMk id="29699" creationId="{00000000-0000-0000-0000-000000000000}"/>
          </ac:spMkLst>
        </pc:spChg>
      </pc:sldChg>
      <pc:sldChg chg="modSp">
        <pc:chgData name="Mayank Agarwal" userId="b8d9c11f-2283-409d-b62d-e548e9e1def5" providerId="ADAL" clId="{4F48000C-3E09-43D4-93AB-C9C11E4C6BBB}" dt="2024-11-04T19:09:40.497" v="1"/>
        <pc:sldMkLst>
          <pc:docMk/>
          <pc:sldMk cId="2530909938" sldId="786"/>
        </pc:sldMkLst>
        <pc:spChg chg="mod">
          <ac:chgData name="Mayank Agarwal" userId="b8d9c11f-2283-409d-b62d-e548e9e1def5" providerId="ADAL" clId="{4F48000C-3E09-43D4-93AB-C9C11E4C6BBB}" dt="2024-11-04T19:09:40.497" v="1"/>
          <ac:spMkLst>
            <pc:docMk/>
            <pc:sldMk cId="2530909938" sldId="786"/>
            <ac:spMk id="35861" creationId="{00000000-0000-0000-0000-000000000000}"/>
          </ac:spMkLst>
        </pc:spChg>
      </pc:sldChg>
      <pc:sldChg chg="modSp">
        <pc:chgData name="Mayank Agarwal" userId="b8d9c11f-2283-409d-b62d-e548e9e1def5" providerId="ADAL" clId="{4F48000C-3E09-43D4-93AB-C9C11E4C6BBB}" dt="2024-11-04T19:09:40.497" v="1"/>
        <pc:sldMkLst>
          <pc:docMk/>
          <pc:sldMk cId="4193598374" sldId="788"/>
        </pc:sldMkLst>
        <pc:spChg chg="mod">
          <ac:chgData name="Mayank Agarwal" userId="b8d9c11f-2283-409d-b62d-e548e9e1def5" providerId="ADAL" clId="{4F48000C-3E09-43D4-93AB-C9C11E4C6BBB}" dt="2024-11-04T19:09:40.497" v="1"/>
          <ac:spMkLst>
            <pc:docMk/>
            <pc:sldMk cId="4193598374" sldId="788"/>
            <ac:spMk id="37891" creationId="{00000000-0000-0000-0000-000000000000}"/>
          </ac:spMkLst>
        </pc:spChg>
      </pc:sldChg>
      <pc:sldChg chg="modSp">
        <pc:chgData name="Mayank Agarwal" userId="b8d9c11f-2283-409d-b62d-e548e9e1def5" providerId="ADAL" clId="{4F48000C-3E09-43D4-93AB-C9C11E4C6BBB}" dt="2024-11-04T19:09:41.986" v="2"/>
        <pc:sldMkLst>
          <pc:docMk/>
          <pc:sldMk cId="4008727381" sldId="789"/>
        </pc:sldMkLst>
        <pc:spChg chg="mod">
          <ac:chgData name="Mayank Agarwal" userId="b8d9c11f-2283-409d-b62d-e548e9e1def5" providerId="ADAL" clId="{4F48000C-3E09-43D4-93AB-C9C11E4C6BBB}" dt="2024-11-04T19:09:41.986" v="2"/>
          <ac:spMkLst>
            <pc:docMk/>
            <pc:sldMk cId="4008727381" sldId="789"/>
            <ac:spMk id="38920" creationId="{00000000-0000-0000-0000-000000000000}"/>
          </ac:spMkLst>
        </pc:spChg>
      </pc:sldChg>
      <pc:sldChg chg="del">
        <pc:chgData name="Mayank Agarwal" userId="b8d9c11f-2283-409d-b62d-e548e9e1def5" providerId="ADAL" clId="{4F48000C-3E09-43D4-93AB-C9C11E4C6BBB}" dt="2024-11-04T19:13:03.596" v="3" actId="47"/>
        <pc:sldMkLst>
          <pc:docMk/>
          <pc:sldMk cId="3361005124" sldId="791"/>
        </pc:sldMkLst>
      </pc:sldChg>
      <pc:sldChg chg="del">
        <pc:chgData name="Mayank Agarwal" userId="b8d9c11f-2283-409d-b62d-e548e9e1def5" providerId="ADAL" clId="{4F48000C-3E09-43D4-93AB-C9C11E4C6BBB}" dt="2024-11-04T19:13:03.942" v="4" actId="47"/>
        <pc:sldMkLst>
          <pc:docMk/>
          <pc:sldMk cId="436910117" sldId="792"/>
        </pc:sldMkLst>
      </pc:sldChg>
      <pc:sldChg chg="del">
        <pc:chgData name="Mayank Agarwal" userId="b8d9c11f-2283-409d-b62d-e548e9e1def5" providerId="ADAL" clId="{4F48000C-3E09-43D4-93AB-C9C11E4C6BBB}" dt="2024-11-04T19:13:04.272" v="5" actId="47"/>
        <pc:sldMkLst>
          <pc:docMk/>
          <pc:sldMk cId="1234161026" sldId="793"/>
        </pc:sldMkLst>
      </pc:sldChg>
      <pc:sldChg chg="modSp">
        <pc:chgData name="Mayank Agarwal" userId="b8d9c11f-2283-409d-b62d-e548e9e1def5" providerId="ADAL" clId="{4F48000C-3E09-43D4-93AB-C9C11E4C6BBB}" dt="2024-11-04T19:09:40.497" v="1"/>
        <pc:sldMkLst>
          <pc:docMk/>
          <pc:sldMk cId="970926538" sldId="806"/>
        </pc:sldMkLst>
        <pc:spChg chg="mod">
          <ac:chgData name="Mayank Agarwal" userId="b8d9c11f-2283-409d-b62d-e548e9e1def5" providerId="ADAL" clId="{4F48000C-3E09-43D4-93AB-C9C11E4C6BBB}" dt="2024-11-04T19:09:40.497" v="1"/>
          <ac:spMkLst>
            <pc:docMk/>
            <pc:sldMk cId="970926538" sldId="806"/>
            <ac:spMk id="57347" creationId="{00000000-0000-0000-0000-000000000000}"/>
          </ac:spMkLst>
        </pc:spChg>
      </pc:sldChg>
      <pc:sldChg chg="modSp">
        <pc:chgData name="Mayank Agarwal" userId="b8d9c11f-2283-409d-b62d-e548e9e1def5" providerId="ADAL" clId="{4F48000C-3E09-43D4-93AB-C9C11E4C6BBB}" dt="2024-11-04T19:09:41.986" v="2"/>
        <pc:sldMkLst>
          <pc:docMk/>
          <pc:sldMk cId="3738297551" sldId="808"/>
        </pc:sldMkLst>
        <pc:spChg chg="mod">
          <ac:chgData name="Mayank Agarwal" userId="b8d9c11f-2283-409d-b62d-e548e9e1def5" providerId="ADAL" clId="{4F48000C-3E09-43D4-93AB-C9C11E4C6BBB}" dt="2024-11-04T19:09:41.986" v="2"/>
          <ac:spMkLst>
            <pc:docMk/>
            <pc:sldMk cId="3738297551" sldId="808"/>
            <ac:spMk id="31749" creationId="{00000000-0000-0000-0000-000000000000}"/>
          </ac:spMkLst>
        </pc:spChg>
        <pc:spChg chg="mod">
          <ac:chgData name="Mayank Agarwal" userId="b8d9c11f-2283-409d-b62d-e548e9e1def5" providerId="ADAL" clId="{4F48000C-3E09-43D4-93AB-C9C11E4C6BBB}" dt="2024-11-04T19:09:41.986" v="2"/>
          <ac:spMkLst>
            <pc:docMk/>
            <pc:sldMk cId="3738297551" sldId="808"/>
            <ac:spMk id="31755" creationId="{00000000-0000-0000-0000-000000000000}"/>
          </ac:spMkLst>
        </pc:spChg>
        <pc:spChg chg="mod">
          <ac:chgData name="Mayank Agarwal" userId="b8d9c11f-2283-409d-b62d-e548e9e1def5" providerId="ADAL" clId="{4F48000C-3E09-43D4-93AB-C9C11E4C6BBB}" dt="2024-11-04T19:09:40.497" v="1"/>
          <ac:spMkLst>
            <pc:docMk/>
            <pc:sldMk cId="3738297551" sldId="808"/>
            <ac:spMk id="60419" creationId="{00000000-0000-0000-0000-000000000000}"/>
          </ac:spMkLst>
        </pc:spChg>
      </pc:sldChg>
      <pc:sldChg chg="modSp">
        <pc:chgData name="Mayank Agarwal" userId="b8d9c11f-2283-409d-b62d-e548e9e1def5" providerId="ADAL" clId="{4F48000C-3E09-43D4-93AB-C9C11E4C6BBB}" dt="2024-11-04T19:09:41.986" v="2"/>
        <pc:sldMkLst>
          <pc:docMk/>
          <pc:sldMk cId="2152307637" sldId="809"/>
        </pc:sldMkLst>
        <pc:spChg chg="mod">
          <ac:chgData name="Mayank Agarwal" userId="b8d9c11f-2283-409d-b62d-e548e9e1def5" providerId="ADAL" clId="{4F48000C-3E09-43D4-93AB-C9C11E4C6BBB}" dt="2024-11-04T19:09:41.986" v="2"/>
          <ac:spMkLst>
            <pc:docMk/>
            <pc:sldMk cId="2152307637" sldId="809"/>
            <ac:spMk id="32771" creationId="{00000000-0000-0000-0000-000000000000}"/>
          </ac:spMkLst>
        </pc:spChg>
        <pc:spChg chg="mod">
          <ac:chgData name="Mayank Agarwal" userId="b8d9c11f-2283-409d-b62d-e548e9e1def5" providerId="ADAL" clId="{4F48000C-3E09-43D4-93AB-C9C11E4C6BBB}" dt="2024-11-04T19:09:41.986" v="2"/>
          <ac:spMkLst>
            <pc:docMk/>
            <pc:sldMk cId="2152307637" sldId="809"/>
            <ac:spMk id="32776" creationId="{00000000-0000-0000-0000-000000000000}"/>
          </ac:spMkLst>
        </pc:spChg>
        <pc:spChg chg="mod">
          <ac:chgData name="Mayank Agarwal" userId="b8d9c11f-2283-409d-b62d-e548e9e1def5" providerId="ADAL" clId="{4F48000C-3E09-43D4-93AB-C9C11E4C6BBB}" dt="2024-11-04T19:09:41.986" v="2"/>
          <ac:spMkLst>
            <pc:docMk/>
            <pc:sldMk cId="2152307637" sldId="809"/>
            <ac:spMk id="32780" creationId="{00000000-0000-0000-0000-000000000000}"/>
          </ac:spMkLst>
        </pc:spChg>
        <pc:spChg chg="mod">
          <ac:chgData name="Mayank Agarwal" userId="b8d9c11f-2283-409d-b62d-e548e9e1def5" providerId="ADAL" clId="{4F48000C-3E09-43D4-93AB-C9C11E4C6BBB}" dt="2024-11-04T19:09:40.497" v="1"/>
          <ac:spMkLst>
            <pc:docMk/>
            <pc:sldMk cId="2152307637" sldId="809"/>
            <ac:spMk id="61450" creationId="{00000000-0000-0000-0000-000000000000}"/>
          </ac:spMkLst>
        </pc:spChg>
      </pc:sldChg>
      <pc:sldChg chg="modSp">
        <pc:chgData name="Mayank Agarwal" userId="b8d9c11f-2283-409d-b62d-e548e9e1def5" providerId="ADAL" clId="{4F48000C-3E09-43D4-93AB-C9C11E4C6BBB}" dt="2024-11-04T19:09:41.986" v="2"/>
        <pc:sldMkLst>
          <pc:docMk/>
          <pc:sldMk cId="1132307709" sldId="810"/>
        </pc:sldMkLst>
        <pc:spChg chg="mod">
          <ac:chgData name="Mayank Agarwal" userId="b8d9c11f-2283-409d-b62d-e548e9e1def5" providerId="ADAL" clId="{4F48000C-3E09-43D4-93AB-C9C11E4C6BBB}" dt="2024-11-04T19:09:41.986" v="2"/>
          <ac:spMkLst>
            <pc:docMk/>
            <pc:sldMk cId="1132307709" sldId="810"/>
            <ac:spMk id="33796" creationId="{00000000-0000-0000-0000-000000000000}"/>
          </ac:spMkLst>
        </pc:spChg>
        <pc:spChg chg="mod">
          <ac:chgData name="Mayank Agarwal" userId="b8d9c11f-2283-409d-b62d-e548e9e1def5" providerId="ADAL" clId="{4F48000C-3E09-43D4-93AB-C9C11E4C6BBB}" dt="2024-11-04T19:09:41.986" v="2"/>
          <ac:spMkLst>
            <pc:docMk/>
            <pc:sldMk cId="1132307709" sldId="810"/>
            <ac:spMk id="33804" creationId="{00000000-0000-0000-0000-000000000000}"/>
          </ac:spMkLst>
        </pc:spChg>
        <pc:spChg chg="mod">
          <ac:chgData name="Mayank Agarwal" userId="b8d9c11f-2283-409d-b62d-e548e9e1def5" providerId="ADAL" clId="{4F48000C-3E09-43D4-93AB-C9C11E4C6BBB}" dt="2024-11-04T19:09:41.986" v="2"/>
          <ac:spMkLst>
            <pc:docMk/>
            <pc:sldMk cId="1132307709" sldId="810"/>
            <ac:spMk id="33805" creationId="{00000000-0000-0000-0000-000000000000}"/>
          </ac:spMkLst>
        </pc:spChg>
        <pc:spChg chg="mod">
          <ac:chgData name="Mayank Agarwal" userId="b8d9c11f-2283-409d-b62d-e548e9e1def5" providerId="ADAL" clId="{4F48000C-3E09-43D4-93AB-C9C11E4C6BBB}" dt="2024-11-04T19:09:41.986" v="2"/>
          <ac:spMkLst>
            <pc:docMk/>
            <pc:sldMk cId="1132307709" sldId="810"/>
            <ac:spMk id="33806" creationId="{00000000-0000-0000-0000-000000000000}"/>
          </ac:spMkLst>
        </pc:spChg>
        <pc:spChg chg="mod">
          <ac:chgData name="Mayank Agarwal" userId="b8d9c11f-2283-409d-b62d-e548e9e1def5" providerId="ADAL" clId="{4F48000C-3E09-43D4-93AB-C9C11E4C6BBB}" dt="2024-11-04T19:09:41.986" v="2"/>
          <ac:spMkLst>
            <pc:docMk/>
            <pc:sldMk cId="1132307709" sldId="810"/>
            <ac:spMk id="33807" creationId="{00000000-0000-0000-0000-000000000000}"/>
          </ac:spMkLst>
        </pc:spChg>
        <pc:grpChg chg="mod">
          <ac:chgData name="Mayank Agarwal" userId="b8d9c11f-2283-409d-b62d-e548e9e1def5" providerId="ADAL" clId="{4F48000C-3E09-43D4-93AB-C9C11E4C6BBB}" dt="2024-11-04T19:09:41.986" v="2"/>
          <ac:grpSpMkLst>
            <pc:docMk/>
            <pc:sldMk cId="1132307709" sldId="810"/>
            <ac:grpSpMk id="62473" creationId="{00000000-0000-0000-0000-000000000000}"/>
          </ac:grpSpMkLst>
        </pc:grpChg>
      </pc:sldChg>
      <pc:sldChg chg="modSp">
        <pc:chgData name="Mayank Agarwal" userId="b8d9c11f-2283-409d-b62d-e548e9e1def5" providerId="ADAL" clId="{4F48000C-3E09-43D4-93AB-C9C11E4C6BBB}" dt="2024-11-04T19:09:41.986" v="2"/>
        <pc:sldMkLst>
          <pc:docMk/>
          <pc:sldMk cId="2485071890" sldId="811"/>
        </pc:sldMkLst>
        <pc:spChg chg="mod">
          <ac:chgData name="Mayank Agarwal" userId="b8d9c11f-2283-409d-b62d-e548e9e1def5" providerId="ADAL" clId="{4F48000C-3E09-43D4-93AB-C9C11E4C6BBB}" dt="2024-11-04T19:09:40.497" v="1"/>
          <ac:spMkLst>
            <pc:docMk/>
            <pc:sldMk cId="2485071890" sldId="811"/>
            <ac:spMk id="34819" creationId="{00000000-0000-0000-0000-000000000000}"/>
          </ac:spMkLst>
        </pc:spChg>
        <pc:spChg chg="mod">
          <ac:chgData name="Mayank Agarwal" userId="b8d9c11f-2283-409d-b62d-e548e9e1def5" providerId="ADAL" clId="{4F48000C-3E09-43D4-93AB-C9C11E4C6BBB}" dt="2024-11-04T19:09:41.986" v="2"/>
          <ac:spMkLst>
            <pc:docMk/>
            <pc:sldMk cId="2485071890" sldId="811"/>
            <ac:spMk id="34826" creationId="{00000000-0000-0000-0000-000000000000}"/>
          </ac:spMkLst>
        </pc:spChg>
        <pc:spChg chg="mod">
          <ac:chgData name="Mayank Agarwal" userId="b8d9c11f-2283-409d-b62d-e548e9e1def5" providerId="ADAL" clId="{4F48000C-3E09-43D4-93AB-C9C11E4C6BBB}" dt="2024-11-04T19:09:41.986" v="2"/>
          <ac:spMkLst>
            <pc:docMk/>
            <pc:sldMk cId="2485071890" sldId="811"/>
            <ac:spMk id="34828" creationId="{00000000-0000-0000-0000-000000000000}"/>
          </ac:spMkLst>
        </pc:spChg>
        <pc:spChg chg="mod">
          <ac:chgData name="Mayank Agarwal" userId="b8d9c11f-2283-409d-b62d-e548e9e1def5" providerId="ADAL" clId="{4F48000C-3E09-43D4-93AB-C9C11E4C6BBB}" dt="2024-11-04T19:09:41.986" v="2"/>
          <ac:spMkLst>
            <pc:docMk/>
            <pc:sldMk cId="2485071890" sldId="811"/>
            <ac:spMk id="34829" creationId="{00000000-0000-0000-0000-000000000000}"/>
          </ac:spMkLst>
        </pc:spChg>
        <pc:spChg chg="mod">
          <ac:chgData name="Mayank Agarwal" userId="b8d9c11f-2283-409d-b62d-e548e9e1def5" providerId="ADAL" clId="{4F48000C-3E09-43D4-93AB-C9C11E4C6BBB}" dt="2024-11-04T19:09:41.986" v="2"/>
          <ac:spMkLst>
            <pc:docMk/>
            <pc:sldMk cId="2485071890" sldId="811"/>
            <ac:spMk id="34830" creationId="{00000000-0000-0000-0000-000000000000}"/>
          </ac:spMkLst>
        </pc:spChg>
        <pc:spChg chg="mod">
          <ac:chgData name="Mayank Agarwal" userId="b8d9c11f-2283-409d-b62d-e548e9e1def5" providerId="ADAL" clId="{4F48000C-3E09-43D4-93AB-C9C11E4C6BBB}" dt="2024-11-04T19:09:41.986" v="2"/>
          <ac:spMkLst>
            <pc:docMk/>
            <pc:sldMk cId="2485071890" sldId="811"/>
            <ac:spMk id="34831" creationId="{00000000-0000-0000-0000-000000000000}"/>
          </ac:spMkLst>
        </pc:spChg>
        <pc:grpChg chg="mod">
          <ac:chgData name="Mayank Agarwal" userId="b8d9c11f-2283-409d-b62d-e548e9e1def5" providerId="ADAL" clId="{4F48000C-3E09-43D4-93AB-C9C11E4C6BBB}" dt="2024-11-04T19:09:41.986" v="2"/>
          <ac:grpSpMkLst>
            <pc:docMk/>
            <pc:sldMk cId="2485071890" sldId="811"/>
            <ac:grpSpMk id="63495" creationId="{00000000-0000-0000-0000-000000000000}"/>
          </ac:grpSpMkLst>
        </pc:grpChg>
      </pc:sldChg>
      <pc:sldChg chg="modSp">
        <pc:chgData name="Mayank Agarwal" userId="b8d9c11f-2283-409d-b62d-e548e9e1def5" providerId="ADAL" clId="{4F48000C-3E09-43D4-93AB-C9C11E4C6BBB}" dt="2024-11-04T19:09:41.986" v="2"/>
        <pc:sldMkLst>
          <pc:docMk/>
          <pc:sldMk cId="2698932156" sldId="812"/>
        </pc:sldMkLst>
        <pc:spChg chg="mod">
          <ac:chgData name="Mayank Agarwal" userId="b8d9c11f-2283-409d-b62d-e548e9e1def5" providerId="ADAL" clId="{4F48000C-3E09-43D4-93AB-C9C11E4C6BBB}" dt="2024-11-04T19:09:41.986" v="2"/>
          <ac:spMkLst>
            <pc:docMk/>
            <pc:sldMk cId="2698932156" sldId="812"/>
            <ac:spMk id="35843" creationId="{00000000-0000-0000-0000-000000000000}"/>
          </ac:spMkLst>
        </pc:spChg>
        <pc:spChg chg="mod">
          <ac:chgData name="Mayank Agarwal" userId="b8d9c11f-2283-409d-b62d-e548e9e1def5" providerId="ADAL" clId="{4F48000C-3E09-43D4-93AB-C9C11E4C6BBB}" dt="2024-11-04T19:09:41.986" v="2"/>
          <ac:spMkLst>
            <pc:docMk/>
            <pc:sldMk cId="2698932156" sldId="812"/>
            <ac:spMk id="35855" creationId="{00000000-0000-0000-0000-000000000000}"/>
          </ac:spMkLst>
        </pc:spChg>
        <pc:spChg chg="mod">
          <ac:chgData name="Mayank Agarwal" userId="b8d9c11f-2283-409d-b62d-e548e9e1def5" providerId="ADAL" clId="{4F48000C-3E09-43D4-93AB-C9C11E4C6BBB}" dt="2024-11-04T19:09:41.986" v="2"/>
          <ac:spMkLst>
            <pc:docMk/>
            <pc:sldMk cId="2698932156" sldId="812"/>
            <ac:spMk id="35856" creationId="{00000000-0000-0000-0000-000000000000}"/>
          </ac:spMkLst>
        </pc:spChg>
        <pc:spChg chg="mod">
          <ac:chgData name="Mayank Agarwal" userId="b8d9c11f-2283-409d-b62d-e548e9e1def5" providerId="ADAL" clId="{4F48000C-3E09-43D4-93AB-C9C11E4C6BBB}" dt="2024-11-04T19:09:41.986" v="2"/>
          <ac:spMkLst>
            <pc:docMk/>
            <pc:sldMk cId="2698932156" sldId="812"/>
            <ac:spMk id="35857" creationId="{00000000-0000-0000-0000-000000000000}"/>
          </ac:spMkLst>
        </pc:spChg>
        <pc:spChg chg="mod">
          <ac:chgData name="Mayank Agarwal" userId="b8d9c11f-2283-409d-b62d-e548e9e1def5" providerId="ADAL" clId="{4F48000C-3E09-43D4-93AB-C9C11E4C6BBB}" dt="2024-11-04T19:09:41.986" v="2"/>
          <ac:spMkLst>
            <pc:docMk/>
            <pc:sldMk cId="2698932156" sldId="812"/>
            <ac:spMk id="35858" creationId="{00000000-0000-0000-0000-000000000000}"/>
          </ac:spMkLst>
        </pc:spChg>
        <pc:spChg chg="mod">
          <ac:chgData name="Mayank Agarwal" userId="b8d9c11f-2283-409d-b62d-e548e9e1def5" providerId="ADAL" clId="{4F48000C-3E09-43D4-93AB-C9C11E4C6BBB}" dt="2024-11-04T19:09:41.986" v="2"/>
          <ac:spMkLst>
            <pc:docMk/>
            <pc:sldMk cId="2698932156" sldId="812"/>
            <ac:spMk id="35859" creationId="{00000000-0000-0000-0000-000000000000}"/>
          </ac:spMkLst>
        </pc:spChg>
        <pc:spChg chg="mod">
          <ac:chgData name="Mayank Agarwal" userId="b8d9c11f-2283-409d-b62d-e548e9e1def5" providerId="ADAL" clId="{4F48000C-3E09-43D4-93AB-C9C11E4C6BBB}" dt="2024-11-04T19:09:41.986" v="2"/>
          <ac:spMkLst>
            <pc:docMk/>
            <pc:sldMk cId="2698932156" sldId="812"/>
            <ac:spMk id="35860" creationId="{00000000-0000-0000-0000-000000000000}"/>
          </ac:spMkLst>
        </pc:spChg>
        <pc:spChg chg="mod">
          <ac:chgData name="Mayank Agarwal" userId="b8d9c11f-2283-409d-b62d-e548e9e1def5" providerId="ADAL" clId="{4F48000C-3E09-43D4-93AB-C9C11E4C6BBB}" dt="2024-11-04T19:09:41.986" v="2"/>
          <ac:spMkLst>
            <pc:docMk/>
            <pc:sldMk cId="2698932156" sldId="812"/>
            <ac:spMk id="35861" creationId="{00000000-0000-0000-0000-000000000000}"/>
          </ac:spMkLst>
        </pc:spChg>
        <pc:spChg chg="mod">
          <ac:chgData name="Mayank Agarwal" userId="b8d9c11f-2283-409d-b62d-e548e9e1def5" providerId="ADAL" clId="{4F48000C-3E09-43D4-93AB-C9C11E4C6BBB}" dt="2024-11-04T19:09:41.986" v="2"/>
          <ac:spMkLst>
            <pc:docMk/>
            <pc:sldMk cId="2698932156" sldId="812"/>
            <ac:spMk id="35862" creationId="{00000000-0000-0000-0000-000000000000}"/>
          </ac:spMkLst>
        </pc:spChg>
        <pc:spChg chg="mod">
          <ac:chgData name="Mayank Agarwal" userId="b8d9c11f-2283-409d-b62d-e548e9e1def5" providerId="ADAL" clId="{4F48000C-3E09-43D4-93AB-C9C11E4C6BBB}" dt="2024-11-04T19:09:41.986" v="2"/>
          <ac:spMkLst>
            <pc:docMk/>
            <pc:sldMk cId="2698932156" sldId="812"/>
            <ac:spMk id="35863" creationId="{00000000-0000-0000-0000-000000000000}"/>
          </ac:spMkLst>
        </pc:spChg>
        <pc:spChg chg="mod">
          <ac:chgData name="Mayank Agarwal" userId="b8d9c11f-2283-409d-b62d-e548e9e1def5" providerId="ADAL" clId="{4F48000C-3E09-43D4-93AB-C9C11E4C6BBB}" dt="2024-11-04T19:09:41.986" v="2"/>
          <ac:spMkLst>
            <pc:docMk/>
            <pc:sldMk cId="2698932156" sldId="812"/>
            <ac:spMk id="35864" creationId="{00000000-0000-0000-0000-000000000000}"/>
          </ac:spMkLst>
        </pc:spChg>
        <pc:grpChg chg="mod">
          <ac:chgData name="Mayank Agarwal" userId="b8d9c11f-2283-409d-b62d-e548e9e1def5" providerId="ADAL" clId="{4F48000C-3E09-43D4-93AB-C9C11E4C6BBB}" dt="2024-11-04T19:09:41.986" v="2"/>
          <ac:grpSpMkLst>
            <pc:docMk/>
            <pc:sldMk cId="2698932156" sldId="812"/>
            <ac:grpSpMk id="64520" creationId="{00000000-0000-0000-0000-000000000000}"/>
          </ac:grpSpMkLst>
        </pc:grpChg>
        <pc:grpChg chg="mod">
          <ac:chgData name="Mayank Agarwal" userId="b8d9c11f-2283-409d-b62d-e548e9e1def5" providerId="ADAL" clId="{4F48000C-3E09-43D4-93AB-C9C11E4C6BBB}" dt="2024-11-04T19:09:41.986" v="2"/>
          <ac:grpSpMkLst>
            <pc:docMk/>
            <pc:sldMk cId="2698932156" sldId="812"/>
            <ac:grpSpMk id="64521" creationId="{00000000-0000-0000-0000-000000000000}"/>
          </ac:grpSpMkLst>
        </pc:grpChg>
      </pc:sldChg>
      <pc:sldChg chg="modSp">
        <pc:chgData name="Mayank Agarwal" userId="b8d9c11f-2283-409d-b62d-e548e9e1def5" providerId="ADAL" clId="{4F48000C-3E09-43D4-93AB-C9C11E4C6BBB}" dt="2024-11-04T19:09:41.986" v="2"/>
        <pc:sldMkLst>
          <pc:docMk/>
          <pc:sldMk cId="1429302038" sldId="813"/>
        </pc:sldMkLst>
        <pc:spChg chg="mod">
          <ac:chgData name="Mayank Agarwal" userId="b8d9c11f-2283-409d-b62d-e548e9e1def5" providerId="ADAL" clId="{4F48000C-3E09-43D4-93AB-C9C11E4C6BBB}" dt="2024-11-04T19:09:40.497" v="1"/>
          <ac:spMkLst>
            <pc:docMk/>
            <pc:sldMk cId="1429302038" sldId="813"/>
            <ac:spMk id="36867" creationId="{00000000-0000-0000-0000-000000000000}"/>
          </ac:spMkLst>
        </pc:spChg>
        <pc:spChg chg="mod">
          <ac:chgData name="Mayank Agarwal" userId="b8d9c11f-2283-409d-b62d-e548e9e1def5" providerId="ADAL" clId="{4F48000C-3E09-43D4-93AB-C9C11E4C6BBB}" dt="2024-11-04T19:09:41.986" v="2"/>
          <ac:spMkLst>
            <pc:docMk/>
            <pc:sldMk cId="1429302038" sldId="813"/>
            <ac:spMk id="36873" creationId="{00000000-0000-0000-0000-000000000000}"/>
          </ac:spMkLst>
        </pc:spChg>
        <pc:spChg chg="mod">
          <ac:chgData name="Mayank Agarwal" userId="b8d9c11f-2283-409d-b62d-e548e9e1def5" providerId="ADAL" clId="{4F48000C-3E09-43D4-93AB-C9C11E4C6BBB}" dt="2024-11-04T19:09:41.986" v="2"/>
          <ac:spMkLst>
            <pc:docMk/>
            <pc:sldMk cId="1429302038" sldId="813"/>
            <ac:spMk id="36874" creationId="{00000000-0000-0000-0000-000000000000}"/>
          </ac:spMkLst>
        </pc:spChg>
        <pc:spChg chg="mod">
          <ac:chgData name="Mayank Agarwal" userId="b8d9c11f-2283-409d-b62d-e548e9e1def5" providerId="ADAL" clId="{4F48000C-3E09-43D4-93AB-C9C11E4C6BBB}" dt="2024-11-04T19:09:40.497" v="1"/>
          <ac:spMkLst>
            <pc:docMk/>
            <pc:sldMk cId="1429302038" sldId="813"/>
            <ac:spMk id="36876" creationId="{00000000-0000-0000-0000-000000000000}"/>
          </ac:spMkLst>
        </pc:spChg>
        <pc:spChg chg="mod">
          <ac:chgData name="Mayank Agarwal" userId="b8d9c11f-2283-409d-b62d-e548e9e1def5" providerId="ADAL" clId="{4F48000C-3E09-43D4-93AB-C9C11E4C6BBB}" dt="2024-11-04T19:09:41.986" v="2"/>
          <ac:spMkLst>
            <pc:docMk/>
            <pc:sldMk cId="1429302038" sldId="813"/>
            <ac:spMk id="36886" creationId="{00000000-0000-0000-0000-000000000000}"/>
          </ac:spMkLst>
        </pc:spChg>
        <pc:spChg chg="mod">
          <ac:chgData name="Mayank Agarwal" userId="b8d9c11f-2283-409d-b62d-e548e9e1def5" providerId="ADAL" clId="{4F48000C-3E09-43D4-93AB-C9C11E4C6BBB}" dt="2024-11-04T19:09:41.986" v="2"/>
          <ac:spMkLst>
            <pc:docMk/>
            <pc:sldMk cId="1429302038" sldId="813"/>
            <ac:spMk id="36889" creationId="{00000000-0000-0000-0000-000000000000}"/>
          </ac:spMkLst>
        </pc:spChg>
        <pc:spChg chg="mod">
          <ac:chgData name="Mayank Agarwal" userId="b8d9c11f-2283-409d-b62d-e548e9e1def5" providerId="ADAL" clId="{4F48000C-3E09-43D4-93AB-C9C11E4C6BBB}" dt="2024-11-04T19:09:41.986" v="2"/>
          <ac:spMkLst>
            <pc:docMk/>
            <pc:sldMk cId="1429302038" sldId="813"/>
            <ac:spMk id="36890" creationId="{00000000-0000-0000-0000-000000000000}"/>
          </ac:spMkLst>
        </pc:spChg>
        <pc:spChg chg="mod">
          <ac:chgData name="Mayank Agarwal" userId="b8d9c11f-2283-409d-b62d-e548e9e1def5" providerId="ADAL" clId="{4F48000C-3E09-43D4-93AB-C9C11E4C6BBB}" dt="2024-11-04T19:09:41.986" v="2"/>
          <ac:spMkLst>
            <pc:docMk/>
            <pc:sldMk cId="1429302038" sldId="813"/>
            <ac:spMk id="36891" creationId="{00000000-0000-0000-0000-000000000000}"/>
          </ac:spMkLst>
        </pc:spChg>
        <pc:spChg chg="mod">
          <ac:chgData name="Mayank Agarwal" userId="b8d9c11f-2283-409d-b62d-e548e9e1def5" providerId="ADAL" clId="{4F48000C-3E09-43D4-93AB-C9C11E4C6BBB}" dt="2024-11-04T19:09:41.986" v="2"/>
          <ac:spMkLst>
            <pc:docMk/>
            <pc:sldMk cId="1429302038" sldId="813"/>
            <ac:spMk id="36892" creationId="{00000000-0000-0000-0000-000000000000}"/>
          </ac:spMkLst>
        </pc:spChg>
        <pc:spChg chg="mod">
          <ac:chgData name="Mayank Agarwal" userId="b8d9c11f-2283-409d-b62d-e548e9e1def5" providerId="ADAL" clId="{4F48000C-3E09-43D4-93AB-C9C11E4C6BBB}" dt="2024-11-04T19:09:41.986" v="2"/>
          <ac:spMkLst>
            <pc:docMk/>
            <pc:sldMk cId="1429302038" sldId="813"/>
            <ac:spMk id="36893" creationId="{00000000-0000-0000-0000-000000000000}"/>
          </ac:spMkLst>
        </pc:spChg>
        <pc:spChg chg="mod">
          <ac:chgData name="Mayank Agarwal" userId="b8d9c11f-2283-409d-b62d-e548e9e1def5" providerId="ADAL" clId="{4F48000C-3E09-43D4-93AB-C9C11E4C6BBB}" dt="2024-11-04T19:09:41.986" v="2"/>
          <ac:spMkLst>
            <pc:docMk/>
            <pc:sldMk cId="1429302038" sldId="813"/>
            <ac:spMk id="36894" creationId="{00000000-0000-0000-0000-000000000000}"/>
          </ac:spMkLst>
        </pc:spChg>
        <pc:spChg chg="mod">
          <ac:chgData name="Mayank Agarwal" userId="b8d9c11f-2283-409d-b62d-e548e9e1def5" providerId="ADAL" clId="{4F48000C-3E09-43D4-93AB-C9C11E4C6BBB}" dt="2024-11-04T19:09:41.986" v="2"/>
          <ac:spMkLst>
            <pc:docMk/>
            <pc:sldMk cId="1429302038" sldId="813"/>
            <ac:spMk id="36895" creationId="{00000000-0000-0000-0000-000000000000}"/>
          </ac:spMkLst>
        </pc:spChg>
        <pc:spChg chg="mod">
          <ac:chgData name="Mayank Agarwal" userId="b8d9c11f-2283-409d-b62d-e548e9e1def5" providerId="ADAL" clId="{4F48000C-3E09-43D4-93AB-C9C11E4C6BBB}" dt="2024-11-04T19:09:41.986" v="2"/>
          <ac:spMkLst>
            <pc:docMk/>
            <pc:sldMk cId="1429302038" sldId="813"/>
            <ac:spMk id="36896" creationId="{00000000-0000-0000-0000-000000000000}"/>
          </ac:spMkLst>
        </pc:spChg>
        <pc:spChg chg="mod">
          <ac:chgData name="Mayank Agarwal" userId="b8d9c11f-2283-409d-b62d-e548e9e1def5" providerId="ADAL" clId="{4F48000C-3E09-43D4-93AB-C9C11E4C6BBB}" dt="2024-11-04T19:09:41.986" v="2"/>
          <ac:spMkLst>
            <pc:docMk/>
            <pc:sldMk cId="1429302038" sldId="813"/>
            <ac:spMk id="36897" creationId="{00000000-0000-0000-0000-000000000000}"/>
          </ac:spMkLst>
        </pc:spChg>
        <pc:spChg chg="mod">
          <ac:chgData name="Mayank Agarwal" userId="b8d9c11f-2283-409d-b62d-e548e9e1def5" providerId="ADAL" clId="{4F48000C-3E09-43D4-93AB-C9C11E4C6BBB}" dt="2024-11-04T19:09:41.986" v="2"/>
          <ac:spMkLst>
            <pc:docMk/>
            <pc:sldMk cId="1429302038" sldId="813"/>
            <ac:spMk id="36898" creationId="{00000000-0000-0000-0000-000000000000}"/>
          </ac:spMkLst>
        </pc:spChg>
        <pc:grpChg chg="mod">
          <ac:chgData name="Mayank Agarwal" userId="b8d9c11f-2283-409d-b62d-e548e9e1def5" providerId="ADAL" clId="{4F48000C-3E09-43D4-93AB-C9C11E4C6BBB}" dt="2024-11-04T19:09:41.986" v="2"/>
          <ac:grpSpMkLst>
            <pc:docMk/>
            <pc:sldMk cId="1429302038" sldId="813"/>
            <ac:grpSpMk id="65549" creationId="{00000000-0000-0000-0000-000000000000}"/>
          </ac:grpSpMkLst>
        </pc:grpChg>
        <pc:grpChg chg="mod">
          <ac:chgData name="Mayank Agarwal" userId="b8d9c11f-2283-409d-b62d-e548e9e1def5" providerId="ADAL" clId="{4F48000C-3E09-43D4-93AB-C9C11E4C6BBB}" dt="2024-11-04T19:09:41.986" v="2"/>
          <ac:grpSpMkLst>
            <pc:docMk/>
            <pc:sldMk cId="1429302038" sldId="813"/>
            <ac:grpSpMk id="65554" creationId="{00000000-0000-0000-0000-000000000000}"/>
          </ac:grpSpMkLst>
        </pc:grpChg>
      </pc:sldChg>
      <pc:sldChg chg="modSp">
        <pc:chgData name="Mayank Agarwal" userId="b8d9c11f-2283-409d-b62d-e548e9e1def5" providerId="ADAL" clId="{4F48000C-3E09-43D4-93AB-C9C11E4C6BBB}" dt="2024-11-04T19:09:41.986" v="2"/>
        <pc:sldMkLst>
          <pc:docMk/>
          <pc:sldMk cId="3728084439" sldId="814"/>
        </pc:sldMkLst>
        <pc:spChg chg="mod">
          <ac:chgData name="Mayank Agarwal" userId="b8d9c11f-2283-409d-b62d-e548e9e1def5" providerId="ADAL" clId="{4F48000C-3E09-43D4-93AB-C9C11E4C6BBB}" dt="2024-11-04T19:09:41.986" v="2"/>
          <ac:spMkLst>
            <pc:docMk/>
            <pc:sldMk cId="3728084439" sldId="814"/>
            <ac:spMk id="37892" creationId="{00000000-0000-0000-0000-000000000000}"/>
          </ac:spMkLst>
        </pc:spChg>
        <pc:spChg chg="mod">
          <ac:chgData name="Mayank Agarwal" userId="b8d9c11f-2283-409d-b62d-e548e9e1def5" providerId="ADAL" clId="{4F48000C-3E09-43D4-93AB-C9C11E4C6BBB}" dt="2024-11-04T19:09:41.986" v="2"/>
          <ac:spMkLst>
            <pc:docMk/>
            <pc:sldMk cId="3728084439" sldId="814"/>
            <ac:spMk id="37903" creationId="{00000000-0000-0000-0000-000000000000}"/>
          </ac:spMkLst>
        </pc:spChg>
        <pc:spChg chg="mod">
          <ac:chgData name="Mayank Agarwal" userId="b8d9c11f-2283-409d-b62d-e548e9e1def5" providerId="ADAL" clId="{4F48000C-3E09-43D4-93AB-C9C11E4C6BBB}" dt="2024-11-04T19:09:41.986" v="2"/>
          <ac:spMkLst>
            <pc:docMk/>
            <pc:sldMk cId="3728084439" sldId="814"/>
            <ac:spMk id="37904" creationId="{00000000-0000-0000-0000-000000000000}"/>
          </ac:spMkLst>
        </pc:spChg>
        <pc:spChg chg="mod">
          <ac:chgData name="Mayank Agarwal" userId="b8d9c11f-2283-409d-b62d-e548e9e1def5" providerId="ADAL" clId="{4F48000C-3E09-43D4-93AB-C9C11E4C6BBB}" dt="2024-11-04T19:09:41.986" v="2"/>
          <ac:spMkLst>
            <pc:docMk/>
            <pc:sldMk cId="3728084439" sldId="814"/>
            <ac:spMk id="37905" creationId="{00000000-0000-0000-0000-000000000000}"/>
          </ac:spMkLst>
        </pc:spChg>
        <pc:spChg chg="mod">
          <ac:chgData name="Mayank Agarwal" userId="b8d9c11f-2283-409d-b62d-e548e9e1def5" providerId="ADAL" clId="{4F48000C-3E09-43D4-93AB-C9C11E4C6BBB}" dt="2024-11-04T19:09:41.986" v="2"/>
          <ac:spMkLst>
            <pc:docMk/>
            <pc:sldMk cId="3728084439" sldId="814"/>
            <ac:spMk id="37906" creationId="{00000000-0000-0000-0000-000000000000}"/>
          </ac:spMkLst>
        </pc:spChg>
        <pc:spChg chg="mod">
          <ac:chgData name="Mayank Agarwal" userId="b8d9c11f-2283-409d-b62d-e548e9e1def5" providerId="ADAL" clId="{4F48000C-3E09-43D4-93AB-C9C11E4C6BBB}" dt="2024-11-04T19:09:41.986" v="2"/>
          <ac:spMkLst>
            <pc:docMk/>
            <pc:sldMk cId="3728084439" sldId="814"/>
            <ac:spMk id="37907" creationId="{00000000-0000-0000-0000-000000000000}"/>
          </ac:spMkLst>
        </pc:spChg>
        <pc:spChg chg="mod">
          <ac:chgData name="Mayank Agarwal" userId="b8d9c11f-2283-409d-b62d-e548e9e1def5" providerId="ADAL" clId="{4F48000C-3E09-43D4-93AB-C9C11E4C6BBB}" dt="2024-11-04T19:09:41.986" v="2"/>
          <ac:spMkLst>
            <pc:docMk/>
            <pc:sldMk cId="3728084439" sldId="814"/>
            <ac:spMk id="37908" creationId="{00000000-0000-0000-0000-000000000000}"/>
          </ac:spMkLst>
        </pc:spChg>
        <pc:spChg chg="mod">
          <ac:chgData name="Mayank Agarwal" userId="b8d9c11f-2283-409d-b62d-e548e9e1def5" providerId="ADAL" clId="{4F48000C-3E09-43D4-93AB-C9C11E4C6BBB}" dt="2024-11-04T19:09:41.986" v="2"/>
          <ac:spMkLst>
            <pc:docMk/>
            <pc:sldMk cId="3728084439" sldId="814"/>
            <ac:spMk id="37909" creationId="{00000000-0000-0000-0000-000000000000}"/>
          </ac:spMkLst>
        </pc:spChg>
        <pc:spChg chg="mod">
          <ac:chgData name="Mayank Agarwal" userId="b8d9c11f-2283-409d-b62d-e548e9e1def5" providerId="ADAL" clId="{4F48000C-3E09-43D4-93AB-C9C11E4C6BBB}" dt="2024-11-04T19:09:41.986" v="2"/>
          <ac:spMkLst>
            <pc:docMk/>
            <pc:sldMk cId="3728084439" sldId="814"/>
            <ac:spMk id="37910" creationId="{00000000-0000-0000-0000-000000000000}"/>
          </ac:spMkLst>
        </pc:spChg>
        <pc:spChg chg="mod">
          <ac:chgData name="Mayank Agarwal" userId="b8d9c11f-2283-409d-b62d-e548e9e1def5" providerId="ADAL" clId="{4F48000C-3E09-43D4-93AB-C9C11E4C6BBB}" dt="2024-11-04T19:09:41.986" v="2"/>
          <ac:spMkLst>
            <pc:docMk/>
            <pc:sldMk cId="3728084439" sldId="814"/>
            <ac:spMk id="37911" creationId="{00000000-0000-0000-0000-000000000000}"/>
          </ac:spMkLst>
        </pc:spChg>
        <pc:spChg chg="mod">
          <ac:chgData name="Mayank Agarwal" userId="b8d9c11f-2283-409d-b62d-e548e9e1def5" providerId="ADAL" clId="{4F48000C-3E09-43D4-93AB-C9C11E4C6BBB}" dt="2024-11-04T19:09:41.986" v="2"/>
          <ac:spMkLst>
            <pc:docMk/>
            <pc:sldMk cId="3728084439" sldId="814"/>
            <ac:spMk id="37912" creationId="{00000000-0000-0000-0000-000000000000}"/>
          </ac:spMkLst>
        </pc:spChg>
        <pc:grpChg chg="mod">
          <ac:chgData name="Mayank Agarwal" userId="b8d9c11f-2283-409d-b62d-e548e9e1def5" providerId="ADAL" clId="{4F48000C-3E09-43D4-93AB-C9C11E4C6BBB}" dt="2024-11-04T19:09:41.986" v="2"/>
          <ac:grpSpMkLst>
            <pc:docMk/>
            <pc:sldMk cId="3728084439" sldId="814"/>
            <ac:grpSpMk id="66569" creationId="{00000000-0000-0000-0000-000000000000}"/>
          </ac:grpSpMkLst>
        </pc:grpChg>
        <pc:grpChg chg="mod">
          <ac:chgData name="Mayank Agarwal" userId="b8d9c11f-2283-409d-b62d-e548e9e1def5" providerId="ADAL" clId="{4F48000C-3E09-43D4-93AB-C9C11E4C6BBB}" dt="2024-11-04T19:09:41.986" v="2"/>
          <ac:grpSpMkLst>
            <pc:docMk/>
            <pc:sldMk cId="3728084439" sldId="814"/>
            <ac:grpSpMk id="66570" creationId="{00000000-0000-0000-0000-000000000000}"/>
          </ac:grpSpMkLst>
        </pc:grpChg>
      </pc:sldChg>
      <pc:sldChg chg="modSp">
        <pc:chgData name="Mayank Agarwal" userId="b8d9c11f-2283-409d-b62d-e548e9e1def5" providerId="ADAL" clId="{4F48000C-3E09-43D4-93AB-C9C11E4C6BBB}" dt="2024-11-04T19:09:41.986" v="2"/>
        <pc:sldMkLst>
          <pc:docMk/>
          <pc:sldMk cId="283176515" sldId="815"/>
        </pc:sldMkLst>
        <pc:spChg chg="mod">
          <ac:chgData name="Mayank Agarwal" userId="b8d9c11f-2283-409d-b62d-e548e9e1def5" providerId="ADAL" clId="{4F48000C-3E09-43D4-93AB-C9C11E4C6BBB}" dt="2024-11-04T19:09:41.986" v="2"/>
          <ac:spMkLst>
            <pc:docMk/>
            <pc:sldMk cId="283176515" sldId="815"/>
            <ac:spMk id="38921" creationId="{00000000-0000-0000-0000-000000000000}"/>
          </ac:spMkLst>
        </pc:spChg>
        <pc:spChg chg="mod">
          <ac:chgData name="Mayank Agarwal" userId="b8d9c11f-2283-409d-b62d-e548e9e1def5" providerId="ADAL" clId="{4F48000C-3E09-43D4-93AB-C9C11E4C6BBB}" dt="2024-11-04T19:09:41.986" v="2"/>
          <ac:spMkLst>
            <pc:docMk/>
            <pc:sldMk cId="283176515" sldId="815"/>
            <ac:spMk id="38922" creationId="{00000000-0000-0000-0000-000000000000}"/>
          </ac:spMkLst>
        </pc:spChg>
        <pc:spChg chg="mod">
          <ac:chgData name="Mayank Agarwal" userId="b8d9c11f-2283-409d-b62d-e548e9e1def5" providerId="ADAL" clId="{4F48000C-3E09-43D4-93AB-C9C11E4C6BBB}" dt="2024-11-04T19:09:41.986" v="2"/>
          <ac:spMkLst>
            <pc:docMk/>
            <pc:sldMk cId="283176515" sldId="815"/>
            <ac:spMk id="38935" creationId="{00000000-0000-0000-0000-000000000000}"/>
          </ac:spMkLst>
        </pc:spChg>
        <pc:spChg chg="mod">
          <ac:chgData name="Mayank Agarwal" userId="b8d9c11f-2283-409d-b62d-e548e9e1def5" providerId="ADAL" clId="{4F48000C-3E09-43D4-93AB-C9C11E4C6BBB}" dt="2024-11-04T19:09:41.986" v="2"/>
          <ac:spMkLst>
            <pc:docMk/>
            <pc:sldMk cId="283176515" sldId="815"/>
            <ac:spMk id="38937" creationId="{00000000-0000-0000-0000-000000000000}"/>
          </ac:spMkLst>
        </pc:spChg>
        <pc:spChg chg="mod">
          <ac:chgData name="Mayank Agarwal" userId="b8d9c11f-2283-409d-b62d-e548e9e1def5" providerId="ADAL" clId="{4F48000C-3E09-43D4-93AB-C9C11E4C6BBB}" dt="2024-11-04T19:09:41.986" v="2"/>
          <ac:spMkLst>
            <pc:docMk/>
            <pc:sldMk cId="283176515" sldId="815"/>
            <ac:spMk id="38938" creationId="{00000000-0000-0000-0000-000000000000}"/>
          </ac:spMkLst>
        </pc:spChg>
        <pc:spChg chg="mod">
          <ac:chgData name="Mayank Agarwal" userId="b8d9c11f-2283-409d-b62d-e548e9e1def5" providerId="ADAL" clId="{4F48000C-3E09-43D4-93AB-C9C11E4C6BBB}" dt="2024-11-04T19:09:41.986" v="2"/>
          <ac:spMkLst>
            <pc:docMk/>
            <pc:sldMk cId="283176515" sldId="815"/>
            <ac:spMk id="38939" creationId="{00000000-0000-0000-0000-000000000000}"/>
          </ac:spMkLst>
        </pc:spChg>
        <pc:spChg chg="mod">
          <ac:chgData name="Mayank Agarwal" userId="b8d9c11f-2283-409d-b62d-e548e9e1def5" providerId="ADAL" clId="{4F48000C-3E09-43D4-93AB-C9C11E4C6BBB}" dt="2024-11-04T19:09:41.986" v="2"/>
          <ac:spMkLst>
            <pc:docMk/>
            <pc:sldMk cId="283176515" sldId="815"/>
            <ac:spMk id="38940" creationId="{00000000-0000-0000-0000-000000000000}"/>
          </ac:spMkLst>
        </pc:spChg>
        <pc:spChg chg="mod">
          <ac:chgData name="Mayank Agarwal" userId="b8d9c11f-2283-409d-b62d-e548e9e1def5" providerId="ADAL" clId="{4F48000C-3E09-43D4-93AB-C9C11E4C6BBB}" dt="2024-11-04T19:09:41.986" v="2"/>
          <ac:spMkLst>
            <pc:docMk/>
            <pc:sldMk cId="283176515" sldId="815"/>
            <ac:spMk id="38941" creationId="{00000000-0000-0000-0000-000000000000}"/>
          </ac:spMkLst>
        </pc:spChg>
        <pc:spChg chg="mod">
          <ac:chgData name="Mayank Agarwal" userId="b8d9c11f-2283-409d-b62d-e548e9e1def5" providerId="ADAL" clId="{4F48000C-3E09-43D4-93AB-C9C11E4C6BBB}" dt="2024-11-04T19:09:41.986" v="2"/>
          <ac:spMkLst>
            <pc:docMk/>
            <pc:sldMk cId="283176515" sldId="815"/>
            <ac:spMk id="38942" creationId="{00000000-0000-0000-0000-000000000000}"/>
          </ac:spMkLst>
        </pc:spChg>
        <pc:spChg chg="mod">
          <ac:chgData name="Mayank Agarwal" userId="b8d9c11f-2283-409d-b62d-e548e9e1def5" providerId="ADAL" clId="{4F48000C-3E09-43D4-93AB-C9C11E4C6BBB}" dt="2024-11-04T19:09:41.986" v="2"/>
          <ac:spMkLst>
            <pc:docMk/>
            <pc:sldMk cId="283176515" sldId="815"/>
            <ac:spMk id="38943" creationId="{00000000-0000-0000-0000-000000000000}"/>
          </ac:spMkLst>
        </pc:spChg>
        <pc:spChg chg="mod">
          <ac:chgData name="Mayank Agarwal" userId="b8d9c11f-2283-409d-b62d-e548e9e1def5" providerId="ADAL" clId="{4F48000C-3E09-43D4-93AB-C9C11E4C6BBB}" dt="2024-11-04T19:09:41.986" v="2"/>
          <ac:spMkLst>
            <pc:docMk/>
            <pc:sldMk cId="283176515" sldId="815"/>
            <ac:spMk id="38944" creationId="{00000000-0000-0000-0000-000000000000}"/>
          </ac:spMkLst>
        </pc:spChg>
        <pc:spChg chg="mod">
          <ac:chgData name="Mayank Agarwal" userId="b8d9c11f-2283-409d-b62d-e548e9e1def5" providerId="ADAL" clId="{4F48000C-3E09-43D4-93AB-C9C11E4C6BBB}" dt="2024-11-04T19:09:41.986" v="2"/>
          <ac:spMkLst>
            <pc:docMk/>
            <pc:sldMk cId="283176515" sldId="815"/>
            <ac:spMk id="38945" creationId="{00000000-0000-0000-0000-000000000000}"/>
          </ac:spMkLst>
        </pc:spChg>
        <pc:spChg chg="mod">
          <ac:chgData name="Mayank Agarwal" userId="b8d9c11f-2283-409d-b62d-e548e9e1def5" providerId="ADAL" clId="{4F48000C-3E09-43D4-93AB-C9C11E4C6BBB}" dt="2024-11-04T19:09:41.986" v="2"/>
          <ac:spMkLst>
            <pc:docMk/>
            <pc:sldMk cId="283176515" sldId="815"/>
            <ac:spMk id="38946" creationId="{00000000-0000-0000-0000-000000000000}"/>
          </ac:spMkLst>
        </pc:spChg>
        <pc:grpChg chg="mod">
          <ac:chgData name="Mayank Agarwal" userId="b8d9c11f-2283-409d-b62d-e548e9e1def5" providerId="ADAL" clId="{4F48000C-3E09-43D4-93AB-C9C11E4C6BBB}" dt="2024-11-04T19:09:41.986" v="2"/>
          <ac:grpSpMkLst>
            <pc:docMk/>
            <pc:sldMk cId="283176515" sldId="815"/>
            <ac:grpSpMk id="67597" creationId="{00000000-0000-0000-0000-000000000000}"/>
          </ac:grpSpMkLst>
        </pc:grpChg>
        <pc:grpChg chg="mod">
          <ac:chgData name="Mayank Agarwal" userId="b8d9c11f-2283-409d-b62d-e548e9e1def5" providerId="ADAL" clId="{4F48000C-3E09-43D4-93AB-C9C11E4C6BBB}" dt="2024-11-04T19:09:41.986" v="2"/>
          <ac:grpSpMkLst>
            <pc:docMk/>
            <pc:sldMk cId="283176515" sldId="815"/>
            <ac:grpSpMk id="67602" creationId="{00000000-0000-0000-0000-000000000000}"/>
          </ac:grpSpMkLst>
        </pc:grpChg>
      </pc:sldChg>
      <pc:sldChg chg="modSp">
        <pc:chgData name="Mayank Agarwal" userId="b8d9c11f-2283-409d-b62d-e548e9e1def5" providerId="ADAL" clId="{4F48000C-3E09-43D4-93AB-C9C11E4C6BBB}" dt="2024-11-04T19:09:41.986" v="2"/>
        <pc:sldMkLst>
          <pc:docMk/>
          <pc:sldMk cId="983158870" sldId="816"/>
        </pc:sldMkLst>
        <pc:spChg chg="mod">
          <ac:chgData name="Mayank Agarwal" userId="b8d9c11f-2283-409d-b62d-e548e9e1def5" providerId="ADAL" clId="{4F48000C-3E09-43D4-93AB-C9C11E4C6BBB}" dt="2024-11-04T19:09:41.986" v="2"/>
          <ac:spMkLst>
            <pc:docMk/>
            <pc:sldMk cId="983158870" sldId="816"/>
            <ac:spMk id="39942" creationId="{00000000-0000-0000-0000-000000000000}"/>
          </ac:spMkLst>
        </pc:spChg>
        <pc:spChg chg="mod">
          <ac:chgData name="Mayank Agarwal" userId="b8d9c11f-2283-409d-b62d-e548e9e1def5" providerId="ADAL" clId="{4F48000C-3E09-43D4-93AB-C9C11E4C6BBB}" dt="2024-11-04T19:09:40.497" v="1"/>
          <ac:spMkLst>
            <pc:docMk/>
            <pc:sldMk cId="983158870" sldId="816"/>
            <ac:spMk id="39952" creationId="{00000000-0000-0000-0000-000000000000}"/>
          </ac:spMkLst>
        </pc:spChg>
        <pc:spChg chg="mod">
          <ac:chgData name="Mayank Agarwal" userId="b8d9c11f-2283-409d-b62d-e548e9e1def5" providerId="ADAL" clId="{4F48000C-3E09-43D4-93AB-C9C11E4C6BBB}" dt="2024-11-04T19:09:41.986" v="2"/>
          <ac:spMkLst>
            <pc:docMk/>
            <pc:sldMk cId="983158870" sldId="816"/>
            <ac:spMk id="39957" creationId="{00000000-0000-0000-0000-000000000000}"/>
          </ac:spMkLst>
        </pc:spChg>
        <pc:spChg chg="mod">
          <ac:chgData name="Mayank Agarwal" userId="b8d9c11f-2283-409d-b62d-e548e9e1def5" providerId="ADAL" clId="{4F48000C-3E09-43D4-93AB-C9C11E4C6BBB}" dt="2024-11-04T19:09:41.986" v="2"/>
          <ac:spMkLst>
            <pc:docMk/>
            <pc:sldMk cId="983158870" sldId="816"/>
            <ac:spMk id="39958" creationId="{00000000-0000-0000-0000-000000000000}"/>
          </ac:spMkLst>
        </pc:spChg>
        <pc:grpChg chg="mod">
          <ac:chgData name="Mayank Agarwal" userId="b8d9c11f-2283-409d-b62d-e548e9e1def5" providerId="ADAL" clId="{4F48000C-3E09-43D4-93AB-C9C11E4C6BBB}" dt="2024-11-04T19:09:41.986" v="2"/>
          <ac:grpSpMkLst>
            <pc:docMk/>
            <pc:sldMk cId="983158870" sldId="816"/>
            <ac:grpSpMk id="5" creationId="{00000000-0000-0000-0000-000000000000}"/>
          </ac:grpSpMkLst>
        </pc:grpChg>
      </pc:sldChg>
      <pc:sldChg chg="modSp">
        <pc:chgData name="Mayank Agarwal" userId="b8d9c11f-2283-409d-b62d-e548e9e1def5" providerId="ADAL" clId="{4F48000C-3E09-43D4-93AB-C9C11E4C6BBB}" dt="2024-11-04T19:09:41.986" v="2"/>
        <pc:sldMkLst>
          <pc:docMk/>
          <pc:sldMk cId="2925700241" sldId="817"/>
        </pc:sldMkLst>
        <pc:spChg chg="mod">
          <ac:chgData name="Mayank Agarwal" userId="b8d9c11f-2283-409d-b62d-e548e9e1def5" providerId="ADAL" clId="{4F48000C-3E09-43D4-93AB-C9C11E4C6BBB}" dt="2024-11-04T19:09:41.986" v="2"/>
          <ac:spMkLst>
            <pc:docMk/>
            <pc:sldMk cId="2925700241" sldId="817"/>
            <ac:spMk id="40968" creationId="{00000000-0000-0000-0000-000000000000}"/>
          </ac:spMkLst>
        </pc:spChg>
        <pc:spChg chg="mod">
          <ac:chgData name="Mayank Agarwal" userId="b8d9c11f-2283-409d-b62d-e548e9e1def5" providerId="ADAL" clId="{4F48000C-3E09-43D4-93AB-C9C11E4C6BBB}" dt="2024-11-04T19:09:40.497" v="1"/>
          <ac:spMkLst>
            <pc:docMk/>
            <pc:sldMk cId="2925700241" sldId="817"/>
            <ac:spMk id="40979" creationId="{00000000-0000-0000-0000-000000000000}"/>
          </ac:spMkLst>
        </pc:spChg>
      </pc:sldChg>
      <pc:sldChg chg="modSp">
        <pc:chgData name="Mayank Agarwal" userId="b8d9c11f-2283-409d-b62d-e548e9e1def5" providerId="ADAL" clId="{4F48000C-3E09-43D4-93AB-C9C11E4C6BBB}" dt="2024-11-04T19:09:41.986" v="2"/>
        <pc:sldMkLst>
          <pc:docMk/>
          <pc:sldMk cId="1919085041" sldId="818"/>
        </pc:sldMkLst>
        <pc:spChg chg="mod">
          <ac:chgData name="Mayank Agarwal" userId="b8d9c11f-2283-409d-b62d-e548e9e1def5" providerId="ADAL" clId="{4F48000C-3E09-43D4-93AB-C9C11E4C6BBB}" dt="2024-11-04T19:09:41.986" v="2"/>
          <ac:spMkLst>
            <pc:docMk/>
            <pc:sldMk cId="1919085041" sldId="818"/>
            <ac:spMk id="41993" creationId="{00000000-0000-0000-0000-000000000000}"/>
          </ac:spMkLst>
        </pc:spChg>
        <pc:spChg chg="mod">
          <ac:chgData name="Mayank Agarwal" userId="b8d9c11f-2283-409d-b62d-e548e9e1def5" providerId="ADAL" clId="{4F48000C-3E09-43D4-93AB-C9C11E4C6BBB}" dt="2024-11-04T19:09:41.986" v="2"/>
          <ac:spMkLst>
            <pc:docMk/>
            <pc:sldMk cId="1919085041" sldId="818"/>
            <ac:spMk id="41995" creationId="{00000000-0000-0000-0000-000000000000}"/>
          </ac:spMkLst>
        </pc:spChg>
        <pc:spChg chg="mod">
          <ac:chgData name="Mayank Agarwal" userId="b8d9c11f-2283-409d-b62d-e548e9e1def5" providerId="ADAL" clId="{4F48000C-3E09-43D4-93AB-C9C11E4C6BBB}" dt="2024-11-04T19:09:41.986" v="2"/>
          <ac:spMkLst>
            <pc:docMk/>
            <pc:sldMk cId="1919085041" sldId="818"/>
            <ac:spMk id="42015" creationId="{00000000-0000-0000-0000-000000000000}"/>
          </ac:spMkLst>
        </pc:spChg>
        <pc:spChg chg="mod">
          <ac:chgData name="Mayank Agarwal" userId="b8d9c11f-2283-409d-b62d-e548e9e1def5" providerId="ADAL" clId="{4F48000C-3E09-43D4-93AB-C9C11E4C6BBB}" dt="2024-11-04T19:09:40.497" v="1"/>
          <ac:spMkLst>
            <pc:docMk/>
            <pc:sldMk cId="1919085041" sldId="818"/>
            <ac:spMk id="70659" creationId="{00000000-0000-0000-0000-000000000000}"/>
          </ac:spMkLst>
        </pc:spChg>
      </pc:sldChg>
      <pc:sldChg chg="modSp">
        <pc:chgData name="Mayank Agarwal" userId="b8d9c11f-2283-409d-b62d-e548e9e1def5" providerId="ADAL" clId="{4F48000C-3E09-43D4-93AB-C9C11E4C6BBB}" dt="2024-11-04T19:09:40.497" v="1"/>
        <pc:sldMkLst>
          <pc:docMk/>
          <pc:sldMk cId="2394028577" sldId="819"/>
        </pc:sldMkLst>
        <pc:spChg chg="mod">
          <ac:chgData name="Mayank Agarwal" userId="b8d9c11f-2283-409d-b62d-e548e9e1def5" providerId="ADAL" clId="{4F48000C-3E09-43D4-93AB-C9C11E4C6BBB}" dt="2024-11-04T19:09:40.497" v="1"/>
          <ac:spMkLst>
            <pc:docMk/>
            <pc:sldMk cId="2394028577" sldId="819"/>
            <ac:spMk id="16" creationId="{00000000-0000-0000-0000-000000000000}"/>
          </ac:spMkLst>
        </pc:spChg>
        <pc:spChg chg="mod">
          <ac:chgData name="Mayank Agarwal" userId="b8d9c11f-2283-409d-b62d-e548e9e1def5" providerId="ADAL" clId="{4F48000C-3E09-43D4-93AB-C9C11E4C6BBB}" dt="2024-11-04T19:09:40.497" v="1"/>
          <ac:spMkLst>
            <pc:docMk/>
            <pc:sldMk cId="2394028577" sldId="819"/>
            <ac:spMk id="71689" creationId="{00000000-0000-0000-0000-000000000000}"/>
          </ac:spMkLst>
        </pc:spChg>
      </pc:sldChg>
      <pc:sldChg chg="modSp">
        <pc:chgData name="Mayank Agarwal" userId="b8d9c11f-2283-409d-b62d-e548e9e1def5" providerId="ADAL" clId="{4F48000C-3E09-43D4-93AB-C9C11E4C6BBB}" dt="2024-11-04T19:09:40.497" v="1"/>
        <pc:sldMkLst>
          <pc:docMk/>
          <pc:sldMk cId="3321001597" sldId="821"/>
        </pc:sldMkLst>
        <pc:spChg chg="mod">
          <ac:chgData name="Mayank Agarwal" userId="b8d9c11f-2283-409d-b62d-e548e9e1def5" providerId="ADAL" clId="{4F48000C-3E09-43D4-93AB-C9C11E4C6BBB}" dt="2024-11-04T19:09:40.497" v="1"/>
          <ac:spMkLst>
            <pc:docMk/>
            <pc:sldMk cId="3321001597" sldId="821"/>
            <ac:spMk id="74755" creationId="{00000000-0000-0000-0000-000000000000}"/>
          </ac:spMkLst>
        </pc:spChg>
      </pc:sldChg>
      <pc:sldChg chg="modSp">
        <pc:chgData name="Mayank Agarwal" userId="b8d9c11f-2283-409d-b62d-e548e9e1def5" providerId="ADAL" clId="{4F48000C-3E09-43D4-93AB-C9C11E4C6BBB}" dt="2024-11-04T19:09:40.497" v="1"/>
        <pc:sldMkLst>
          <pc:docMk/>
          <pc:sldMk cId="1797336240" sldId="822"/>
        </pc:sldMkLst>
        <pc:spChg chg="mod">
          <ac:chgData name="Mayank Agarwal" userId="b8d9c11f-2283-409d-b62d-e548e9e1def5" providerId="ADAL" clId="{4F48000C-3E09-43D4-93AB-C9C11E4C6BBB}" dt="2024-11-04T19:09:40.497" v="1"/>
          <ac:spMkLst>
            <pc:docMk/>
            <pc:sldMk cId="1797336240" sldId="822"/>
            <ac:spMk id="46088" creationId="{00000000-0000-0000-0000-000000000000}"/>
          </ac:spMkLst>
        </pc:spChg>
      </pc:sldChg>
      <pc:sldChg chg="modSp">
        <pc:chgData name="Mayank Agarwal" userId="b8d9c11f-2283-409d-b62d-e548e9e1def5" providerId="ADAL" clId="{4F48000C-3E09-43D4-93AB-C9C11E4C6BBB}" dt="2024-11-04T19:09:40.497" v="1"/>
        <pc:sldMkLst>
          <pc:docMk/>
          <pc:sldMk cId="692028637" sldId="823"/>
        </pc:sldMkLst>
        <pc:spChg chg="mod">
          <ac:chgData name="Mayank Agarwal" userId="b8d9c11f-2283-409d-b62d-e548e9e1def5" providerId="ADAL" clId="{4F48000C-3E09-43D4-93AB-C9C11E4C6BBB}" dt="2024-11-04T19:09:40.497" v="1"/>
          <ac:spMkLst>
            <pc:docMk/>
            <pc:sldMk cId="692028637" sldId="823"/>
            <ac:spMk id="76803" creationId="{00000000-0000-0000-0000-000000000000}"/>
          </ac:spMkLst>
        </pc:spChg>
        <pc:spChg chg="mod">
          <ac:chgData name="Mayank Agarwal" userId="b8d9c11f-2283-409d-b62d-e548e9e1def5" providerId="ADAL" clId="{4F48000C-3E09-43D4-93AB-C9C11E4C6BBB}" dt="2024-11-04T19:09:40.497" v="1"/>
          <ac:spMkLst>
            <pc:docMk/>
            <pc:sldMk cId="692028637" sldId="823"/>
            <ac:spMk id="76807" creationId="{00000000-0000-0000-0000-000000000000}"/>
          </ac:spMkLst>
        </pc:spChg>
      </pc:sldChg>
      <pc:sldChg chg="modSp modAnim">
        <pc:chgData name="Mayank Agarwal" userId="b8d9c11f-2283-409d-b62d-e548e9e1def5" providerId="ADAL" clId="{4F48000C-3E09-43D4-93AB-C9C11E4C6BBB}" dt="2024-11-04T19:09:41.986" v="2"/>
        <pc:sldMkLst>
          <pc:docMk/>
          <pc:sldMk cId="1261638358" sldId="826"/>
        </pc:sldMkLst>
        <pc:spChg chg="mod">
          <ac:chgData name="Mayank Agarwal" userId="b8d9c11f-2283-409d-b62d-e548e9e1def5" providerId="ADAL" clId="{4F48000C-3E09-43D4-93AB-C9C11E4C6BBB}" dt="2024-11-04T19:09:40.497" v="1"/>
          <ac:spMkLst>
            <pc:docMk/>
            <pc:sldMk cId="1261638358" sldId="826"/>
            <ac:spMk id="217120" creationId="{00000000-0000-0000-0000-000000000000}"/>
          </ac:spMkLst>
        </pc:spChg>
      </pc:sldChg>
      <pc:sldChg chg="modSp">
        <pc:chgData name="Mayank Agarwal" userId="b8d9c11f-2283-409d-b62d-e548e9e1def5" providerId="ADAL" clId="{4F48000C-3E09-43D4-93AB-C9C11E4C6BBB}" dt="2024-11-04T19:09:41.986" v="2"/>
        <pc:sldMkLst>
          <pc:docMk/>
          <pc:sldMk cId="377084960" sldId="828"/>
        </pc:sldMkLst>
        <pc:spChg chg="mod">
          <ac:chgData name="Mayank Agarwal" userId="b8d9c11f-2283-409d-b62d-e548e9e1def5" providerId="ADAL" clId="{4F48000C-3E09-43D4-93AB-C9C11E4C6BBB}" dt="2024-11-04T19:09:41.986" v="2"/>
          <ac:spMkLst>
            <pc:docMk/>
            <pc:sldMk cId="377084960" sldId="828"/>
            <ac:spMk id="41993" creationId="{00000000-0000-0000-0000-000000000000}"/>
          </ac:spMkLst>
        </pc:spChg>
        <pc:spChg chg="mod">
          <ac:chgData name="Mayank Agarwal" userId="b8d9c11f-2283-409d-b62d-e548e9e1def5" providerId="ADAL" clId="{4F48000C-3E09-43D4-93AB-C9C11E4C6BBB}" dt="2024-11-04T19:09:41.986" v="2"/>
          <ac:spMkLst>
            <pc:docMk/>
            <pc:sldMk cId="377084960" sldId="828"/>
            <ac:spMk id="41995" creationId="{00000000-0000-0000-0000-000000000000}"/>
          </ac:spMkLst>
        </pc:spChg>
        <pc:spChg chg="mod">
          <ac:chgData name="Mayank Agarwal" userId="b8d9c11f-2283-409d-b62d-e548e9e1def5" providerId="ADAL" clId="{4F48000C-3E09-43D4-93AB-C9C11E4C6BBB}" dt="2024-11-04T19:09:41.986" v="2"/>
          <ac:spMkLst>
            <pc:docMk/>
            <pc:sldMk cId="377084960" sldId="828"/>
            <ac:spMk id="42015" creationId="{00000000-0000-0000-0000-000000000000}"/>
          </ac:spMkLst>
        </pc:spChg>
        <pc:spChg chg="mod">
          <ac:chgData name="Mayank Agarwal" userId="b8d9c11f-2283-409d-b62d-e548e9e1def5" providerId="ADAL" clId="{4F48000C-3E09-43D4-93AB-C9C11E4C6BBB}" dt="2024-11-04T19:09:40.497" v="1"/>
          <ac:spMkLst>
            <pc:docMk/>
            <pc:sldMk cId="377084960" sldId="828"/>
            <ac:spMk id="81924" creationId="{00000000-0000-0000-0000-000000000000}"/>
          </ac:spMkLst>
        </pc:spChg>
      </pc:sldChg>
      <pc:sldChg chg="modSp">
        <pc:chgData name="Mayank Agarwal" userId="b8d9c11f-2283-409d-b62d-e548e9e1def5" providerId="ADAL" clId="{4F48000C-3E09-43D4-93AB-C9C11E4C6BBB}" dt="2024-11-04T19:09:40.497" v="1"/>
        <pc:sldMkLst>
          <pc:docMk/>
          <pc:sldMk cId="4198221334" sldId="831"/>
        </pc:sldMkLst>
        <pc:spChg chg="mod">
          <ac:chgData name="Mayank Agarwal" userId="b8d9c11f-2283-409d-b62d-e548e9e1def5" providerId="ADAL" clId="{4F48000C-3E09-43D4-93AB-C9C11E4C6BBB}" dt="2024-11-04T19:09:40.497" v="1"/>
          <ac:spMkLst>
            <pc:docMk/>
            <pc:sldMk cId="4198221334" sldId="831"/>
            <ac:spMk id="84994" creationId="{00000000-0000-0000-0000-000000000000}"/>
          </ac:spMkLst>
        </pc:spChg>
      </pc:sldChg>
      <pc:sldChg chg="modSp">
        <pc:chgData name="Mayank Agarwal" userId="b8d9c11f-2283-409d-b62d-e548e9e1def5" providerId="ADAL" clId="{4F48000C-3E09-43D4-93AB-C9C11E4C6BBB}" dt="2024-11-04T19:09:40.497" v="1"/>
        <pc:sldMkLst>
          <pc:docMk/>
          <pc:sldMk cId="2835699673" sldId="833"/>
        </pc:sldMkLst>
        <pc:spChg chg="mod">
          <ac:chgData name="Mayank Agarwal" userId="b8d9c11f-2283-409d-b62d-e548e9e1def5" providerId="ADAL" clId="{4F48000C-3E09-43D4-93AB-C9C11E4C6BBB}" dt="2024-11-04T19:09:40.497" v="1"/>
          <ac:spMkLst>
            <pc:docMk/>
            <pc:sldMk cId="2835699673" sldId="833"/>
            <ac:spMk id="88067" creationId="{00000000-0000-0000-0000-000000000000}"/>
          </ac:spMkLst>
        </pc:spChg>
        <pc:spChg chg="mod">
          <ac:chgData name="Mayank Agarwal" userId="b8d9c11f-2283-409d-b62d-e548e9e1def5" providerId="ADAL" clId="{4F48000C-3E09-43D4-93AB-C9C11E4C6BBB}" dt="2024-11-04T19:09:40.497" v="1"/>
          <ac:spMkLst>
            <pc:docMk/>
            <pc:sldMk cId="2835699673" sldId="833"/>
            <ac:spMk id="88068" creationId="{00000000-0000-0000-0000-000000000000}"/>
          </ac:spMkLst>
        </pc:spChg>
      </pc:sldChg>
      <pc:sldChg chg="modSp">
        <pc:chgData name="Mayank Agarwal" userId="b8d9c11f-2283-409d-b62d-e548e9e1def5" providerId="ADAL" clId="{4F48000C-3E09-43D4-93AB-C9C11E4C6BBB}" dt="2024-11-04T19:09:40.497" v="1"/>
        <pc:sldMkLst>
          <pc:docMk/>
          <pc:sldMk cId="2273724072" sldId="834"/>
        </pc:sldMkLst>
        <pc:spChg chg="mod">
          <ac:chgData name="Mayank Agarwal" userId="b8d9c11f-2283-409d-b62d-e548e9e1def5" providerId="ADAL" clId="{4F48000C-3E09-43D4-93AB-C9C11E4C6BBB}" dt="2024-11-04T19:09:40.497" v="1"/>
          <ac:spMkLst>
            <pc:docMk/>
            <pc:sldMk cId="2273724072" sldId="834"/>
            <ac:spMk id="90116" creationId="{00000000-0000-0000-0000-000000000000}"/>
          </ac:spMkLst>
        </pc:spChg>
      </pc:sldChg>
      <pc:sldChg chg="modSp">
        <pc:chgData name="Mayank Agarwal" userId="b8d9c11f-2283-409d-b62d-e548e9e1def5" providerId="ADAL" clId="{4F48000C-3E09-43D4-93AB-C9C11E4C6BBB}" dt="2024-11-04T19:09:40.497" v="1"/>
        <pc:sldMkLst>
          <pc:docMk/>
          <pc:sldMk cId="1243732765" sldId="835"/>
        </pc:sldMkLst>
        <pc:spChg chg="mod">
          <ac:chgData name="Mayank Agarwal" userId="b8d9c11f-2283-409d-b62d-e548e9e1def5" providerId="ADAL" clId="{4F48000C-3E09-43D4-93AB-C9C11E4C6BBB}" dt="2024-11-04T19:09:40.497" v="1"/>
          <ac:spMkLst>
            <pc:docMk/>
            <pc:sldMk cId="1243732765" sldId="835"/>
            <ac:spMk id="92163" creationId="{00000000-0000-0000-0000-000000000000}"/>
          </ac:spMkLst>
        </pc:spChg>
        <pc:spChg chg="mod">
          <ac:chgData name="Mayank Agarwal" userId="b8d9c11f-2283-409d-b62d-e548e9e1def5" providerId="ADAL" clId="{4F48000C-3E09-43D4-93AB-C9C11E4C6BBB}" dt="2024-11-04T19:09:40.497" v="1"/>
          <ac:spMkLst>
            <pc:docMk/>
            <pc:sldMk cId="1243732765" sldId="835"/>
            <ac:spMk id="92164" creationId="{00000000-0000-0000-0000-000000000000}"/>
          </ac:spMkLst>
        </pc:spChg>
      </pc:sldChg>
      <pc:sldChg chg="modSp">
        <pc:chgData name="Mayank Agarwal" userId="b8d9c11f-2283-409d-b62d-e548e9e1def5" providerId="ADAL" clId="{4F48000C-3E09-43D4-93AB-C9C11E4C6BBB}" dt="2024-11-04T19:09:40.497" v="1"/>
        <pc:sldMkLst>
          <pc:docMk/>
          <pc:sldMk cId="391673774" sldId="836"/>
        </pc:sldMkLst>
        <pc:spChg chg="mod">
          <ac:chgData name="Mayank Agarwal" userId="b8d9c11f-2283-409d-b62d-e548e9e1def5" providerId="ADAL" clId="{4F48000C-3E09-43D4-93AB-C9C11E4C6BBB}" dt="2024-11-04T19:09:40.497" v="1"/>
          <ac:spMkLst>
            <pc:docMk/>
            <pc:sldMk cId="391673774" sldId="836"/>
            <ac:spMk id="94211" creationId="{00000000-0000-0000-0000-000000000000}"/>
          </ac:spMkLst>
        </pc:spChg>
        <pc:spChg chg="mod">
          <ac:chgData name="Mayank Agarwal" userId="b8d9c11f-2283-409d-b62d-e548e9e1def5" providerId="ADAL" clId="{4F48000C-3E09-43D4-93AB-C9C11E4C6BBB}" dt="2024-11-04T19:09:40.497" v="1"/>
          <ac:spMkLst>
            <pc:docMk/>
            <pc:sldMk cId="391673774" sldId="836"/>
            <ac:spMk id="94212" creationId="{00000000-0000-0000-0000-000000000000}"/>
          </ac:spMkLst>
        </pc:spChg>
      </pc:sldChg>
      <pc:sldChg chg="modSp">
        <pc:chgData name="Mayank Agarwal" userId="b8d9c11f-2283-409d-b62d-e548e9e1def5" providerId="ADAL" clId="{4F48000C-3E09-43D4-93AB-C9C11E4C6BBB}" dt="2024-11-04T19:09:40.497" v="1"/>
        <pc:sldMkLst>
          <pc:docMk/>
          <pc:sldMk cId="3403063055" sldId="841"/>
        </pc:sldMkLst>
        <pc:spChg chg="mod">
          <ac:chgData name="Mayank Agarwal" userId="b8d9c11f-2283-409d-b62d-e548e9e1def5" providerId="ADAL" clId="{4F48000C-3E09-43D4-93AB-C9C11E4C6BBB}" dt="2024-11-04T19:09:40.497" v="1"/>
          <ac:spMkLst>
            <pc:docMk/>
            <pc:sldMk cId="3403063055" sldId="841"/>
            <ac:spMk id="101380" creationId="{00000000-0000-0000-0000-000000000000}"/>
          </ac:spMkLst>
        </pc:spChg>
      </pc:sldChg>
      <pc:sldChg chg="modSp">
        <pc:chgData name="Mayank Agarwal" userId="b8d9c11f-2283-409d-b62d-e548e9e1def5" providerId="ADAL" clId="{4F48000C-3E09-43D4-93AB-C9C11E4C6BBB}" dt="2024-11-04T19:09:40.497" v="1"/>
        <pc:sldMkLst>
          <pc:docMk/>
          <pc:sldMk cId="4218648149" sldId="853"/>
        </pc:sldMkLst>
        <pc:spChg chg="mod">
          <ac:chgData name="Mayank Agarwal" userId="b8d9c11f-2283-409d-b62d-e548e9e1def5" providerId="ADAL" clId="{4F48000C-3E09-43D4-93AB-C9C11E4C6BBB}" dt="2024-11-04T19:09:40.497" v="1"/>
          <ac:spMkLst>
            <pc:docMk/>
            <pc:sldMk cId="4218648149" sldId="853"/>
            <ac:spMk id="113668" creationId="{00000000-0000-0000-0000-000000000000}"/>
          </ac:spMkLst>
        </pc:spChg>
      </pc:sldChg>
      <pc:sldChg chg="modSp">
        <pc:chgData name="Mayank Agarwal" userId="b8d9c11f-2283-409d-b62d-e548e9e1def5" providerId="ADAL" clId="{4F48000C-3E09-43D4-93AB-C9C11E4C6BBB}" dt="2024-11-04T19:09:41.986" v="2"/>
        <pc:sldMkLst>
          <pc:docMk/>
          <pc:sldMk cId="132489617" sldId="888"/>
        </pc:sldMkLst>
        <pc:spChg chg="mod">
          <ac:chgData name="Mayank Agarwal" userId="b8d9c11f-2283-409d-b62d-e548e9e1def5" providerId="ADAL" clId="{4F48000C-3E09-43D4-93AB-C9C11E4C6BBB}" dt="2024-11-04T19:09:40.497" v="1"/>
          <ac:spMkLst>
            <pc:docMk/>
            <pc:sldMk cId="132489617" sldId="888"/>
            <ac:spMk id="151557" creationId="{00000000-0000-0000-0000-000000000000}"/>
          </ac:spMkLst>
        </pc:spChg>
        <pc:spChg chg="mod">
          <ac:chgData name="Mayank Agarwal" userId="b8d9c11f-2283-409d-b62d-e548e9e1def5" providerId="ADAL" clId="{4F48000C-3E09-43D4-93AB-C9C11E4C6BBB}" dt="2024-11-04T19:09:41.986" v="2"/>
          <ac:spMkLst>
            <pc:docMk/>
            <pc:sldMk cId="132489617" sldId="888"/>
            <ac:spMk id="151561" creationId="{00000000-0000-0000-0000-000000000000}"/>
          </ac:spMkLst>
        </pc:spChg>
        <pc:spChg chg="mod">
          <ac:chgData name="Mayank Agarwal" userId="b8d9c11f-2283-409d-b62d-e548e9e1def5" providerId="ADAL" clId="{4F48000C-3E09-43D4-93AB-C9C11E4C6BBB}" dt="2024-11-04T19:09:41.986" v="2"/>
          <ac:spMkLst>
            <pc:docMk/>
            <pc:sldMk cId="132489617" sldId="888"/>
            <ac:spMk id="151566" creationId="{00000000-0000-0000-0000-000000000000}"/>
          </ac:spMkLst>
        </pc:spChg>
      </pc:sldChg>
      <pc:sldChg chg="modSp">
        <pc:chgData name="Mayank Agarwal" userId="b8d9c11f-2283-409d-b62d-e548e9e1def5" providerId="ADAL" clId="{4F48000C-3E09-43D4-93AB-C9C11E4C6BBB}" dt="2024-11-04T19:09:40.497" v="1"/>
        <pc:sldMkLst>
          <pc:docMk/>
          <pc:sldMk cId="893754044" sldId="890"/>
        </pc:sldMkLst>
        <pc:spChg chg="mod">
          <ac:chgData name="Mayank Agarwal" userId="b8d9c11f-2283-409d-b62d-e548e9e1def5" providerId="ADAL" clId="{4F48000C-3E09-43D4-93AB-C9C11E4C6BBB}" dt="2024-11-04T19:09:40.497" v="1"/>
          <ac:spMkLst>
            <pc:docMk/>
            <pc:sldMk cId="893754044" sldId="890"/>
            <ac:spMk id="115717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5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225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225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225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fld id="{91292653-6D28-1A4E-9097-8CD0CA4FA95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64161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99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fld id="{ACCD5E27-021E-054B-84DE-C100B224ED6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741150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9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9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9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9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9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2559C28D-846B-1C48-96B5-B4E134B5C20D}" type="slidenum">
              <a:rPr lang="en-US" sz="1300">
                <a:latin typeface="Times New Roman" charset="0"/>
              </a:rPr>
              <a:pPr/>
              <a:t>2</a:t>
            </a:fld>
            <a:endParaRPr lang="en-US" sz="1300" dirty="0">
              <a:latin typeface="Times New Roman" charset="0"/>
            </a:endParaRPr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dirty="0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63F9E48E-4B25-AD41-97B8-9B90B849A104}" type="slidenum">
              <a:rPr lang="en-US" sz="1300">
                <a:latin typeface="Times New Roman" charset="0"/>
              </a:rPr>
              <a:pPr/>
              <a:t>3</a:t>
            </a:fld>
            <a:endParaRPr lang="en-US" sz="1300" dirty="0">
              <a:latin typeface="Times New Roman" charset="0"/>
            </a:endParaRPr>
          </a:p>
        </p:txBody>
      </p:sp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dirty="0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E092E8C0-E4B7-124E-B1F5-64B1BB24563C}" type="slidenum">
              <a:rPr lang="en-US" sz="1300">
                <a:latin typeface="Times New Roman" charset="0"/>
              </a:rPr>
              <a:pPr/>
              <a:t>4</a:t>
            </a:fld>
            <a:endParaRPr lang="en-US" sz="1300" dirty="0">
              <a:latin typeface="Times New Roman" charset="0"/>
            </a:endParaRPr>
          </a:p>
        </p:txBody>
      </p:sp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dirty="0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C3BA4C4C-1124-4442-863F-75D915E42360}" type="slidenum">
              <a:rPr lang="en-US" sz="1300">
                <a:latin typeface="Times New Roman" charset="0"/>
              </a:rPr>
              <a:pPr/>
              <a:t>5</a:t>
            </a:fld>
            <a:endParaRPr lang="en-US" sz="1300" dirty="0">
              <a:latin typeface="Times New Roman" charset="0"/>
            </a:endParaRPr>
          </a:p>
        </p:txBody>
      </p:sp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dirty="0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631B46F4-D8F1-FB47-8313-D4E9CFBB5306}" type="slidenum">
              <a:rPr lang="en-US" sz="1300">
                <a:latin typeface="Times New Roman" charset="0"/>
              </a:rPr>
              <a:pPr/>
              <a:t>6</a:t>
            </a:fld>
            <a:endParaRPr lang="en-US" sz="1300" dirty="0">
              <a:latin typeface="Times New Roman" charset="0"/>
            </a:endParaRPr>
          </a:p>
        </p:txBody>
      </p:sp>
      <p:sp>
        <p:nvSpPr>
          <p:cNvPr id="3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dirty="0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027CCE78-9F8E-C448-9A42-58BF38E05FB0}" type="slidenum">
              <a:rPr lang="en-US" sz="1300">
                <a:latin typeface="Times New Roman" charset="0"/>
              </a:rPr>
              <a:pPr/>
              <a:t>7</a:t>
            </a:fld>
            <a:endParaRPr lang="en-US" sz="1300" dirty="0">
              <a:latin typeface="Times New Roman" charset="0"/>
            </a:endParaRPr>
          </a:p>
        </p:txBody>
      </p:sp>
      <p:sp>
        <p:nvSpPr>
          <p:cNvPr id="32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dirty="0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237593D9-B343-834A-85F0-B1AE9CDB1CD5}" type="slidenum">
              <a:rPr lang="en-US" sz="1300">
                <a:latin typeface="Times New Roman" charset="0"/>
              </a:rPr>
              <a:pPr/>
              <a:t>8</a:t>
            </a:fld>
            <a:endParaRPr lang="en-US" sz="1300" dirty="0">
              <a:latin typeface="Times New Roman" charset="0"/>
            </a:endParaRPr>
          </a:p>
        </p:txBody>
      </p:sp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dirty="0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962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dirty="0">
              <a:latin typeface="Times New Roman" charset="0"/>
            </a:endParaRPr>
          </a:p>
        </p:txBody>
      </p:sp>
      <p:sp>
        <p:nvSpPr>
          <p:cNvPr id="40963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E7E155B8-85D7-064C-A3DC-9AC8D6642442}" type="slidenum">
              <a:rPr lang="en-US" sz="1300">
                <a:latin typeface="Times New Roman" charset="0"/>
              </a:rPr>
              <a:pPr/>
              <a:t>13</a:t>
            </a:fld>
            <a:endParaRPr lang="en-US" sz="1300" dirty="0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EB0D0B5D-2923-9245-A2F1-AFB98D2C34B4}" type="slidenum">
              <a:rPr lang="en-US" sz="1300">
                <a:latin typeface="Times New Roman" charset="0"/>
              </a:rPr>
              <a:pPr/>
              <a:t>27</a:t>
            </a:fld>
            <a:endParaRPr lang="en-US" sz="1300" dirty="0">
              <a:latin typeface="Times New Roman" charset="0"/>
            </a:endParaRPr>
          </a:p>
        </p:txBody>
      </p:sp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dirty="0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23E5EC24-400D-2849-9FC7-CF78AFD072FD}" type="slidenum">
              <a:rPr lang="en-US" sz="1300">
                <a:latin typeface="Times New Roman" charset="0"/>
              </a:rPr>
              <a:pPr/>
              <a:t>40</a:t>
            </a:fld>
            <a:endParaRPr lang="en-US" sz="1300" dirty="0">
              <a:latin typeface="Times New Roman" charset="0"/>
            </a:endParaRPr>
          </a:p>
        </p:txBody>
      </p:sp>
      <p:sp>
        <p:nvSpPr>
          <p:cNvPr id="73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dirty="0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2A76B79F-3EE0-D84C-8CC5-463DD51E989F}" type="slidenum">
              <a:rPr lang="en-US" sz="1300">
                <a:latin typeface="Times New Roman" charset="0"/>
              </a:rPr>
              <a:pPr/>
              <a:t>52</a:t>
            </a:fld>
            <a:endParaRPr lang="en-US" sz="1300" dirty="0">
              <a:latin typeface="Times New Roman" charset="0"/>
            </a:endParaRPr>
          </a:p>
        </p:txBody>
      </p:sp>
      <p:sp>
        <p:nvSpPr>
          <p:cNvPr id="162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2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dirty="0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3336A4F1-D03D-C448-99C7-999533890546}" type="slidenum">
              <a:rPr lang="en-US" sz="1300">
                <a:latin typeface="Times New Roman" charset="0"/>
              </a:rPr>
              <a:pPr/>
              <a:t>53</a:t>
            </a:fld>
            <a:endParaRPr lang="en-US" sz="1300" dirty="0">
              <a:latin typeface="Times New Roman" charset="0"/>
            </a:endParaRPr>
          </a:p>
        </p:txBody>
      </p:sp>
      <p:sp>
        <p:nvSpPr>
          <p:cNvPr id="164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486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dirty="0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75D078AD-F743-A141-9261-CB51CB6CF8FA}" type="slidenum">
              <a:rPr lang="en-US" sz="1300">
                <a:latin typeface="Times New Roman" charset="0"/>
              </a:rPr>
              <a:pPr/>
              <a:t>54</a:t>
            </a:fld>
            <a:endParaRPr lang="en-US" sz="1300" dirty="0">
              <a:latin typeface="Times New Roman" charset="0"/>
            </a:endParaRPr>
          </a:p>
        </p:txBody>
      </p:sp>
      <p:sp>
        <p:nvSpPr>
          <p:cNvPr id="166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691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dirty="0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EBD227A4-F51F-4E46-A74C-498BCE4BC1D0}" type="slidenum">
              <a:rPr lang="en-US" sz="1300">
                <a:latin typeface="Times New Roman" charset="0"/>
              </a:rPr>
              <a:pPr/>
              <a:t>55</a:t>
            </a:fld>
            <a:endParaRPr lang="en-US" sz="1300" dirty="0">
              <a:latin typeface="Times New Roman" charset="0"/>
            </a:endParaRPr>
          </a:p>
        </p:txBody>
      </p:sp>
      <p:sp>
        <p:nvSpPr>
          <p:cNvPr id="168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896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dirty="0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E4650212-7104-F24E-86E1-92D7F1DD65AD}" type="slidenum">
              <a:rPr lang="en-US" sz="1300">
                <a:latin typeface="Times New Roman" charset="0"/>
              </a:rPr>
              <a:pPr/>
              <a:t>56</a:t>
            </a:fld>
            <a:endParaRPr lang="en-US" sz="1300" dirty="0">
              <a:latin typeface="Times New Roman" charset="0"/>
            </a:endParaRPr>
          </a:p>
        </p:txBody>
      </p:sp>
      <p:sp>
        <p:nvSpPr>
          <p:cNvPr id="171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10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dirty="0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A9D0916E-EAFF-8B46-A7FE-EE78C7EB4A34}" type="slidenum">
              <a:rPr lang="en-US" sz="1300">
                <a:latin typeface="Times New Roman" charset="0"/>
              </a:rPr>
              <a:pPr/>
              <a:t>57</a:t>
            </a:fld>
            <a:endParaRPr lang="en-US" sz="1300" dirty="0">
              <a:latin typeface="Times New Roman" charset="0"/>
            </a:endParaRPr>
          </a:p>
        </p:txBody>
      </p:sp>
      <p:sp>
        <p:nvSpPr>
          <p:cNvPr id="173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305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dirty="0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39E1AE8E-6666-5F45-B30E-5DA7119F5109}" type="slidenum">
              <a:rPr lang="en-US" sz="1300">
                <a:latin typeface="Times New Roman" charset="0"/>
              </a:rPr>
              <a:pPr/>
              <a:t>58</a:t>
            </a:fld>
            <a:endParaRPr lang="en-US" sz="1300" dirty="0">
              <a:latin typeface="Times New Roman" charset="0"/>
            </a:endParaRPr>
          </a:p>
        </p:txBody>
      </p:sp>
      <p:sp>
        <p:nvSpPr>
          <p:cNvPr id="175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510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dirty="0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A1C26430-BF57-DE4D-BCC2-16871A94A2FA}" type="slidenum">
              <a:rPr lang="en-US" sz="1300">
                <a:latin typeface="Times New Roman" charset="0"/>
              </a:rPr>
              <a:pPr/>
              <a:t>59</a:t>
            </a:fld>
            <a:endParaRPr lang="en-US" sz="1300" dirty="0">
              <a:latin typeface="Times New Roman" charset="0"/>
            </a:endParaRPr>
          </a:p>
        </p:txBody>
      </p:sp>
      <p:sp>
        <p:nvSpPr>
          <p:cNvPr id="177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715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dirty="0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30F50101-FD74-C740-8856-8B43E500796D}" type="slidenum">
              <a:rPr lang="en-US" sz="1300">
                <a:latin typeface="Times New Roman" charset="0"/>
              </a:rPr>
              <a:pPr/>
              <a:t>60</a:t>
            </a:fld>
            <a:endParaRPr lang="en-US" sz="1300" dirty="0">
              <a:latin typeface="Times New Roman" charset="0"/>
            </a:endParaRPr>
          </a:p>
        </p:txBody>
      </p:sp>
      <p:sp>
        <p:nvSpPr>
          <p:cNvPr id="179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920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dirty="0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5611354D-0B24-8A4B-98E4-58FE38077F6D}" type="slidenum">
              <a:rPr lang="en-US" sz="1300">
                <a:latin typeface="Times New Roman" charset="0"/>
              </a:rPr>
              <a:pPr/>
              <a:t>61</a:t>
            </a:fld>
            <a:endParaRPr lang="en-US" sz="1300" dirty="0">
              <a:latin typeface="Times New Roman" charset="0"/>
            </a:endParaRPr>
          </a:p>
        </p:txBody>
      </p:sp>
      <p:sp>
        <p:nvSpPr>
          <p:cNvPr id="183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329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dirty="0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A2F4463E-1052-DE40-985B-2B630D237B76}" type="slidenum">
              <a:rPr lang="en-US" sz="1300">
                <a:latin typeface="Times New Roman" charset="0"/>
              </a:rPr>
              <a:pPr/>
              <a:t>62</a:t>
            </a:fld>
            <a:endParaRPr lang="en-US" sz="1300" dirty="0">
              <a:latin typeface="Times New Roman" charset="0"/>
            </a:endParaRPr>
          </a:p>
        </p:txBody>
      </p:sp>
      <p:sp>
        <p:nvSpPr>
          <p:cNvPr id="185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534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dirty="0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58704DC2-A329-F441-A1F7-096EBC17D091}" type="slidenum">
              <a:rPr lang="en-US" sz="1300">
                <a:latin typeface="Times New Roman" charset="0"/>
              </a:rPr>
              <a:pPr/>
              <a:t>63</a:t>
            </a:fld>
            <a:endParaRPr lang="en-US" sz="1300" dirty="0">
              <a:latin typeface="Times New Roman" charset="0"/>
            </a:endParaRPr>
          </a:p>
        </p:txBody>
      </p:sp>
      <p:sp>
        <p:nvSpPr>
          <p:cNvPr id="187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739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dirty="0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58704DC2-A329-F441-A1F7-096EBC17D091}" type="slidenum">
              <a:rPr lang="en-US" sz="1300">
                <a:latin typeface="Times New Roman" charset="0"/>
              </a:rPr>
              <a:pPr/>
              <a:t>64</a:t>
            </a:fld>
            <a:endParaRPr lang="en-US" sz="1300" dirty="0">
              <a:latin typeface="Times New Roman" charset="0"/>
            </a:endParaRPr>
          </a:p>
        </p:txBody>
      </p:sp>
      <p:sp>
        <p:nvSpPr>
          <p:cNvPr id="187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739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 dirty="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801174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58704DC2-A329-F441-A1F7-096EBC17D091}" type="slidenum">
              <a:rPr lang="en-US" sz="1300">
                <a:latin typeface="Times New Roman" charset="0"/>
              </a:rPr>
              <a:pPr/>
              <a:t>65</a:t>
            </a:fld>
            <a:endParaRPr lang="en-US" sz="1300" dirty="0">
              <a:latin typeface="Times New Roman" charset="0"/>
            </a:endParaRPr>
          </a:p>
        </p:txBody>
      </p:sp>
      <p:sp>
        <p:nvSpPr>
          <p:cNvPr id="187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739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dirty="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877085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58704DC2-A329-F441-A1F7-096EBC17D091}" type="slidenum">
              <a:rPr lang="en-US" sz="1300">
                <a:latin typeface="Times New Roman" charset="0"/>
              </a:rPr>
              <a:pPr/>
              <a:t>66</a:t>
            </a:fld>
            <a:endParaRPr lang="en-US" sz="1300" dirty="0">
              <a:latin typeface="Times New Roman" charset="0"/>
            </a:endParaRPr>
          </a:p>
        </p:txBody>
      </p:sp>
      <p:sp>
        <p:nvSpPr>
          <p:cNvPr id="187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739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 dirty="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637747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58704DC2-A329-F441-A1F7-096EBC17D091}" type="slidenum">
              <a:rPr lang="en-US" sz="1300">
                <a:latin typeface="Times New Roman" charset="0"/>
              </a:rPr>
              <a:pPr/>
              <a:t>67</a:t>
            </a:fld>
            <a:endParaRPr lang="en-US" sz="1300" dirty="0">
              <a:latin typeface="Times New Roman" charset="0"/>
            </a:endParaRPr>
          </a:p>
        </p:txBody>
      </p:sp>
      <p:sp>
        <p:nvSpPr>
          <p:cNvPr id="187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739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dirty="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311865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58704DC2-A329-F441-A1F7-096EBC17D091}" type="slidenum">
              <a:rPr lang="en-US" sz="1300">
                <a:latin typeface="Times New Roman" charset="0"/>
              </a:rPr>
              <a:pPr/>
              <a:t>68</a:t>
            </a:fld>
            <a:endParaRPr lang="en-US" sz="1300" dirty="0">
              <a:latin typeface="Times New Roman" charset="0"/>
            </a:endParaRPr>
          </a:p>
        </p:txBody>
      </p:sp>
      <p:sp>
        <p:nvSpPr>
          <p:cNvPr id="187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739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 dirty="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8004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601B91CF-607B-EC43-8F32-15B5270B1A9E}" type="slidenum">
              <a:rPr lang="en-US" sz="1300">
                <a:latin typeface="Times New Roman" charset="0"/>
              </a:rPr>
              <a:pPr/>
              <a:t>69</a:t>
            </a:fld>
            <a:endParaRPr lang="en-US" sz="1300" dirty="0">
              <a:latin typeface="Times New Roman" charset="0"/>
            </a:endParaRPr>
          </a:p>
        </p:txBody>
      </p:sp>
      <p:sp>
        <p:nvSpPr>
          <p:cNvPr id="189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944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dirty="0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68816444-00F3-FB41-8194-2808B3BA3681}" type="slidenum">
              <a:rPr lang="en-US" sz="1300">
                <a:latin typeface="Times New Roman" charset="0"/>
              </a:rPr>
              <a:pPr/>
              <a:t>70</a:t>
            </a:fld>
            <a:endParaRPr lang="en-US" sz="1300" dirty="0">
              <a:latin typeface="Times New Roman" charset="0"/>
            </a:endParaRPr>
          </a:p>
        </p:txBody>
      </p:sp>
      <p:sp>
        <p:nvSpPr>
          <p:cNvPr id="191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149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dirty="0">
              <a:latin typeface="Times New Roman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5532438" y="6467475"/>
            <a:ext cx="2895600" cy="2873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Network Layer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324850" y="6462713"/>
            <a:ext cx="676275" cy="2762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4-</a:t>
            </a:r>
            <a:fld id="{7EFC9773-7379-5049-A6C9-0C8EEEC5C54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2134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 u="none">
                <a:latin typeface="Gill Sans MT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4648200" y="6477000"/>
            <a:ext cx="3862388" cy="3111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Network Security</a:t>
            </a:r>
          </a:p>
        </p:txBody>
      </p:sp>
    </p:spTree>
    <p:extLst>
      <p:ext uri="{BB962C8B-B14F-4D97-AF65-F5344CB8AC3E}">
        <p14:creationId xmlns:p14="http://schemas.microsoft.com/office/powerpoint/2010/main" val="3881662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4648200" y="6477000"/>
            <a:ext cx="3862388" cy="3111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Network Security</a:t>
            </a:r>
          </a:p>
        </p:txBody>
      </p:sp>
    </p:spTree>
    <p:extLst>
      <p:ext uri="{BB962C8B-B14F-4D97-AF65-F5344CB8AC3E}">
        <p14:creationId xmlns:p14="http://schemas.microsoft.com/office/powerpoint/2010/main" val="3296899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4648200" y="6477000"/>
            <a:ext cx="3862388" cy="3111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Network Security</a:t>
            </a:r>
          </a:p>
        </p:txBody>
      </p:sp>
    </p:spTree>
    <p:extLst>
      <p:ext uri="{BB962C8B-B14F-4D97-AF65-F5344CB8AC3E}">
        <p14:creationId xmlns:p14="http://schemas.microsoft.com/office/powerpoint/2010/main" val="2868520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4648200" y="6477000"/>
            <a:ext cx="3862388" cy="3111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Network Security</a:t>
            </a:r>
          </a:p>
        </p:txBody>
      </p:sp>
    </p:spTree>
    <p:extLst>
      <p:ext uri="{BB962C8B-B14F-4D97-AF65-F5344CB8AC3E}">
        <p14:creationId xmlns:p14="http://schemas.microsoft.com/office/powerpoint/2010/main" val="387266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495800" y="1600200"/>
            <a:ext cx="3810000" cy="2247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495800" y="4000500"/>
            <a:ext cx="3810000" cy="2247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0"/>
          </p:nvPr>
        </p:nvSpPr>
        <p:spPr>
          <a:xfrm>
            <a:off x="4648200" y="6477000"/>
            <a:ext cx="3862388" cy="3111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Network Security</a:t>
            </a:r>
          </a:p>
        </p:txBody>
      </p:sp>
    </p:spTree>
    <p:extLst>
      <p:ext uri="{BB962C8B-B14F-4D97-AF65-F5344CB8AC3E}">
        <p14:creationId xmlns:p14="http://schemas.microsoft.com/office/powerpoint/2010/main" val="1633272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4648200" y="6477000"/>
            <a:ext cx="3862388" cy="3111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Network Security</a:t>
            </a:r>
          </a:p>
        </p:txBody>
      </p:sp>
    </p:spTree>
    <p:extLst>
      <p:ext uri="{BB962C8B-B14F-4D97-AF65-F5344CB8AC3E}">
        <p14:creationId xmlns:p14="http://schemas.microsoft.com/office/powerpoint/2010/main" val="1320962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>
  <p:cSld name="Title, 2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33400" y="1600200"/>
            <a:ext cx="3810000" cy="2247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533400" y="4000500"/>
            <a:ext cx="3810000" cy="2247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3"/>
          </p:nvPr>
        </p:nvSpPr>
        <p:spPr>
          <a:xfrm>
            <a:off x="44958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0"/>
          </p:nvPr>
        </p:nvSpPr>
        <p:spPr>
          <a:xfrm>
            <a:off x="4648200" y="6477000"/>
            <a:ext cx="3862388" cy="3111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Network Security</a:t>
            </a:r>
          </a:p>
        </p:txBody>
      </p:sp>
    </p:spTree>
    <p:extLst>
      <p:ext uri="{BB962C8B-B14F-4D97-AF65-F5344CB8AC3E}">
        <p14:creationId xmlns:p14="http://schemas.microsoft.com/office/powerpoint/2010/main" val="25870177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533400" y="1600200"/>
            <a:ext cx="7772400" cy="4648200"/>
          </a:xfrm>
        </p:spPr>
        <p:txBody>
          <a:bodyPr/>
          <a:lstStyle/>
          <a:p>
            <a:pPr lvl="0"/>
            <a:endParaRPr lang="en-US" noProof="0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4648200" y="6477000"/>
            <a:ext cx="3862388" cy="3111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Network Security</a:t>
            </a:r>
          </a:p>
        </p:txBody>
      </p:sp>
    </p:spTree>
    <p:extLst>
      <p:ext uri="{BB962C8B-B14F-4D97-AF65-F5344CB8AC3E}">
        <p14:creationId xmlns:p14="http://schemas.microsoft.com/office/powerpoint/2010/main" val="6196833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600200"/>
            <a:ext cx="77724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>
                <a:latin typeface="Tahoma" charset="0"/>
              </a:rPr>
              <a:pPr/>
              <a:t>‹#›</a:t>
            </a:fld>
            <a:endParaRPr lang="en-US" sz="1200" dirty="0">
              <a:latin typeface="Tahoma" charset="0"/>
            </a:endParaRPr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3" r:id="rId1"/>
    <p:sldLayoutId id="2147483804" r:id="rId2"/>
    <p:sldLayoutId id="2147483805" r:id="rId3"/>
    <p:sldLayoutId id="2147483806" r:id="rId4"/>
    <p:sldLayoutId id="2147483807" r:id="rId5"/>
    <p:sldLayoutId id="2147483808" r:id="rId6"/>
    <p:sldLayoutId id="2147483809" r:id="rId7"/>
    <p:sldLayoutId id="2147483810" r:id="rId8"/>
    <p:sldLayoutId id="2147483811" r:id="rId9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+mj-lt"/>
          <a:ea typeface="ＭＳ Ｐゴシック" charset="0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ＭＳ Ｐゴシック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9pPr>
    </p:titleStyle>
    <p:bodyStyle>
      <a:lvl1pPr marL="342900" indent="-342900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SzPct val="100000"/>
        <a:buFont typeface="Wingdings" charset="2"/>
        <a:buChar char="§"/>
        <a:defRPr sz="28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Font typeface="Arial"/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Comic Sans MS" pitchFamily="66" charset="0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imes New Roman" pitchFamily="-109" charset="0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  <a:ea typeface="ＭＳ Ｐゴシック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10.wmf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openxmlformats.org/officeDocument/2006/relationships/image" Target="../media/image10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wm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16.wmf"/><Relationship Id="rId4" Type="http://schemas.openxmlformats.org/officeDocument/2006/relationships/image" Target="../media/image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16.wmf"/><Relationship Id="rId4" Type="http://schemas.openxmlformats.org/officeDocument/2006/relationships/image" Target="../media/image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0.wmf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0.w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0.w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5" Type="http://schemas.openxmlformats.org/officeDocument/2006/relationships/image" Target="../media/image21.wmf"/><Relationship Id="rId4" Type="http://schemas.openxmlformats.org/officeDocument/2006/relationships/image" Target="../media/image10.wm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20.wmf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1.png"/><Relationship Id="rId4" Type="http://schemas.openxmlformats.org/officeDocument/2006/relationships/image" Target="../media/image21.wmf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4.png"/><Relationship Id="rId4" Type="http://schemas.openxmlformats.org/officeDocument/2006/relationships/image" Target="../media/image27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9.png"/><Relationship Id="rId5" Type="http://schemas.openxmlformats.org/officeDocument/2006/relationships/image" Target="../media/image24.png"/><Relationship Id="rId4" Type="http://schemas.openxmlformats.org/officeDocument/2006/relationships/image" Target="../media/image26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4"/>
          <p:cNvSpPr>
            <a:spLocks noChangeArrowheads="1"/>
          </p:cNvSpPr>
          <p:nvPr/>
        </p:nvSpPr>
        <p:spPr bwMode="auto">
          <a:xfrm>
            <a:off x="5608638" y="3489325"/>
            <a:ext cx="3260725" cy="286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1" hangingPunct="1">
              <a:lnSpc>
                <a:spcPts val="3063"/>
              </a:lnSpc>
            </a:pPr>
            <a:r>
              <a:rPr lang="en-US" sz="2800" i="1" dirty="0">
                <a:solidFill>
                  <a:srgbClr val="008000"/>
                </a:solidFill>
                <a:cs typeface="Arial" charset="0"/>
              </a:rPr>
              <a:t>Computer Networking: A Top Down Approach </a:t>
            </a:r>
            <a:br>
              <a:rPr lang="en-US" sz="2800" dirty="0">
                <a:solidFill>
                  <a:srgbClr val="008000"/>
                </a:solidFill>
                <a:cs typeface="Arial" charset="0"/>
              </a:rPr>
            </a:br>
            <a:endParaRPr lang="en-US" sz="2000" dirty="0">
              <a:solidFill>
                <a:srgbClr val="008000"/>
              </a:solidFill>
              <a:cs typeface="Arial" charset="0"/>
            </a:endParaRPr>
          </a:p>
        </p:txBody>
      </p:sp>
      <p:sp>
        <p:nvSpPr>
          <p:cNvPr id="40962" name="Text Box 6"/>
          <p:cNvSpPr txBox="1">
            <a:spLocks noChangeArrowheads="1"/>
          </p:cNvSpPr>
          <p:nvPr/>
        </p:nvSpPr>
        <p:spPr bwMode="auto">
          <a:xfrm>
            <a:off x="369888" y="3241675"/>
            <a:ext cx="5378450" cy="1481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dirty="0"/>
              <a:t>A note on the use of these Powerpoint slides:</a:t>
            </a:r>
          </a:p>
          <a:p>
            <a:r>
              <a:rPr lang="en-US" sz="1200" dirty="0"/>
              <a:t>We</a:t>
            </a:r>
            <a:r>
              <a:rPr lang="ja-JP" altLang="en-US" sz="1200" dirty="0"/>
              <a:t>’</a:t>
            </a:r>
            <a:r>
              <a:rPr lang="en-US" altLang="ja-JP" sz="1200" dirty="0"/>
              <a:t>re making these slides freely available to all (faculty, students, readers). They’re in PowerPoint form so you see the animations; and can add, modify, and delete slides  (including this one) and slide content to suit your needs. They obviously represent a </a:t>
            </a:r>
            <a:r>
              <a:rPr lang="en-US" altLang="ja-JP" sz="1200" i="1" dirty="0"/>
              <a:t>lot</a:t>
            </a:r>
            <a:r>
              <a:rPr lang="en-US" altLang="ja-JP" sz="1200" dirty="0"/>
              <a:t> of work on our part. In return for use, we only ask the following:</a:t>
            </a:r>
          </a:p>
          <a:p>
            <a:pPr>
              <a:lnSpc>
                <a:spcPct val="85000"/>
              </a:lnSpc>
            </a:pPr>
            <a:endParaRPr lang="en-US" sz="1400" dirty="0"/>
          </a:p>
        </p:txBody>
      </p:sp>
      <p:sp>
        <p:nvSpPr>
          <p:cNvPr id="29702" name="Text Box 7"/>
          <p:cNvSpPr txBox="1">
            <a:spLocks noChangeArrowheads="1"/>
          </p:cNvSpPr>
          <p:nvPr/>
        </p:nvSpPr>
        <p:spPr bwMode="auto">
          <a:xfrm>
            <a:off x="390525" y="4370388"/>
            <a:ext cx="5378450" cy="209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73038" indent="-17303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endParaRPr lang="en-US" sz="1400" dirty="0">
              <a:latin typeface="Gill Sans MT" charset="0"/>
            </a:endParaRPr>
          </a:p>
          <a:p>
            <a:pPr marL="231775" indent="-177800"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1200" dirty="0"/>
              <a:t>If you use these slides (e.g., in a class) that you mention their source (after all, we</a:t>
            </a:r>
            <a:r>
              <a:rPr lang="ja-JP" altLang="en-US" sz="1200" dirty="0"/>
              <a:t>’</a:t>
            </a:r>
            <a:r>
              <a:rPr lang="en-US" altLang="ja-JP" sz="1200" dirty="0"/>
              <a:t>d like people to use our book!)</a:t>
            </a:r>
          </a:p>
          <a:p>
            <a:pPr marL="231775" indent="-177800"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1200" dirty="0"/>
              <a:t>If you post any slides on a www site, that you note that they are adapted from (or perhaps identical to) our slides, and note our copyright of this material.</a:t>
            </a:r>
          </a:p>
          <a:p>
            <a:pPr>
              <a:buClr>
                <a:schemeClr val="accent2"/>
              </a:buClr>
              <a:buFont typeface="Wingdings" charset="0"/>
              <a:buChar char="q"/>
              <a:defRPr/>
            </a:pPr>
            <a:endParaRPr lang="en-US" sz="1200" dirty="0"/>
          </a:p>
          <a:p>
            <a:pPr>
              <a:lnSpc>
                <a:spcPct val="85000"/>
              </a:lnSpc>
              <a:buClr>
                <a:schemeClr val="accent2"/>
              </a:buClr>
              <a:buFont typeface="Wingdings" charset="0"/>
              <a:buNone/>
              <a:defRPr/>
            </a:pPr>
            <a:r>
              <a:rPr lang="en-US" sz="1200" dirty="0"/>
              <a:t>Thanks and enjoy!  JFK/KWR</a:t>
            </a:r>
          </a:p>
          <a:p>
            <a:pPr>
              <a:lnSpc>
                <a:spcPct val="85000"/>
              </a:lnSpc>
              <a:defRPr/>
            </a:pPr>
            <a:endParaRPr lang="en-US" sz="1200" dirty="0"/>
          </a:p>
          <a:p>
            <a:pPr>
              <a:defRPr/>
            </a:pPr>
            <a:r>
              <a:rPr lang="en-US" sz="1200" dirty="0"/>
              <a:t>     All material copyright 1996-2016</a:t>
            </a:r>
          </a:p>
          <a:p>
            <a:pPr>
              <a:defRPr/>
            </a:pPr>
            <a:r>
              <a:rPr lang="en-US" sz="1200" dirty="0"/>
              <a:t>     J.F Kurose and K.W. Ross, All Rights Reserved</a:t>
            </a:r>
          </a:p>
        </p:txBody>
      </p:sp>
      <p:pic>
        <p:nvPicPr>
          <p:cNvPr id="40964" name="Picture 8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963" y="6146800"/>
            <a:ext cx="187325" cy="18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5" name="Picture 1" descr="kurose7e_cover_small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0238" y="325438"/>
            <a:ext cx="3087687" cy="3819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6" name="Rectangle 4"/>
          <p:cNvSpPr>
            <a:spLocks noChangeArrowheads="1"/>
          </p:cNvSpPr>
          <p:nvPr/>
        </p:nvSpPr>
        <p:spPr bwMode="auto">
          <a:xfrm>
            <a:off x="5634038" y="4510088"/>
            <a:ext cx="3260725" cy="286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1" hangingPunct="1"/>
            <a:r>
              <a:rPr lang="en-US" dirty="0">
                <a:solidFill>
                  <a:srgbClr val="008000"/>
                </a:solidFill>
                <a:cs typeface="Arial" charset="0"/>
              </a:rPr>
              <a:t>7</a:t>
            </a:r>
            <a:r>
              <a:rPr lang="en-US" baseline="30000" dirty="0">
                <a:solidFill>
                  <a:srgbClr val="008000"/>
                </a:solidFill>
                <a:cs typeface="Arial" charset="0"/>
              </a:rPr>
              <a:t>th</a:t>
            </a:r>
            <a:r>
              <a:rPr lang="en-US" dirty="0">
                <a:solidFill>
                  <a:srgbClr val="008000"/>
                </a:solidFill>
                <a:cs typeface="Arial" charset="0"/>
              </a:rPr>
              <a:t> edition </a:t>
            </a:r>
            <a:br>
              <a:rPr lang="en-US" dirty="0">
                <a:solidFill>
                  <a:srgbClr val="008000"/>
                </a:solidFill>
                <a:cs typeface="Arial" charset="0"/>
              </a:rPr>
            </a:br>
            <a:r>
              <a:rPr lang="en-US" dirty="0">
                <a:solidFill>
                  <a:srgbClr val="008000"/>
                </a:solidFill>
                <a:cs typeface="Arial" charset="0"/>
              </a:rPr>
              <a:t>Jim Kurose, Keith Ross</a:t>
            </a:r>
            <a:br>
              <a:rPr lang="en-US" dirty="0">
                <a:solidFill>
                  <a:srgbClr val="008000"/>
                </a:solidFill>
                <a:cs typeface="Arial" charset="0"/>
              </a:rPr>
            </a:br>
            <a:r>
              <a:rPr lang="en-US" sz="1400" dirty="0">
                <a:solidFill>
                  <a:srgbClr val="008000"/>
                </a:solidFill>
                <a:cs typeface="Arial" charset="0"/>
              </a:rPr>
              <a:t>Pearson/Addison Wesley</a:t>
            </a:r>
            <a:br>
              <a:rPr lang="en-US" sz="1400" dirty="0">
                <a:solidFill>
                  <a:srgbClr val="008000"/>
                </a:solidFill>
                <a:cs typeface="Arial" charset="0"/>
              </a:rPr>
            </a:br>
            <a:r>
              <a:rPr lang="en-US" sz="1400" dirty="0">
                <a:solidFill>
                  <a:srgbClr val="008000"/>
                </a:solidFill>
                <a:cs typeface="Arial" charset="0"/>
              </a:rPr>
              <a:t>April 2016</a:t>
            </a:r>
          </a:p>
        </p:txBody>
      </p:sp>
      <p:sp>
        <p:nvSpPr>
          <p:cNvPr id="40967" name="Rectangle 3"/>
          <p:cNvSpPr>
            <a:spLocks noChangeArrowheads="1"/>
          </p:cNvSpPr>
          <p:nvPr/>
        </p:nvSpPr>
        <p:spPr bwMode="auto">
          <a:xfrm>
            <a:off x="371475" y="944994"/>
            <a:ext cx="4808306" cy="172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1" hangingPunct="1">
              <a:lnSpc>
                <a:spcPct val="85000"/>
              </a:lnSpc>
            </a:pPr>
            <a:r>
              <a:rPr lang="en-US" sz="4400" dirty="0">
                <a:solidFill>
                  <a:srgbClr val="000099"/>
                </a:solidFill>
                <a:latin typeface="Gill Sans MT" charset="0"/>
                <a:cs typeface="Arial" charset="0"/>
              </a:rPr>
              <a:t>Chapter 8</a:t>
            </a:r>
            <a:br>
              <a:rPr lang="en-US" sz="4800" dirty="0">
                <a:solidFill>
                  <a:srgbClr val="000099"/>
                </a:solidFill>
                <a:latin typeface="Gill Sans MT" charset="0"/>
                <a:cs typeface="Arial" charset="0"/>
              </a:rPr>
            </a:br>
            <a:r>
              <a:rPr lang="en-US" sz="4400" dirty="0">
                <a:solidFill>
                  <a:srgbClr val="000099"/>
                </a:solidFill>
                <a:latin typeface="Gill Sans MT" charset="0"/>
                <a:cs typeface="Arial" charset="0"/>
              </a:rPr>
              <a:t>Security</a:t>
            </a:r>
          </a:p>
        </p:txBody>
      </p:sp>
      <p:pic>
        <p:nvPicPr>
          <p:cNvPr id="40968" name="Picture 9" descr="underline_base"/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438" y="2389188"/>
            <a:ext cx="2901520" cy="19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12521"/>
            <a:ext cx="687846" cy="272319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>
                <a:latin typeface="Tahoma" charset="0"/>
              </a:rPr>
              <a:pPr/>
              <a:t>1</a:t>
            </a:fld>
            <a:endParaRPr lang="en-US" sz="1200" dirty="0">
              <a:latin typeface="Tahoma" charset="0"/>
            </a:endParaRPr>
          </a:p>
        </p:txBody>
      </p:sp>
      <p:sp>
        <p:nvSpPr>
          <p:cNvPr id="1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7831561" y="6508279"/>
            <a:ext cx="721408" cy="254813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1254019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ill Sans MT" charset="0"/>
              </a:rPr>
              <a:t>Chapter 8: Network Security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371600"/>
            <a:ext cx="8321675" cy="4972050"/>
          </a:xfrm>
        </p:spPr>
        <p:txBody>
          <a:bodyPr/>
          <a:lstStyle/>
          <a:p>
            <a:pPr>
              <a:buFont typeface="Wingdings" charset="0"/>
              <a:buNone/>
            </a:pPr>
            <a:r>
              <a:rPr lang="en-US" sz="3200" i="1" dirty="0">
                <a:solidFill>
                  <a:srgbClr val="C00000"/>
                </a:solidFill>
                <a:latin typeface="Gill Sans MT" charset="0"/>
              </a:rPr>
              <a:t>Chapter goals: </a:t>
            </a:r>
          </a:p>
          <a:p>
            <a:r>
              <a:rPr lang="en-US" dirty="0">
                <a:latin typeface="Gill Sans MT" charset="0"/>
              </a:rPr>
              <a:t>understand principles of network security:</a:t>
            </a:r>
            <a:r>
              <a:rPr lang="en-US" sz="2400" dirty="0">
                <a:latin typeface="Gill Sans MT" charset="0"/>
              </a:rPr>
              <a:t> </a:t>
            </a:r>
          </a:p>
          <a:p>
            <a:pPr lvl="1"/>
            <a:r>
              <a:rPr lang="en-US" dirty="0">
                <a:latin typeface="Gill Sans MT" charset="0"/>
              </a:rPr>
              <a:t>cryptography and its </a:t>
            </a:r>
            <a:r>
              <a:rPr lang="en-US" i="1" dirty="0">
                <a:latin typeface="Gill Sans MT" charset="0"/>
              </a:rPr>
              <a:t>many</a:t>
            </a:r>
            <a:r>
              <a:rPr lang="en-US" dirty="0">
                <a:latin typeface="Gill Sans MT" charset="0"/>
              </a:rPr>
              <a:t> uses beyond </a:t>
            </a:r>
            <a:r>
              <a:rPr lang="ja-JP" altLang="en-US">
                <a:latin typeface="Gill Sans MT" charset="0"/>
              </a:rPr>
              <a:t>“</a:t>
            </a:r>
            <a:r>
              <a:rPr lang="en-US" altLang="ja-JP" dirty="0">
                <a:latin typeface="Gill Sans MT" charset="0"/>
              </a:rPr>
              <a:t>confidentiality</a:t>
            </a:r>
            <a:r>
              <a:rPr lang="ja-JP" altLang="en-US">
                <a:latin typeface="Gill Sans MT" charset="0"/>
              </a:rPr>
              <a:t>”</a:t>
            </a:r>
            <a:endParaRPr lang="en-US" altLang="ja-JP" dirty="0">
              <a:latin typeface="Gill Sans MT" charset="0"/>
            </a:endParaRPr>
          </a:p>
          <a:p>
            <a:pPr lvl="1"/>
            <a:r>
              <a:rPr lang="en-US" dirty="0">
                <a:latin typeface="Gill Sans MT" charset="0"/>
              </a:rPr>
              <a:t>authentication</a:t>
            </a:r>
          </a:p>
          <a:p>
            <a:pPr lvl="1"/>
            <a:r>
              <a:rPr lang="en-US" dirty="0">
                <a:latin typeface="Gill Sans MT" charset="0"/>
              </a:rPr>
              <a:t>message integrity</a:t>
            </a:r>
          </a:p>
          <a:p>
            <a:r>
              <a:rPr lang="en-US" dirty="0">
                <a:latin typeface="Gill Sans MT" charset="0"/>
              </a:rPr>
              <a:t>security in practice:</a:t>
            </a:r>
          </a:p>
          <a:p>
            <a:pPr lvl="1"/>
            <a:r>
              <a:rPr lang="en-US" dirty="0">
                <a:latin typeface="Gill Sans MT" charset="0"/>
              </a:rPr>
              <a:t>firewalls and intrusion detection systems</a:t>
            </a:r>
          </a:p>
          <a:p>
            <a:pPr lvl="1"/>
            <a:r>
              <a:rPr lang="en-US" dirty="0">
                <a:latin typeface="Gill Sans MT" charset="0"/>
              </a:rPr>
              <a:t>security in application, transport, network, link layers</a:t>
            </a:r>
          </a:p>
        </p:txBody>
      </p:sp>
      <p:pic>
        <p:nvPicPr>
          <p:cNvPr id="21508" name="Picture 17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713" y="1038225"/>
            <a:ext cx="68564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2</a:t>
            </a:fld>
            <a:endParaRPr lang="en-US" sz="1200" dirty="0">
              <a:latin typeface="Tahoma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19845068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ill Sans MT" charset="0"/>
              </a:rPr>
              <a:t>Chapter 8 roadmap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50875" y="1668463"/>
            <a:ext cx="7772400" cy="4648200"/>
          </a:xfrm>
        </p:spPr>
        <p:txBody>
          <a:bodyPr/>
          <a:lstStyle/>
          <a:p>
            <a:pPr>
              <a:buFont typeface="Wingdings" charset="0"/>
              <a:buNone/>
            </a:pPr>
            <a:r>
              <a:rPr lang="en-US" i="1" dirty="0">
                <a:solidFill>
                  <a:srgbClr val="C00000"/>
                </a:solidFill>
                <a:latin typeface="Gill Sans MT" charset="0"/>
              </a:rPr>
              <a:t>8.1 What is network security?</a:t>
            </a:r>
          </a:p>
          <a:p>
            <a:pPr>
              <a:buFont typeface="Wingdings" charset="0"/>
              <a:buNone/>
            </a:pPr>
            <a:r>
              <a:rPr lang="en-US" dirty="0">
                <a:solidFill>
                  <a:srgbClr val="000099"/>
                </a:solidFill>
                <a:latin typeface="Gill Sans MT" charset="0"/>
              </a:rPr>
              <a:t>8.2</a:t>
            </a:r>
            <a:r>
              <a:rPr lang="en-US" dirty="0">
                <a:latin typeface="Gill Sans MT" charset="0"/>
              </a:rPr>
              <a:t> Principles of cryptography</a:t>
            </a:r>
          </a:p>
          <a:p>
            <a:pPr>
              <a:buFont typeface="Wingdings" charset="0"/>
              <a:buNone/>
            </a:pPr>
            <a:r>
              <a:rPr lang="en-US" dirty="0">
                <a:solidFill>
                  <a:srgbClr val="000099"/>
                </a:solidFill>
                <a:latin typeface="Gill Sans MT" charset="0"/>
              </a:rPr>
              <a:t>8.3</a:t>
            </a:r>
            <a:r>
              <a:rPr lang="en-US" dirty="0">
                <a:latin typeface="Gill Sans MT" charset="0"/>
              </a:rPr>
              <a:t> Message integrity, authentication</a:t>
            </a:r>
          </a:p>
          <a:p>
            <a:pPr>
              <a:buFont typeface="Wingdings" charset="0"/>
              <a:buNone/>
            </a:pPr>
            <a:r>
              <a:rPr lang="en-US" dirty="0">
                <a:solidFill>
                  <a:srgbClr val="000099"/>
                </a:solidFill>
                <a:latin typeface="Gill Sans MT" charset="0"/>
              </a:rPr>
              <a:t>8.4 </a:t>
            </a:r>
            <a:r>
              <a:rPr lang="en-US" dirty="0">
                <a:latin typeface="Gill Sans MT" charset="0"/>
              </a:rPr>
              <a:t>Securing e-mail</a:t>
            </a:r>
          </a:p>
          <a:p>
            <a:pPr>
              <a:buFont typeface="Wingdings" charset="0"/>
              <a:buNone/>
            </a:pPr>
            <a:r>
              <a:rPr lang="en-US" dirty="0">
                <a:solidFill>
                  <a:srgbClr val="000099"/>
                </a:solidFill>
                <a:latin typeface="Gill Sans MT" charset="0"/>
              </a:rPr>
              <a:t>8.5</a:t>
            </a:r>
            <a:r>
              <a:rPr lang="en-US" dirty="0">
                <a:latin typeface="Gill Sans MT" charset="0"/>
              </a:rPr>
              <a:t> Securing TCP connections: SSL</a:t>
            </a:r>
          </a:p>
          <a:p>
            <a:pPr>
              <a:buFont typeface="Wingdings" charset="0"/>
              <a:buNone/>
            </a:pPr>
            <a:r>
              <a:rPr lang="en-US" dirty="0">
                <a:solidFill>
                  <a:srgbClr val="000099"/>
                </a:solidFill>
                <a:latin typeface="Gill Sans MT" charset="0"/>
              </a:rPr>
              <a:t>8.6</a:t>
            </a:r>
            <a:r>
              <a:rPr lang="en-US" dirty="0">
                <a:latin typeface="Gill Sans MT" charset="0"/>
              </a:rPr>
              <a:t> Network layer security: IPsec</a:t>
            </a:r>
          </a:p>
          <a:p>
            <a:pPr>
              <a:buFont typeface="Wingdings" charset="0"/>
              <a:buNone/>
            </a:pPr>
            <a:r>
              <a:rPr lang="en-US" dirty="0">
                <a:solidFill>
                  <a:srgbClr val="000099"/>
                </a:solidFill>
                <a:latin typeface="Gill Sans MT" charset="0"/>
              </a:rPr>
              <a:t>8.7</a:t>
            </a:r>
            <a:r>
              <a:rPr lang="en-US" dirty="0">
                <a:latin typeface="Gill Sans MT" charset="0"/>
              </a:rPr>
              <a:t> Securing wireless LANs</a:t>
            </a:r>
          </a:p>
          <a:p>
            <a:pPr>
              <a:buFont typeface="Wingdings" charset="0"/>
              <a:buNone/>
            </a:pPr>
            <a:r>
              <a:rPr lang="en-US" dirty="0">
                <a:solidFill>
                  <a:srgbClr val="000099"/>
                </a:solidFill>
                <a:latin typeface="Gill Sans MT" charset="0"/>
              </a:rPr>
              <a:t>8.8</a:t>
            </a:r>
            <a:r>
              <a:rPr lang="en-US" dirty="0">
                <a:latin typeface="Gill Sans MT" charset="0"/>
              </a:rPr>
              <a:t> Operational security: firewalls and IDS</a:t>
            </a:r>
          </a:p>
        </p:txBody>
      </p:sp>
      <p:pic>
        <p:nvPicPr>
          <p:cNvPr id="23556" name="Picture 22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238" y="1066800"/>
            <a:ext cx="45704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3</a:t>
            </a:fld>
            <a:endParaRPr lang="en-US" sz="1200" dirty="0">
              <a:latin typeface="Tahoma" charset="0"/>
            </a:endParaRPr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3091852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ill Sans MT" charset="0"/>
              </a:rPr>
              <a:t>What is network security?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charset="0"/>
              <a:buNone/>
            </a:pPr>
            <a:r>
              <a:rPr lang="en-US" i="1" dirty="0">
                <a:solidFill>
                  <a:srgbClr val="C00000"/>
                </a:solidFill>
                <a:latin typeface="Gill Sans MT" charset="0"/>
              </a:rPr>
              <a:t>confidentiality</a:t>
            </a:r>
            <a:r>
              <a:rPr lang="en-US" dirty="0">
                <a:solidFill>
                  <a:srgbClr val="C00000"/>
                </a:solidFill>
                <a:latin typeface="Gill Sans MT" charset="0"/>
              </a:rPr>
              <a:t>: </a:t>
            </a:r>
            <a:r>
              <a:rPr lang="en-US" sz="2400" dirty="0">
                <a:latin typeface="Gill Sans MT" charset="0"/>
              </a:rPr>
              <a:t>only sender, intended receiver should </a:t>
            </a:r>
            <a:r>
              <a:rPr lang="ja-JP" altLang="en-US" sz="2400">
                <a:latin typeface="Gill Sans MT" charset="0"/>
              </a:rPr>
              <a:t>“</a:t>
            </a:r>
            <a:r>
              <a:rPr lang="en-US" altLang="ja-JP" sz="2400" dirty="0">
                <a:latin typeface="Gill Sans MT" charset="0"/>
              </a:rPr>
              <a:t>understand</a:t>
            </a:r>
            <a:r>
              <a:rPr lang="ja-JP" altLang="en-US" sz="2400">
                <a:latin typeface="Gill Sans MT" charset="0"/>
              </a:rPr>
              <a:t>”</a:t>
            </a:r>
            <a:r>
              <a:rPr lang="en-US" altLang="ja-JP" sz="2400" dirty="0">
                <a:latin typeface="Gill Sans MT" charset="0"/>
              </a:rPr>
              <a:t> message contents</a:t>
            </a:r>
          </a:p>
          <a:p>
            <a:pPr lvl="1"/>
            <a:r>
              <a:rPr lang="en-US" dirty="0">
                <a:latin typeface="Gill Sans MT" charset="0"/>
              </a:rPr>
              <a:t>sender encrypts message</a:t>
            </a:r>
          </a:p>
          <a:p>
            <a:pPr lvl="1"/>
            <a:r>
              <a:rPr lang="en-US" dirty="0">
                <a:latin typeface="Gill Sans MT" charset="0"/>
              </a:rPr>
              <a:t>receiver decrypts message</a:t>
            </a:r>
          </a:p>
          <a:p>
            <a:pPr>
              <a:buFont typeface="Wingdings" charset="0"/>
              <a:buNone/>
            </a:pPr>
            <a:r>
              <a:rPr lang="en-US" i="1" dirty="0">
                <a:solidFill>
                  <a:srgbClr val="C00000"/>
                </a:solidFill>
                <a:latin typeface="Gill Sans MT" charset="0"/>
              </a:rPr>
              <a:t>authentication: </a:t>
            </a:r>
            <a:r>
              <a:rPr lang="en-US" sz="2400" dirty="0">
                <a:latin typeface="Gill Sans MT" charset="0"/>
              </a:rPr>
              <a:t>sender, receiver want to confirm identity of each other </a:t>
            </a:r>
          </a:p>
          <a:p>
            <a:pPr>
              <a:buFont typeface="Wingdings" charset="0"/>
              <a:buNone/>
            </a:pPr>
            <a:r>
              <a:rPr lang="en-US" i="1" dirty="0">
                <a:solidFill>
                  <a:srgbClr val="C00000"/>
                </a:solidFill>
                <a:latin typeface="Gill Sans MT" charset="0"/>
              </a:rPr>
              <a:t>message integrity: </a:t>
            </a:r>
            <a:r>
              <a:rPr lang="en-US" sz="2400" dirty="0">
                <a:latin typeface="Gill Sans MT" charset="0"/>
              </a:rPr>
              <a:t>sender, receiver want to ensure message not altered (in transit, or afterwards) without detection</a:t>
            </a:r>
          </a:p>
          <a:p>
            <a:pPr>
              <a:buFont typeface="Wingdings" charset="0"/>
              <a:buNone/>
            </a:pPr>
            <a:r>
              <a:rPr lang="en-US" i="1" dirty="0">
                <a:solidFill>
                  <a:srgbClr val="C00000"/>
                </a:solidFill>
                <a:latin typeface="Gill Sans MT" charset="0"/>
              </a:rPr>
              <a:t>access and availability</a:t>
            </a:r>
            <a:r>
              <a:rPr lang="en-US" sz="2400" dirty="0">
                <a:solidFill>
                  <a:srgbClr val="FF0000"/>
                </a:solidFill>
                <a:latin typeface="Gill Sans MT" charset="0"/>
              </a:rPr>
              <a:t>:</a:t>
            </a:r>
            <a:r>
              <a:rPr lang="en-US" sz="2400" dirty="0">
                <a:latin typeface="Gill Sans MT" charset="0"/>
              </a:rPr>
              <a:t> services must be accessible and available to users</a:t>
            </a:r>
          </a:p>
        </p:txBody>
      </p:sp>
      <p:pic>
        <p:nvPicPr>
          <p:cNvPr id="25604" name="Picture 18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663" y="1041400"/>
            <a:ext cx="63992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4</a:t>
            </a:fld>
            <a:endParaRPr lang="en-US" sz="1200" dirty="0">
              <a:latin typeface="Tahoma" charset="0"/>
            </a:endParaRPr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38520979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404225" cy="990600"/>
          </a:xfrm>
        </p:spPr>
        <p:txBody>
          <a:bodyPr/>
          <a:lstStyle/>
          <a:p>
            <a:r>
              <a:rPr lang="en-US" sz="4000" dirty="0">
                <a:latin typeface="Gill Sans MT" charset="0"/>
              </a:rPr>
              <a:t>Friends and enemies: Aman, Brajesh, Manish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282700"/>
            <a:ext cx="8142288" cy="1617663"/>
          </a:xfrm>
        </p:spPr>
        <p:txBody>
          <a:bodyPr/>
          <a:lstStyle/>
          <a:p>
            <a:r>
              <a:rPr lang="en-US" sz="2400" dirty="0">
                <a:latin typeface="Gill Sans MT" charset="0"/>
              </a:rPr>
              <a:t>well-known in network security world</a:t>
            </a:r>
          </a:p>
          <a:p>
            <a:r>
              <a:rPr lang="en-US" sz="2400" dirty="0">
                <a:latin typeface="Gill Sans MT" charset="0"/>
              </a:rPr>
              <a:t>Brajesh, Aman (lovers!) want to communicate </a:t>
            </a:r>
            <a:r>
              <a:rPr lang="ja-JP" altLang="en-US" sz="2400" dirty="0">
                <a:latin typeface="Gill Sans MT" charset="0"/>
              </a:rPr>
              <a:t>“</a:t>
            </a:r>
            <a:r>
              <a:rPr lang="en-US" altLang="ja-JP" sz="2400" dirty="0">
                <a:latin typeface="Gill Sans MT" charset="0"/>
              </a:rPr>
              <a:t>securely</a:t>
            </a:r>
            <a:r>
              <a:rPr lang="ja-JP" altLang="en-US" sz="2400" dirty="0">
                <a:latin typeface="Gill Sans MT" charset="0"/>
              </a:rPr>
              <a:t>”</a:t>
            </a:r>
            <a:endParaRPr lang="en-US" altLang="ja-JP" sz="2400" dirty="0">
              <a:latin typeface="Gill Sans MT" charset="0"/>
            </a:endParaRPr>
          </a:p>
          <a:p>
            <a:r>
              <a:rPr lang="en-US" sz="2400" dirty="0">
                <a:latin typeface="Gill Sans MT" charset="0"/>
              </a:rPr>
              <a:t>Manish (intruder) may intercept, delete, add messages</a:t>
            </a:r>
          </a:p>
        </p:txBody>
      </p:sp>
      <p:pic>
        <p:nvPicPr>
          <p:cNvPr id="27652" name="Picture 6" descr="Alic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7950" y="3370263"/>
            <a:ext cx="698500" cy="862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3" name="Picture 7" descr="Bob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1825" y="3417888"/>
            <a:ext cx="81280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4" name="Picture 9" descr="Eve"/>
          <p:cNvPicPr>
            <a:picLocks noGrp="1" noChangeAspect="1" noChangeArrowheads="1"/>
          </p:cNvPicPr>
          <p:nvPr>
            <p:ph sz="half" idx="2"/>
          </p:nvPr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408488" y="5337175"/>
            <a:ext cx="1082675" cy="1295400"/>
          </a:xfrm>
          <a:noFill/>
        </p:spPr>
      </p:pic>
      <p:sp>
        <p:nvSpPr>
          <p:cNvPr id="27655" name="Rectangle 11"/>
          <p:cNvSpPr>
            <a:spLocks noChangeArrowheads="1"/>
          </p:cNvSpPr>
          <p:nvPr/>
        </p:nvSpPr>
        <p:spPr bwMode="auto">
          <a:xfrm>
            <a:off x="2038350" y="4205288"/>
            <a:ext cx="1293813" cy="803275"/>
          </a:xfrm>
          <a:prstGeom prst="rect">
            <a:avLst/>
          </a:prstGeom>
          <a:solidFill>
            <a:srgbClr val="008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27656" name="Text Box 12"/>
          <p:cNvSpPr txBox="1">
            <a:spLocks noChangeArrowheads="1"/>
          </p:cNvSpPr>
          <p:nvPr/>
        </p:nvSpPr>
        <p:spPr bwMode="auto">
          <a:xfrm>
            <a:off x="2152650" y="4235450"/>
            <a:ext cx="96837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dirty="0">
                <a:solidFill>
                  <a:schemeClr val="bg1"/>
                </a:solidFill>
                <a:latin typeface="Arial" charset="0"/>
                <a:cs typeface="Arial" charset="0"/>
              </a:rPr>
              <a:t>secure</a:t>
            </a:r>
          </a:p>
          <a:p>
            <a:r>
              <a:rPr lang="en-US" dirty="0">
                <a:solidFill>
                  <a:schemeClr val="bg1"/>
                </a:solidFill>
                <a:latin typeface="Arial" charset="0"/>
                <a:cs typeface="Arial" charset="0"/>
              </a:rPr>
              <a:t>sender</a:t>
            </a:r>
          </a:p>
        </p:txBody>
      </p:sp>
      <p:sp>
        <p:nvSpPr>
          <p:cNvPr id="27657" name="Rectangle 13"/>
          <p:cNvSpPr>
            <a:spLocks noChangeArrowheads="1"/>
          </p:cNvSpPr>
          <p:nvPr/>
        </p:nvSpPr>
        <p:spPr bwMode="auto">
          <a:xfrm>
            <a:off x="5780088" y="4217988"/>
            <a:ext cx="1293812" cy="803275"/>
          </a:xfrm>
          <a:prstGeom prst="rect">
            <a:avLst/>
          </a:prstGeom>
          <a:solidFill>
            <a:srgbClr val="008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dirty="0">
                <a:latin typeface="Arial" charset="0"/>
                <a:cs typeface="Arial" charset="0"/>
              </a:rPr>
              <a:t>s</a:t>
            </a:r>
          </a:p>
        </p:txBody>
      </p:sp>
      <p:sp>
        <p:nvSpPr>
          <p:cNvPr id="27658" name="Text Box 14"/>
          <p:cNvSpPr txBox="1">
            <a:spLocks noChangeArrowheads="1"/>
          </p:cNvSpPr>
          <p:nvPr/>
        </p:nvSpPr>
        <p:spPr bwMode="auto">
          <a:xfrm>
            <a:off x="5867400" y="4248150"/>
            <a:ext cx="109696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dirty="0">
                <a:solidFill>
                  <a:schemeClr val="bg1"/>
                </a:solidFill>
                <a:latin typeface="Arial" charset="0"/>
                <a:cs typeface="Arial" charset="0"/>
              </a:rPr>
              <a:t>secure</a:t>
            </a:r>
          </a:p>
          <a:p>
            <a:r>
              <a:rPr lang="en-US" dirty="0">
                <a:solidFill>
                  <a:schemeClr val="bg1"/>
                </a:solidFill>
                <a:latin typeface="Arial" charset="0"/>
                <a:cs typeface="Arial" charset="0"/>
              </a:rPr>
              <a:t>receiver</a:t>
            </a:r>
          </a:p>
        </p:txBody>
      </p:sp>
      <p:sp>
        <p:nvSpPr>
          <p:cNvPr id="27659" name="Text Box 18"/>
          <p:cNvSpPr txBox="1">
            <a:spLocks noChangeArrowheads="1"/>
          </p:cNvSpPr>
          <p:nvPr/>
        </p:nvSpPr>
        <p:spPr bwMode="auto">
          <a:xfrm>
            <a:off x="3052763" y="3460750"/>
            <a:ext cx="10826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dirty="0">
                <a:latin typeface="Arial" charset="0"/>
                <a:cs typeface="Arial" charset="0"/>
              </a:rPr>
              <a:t>channel</a:t>
            </a:r>
          </a:p>
        </p:txBody>
      </p:sp>
      <p:sp>
        <p:nvSpPr>
          <p:cNvPr id="27660" name="Line 19"/>
          <p:cNvSpPr>
            <a:spLocks noChangeShapeType="1"/>
          </p:cNvSpPr>
          <p:nvPr/>
        </p:nvSpPr>
        <p:spPr bwMode="auto">
          <a:xfrm>
            <a:off x="3768725" y="3883025"/>
            <a:ext cx="238125" cy="449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7661" name="Rectangle 21"/>
          <p:cNvSpPr>
            <a:spLocks noChangeArrowheads="1"/>
          </p:cNvSpPr>
          <p:nvPr/>
        </p:nvSpPr>
        <p:spPr bwMode="auto">
          <a:xfrm>
            <a:off x="3332163" y="4403725"/>
            <a:ext cx="2447925" cy="366713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27662" name="Line 17"/>
          <p:cNvSpPr>
            <a:spLocks noChangeShapeType="1"/>
          </p:cNvSpPr>
          <p:nvPr/>
        </p:nvSpPr>
        <p:spPr bwMode="auto">
          <a:xfrm flipV="1">
            <a:off x="3375025" y="4616450"/>
            <a:ext cx="2460625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7663" name="Text Box 23"/>
          <p:cNvSpPr txBox="1">
            <a:spLocks noChangeArrowheads="1"/>
          </p:cNvSpPr>
          <p:nvPr/>
        </p:nvSpPr>
        <p:spPr bwMode="auto">
          <a:xfrm>
            <a:off x="4200525" y="3417888"/>
            <a:ext cx="18891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1800" dirty="0">
                <a:latin typeface="Arial" charset="0"/>
                <a:cs typeface="Arial" charset="0"/>
              </a:rPr>
              <a:t>data, control messages</a:t>
            </a:r>
          </a:p>
        </p:txBody>
      </p:sp>
      <p:sp>
        <p:nvSpPr>
          <p:cNvPr id="27664" name="Line 24"/>
          <p:cNvSpPr>
            <a:spLocks noChangeShapeType="1"/>
          </p:cNvSpPr>
          <p:nvPr/>
        </p:nvSpPr>
        <p:spPr bwMode="auto">
          <a:xfrm>
            <a:off x="5046663" y="4035425"/>
            <a:ext cx="223837" cy="517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7665" name="Freeform 25"/>
          <p:cNvSpPr>
            <a:spLocks/>
          </p:cNvSpPr>
          <p:nvPr/>
        </p:nvSpPr>
        <p:spPr bwMode="auto">
          <a:xfrm>
            <a:off x="3854450" y="4656138"/>
            <a:ext cx="573088" cy="914400"/>
          </a:xfrm>
          <a:custGeom>
            <a:avLst/>
            <a:gdLst>
              <a:gd name="T0" fmla="*/ 0 w 344"/>
              <a:gd name="T1" fmla="*/ 0 h 789"/>
              <a:gd name="T2" fmla="*/ 2147483647 w 344"/>
              <a:gd name="T3" fmla="*/ 2147483647 h 789"/>
              <a:gd name="T4" fmla="*/ 2147483647 w 344"/>
              <a:gd name="T5" fmla="*/ 2147483647 h 789"/>
              <a:gd name="T6" fmla="*/ 0 60000 65536"/>
              <a:gd name="T7" fmla="*/ 0 60000 65536"/>
              <a:gd name="T8" fmla="*/ 0 60000 65536"/>
              <a:gd name="T9" fmla="*/ 0 w 344"/>
              <a:gd name="T10" fmla="*/ 0 h 789"/>
              <a:gd name="T11" fmla="*/ 344 w 344"/>
              <a:gd name="T12" fmla="*/ 789 h 78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44" h="789">
                <a:moveTo>
                  <a:pt x="0" y="0"/>
                </a:moveTo>
                <a:cubicBezTo>
                  <a:pt x="52" y="24"/>
                  <a:pt x="255" y="10"/>
                  <a:pt x="310" y="142"/>
                </a:cubicBezTo>
                <a:cubicBezTo>
                  <a:pt x="344" y="248"/>
                  <a:pt x="324" y="654"/>
                  <a:pt x="328" y="789"/>
                </a:cubicBezTo>
              </a:path>
            </a:pathLst>
          </a:custGeom>
          <a:noFill/>
          <a:ln w="571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7666" name="Freeform 26"/>
          <p:cNvSpPr>
            <a:spLocks/>
          </p:cNvSpPr>
          <p:nvPr/>
        </p:nvSpPr>
        <p:spPr bwMode="auto">
          <a:xfrm flipH="1">
            <a:off x="4529138" y="4654550"/>
            <a:ext cx="573087" cy="914400"/>
          </a:xfrm>
          <a:custGeom>
            <a:avLst/>
            <a:gdLst>
              <a:gd name="T0" fmla="*/ 0 w 344"/>
              <a:gd name="T1" fmla="*/ 0 h 789"/>
              <a:gd name="T2" fmla="*/ 2147483647 w 344"/>
              <a:gd name="T3" fmla="*/ 2147483647 h 789"/>
              <a:gd name="T4" fmla="*/ 2147483647 w 344"/>
              <a:gd name="T5" fmla="*/ 2147483647 h 789"/>
              <a:gd name="T6" fmla="*/ 0 60000 65536"/>
              <a:gd name="T7" fmla="*/ 0 60000 65536"/>
              <a:gd name="T8" fmla="*/ 0 60000 65536"/>
              <a:gd name="T9" fmla="*/ 0 w 344"/>
              <a:gd name="T10" fmla="*/ 0 h 789"/>
              <a:gd name="T11" fmla="*/ 344 w 344"/>
              <a:gd name="T12" fmla="*/ 789 h 78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44" h="789">
                <a:moveTo>
                  <a:pt x="0" y="0"/>
                </a:moveTo>
                <a:cubicBezTo>
                  <a:pt x="52" y="24"/>
                  <a:pt x="255" y="10"/>
                  <a:pt x="310" y="142"/>
                </a:cubicBezTo>
                <a:cubicBezTo>
                  <a:pt x="344" y="248"/>
                  <a:pt x="324" y="654"/>
                  <a:pt x="328" y="789"/>
                </a:cubicBezTo>
              </a:path>
            </a:pathLst>
          </a:custGeom>
          <a:noFill/>
          <a:ln w="571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7667" name="Line 27"/>
          <p:cNvSpPr>
            <a:spLocks noChangeShapeType="1"/>
          </p:cNvSpPr>
          <p:nvPr/>
        </p:nvSpPr>
        <p:spPr bwMode="auto">
          <a:xfrm flipV="1">
            <a:off x="1279525" y="4586288"/>
            <a:ext cx="8143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7668" name="Text Box 28"/>
          <p:cNvSpPr txBox="1">
            <a:spLocks noChangeArrowheads="1"/>
          </p:cNvSpPr>
          <p:nvPr/>
        </p:nvSpPr>
        <p:spPr bwMode="auto">
          <a:xfrm>
            <a:off x="504825" y="4316413"/>
            <a:ext cx="6842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dirty="0">
                <a:latin typeface="Arial" charset="0"/>
                <a:cs typeface="Arial" charset="0"/>
              </a:rPr>
              <a:t>data</a:t>
            </a:r>
          </a:p>
        </p:txBody>
      </p:sp>
      <p:sp>
        <p:nvSpPr>
          <p:cNvPr id="27669" name="Line 29"/>
          <p:cNvSpPr>
            <a:spLocks noChangeShapeType="1"/>
          </p:cNvSpPr>
          <p:nvPr/>
        </p:nvSpPr>
        <p:spPr bwMode="auto">
          <a:xfrm flipV="1">
            <a:off x="7086600" y="4556125"/>
            <a:ext cx="8143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7670" name="Text Box 30"/>
          <p:cNvSpPr txBox="1">
            <a:spLocks noChangeArrowheads="1"/>
          </p:cNvSpPr>
          <p:nvPr/>
        </p:nvSpPr>
        <p:spPr bwMode="auto">
          <a:xfrm>
            <a:off x="7874000" y="4286250"/>
            <a:ext cx="6842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dirty="0">
                <a:latin typeface="Arial" charset="0"/>
                <a:cs typeface="Arial" charset="0"/>
              </a:rPr>
              <a:t>data</a:t>
            </a:r>
          </a:p>
        </p:txBody>
      </p:sp>
      <p:sp>
        <p:nvSpPr>
          <p:cNvPr id="27671" name="Text Box 31"/>
          <p:cNvSpPr txBox="1">
            <a:spLocks noChangeArrowheads="1"/>
          </p:cNvSpPr>
          <p:nvPr/>
        </p:nvSpPr>
        <p:spPr bwMode="auto">
          <a:xfrm>
            <a:off x="701675" y="3089275"/>
            <a:ext cx="85472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dirty="0">
                <a:solidFill>
                  <a:srgbClr val="000099"/>
                </a:solidFill>
                <a:latin typeface="Arial" charset="0"/>
                <a:cs typeface="Arial" charset="0"/>
              </a:rPr>
              <a:t>Aman</a:t>
            </a:r>
          </a:p>
        </p:txBody>
      </p:sp>
      <p:sp>
        <p:nvSpPr>
          <p:cNvPr id="27672" name="Text Box 32"/>
          <p:cNvSpPr txBox="1">
            <a:spLocks noChangeArrowheads="1"/>
          </p:cNvSpPr>
          <p:nvPr/>
        </p:nvSpPr>
        <p:spPr bwMode="auto">
          <a:xfrm>
            <a:off x="7670800" y="3100388"/>
            <a:ext cx="105509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dirty="0">
                <a:solidFill>
                  <a:srgbClr val="000099"/>
                </a:solidFill>
                <a:latin typeface="Arial" charset="0"/>
                <a:cs typeface="Arial" charset="0"/>
              </a:rPr>
              <a:t>Brajesh</a:t>
            </a:r>
          </a:p>
        </p:txBody>
      </p:sp>
      <p:sp>
        <p:nvSpPr>
          <p:cNvPr id="27673" name="Text Box 33"/>
          <p:cNvSpPr txBox="1">
            <a:spLocks noChangeArrowheads="1"/>
          </p:cNvSpPr>
          <p:nvPr/>
        </p:nvSpPr>
        <p:spPr bwMode="auto">
          <a:xfrm>
            <a:off x="3359150" y="5727700"/>
            <a:ext cx="101181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dirty="0">
                <a:solidFill>
                  <a:srgbClr val="000099"/>
                </a:solidFill>
                <a:latin typeface="Arial" charset="0"/>
                <a:cs typeface="Arial" charset="0"/>
              </a:rPr>
              <a:t>Manish</a:t>
            </a:r>
          </a:p>
        </p:txBody>
      </p:sp>
      <p:pic>
        <p:nvPicPr>
          <p:cNvPr id="27674" name="Picture 6" descr="underline_base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063" y="850900"/>
            <a:ext cx="82280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5</a:t>
            </a:fld>
            <a:endParaRPr lang="en-US" sz="1200" dirty="0">
              <a:latin typeface="Tahoma" charset="0"/>
            </a:endParaRPr>
          </a:p>
        </p:txBody>
      </p:sp>
      <p:sp>
        <p:nvSpPr>
          <p:cNvPr id="29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14482461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ill Sans MT" charset="0"/>
              </a:rPr>
              <a:t>Who might Brajesh, Aman be?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7772400" cy="324008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>
                <a:latin typeface="Gill Sans MT" charset="0"/>
              </a:rPr>
              <a:t>… well, </a:t>
            </a:r>
            <a:r>
              <a:rPr lang="en-US" i="1" dirty="0">
                <a:latin typeface="Gill Sans MT" charset="0"/>
              </a:rPr>
              <a:t>real-life</a:t>
            </a:r>
            <a:r>
              <a:rPr lang="en-US" dirty="0">
                <a:latin typeface="Gill Sans MT" charset="0"/>
              </a:rPr>
              <a:t> </a:t>
            </a:r>
            <a:r>
              <a:rPr lang="en-US" dirty="0" err="1">
                <a:latin typeface="Gill Sans MT" charset="0"/>
              </a:rPr>
              <a:t>Brajeshs</a:t>
            </a:r>
            <a:r>
              <a:rPr lang="en-US" dirty="0">
                <a:latin typeface="Gill Sans MT" charset="0"/>
              </a:rPr>
              <a:t> and </a:t>
            </a:r>
            <a:r>
              <a:rPr lang="en-US" dirty="0" err="1">
                <a:latin typeface="Gill Sans MT" charset="0"/>
              </a:rPr>
              <a:t>Amans</a:t>
            </a:r>
            <a:r>
              <a:rPr lang="en-US" dirty="0">
                <a:latin typeface="Gill Sans MT" charset="0"/>
              </a:rPr>
              <a:t>!</a:t>
            </a:r>
          </a:p>
          <a:p>
            <a:pPr>
              <a:lnSpc>
                <a:spcPct val="90000"/>
              </a:lnSpc>
            </a:pPr>
            <a:r>
              <a:rPr lang="en-US" dirty="0">
                <a:latin typeface="Gill Sans MT" charset="0"/>
              </a:rPr>
              <a:t>Web browser/server for electronic transactions (e.g., on-line purchases)</a:t>
            </a:r>
          </a:p>
          <a:p>
            <a:pPr>
              <a:lnSpc>
                <a:spcPct val="90000"/>
              </a:lnSpc>
            </a:pPr>
            <a:r>
              <a:rPr lang="en-US" dirty="0">
                <a:latin typeface="Gill Sans MT" charset="0"/>
              </a:rPr>
              <a:t>on-line banking client/server</a:t>
            </a:r>
          </a:p>
          <a:p>
            <a:pPr>
              <a:lnSpc>
                <a:spcPct val="90000"/>
              </a:lnSpc>
            </a:pPr>
            <a:r>
              <a:rPr lang="en-US" dirty="0">
                <a:latin typeface="Gill Sans MT" charset="0"/>
              </a:rPr>
              <a:t>DNS servers</a:t>
            </a:r>
          </a:p>
          <a:p>
            <a:pPr>
              <a:lnSpc>
                <a:spcPct val="90000"/>
              </a:lnSpc>
            </a:pPr>
            <a:r>
              <a:rPr lang="en-US" dirty="0">
                <a:latin typeface="Gill Sans MT" charset="0"/>
              </a:rPr>
              <a:t>routers exchanging routing table updates</a:t>
            </a:r>
          </a:p>
          <a:p>
            <a:pPr>
              <a:lnSpc>
                <a:spcPct val="90000"/>
              </a:lnSpc>
            </a:pPr>
            <a:r>
              <a:rPr lang="en-US" dirty="0">
                <a:latin typeface="Gill Sans MT" charset="0"/>
              </a:rPr>
              <a:t>other examples?</a:t>
            </a:r>
          </a:p>
        </p:txBody>
      </p:sp>
      <p:pic>
        <p:nvPicPr>
          <p:cNvPr id="29700" name="Picture 19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225" y="1055688"/>
            <a:ext cx="59420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6</a:t>
            </a:fld>
            <a:endParaRPr lang="en-US" sz="1200" dirty="0">
              <a:latin typeface="Tahoma" charset="0"/>
            </a:endParaRPr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39324176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174625" y="109538"/>
            <a:ext cx="8718550" cy="1000125"/>
          </a:xfrm>
        </p:spPr>
        <p:txBody>
          <a:bodyPr/>
          <a:lstStyle/>
          <a:p>
            <a:r>
              <a:rPr lang="en-US" sz="4000" dirty="0">
                <a:latin typeface="Gill Sans MT" charset="0"/>
              </a:rPr>
              <a:t>There are bad guys (and girls) out there!</a:t>
            </a:r>
          </a:p>
        </p:txBody>
      </p:sp>
      <p:sp>
        <p:nvSpPr>
          <p:cNvPr id="31747" name="Rectangle 14"/>
          <p:cNvSpPr>
            <a:spLocks noGrp="1" noChangeArrowheads="1"/>
          </p:cNvSpPr>
          <p:nvPr>
            <p:ph type="body" idx="1"/>
          </p:nvPr>
        </p:nvSpPr>
        <p:spPr>
          <a:xfrm>
            <a:off x="617538" y="1262063"/>
            <a:ext cx="7958137" cy="4648200"/>
          </a:xfrm>
        </p:spPr>
        <p:txBody>
          <a:bodyPr/>
          <a:lstStyle/>
          <a:p>
            <a:pPr>
              <a:lnSpc>
                <a:spcPct val="90000"/>
              </a:lnSpc>
              <a:buFont typeface="Wingdings" charset="0"/>
              <a:buNone/>
            </a:pPr>
            <a:r>
              <a:rPr lang="en-US" i="1" u="sng" dirty="0">
                <a:solidFill>
                  <a:srgbClr val="C00000"/>
                </a:solidFill>
                <a:latin typeface="Gill Sans MT" charset="0"/>
              </a:rPr>
              <a:t>Q:</a:t>
            </a:r>
            <a:r>
              <a:rPr lang="en-US" i="1" dirty="0">
                <a:solidFill>
                  <a:srgbClr val="C00000"/>
                </a:solidFill>
                <a:latin typeface="Gill Sans MT" charset="0"/>
              </a:rPr>
              <a:t> </a:t>
            </a:r>
            <a:r>
              <a:rPr lang="en-US" dirty="0">
                <a:latin typeface="Gill Sans MT" charset="0"/>
              </a:rPr>
              <a:t>What can a </a:t>
            </a:r>
            <a:r>
              <a:rPr lang="ja-JP" altLang="en-US" dirty="0">
                <a:latin typeface="Gill Sans MT" charset="0"/>
              </a:rPr>
              <a:t>“</a:t>
            </a:r>
            <a:r>
              <a:rPr lang="en-US" altLang="ja-JP" dirty="0">
                <a:latin typeface="Gill Sans MT" charset="0"/>
              </a:rPr>
              <a:t>bad guy</a:t>
            </a:r>
            <a:r>
              <a:rPr lang="ja-JP" altLang="en-US" dirty="0">
                <a:latin typeface="Gill Sans MT" charset="0"/>
              </a:rPr>
              <a:t>”</a:t>
            </a:r>
            <a:r>
              <a:rPr lang="en-US" altLang="ja-JP" dirty="0">
                <a:latin typeface="Gill Sans MT" charset="0"/>
              </a:rPr>
              <a:t> do?</a:t>
            </a:r>
          </a:p>
          <a:p>
            <a:pPr>
              <a:lnSpc>
                <a:spcPct val="90000"/>
              </a:lnSpc>
              <a:buFont typeface="Wingdings" charset="0"/>
              <a:buNone/>
            </a:pPr>
            <a:r>
              <a:rPr lang="en-US" i="1" u="sng" dirty="0">
                <a:solidFill>
                  <a:srgbClr val="C00000"/>
                </a:solidFill>
                <a:latin typeface="Gill Sans MT" charset="0"/>
              </a:rPr>
              <a:t>A:</a:t>
            </a:r>
            <a:r>
              <a:rPr lang="en-US" i="1" dirty="0">
                <a:solidFill>
                  <a:srgbClr val="C00000"/>
                </a:solidFill>
                <a:latin typeface="Gill Sans MT" charset="0"/>
              </a:rPr>
              <a:t> </a:t>
            </a:r>
            <a:r>
              <a:rPr lang="en-US" dirty="0">
                <a:latin typeface="Gill Sans MT" charset="0"/>
              </a:rPr>
              <a:t>A lot! See section 1.6</a:t>
            </a:r>
          </a:p>
          <a:p>
            <a:pPr lvl="1">
              <a:lnSpc>
                <a:spcPct val="90000"/>
              </a:lnSpc>
            </a:pPr>
            <a:r>
              <a:rPr lang="en-US" sz="2800" i="1" dirty="0">
                <a:solidFill>
                  <a:srgbClr val="C00000"/>
                </a:solidFill>
                <a:latin typeface="Gill Sans MT" charset="0"/>
              </a:rPr>
              <a:t>eavesdrop:</a:t>
            </a:r>
            <a:r>
              <a:rPr lang="en-US" sz="2800" dirty="0">
                <a:solidFill>
                  <a:srgbClr val="C00000"/>
                </a:solidFill>
                <a:latin typeface="Gill Sans MT" charset="0"/>
              </a:rPr>
              <a:t> </a:t>
            </a:r>
            <a:r>
              <a:rPr lang="en-US" sz="2800" dirty="0">
                <a:latin typeface="Gill Sans MT" charset="0"/>
              </a:rPr>
              <a:t>intercept messages</a:t>
            </a:r>
          </a:p>
          <a:p>
            <a:pPr lvl="1">
              <a:lnSpc>
                <a:spcPct val="90000"/>
              </a:lnSpc>
            </a:pPr>
            <a:r>
              <a:rPr lang="en-US" sz="2800" dirty="0">
                <a:latin typeface="Gill Sans MT" charset="0"/>
              </a:rPr>
              <a:t>actively </a:t>
            </a:r>
            <a:r>
              <a:rPr lang="en-US" sz="2800" i="1" dirty="0">
                <a:solidFill>
                  <a:srgbClr val="C00000"/>
                </a:solidFill>
                <a:latin typeface="Gill Sans MT" charset="0"/>
              </a:rPr>
              <a:t>insert</a:t>
            </a:r>
            <a:r>
              <a:rPr lang="en-US" sz="2800" dirty="0">
                <a:latin typeface="Gill Sans MT" charset="0"/>
              </a:rPr>
              <a:t> messages into connection</a:t>
            </a:r>
          </a:p>
          <a:p>
            <a:pPr lvl="1">
              <a:lnSpc>
                <a:spcPct val="90000"/>
              </a:lnSpc>
            </a:pPr>
            <a:r>
              <a:rPr lang="en-US" sz="2800" i="1" dirty="0">
                <a:solidFill>
                  <a:srgbClr val="C00000"/>
                </a:solidFill>
                <a:latin typeface="Gill Sans MT" charset="0"/>
              </a:rPr>
              <a:t>impersonation:</a:t>
            </a:r>
            <a:r>
              <a:rPr lang="en-US" sz="2800" dirty="0">
                <a:solidFill>
                  <a:srgbClr val="C00000"/>
                </a:solidFill>
                <a:latin typeface="Gill Sans MT" charset="0"/>
              </a:rPr>
              <a:t> </a:t>
            </a:r>
            <a:r>
              <a:rPr lang="en-US" sz="2800" dirty="0">
                <a:latin typeface="Gill Sans MT" charset="0"/>
              </a:rPr>
              <a:t>can fake (spoof) source address in packet (or any field in packet)</a:t>
            </a:r>
          </a:p>
          <a:p>
            <a:pPr lvl="1">
              <a:lnSpc>
                <a:spcPct val="90000"/>
              </a:lnSpc>
            </a:pPr>
            <a:r>
              <a:rPr lang="en-US" sz="2800" i="1" dirty="0">
                <a:solidFill>
                  <a:srgbClr val="C00000"/>
                </a:solidFill>
                <a:latin typeface="Gill Sans MT" charset="0"/>
              </a:rPr>
              <a:t>hijacking:</a:t>
            </a:r>
            <a:r>
              <a:rPr lang="en-US" sz="2800" dirty="0">
                <a:solidFill>
                  <a:srgbClr val="C00000"/>
                </a:solidFill>
                <a:latin typeface="Gill Sans MT" charset="0"/>
              </a:rPr>
              <a:t> </a:t>
            </a:r>
            <a:r>
              <a:rPr lang="ja-JP" altLang="en-US" sz="2800" dirty="0">
                <a:latin typeface="Gill Sans MT" charset="0"/>
              </a:rPr>
              <a:t>“</a:t>
            </a:r>
            <a:r>
              <a:rPr lang="en-US" altLang="ja-JP" sz="2800" dirty="0">
                <a:latin typeface="Gill Sans MT" charset="0"/>
              </a:rPr>
              <a:t>take over</a:t>
            </a:r>
            <a:r>
              <a:rPr lang="ja-JP" altLang="en-US" sz="2800" dirty="0">
                <a:latin typeface="Gill Sans MT" charset="0"/>
              </a:rPr>
              <a:t>”</a:t>
            </a:r>
            <a:r>
              <a:rPr lang="en-US" altLang="ja-JP" sz="2800" dirty="0">
                <a:latin typeface="Gill Sans MT" charset="0"/>
              </a:rPr>
              <a:t> ongoing connection by removing sender or receiver, inserting himself in place</a:t>
            </a:r>
          </a:p>
          <a:p>
            <a:pPr lvl="1">
              <a:lnSpc>
                <a:spcPct val="90000"/>
              </a:lnSpc>
            </a:pPr>
            <a:r>
              <a:rPr lang="en-US" sz="2800" i="1" dirty="0">
                <a:solidFill>
                  <a:srgbClr val="C00000"/>
                </a:solidFill>
                <a:latin typeface="Gill Sans MT" charset="0"/>
              </a:rPr>
              <a:t>denial of service</a:t>
            </a:r>
            <a:r>
              <a:rPr lang="en-US" sz="2800" dirty="0">
                <a:solidFill>
                  <a:srgbClr val="C00000"/>
                </a:solidFill>
                <a:latin typeface="Gill Sans MT" charset="0"/>
              </a:rPr>
              <a:t>: </a:t>
            </a:r>
            <a:r>
              <a:rPr lang="en-US" sz="2800" dirty="0">
                <a:latin typeface="Gill Sans MT" charset="0"/>
              </a:rPr>
              <a:t>prevent service from being used by others (e.g.,  by overloading resources)</a:t>
            </a:r>
          </a:p>
          <a:p>
            <a:pPr>
              <a:lnSpc>
                <a:spcPct val="90000"/>
              </a:lnSpc>
              <a:buFont typeface="Wingdings" charset="0"/>
              <a:buNone/>
            </a:pPr>
            <a:endParaRPr lang="en-US" dirty="0">
              <a:latin typeface="Gill Sans MT" charset="0"/>
            </a:endParaRPr>
          </a:p>
        </p:txBody>
      </p:sp>
      <p:pic>
        <p:nvPicPr>
          <p:cNvPr id="31748" name="Picture 6" descr="underline_bas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847725"/>
            <a:ext cx="82280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7</a:t>
            </a:fld>
            <a:endParaRPr lang="en-US" sz="1200" dirty="0">
              <a:latin typeface="Tahoma" charset="0"/>
            </a:endParaRPr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23229933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ill Sans MT" charset="0"/>
              </a:rPr>
              <a:t>Chapter 8 roadmap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50875" y="1668463"/>
            <a:ext cx="7772400" cy="4648200"/>
          </a:xfrm>
        </p:spPr>
        <p:txBody>
          <a:bodyPr/>
          <a:lstStyle/>
          <a:p>
            <a:pPr>
              <a:buFont typeface="Wingdings" charset="0"/>
              <a:buNone/>
            </a:pPr>
            <a:r>
              <a:rPr lang="en-US" dirty="0">
                <a:solidFill>
                  <a:srgbClr val="000099"/>
                </a:solidFill>
                <a:latin typeface="Gill Sans MT" charset="0"/>
              </a:rPr>
              <a:t>8.1</a:t>
            </a:r>
            <a:r>
              <a:rPr lang="en-US" dirty="0">
                <a:latin typeface="Gill Sans MT" charset="0"/>
              </a:rPr>
              <a:t> What is network security?</a:t>
            </a:r>
          </a:p>
          <a:p>
            <a:pPr>
              <a:buFont typeface="Wingdings" charset="0"/>
              <a:buNone/>
            </a:pPr>
            <a:r>
              <a:rPr lang="en-US" i="1" dirty="0">
                <a:solidFill>
                  <a:srgbClr val="C00000"/>
                </a:solidFill>
                <a:latin typeface="Gill Sans MT" charset="0"/>
              </a:rPr>
              <a:t>8.2 Principles of cryptography</a:t>
            </a:r>
          </a:p>
          <a:p>
            <a:pPr>
              <a:buFont typeface="Wingdings" charset="0"/>
              <a:buNone/>
            </a:pPr>
            <a:r>
              <a:rPr lang="en-US" dirty="0">
                <a:solidFill>
                  <a:srgbClr val="000099"/>
                </a:solidFill>
                <a:latin typeface="Gill Sans MT" charset="0"/>
              </a:rPr>
              <a:t>8.3</a:t>
            </a:r>
            <a:r>
              <a:rPr lang="en-US" dirty="0">
                <a:latin typeface="Gill Sans MT" charset="0"/>
              </a:rPr>
              <a:t> Message integrity, authentication</a:t>
            </a:r>
          </a:p>
          <a:p>
            <a:pPr>
              <a:buFont typeface="Wingdings" charset="0"/>
              <a:buNone/>
            </a:pPr>
            <a:r>
              <a:rPr lang="en-US" dirty="0">
                <a:solidFill>
                  <a:srgbClr val="000099"/>
                </a:solidFill>
                <a:latin typeface="Gill Sans MT" charset="0"/>
              </a:rPr>
              <a:t>8.4 </a:t>
            </a:r>
            <a:r>
              <a:rPr lang="en-US" dirty="0">
                <a:latin typeface="Gill Sans MT" charset="0"/>
              </a:rPr>
              <a:t>Securing e-mail</a:t>
            </a:r>
          </a:p>
          <a:p>
            <a:pPr>
              <a:buFont typeface="Wingdings" charset="0"/>
              <a:buNone/>
            </a:pPr>
            <a:r>
              <a:rPr lang="en-US" dirty="0">
                <a:solidFill>
                  <a:srgbClr val="000099"/>
                </a:solidFill>
                <a:latin typeface="Gill Sans MT" charset="0"/>
              </a:rPr>
              <a:t>8.5</a:t>
            </a:r>
            <a:r>
              <a:rPr lang="en-US" dirty="0">
                <a:latin typeface="Gill Sans MT" charset="0"/>
              </a:rPr>
              <a:t> Securing TCP connections: SSL</a:t>
            </a:r>
          </a:p>
          <a:p>
            <a:pPr>
              <a:buFont typeface="Wingdings" charset="0"/>
              <a:buNone/>
            </a:pPr>
            <a:r>
              <a:rPr lang="en-US" dirty="0">
                <a:solidFill>
                  <a:srgbClr val="000099"/>
                </a:solidFill>
                <a:latin typeface="Gill Sans MT" charset="0"/>
              </a:rPr>
              <a:t>8.6</a:t>
            </a:r>
            <a:r>
              <a:rPr lang="en-US" dirty="0">
                <a:latin typeface="Gill Sans MT" charset="0"/>
              </a:rPr>
              <a:t> Network layer security: IPsec</a:t>
            </a:r>
          </a:p>
          <a:p>
            <a:pPr>
              <a:buFont typeface="Wingdings" charset="0"/>
              <a:buNone/>
            </a:pPr>
            <a:r>
              <a:rPr lang="en-US" dirty="0">
                <a:solidFill>
                  <a:srgbClr val="000099"/>
                </a:solidFill>
                <a:latin typeface="Gill Sans MT" charset="0"/>
              </a:rPr>
              <a:t>8.7</a:t>
            </a:r>
            <a:r>
              <a:rPr lang="en-US" dirty="0">
                <a:latin typeface="Gill Sans MT" charset="0"/>
              </a:rPr>
              <a:t> Securing wireless LANs</a:t>
            </a:r>
          </a:p>
          <a:p>
            <a:pPr>
              <a:buFont typeface="Wingdings" charset="0"/>
              <a:buNone/>
            </a:pPr>
            <a:r>
              <a:rPr lang="en-US" dirty="0">
                <a:solidFill>
                  <a:srgbClr val="000099"/>
                </a:solidFill>
                <a:latin typeface="Gill Sans MT" charset="0"/>
              </a:rPr>
              <a:t>8.8</a:t>
            </a:r>
            <a:r>
              <a:rPr lang="en-US" dirty="0">
                <a:latin typeface="Gill Sans MT" charset="0"/>
              </a:rPr>
              <a:t> Operational security: firewalls and IDS</a:t>
            </a:r>
          </a:p>
        </p:txBody>
      </p:sp>
      <p:pic>
        <p:nvPicPr>
          <p:cNvPr id="33796" name="Picture 22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238" y="1066800"/>
            <a:ext cx="45704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8</a:t>
            </a:fld>
            <a:endParaRPr lang="en-US" sz="1200" dirty="0">
              <a:latin typeface="Tahoma" charset="0"/>
            </a:endParaRPr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38138437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7772400" cy="1143000"/>
          </a:xfrm>
        </p:spPr>
        <p:txBody>
          <a:bodyPr/>
          <a:lstStyle/>
          <a:p>
            <a:r>
              <a:rPr lang="en-US" sz="3600" dirty="0">
                <a:latin typeface="Gill Sans MT" charset="0"/>
              </a:rPr>
              <a:t>The language of cryptography</a:t>
            </a:r>
            <a:endParaRPr lang="en-US" dirty="0">
              <a:latin typeface="Gill Sans MT" charset="0"/>
            </a:endParaRP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7025" y="4811713"/>
            <a:ext cx="8218488" cy="1203325"/>
          </a:xfrm>
        </p:spPr>
        <p:txBody>
          <a:bodyPr/>
          <a:lstStyle/>
          <a:p>
            <a:pPr>
              <a:buFont typeface="Wingdings" charset="0"/>
              <a:buNone/>
            </a:pPr>
            <a:r>
              <a:rPr lang="en-US" sz="2400" dirty="0">
                <a:solidFill>
                  <a:srgbClr val="C00000"/>
                </a:solidFill>
                <a:latin typeface="Gill Sans MT" charset="0"/>
              </a:rPr>
              <a:t>m</a:t>
            </a:r>
            <a:r>
              <a:rPr lang="en-US" sz="2400" dirty="0">
                <a:solidFill>
                  <a:srgbClr val="FF0000"/>
                </a:solidFill>
                <a:latin typeface="Gill Sans MT" charset="0"/>
              </a:rPr>
              <a:t> </a:t>
            </a:r>
            <a:r>
              <a:rPr lang="en-US" sz="2400" dirty="0">
                <a:latin typeface="Gill Sans MT" charset="0"/>
              </a:rPr>
              <a:t>plaintext message</a:t>
            </a:r>
          </a:p>
          <a:p>
            <a:pPr>
              <a:buFont typeface="Wingdings" charset="0"/>
              <a:buNone/>
            </a:pPr>
            <a:r>
              <a:rPr lang="en-US" sz="2400" dirty="0">
                <a:solidFill>
                  <a:srgbClr val="C00000"/>
                </a:solidFill>
                <a:latin typeface="Gill Sans MT" charset="0"/>
              </a:rPr>
              <a:t>K</a:t>
            </a:r>
            <a:r>
              <a:rPr lang="en-US" sz="2400" baseline="-25000" dirty="0">
                <a:solidFill>
                  <a:srgbClr val="C00000"/>
                </a:solidFill>
                <a:latin typeface="Gill Sans MT" charset="0"/>
              </a:rPr>
              <a:t>A</a:t>
            </a:r>
            <a:r>
              <a:rPr lang="en-US" sz="2400" dirty="0">
                <a:solidFill>
                  <a:srgbClr val="C00000"/>
                </a:solidFill>
                <a:latin typeface="Gill Sans MT" charset="0"/>
              </a:rPr>
              <a:t>(m) </a:t>
            </a:r>
            <a:r>
              <a:rPr lang="en-US" sz="2400" dirty="0">
                <a:latin typeface="Gill Sans MT" charset="0"/>
              </a:rPr>
              <a:t>ciphertext, encrypted with key K</a:t>
            </a:r>
            <a:r>
              <a:rPr lang="en-US" sz="2400" baseline="-25000" dirty="0">
                <a:latin typeface="Gill Sans MT" charset="0"/>
              </a:rPr>
              <a:t>A</a:t>
            </a:r>
            <a:endParaRPr lang="en-US" sz="2400" dirty="0">
              <a:latin typeface="Gill Sans MT" charset="0"/>
            </a:endParaRPr>
          </a:p>
          <a:p>
            <a:pPr>
              <a:buFont typeface="Wingdings" charset="0"/>
              <a:buNone/>
            </a:pPr>
            <a:r>
              <a:rPr lang="en-US" sz="2400" dirty="0">
                <a:solidFill>
                  <a:srgbClr val="C00000"/>
                </a:solidFill>
                <a:latin typeface="Gill Sans MT" charset="0"/>
              </a:rPr>
              <a:t>m = K</a:t>
            </a:r>
            <a:r>
              <a:rPr lang="en-US" sz="2400" baseline="-25000" dirty="0">
                <a:solidFill>
                  <a:srgbClr val="C00000"/>
                </a:solidFill>
                <a:latin typeface="Gill Sans MT" charset="0"/>
              </a:rPr>
              <a:t>B</a:t>
            </a:r>
            <a:r>
              <a:rPr lang="en-US" sz="2400" dirty="0">
                <a:solidFill>
                  <a:srgbClr val="C00000"/>
                </a:solidFill>
                <a:latin typeface="Gill Sans MT" charset="0"/>
              </a:rPr>
              <a:t>(K</a:t>
            </a:r>
            <a:r>
              <a:rPr lang="en-US" sz="2400" baseline="-25000" dirty="0">
                <a:solidFill>
                  <a:srgbClr val="C00000"/>
                </a:solidFill>
                <a:latin typeface="Gill Sans MT" charset="0"/>
              </a:rPr>
              <a:t>A</a:t>
            </a:r>
            <a:r>
              <a:rPr lang="en-US" sz="2400" dirty="0">
                <a:solidFill>
                  <a:srgbClr val="C00000"/>
                </a:solidFill>
                <a:latin typeface="Gill Sans MT" charset="0"/>
              </a:rPr>
              <a:t>(m))</a:t>
            </a:r>
            <a:endParaRPr lang="en-US" sz="2400" baseline="-25000" dirty="0">
              <a:solidFill>
                <a:srgbClr val="C00000"/>
              </a:solidFill>
              <a:latin typeface="Gill Sans MT" charset="0"/>
            </a:endParaRPr>
          </a:p>
          <a:p>
            <a:pPr>
              <a:buFont typeface="Wingdings" charset="0"/>
              <a:buNone/>
            </a:pPr>
            <a:endParaRPr lang="en-US" sz="2400" dirty="0">
              <a:latin typeface="Gill Sans MT" charset="0"/>
            </a:endParaRPr>
          </a:p>
        </p:txBody>
      </p:sp>
      <p:grpSp>
        <p:nvGrpSpPr>
          <p:cNvPr id="35844" name="Group 4"/>
          <p:cNvGrpSpPr>
            <a:grpSpLocks/>
          </p:cNvGrpSpPr>
          <p:nvPr/>
        </p:nvGrpSpPr>
        <p:grpSpPr bwMode="auto">
          <a:xfrm>
            <a:off x="652463" y="1447800"/>
            <a:ext cx="7750175" cy="3309938"/>
            <a:chOff x="392" y="896"/>
            <a:chExt cx="4882" cy="2085"/>
          </a:xfrm>
        </p:grpSpPr>
        <p:sp>
          <p:nvSpPr>
            <p:cNvPr id="35846" name="Text Box 5"/>
            <p:cNvSpPr txBox="1">
              <a:spLocks noChangeArrowheads="1"/>
            </p:cNvSpPr>
            <p:nvPr/>
          </p:nvSpPr>
          <p:spPr bwMode="auto">
            <a:xfrm>
              <a:off x="392" y="1679"/>
              <a:ext cx="718" cy="2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plaintext</a:t>
              </a:r>
            </a:p>
          </p:txBody>
        </p:sp>
        <p:sp>
          <p:nvSpPr>
            <p:cNvPr id="35847" name="Text Box 6"/>
            <p:cNvSpPr txBox="1">
              <a:spLocks noChangeArrowheads="1"/>
            </p:cNvSpPr>
            <p:nvPr/>
          </p:nvSpPr>
          <p:spPr bwMode="auto">
            <a:xfrm>
              <a:off x="4517" y="1667"/>
              <a:ext cx="718" cy="2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plaintext</a:t>
              </a:r>
            </a:p>
          </p:txBody>
        </p:sp>
        <p:sp>
          <p:nvSpPr>
            <p:cNvPr id="35848" name="Text Box 7"/>
            <p:cNvSpPr txBox="1">
              <a:spLocks noChangeArrowheads="1"/>
            </p:cNvSpPr>
            <p:nvPr/>
          </p:nvSpPr>
          <p:spPr bwMode="auto">
            <a:xfrm>
              <a:off x="2442" y="1655"/>
              <a:ext cx="816" cy="2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ciphertext</a:t>
              </a:r>
            </a:p>
          </p:txBody>
        </p:sp>
        <p:grpSp>
          <p:nvGrpSpPr>
            <p:cNvPr id="35849" name="Group 8"/>
            <p:cNvGrpSpPr>
              <a:grpSpLocks/>
            </p:cNvGrpSpPr>
            <p:nvPr/>
          </p:nvGrpSpPr>
          <p:grpSpPr bwMode="auto">
            <a:xfrm>
              <a:off x="1336" y="1036"/>
              <a:ext cx="335" cy="383"/>
              <a:chOff x="189" y="1789"/>
              <a:chExt cx="335" cy="383"/>
            </a:xfrm>
          </p:grpSpPr>
          <p:sp>
            <p:nvSpPr>
              <p:cNvPr id="35871" name="Text Box 9"/>
              <p:cNvSpPr txBox="1">
                <a:spLocks noChangeArrowheads="1"/>
              </p:cNvSpPr>
              <p:nvPr/>
            </p:nvSpPr>
            <p:spPr bwMode="auto">
              <a:xfrm>
                <a:off x="189" y="1789"/>
                <a:ext cx="246" cy="29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400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K</a:t>
                </a:r>
              </a:p>
            </p:txBody>
          </p:sp>
          <p:sp>
            <p:nvSpPr>
              <p:cNvPr id="35872" name="Text Box 10"/>
              <p:cNvSpPr txBox="1">
                <a:spLocks noChangeArrowheads="1"/>
              </p:cNvSpPr>
              <p:nvPr/>
            </p:nvSpPr>
            <p:spPr bwMode="auto">
              <a:xfrm>
                <a:off x="291" y="1922"/>
                <a:ext cx="233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A</a:t>
                </a:r>
              </a:p>
            </p:txBody>
          </p:sp>
        </p:grpSp>
        <p:pic>
          <p:nvPicPr>
            <p:cNvPr id="35850" name="Picture 11" descr="Alice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8" y="1050"/>
              <a:ext cx="440" cy="5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5851" name="Picture 12" descr="Eve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83" y="2165"/>
              <a:ext cx="682" cy="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852" name="Rectangle 13"/>
            <p:cNvSpPr>
              <a:spLocks noChangeArrowheads="1"/>
            </p:cNvSpPr>
            <p:nvPr/>
          </p:nvSpPr>
          <p:spPr bwMode="auto">
            <a:xfrm>
              <a:off x="1249" y="1621"/>
              <a:ext cx="877" cy="50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35853" name="Text Box 14"/>
            <p:cNvSpPr txBox="1">
              <a:spLocks noChangeArrowheads="1"/>
            </p:cNvSpPr>
            <p:nvPr/>
          </p:nvSpPr>
          <p:spPr bwMode="auto">
            <a:xfrm>
              <a:off x="1265" y="1627"/>
              <a:ext cx="862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encryption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algorithm</a:t>
              </a:r>
            </a:p>
          </p:txBody>
        </p:sp>
        <p:sp>
          <p:nvSpPr>
            <p:cNvPr id="35854" name="Rectangle 15"/>
            <p:cNvSpPr>
              <a:spLocks noChangeArrowheads="1"/>
            </p:cNvSpPr>
            <p:nvPr/>
          </p:nvSpPr>
          <p:spPr bwMode="auto">
            <a:xfrm>
              <a:off x="3606" y="1629"/>
              <a:ext cx="868" cy="50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35855" name="Text Box 16"/>
            <p:cNvSpPr txBox="1">
              <a:spLocks noChangeArrowheads="1"/>
            </p:cNvSpPr>
            <p:nvPr/>
          </p:nvSpPr>
          <p:spPr bwMode="auto">
            <a:xfrm>
              <a:off x="3619" y="1644"/>
              <a:ext cx="906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decryption 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algorithm</a:t>
              </a:r>
            </a:p>
          </p:txBody>
        </p:sp>
        <p:sp>
          <p:nvSpPr>
            <p:cNvPr id="35856" name="Line 17"/>
            <p:cNvSpPr>
              <a:spLocks noChangeShapeType="1"/>
            </p:cNvSpPr>
            <p:nvPr/>
          </p:nvSpPr>
          <p:spPr bwMode="auto">
            <a:xfrm>
              <a:off x="2144" y="1881"/>
              <a:ext cx="1450" cy="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857" name="Freeform 18"/>
            <p:cNvSpPr>
              <a:spLocks/>
            </p:cNvSpPr>
            <p:nvPr/>
          </p:nvSpPr>
          <p:spPr bwMode="auto">
            <a:xfrm>
              <a:off x="2446" y="1914"/>
              <a:ext cx="361" cy="576"/>
            </a:xfrm>
            <a:custGeom>
              <a:avLst/>
              <a:gdLst>
                <a:gd name="T0" fmla="*/ 0 w 344"/>
                <a:gd name="T1" fmla="*/ 0 h 789"/>
                <a:gd name="T2" fmla="*/ 458 w 344"/>
                <a:gd name="T3" fmla="*/ 11 h 789"/>
                <a:gd name="T4" fmla="*/ 484 w 344"/>
                <a:gd name="T5" fmla="*/ 64 h 789"/>
                <a:gd name="T6" fmla="*/ 0 60000 65536"/>
                <a:gd name="T7" fmla="*/ 0 60000 65536"/>
                <a:gd name="T8" fmla="*/ 0 60000 65536"/>
                <a:gd name="T9" fmla="*/ 0 w 344"/>
                <a:gd name="T10" fmla="*/ 0 h 789"/>
                <a:gd name="T11" fmla="*/ 344 w 344"/>
                <a:gd name="T12" fmla="*/ 789 h 78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44" h="789">
                  <a:moveTo>
                    <a:pt x="0" y="0"/>
                  </a:moveTo>
                  <a:cubicBezTo>
                    <a:pt x="52" y="24"/>
                    <a:pt x="255" y="10"/>
                    <a:pt x="310" y="142"/>
                  </a:cubicBezTo>
                  <a:cubicBezTo>
                    <a:pt x="344" y="248"/>
                    <a:pt x="324" y="654"/>
                    <a:pt x="328" y="789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858" name="Freeform 19"/>
            <p:cNvSpPr>
              <a:spLocks/>
            </p:cNvSpPr>
            <p:nvPr/>
          </p:nvSpPr>
          <p:spPr bwMode="auto">
            <a:xfrm flipH="1">
              <a:off x="2871" y="1913"/>
              <a:ext cx="361" cy="576"/>
            </a:xfrm>
            <a:custGeom>
              <a:avLst/>
              <a:gdLst>
                <a:gd name="T0" fmla="*/ 0 w 344"/>
                <a:gd name="T1" fmla="*/ 0 h 789"/>
                <a:gd name="T2" fmla="*/ 458 w 344"/>
                <a:gd name="T3" fmla="*/ 11 h 789"/>
                <a:gd name="T4" fmla="*/ 484 w 344"/>
                <a:gd name="T5" fmla="*/ 64 h 789"/>
                <a:gd name="T6" fmla="*/ 0 60000 65536"/>
                <a:gd name="T7" fmla="*/ 0 60000 65536"/>
                <a:gd name="T8" fmla="*/ 0 60000 65536"/>
                <a:gd name="T9" fmla="*/ 0 w 344"/>
                <a:gd name="T10" fmla="*/ 0 h 789"/>
                <a:gd name="T11" fmla="*/ 344 w 344"/>
                <a:gd name="T12" fmla="*/ 789 h 78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44" h="789">
                  <a:moveTo>
                    <a:pt x="0" y="0"/>
                  </a:moveTo>
                  <a:cubicBezTo>
                    <a:pt x="52" y="24"/>
                    <a:pt x="255" y="10"/>
                    <a:pt x="310" y="142"/>
                  </a:cubicBezTo>
                  <a:cubicBezTo>
                    <a:pt x="344" y="248"/>
                    <a:pt x="324" y="654"/>
                    <a:pt x="328" y="789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859" name="Line 20"/>
            <p:cNvSpPr>
              <a:spLocks noChangeShapeType="1"/>
            </p:cNvSpPr>
            <p:nvPr/>
          </p:nvSpPr>
          <p:spPr bwMode="auto">
            <a:xfrm flipH="1">
              <a:off x="1495" y="1382"/>
              <a:ext cx="1" cy="24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860" name="Line 21"/>
            <p:cNvSpPr>
              <a:spLocks noChangeShapeType="1"/>
            </p:cNvSpPr>
            <p:nvPr/>
          </p:nvSpPr>
          <p:spPr bwMode="auto">
            <a:xfrm flipH="1">
              <a:off x="3744" y="1363"/>
              <a:ext cx="1" cy="24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861" name="Text Box 22"/>
            <p:cNvSpPr txBox="1">
              <a:spLocks noChangeArrowheads="1"/>
            </p:cNvSpPr>
            <p:nvPr/>
          </p:nvSpPr>
          <p:spPr bwMode="auto">
            <a:xfrm>
              <a:off x="1603" y="897"/>
              <a:ext cx="950" cy="63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dirty="0">
                  <a:latin typeface="Arial" charset="0"/>
                  <a:cs typeface="Arial" charset="0"/>
                </a:rPr>
                <a:t>Aman</a:t>
              </a:r>
              <a:r>
                <a:rPr lang="ja-JP" altLang="en-US" dirty="0">
                  <a:latin typeface="Arial" charset="0"/>
                  <a:cs typeface="Arial" charset="0"/>
                </a:rPr>
                <a:t>’</a:t>
              </a:r>
              <a:r>
                <a:rPr lang="en-US" altLang="ja-JP" dirty="0">
                  <a:latin typeface="Arial" charset="0"/>
                  <a:cs typeface="Arial" charset="0"/>
                </a:rPr>
                <a:t>s </a:t>
              </a:r>
            </a:p>
            <a:p>
              <a:r>
                <a:rPr lang="en-US" dirty="0">
                  <a:latin typeface="Arial" charset="0"/>
                  <a:cs typeface="Arial" charset="0"/>
                </a:rPr>
                <a:t>encryption</a:t>
              </a:r>
            </a:p>
            <a:p>
              <a:r>
                <a:rPr lang="en-US" dirty="0">
                  <a:latin typeface="Arial" charset="0"/>
                  <a:cs typeface="Arial" charset="0"/>
                </a:rPr>
                <a:t>key</a:t>
              </a:r>
            </a:p>
          </p:txBody>
        </p:sp>
        <p:sp>
          <p:nvSpPr>
            <p:cNvPr id="35862" name="Text Box 23"/>
            <p:cNvSpPr txBox="1">
              <a:spLocks noChangeArrowheads="1"/>
            </p:cNvSpPr>
            <p:nvPr/>
          </p:nvSpPr>
          <p:spPr bwMode="auto">
            <a:xfrm>
              <a:off x="3896" y="940"/>
              <a:ext cx="950" cy="63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dirty="0">
                  <a:latin typeface="Arial" charset="0"/>
                  <a:cs typeface="Arial" charset="0"/>
                </a:rPr>
                <a:t>Brajesh</a:t>
              </a:r>
              <a:r>
                <a:rPr lang="ja-JP" altLang="en-US" dirty="0">
                  <a:latin typeface="Arial" charset="0"/>
                  <a:cs typeface="Arial" charset="0"/>
                </a:rPr>
                <a:t>’</a:t>
              </a:r>
              <a:r>
                <a:rPr lang="en-US" altLang="ja-JP" dirty="0">
                  <a:latin typeface="Arial" charset="0"/>
                  <a:cs typeface="Arial" charset="0"/>
                </a:rPr>
                <a:t>s </a:t>
              </a:r>
            </a:p>
            <a:p>
              <a:r>
                <a:rPr lang="en-US" dirty="0">
                  <a:latin typeface="Arial" charset="0"/>
                  <a:cs typeface="Arial" charset="0"/>
                </a:rPr>
                <a:t>decryption</a:t>
              </a:r>
            </a:p>
            <a:p>
              <a:r>
                <a:rPr lang="en-US" dirty="0">
                  <a:latin typeface="Arial" charset="0"/>
                  <a:cs typeface="Arial" charset="0"/>
                </a:rPr>
                <a:t>key</a:t>
              </a:r>
            </a:p>
          </p:txBody>
        </p:sp>
        <p:pic>
          <p:nvPicPr>
            <p:cNvPr id="35863" name="Picture 24" descr="Bob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62" y="1178"/>
              <a:ext cx="512" cy="5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35864" name="Group 25"/>
            <p:cNvGrpSpPr>
              <a:grpSpLocks/>
            </p:cNvGrpSpPr>
            <p:nvPr/>
          </p:nvGrpSpPr>
          <p:grpSpPr bwMode="auto">
            <a:xfrm>
              <a:off x="3650" y="1118"/>
              <a:ext cx="360" cy="385"/>
              <a:chOff x="189" y="1789"/>
              <a:chExt cx="360" cy="385"/>
            </a:xfrm>
          </p:grpSpPr>
          <p:sp>
            <p:nvSpPr>
              <p:cNvPr id="35869" name="Text Box 26"/>
              <p:cNvSpPr txBox="1">
                <a:spLocks noChangeArrowheads="1"/>
              </p:cNvSpPr>
              <p:nvPr/>
            </p:nvSpPr>
            <p:spPr bwMode="auto">
              <a:xfrm>
                <a:off x="189" y="1789"/>
                <a:ext cx="246" cy="29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400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K</a:t>
                </a:r>
              </a:p>
            </p:txBody>
          </p:sp>
          <p:sp>
            <p:nvSpPr>
              <p:cNvPr id="35870" name="Text Box 27"/>
              <p:cNvSpPr txBox="1">
                <a:spLocks noChangeArrowheads="1"/>
              </p:cNvSpPr>
              <p:nvPr/>
            </p:nvSpPr>
            <p:spPr bwMode="auto">
              <a:xfrm>
                <a:off x="325" y="1922"/>
                <a:ext cx="224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B</a:t>
                </a:r>
              </a:p>
            </p:txBody>
          </p:sp>
        </p:grpSp>
        <p:sp>
          <p:nvSpPr>
            <p:cNvPr id="35865" name="Line 28"/>
            <p:cNvSpPr>
              <a:spLocks noChangeShapeType="1"/>
            </p:cNvSpPr>
            <p:nvPr/>
          </p:nvSpPr>
          <p:spPr bwMode="auto">
            <a:xfrm>
              <a:off x="780" y="1897"/>
              <a:ext cx="42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866" name="Line 29"/>
            <p:cNvSpPr>
              <a:spLocks noChangeShapeType="1"/>
            </p:cNvSpPr>
            <p:nvPr/>
          </p:nvSpPr>
          <p:spPr bwMode="auto">
            <a:xfrm>
              <a:off x="4518" y="1904"/>
              <a:ext cx="42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pic>
          <p:nvPicPr>
            <p:cNvPr id="35867" name="Picture 30" descr="BS00768_[1]"/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1371" y="896"/>
              <a:ext cx="293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5868" name="Picture 31" descr="BS00768_[1]"/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3625" y="955"/>
              <a:ext cx="293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35845" name="Picture 19" descr="underline_base"/>
          <p:cNvPicPr>
            <a:picLocks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113" y="784225"/>
            <a:ext cx="59420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9</a:t>
            </a:fld>
            <a:endParaRPr lang="en-US" sz="1200" dirty="0">
              <a:latin typeface="Tahoma" charset="0"/>
            </a:endParaRPr>
          </a:p>
        </p:txBody>
      </p:sp>
      <p:sp>
        <p:nvSpPr>
          <p:cNvPr id="35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25309099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ill Sans MT" charset="0"/>
              </a:rPr>
              <a:t>Breaking an encryption scheme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en-US" sz="2400" dirty="0">
                <a:solidFill>
                  <a:srgbClr val="C00000"/>
                </a:solidFill>
                <a:latin typeface="Gill Sans MT" charset="0"/>
              </a:rPr>
              <a:t>cipher-text only attack: </a:t>
            </a:r>
            <a:r>
              <a:rPr lang="en-US" sz="2400" dirty="0">
                <a:latin typeface="Gill Sans MT" charset="0"/>
              </a:rPr>
              <a:t>Manish has ciphertext she can analyze</a:t>
            </a:r>
          </a:p>
          <a:p>
            <a:r>
              <a:rPr lang="en-US" sz="2400" dirty="0">
                <a:solidFill>
                  <a:srgbClr val="C00000"/>
                </a:solidFill>
                <a:latin typeface="Gill Sans MT" charset="0"/>
              </a:rPr>
              <a:t>two approaches:</a:t>
            </a:r>
          </a:p>
          <a:p>
            <a:pPr lvl="1"/>
            <a:r>
              <a:rPr lang="en-US" dirty="0">
                <a:latin typeface="Gill Sans MT" charset="0"/>
              </a:rPr>
              <a:t>brute force: search through all keys </a:t>
            </a:r>
          </a:p>
          <a:p>
            <a:pPr lvl="1"/>
            <a:r>
              <a:rPr lang="en-US" dirty="0">
                <a:latin typeface="Gill Sans MT" charset="0"/>
              </a:rPr>
              <a:t>statistical analysis</a:t>
            </a:r>
          </a:p>
        </p:txBody>
      </p:sp>
      <p:sp>
        <p:nvSpPr>
          <p:cNvPr id="36868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495800" y="1600200"/>
            <a:ext cx="4119563" cy="4648200"/>
          </a:xfrm>
        </p:spPr>
        <p:txBody>
          <a:bodyPr/>
          <a:lstStyle/>
          <a:p>
            <a:r>
              <a:rPr lang="en-US" sz="2400" dirty="0">
                <a:solidFill>
                  <a:srgbClr val="C00000"/>
                </a:solidFill>
                <a:latin typeface="Gill Sans MT" charset="0"/>
              </a:rPr>
              <a:t>known-plaintext attack: </a:t>
            </a:r>
            <a:r>
              <a:rPr lang="en-US" sz="2400" dirty="0">
                <a:latin typeface="Gill Sans MT" charset="0"/>
              </a:rPr>
              <a:t>Manish has plaintext corresponding to ciphertext</a:t>
            </a:r>
          </a:p>
          <a:p>
            <a:pPr lvl="1"/>
            <a:r>
              <a:rPr lang="en-US" dirty="0">
                <a:latin typeface="Gill Sans MT" charset="0"/>
              </a:rPr>
              <a:t>e.g., in monoalphabetic cipher, Manish determines pairings for a,l,i,c,e,b,o,</a:t>
            </a:r>
          </a:p>
          <a:p>
            <a:r>
              <a:rPr lang="en-US" sz="2400" dirty="0">
                <a:solidFill>
                  <a:srgbClr val="C00000"/>
                </a:solidFill>
                <a:latin typeface="Gill Sans MT" charset="0"/>
              </a:rPr>
              <a:t>chosen-plaintext attack: </a:t>
            </a:r>
            <a:r>
              <a:rPr lang="en-US" sz="2400" dirty="0">
                <a:latin typeface="Gill Sans MT" charset="0"/>
              </a:rPr>
              <a:t>Manish can get ciphertext for chosen plaintext</a:t>
            </a:r>
          </a:p>
          <a:p>
            <a:pPr>
              <a:buFont typeface="Wingdings" charset="0"/>
              <a:buNone/>
            </a:pPr>
            <a:endParaRPr lang="en-US" sz="2400" dirty="0">
              <a:latin typeface="Gill Sans MT" charset="0"/>
            </a:endParaRPr>
          </a:p>
        </p:txBody>
      </p:sp>
      <p:pic>
        <p:nvPicPr>
          <p:cNvPr id="36869" name="Picture 16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150" y="1054100"/>
            <a:ext cx="73136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10</a:t>
            </a:fld>
            <a:endParaRPr lang="en-US" sz="1200" dirty="0">
              <a:latin typeface="Tahoma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29929010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41288"/>
            <a:ext cx="7772400" cy="1143000"/>
          </a:xfrm>
        </p:spPr>
        <p:txBody>
          <a:bodyPr/>
          <a:lstStyle/>
          <a:p>
            <a:r>
              <a:rPr lang="en-US" sz="3600" dirty="0">
                <a:latin typeface="Gill Sans MT" charset="0"/>
              </a:rPr>
              <a:t>Symmetric key cryptography</a:t>
            </a:r>
            <a:endParaRPr lang="en-US" dirty="0">
              <a:latin typeface="Gill Sans MT" charset="0"/>
            </a:endParaRP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5475" y="4021138"/>
            <a:ext cx="8218488" cy="1979612"/>
          </a:xfrm>
        </p:spPr>
        <p:txBody>
          <a:bodyPr/>
          <a:lstStyle/>
          <a:p>
            <a:pPr>
              <a:lnSpc>
                <a:spcPct val="90000"/>
              </a:lnSpc>
              <a:buFont typeface="Wingdings" charset="0"/>
              <a:buNone/>
            </a:pPr>
            <a:r>
              <a:rPr lang="en-US" sz="2400" dirty="0">
                <a:solidFill>
                  <a:srgbClr val="C00000"/>
                </a:solidFill>
                <a:latin typeface="Gill Sans MT" charset="0"/>
              </a:rPr>
              <a:t>symmetric key crypto</a:t>
            </a:r>
            <a:r>
              <a:rPr lang="en-US" sz="2400" dirty="0">
                <a:latin typeface="Gill Sans MT" charset="0"/>
              </a:rPr>
              <a:t>: Brajesh and Aman share same (symmetric) key: K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latin typeface="Gill Sans MT" charset="0"/>
              </a:rPr>
              <a:t>e.g., key is knowing substitution pattern in mono alphabetic substitution cipher</a:t>
            </a:r>
          </a:p>
          <a:p>
            <a:pPr>
              <a:lnSpc>
                <a:spcPct val="90000"/>
              </a:lnSpc>
              <a:buFont typeface="Wingdings" charset="0"/>
              <a:buNone/>
            </a:pPr>
            <a:r>
              <a:rPr lang="en-US" sz="2400" i="1" u="sng" dirty="0">
                <a:solidFill>
                  <a:srgbClr val="C00000"/>
                </a:solidFill>
                <a:latin typeface="Gill Sans MT" charset="0"/>
              </a:rPr>
              <a:t>Q:</a:t>
            </a:r>
            <a:r>
              <a:rPr lang="en-US" sz="2400" i="1" dirty="0">
                <a:solidFill>
                  <a:srgbClr val="C00000"/>
                </a:solidFill>
                <a:latin typeface="Gill Sans MT" charset="0"/>
              </a:rPr>
              <a:t> </a:t>
            </a:r>
            <a:r>
              <a:rPr lang="en-US" sz="2400" dirty="0">
                <a:latin typeface="Gill Sans MT" charset="0"/>
              </a:rPr>
              <a:t>how do Brajesh and Aman agree on key value?</a:t>
            </a:r>
            <a:endParaRPr lang="en-US" sz="2400" i="1" dirty="0">
              <a:latin typeface="Gill Sans MT" charset="0"/>
            </a:endParaRPr>
          </a:p>
        </p:txBody>
      </p:sp>
      <p:sp>
        <p:nvSpPr>
          <p:cNvPr id="37892" name="Text Box 4"/>
          <p:cNvSpPr txBox="1">
            <a:spLocks noChangeArrowheads="1"/>
          </p:cNvSpPr>
          <p:nvPr/>
        </p:nvSpPr>
        <p:spPr bwMode="auto">
          <a:xfrm>
            <a:off x="6546850" y="2632075"/>
            <a:ext cx="1141413" cy="4000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dirty="0">
                <a:solidFill>
                  <a:srgbClr val="C00000"/>
                </a:solidFill>
                <a:latin typeface="Arial" charset="0"/>
                <a:cs typeface="Arial" charset="0"/>
              </a:rPr>
              <a:t>plaintext</a:t>
            </a:r>
          </a:p>
        </p:txBody>
      </p:sp>
      <p:sp>
        <p:nvSpPr>
          <p:cNvPr id="37893" name="Text Box 5"/>
          <p:cNvSpPr txBox="1">
            <a:spLocks noChangeArrowheads="1"/>
          </p:cNvSpPr>
          <p:nvPr/>
        </p:nvSpPr>
        <p:spPr bwMode="auto">
          <a:xfrm>
            <a:off x="3543300" y="2613025"/>
            <a:ext cx="1295400" cy="4000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dirty="0">
                <a:solidFill>
                  <a:srgbClr val="C00000"/>
                </a:solidFill>
                <a:latin typeface="Arial" charset="0"/>
                <a:cs typeface="Arial" charset="0"/>
              </a:rPr>
              <a:t>ciphertext</a:t>
            </a:r>
          </a:p>
        </p:txBody>
      </p:sp>
      <p:grpSp>
        <p:nvGrpSpPr>
          <p:cNvPr id="37894" name="Group 6"/>
          <p:cNvGrpSpPr>
            <a:grpSpLocks/>
          </p:cNvGrpSpPr>
          <p:nvPr/>
        </p:nvGrpSpPr>
        <p:grpSpPr bwMode="auto">
          <a:xfrm>
            <a:off x="2165350" y="1716088"/>
            <a:ext cx="642938" cy="579437"/>
            <a:chOff x="1382" y="1036"/>
            <a:chExt cx="405" cy="365"/>
          </a:xfrm>
        </p:grpSpPr>
        <p:sp>
          <p:nvSpPr>
            <p:cNvPr id="37917" name="Text Box 7"/>
            <p:cNvSpPr txBox="1">
              <a:spLocks noChangeArrowheads="1"/>
            </p:cNvSpPr>
            <p:nvPr/>
          </p:nvSpPr>
          <p:spPr bwMode="auto">
            <a:xfrm>
              <a:off x="1382" y="1036"/>
              <a:ext cx="246" cy="29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K</a:t>
              </a:r>
            </a:p>
          </p:txBody>
        </p:sp>
        <p:sp>
          <p:nvSpPr>
            <p:cNvPr id="37918" name="Text Box 8"/>
            <p:cNvSpPr txBox="1">
              <a:spLocks noChangeArrowheads="1"/>
            </p:cNvSpPr>
            <p:nvPr/>
          </p:nvSpPr>
          <p:spPr bwMode="auto">
            <a:xfrm>
              <a:off x="1560" y="1151"/>
              <a:ext cx="22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S</a:t>
              </a:r>
            </a:p>
          </p:txBody>
        </p:sp>
      </p:grpSp>
      <p:pic>
        <p:nvPicPr>
          <p:cNvPr id="37895" name="Picture 9" descr="Alic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0950" y="1666875"/>
            <a:ext cx="698500" cy="86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6" name="Rectangle 10"/>
          <p:cNvSpPr>
            <a:spLocks noChangeArrowheads="1"/>
          </p:cNvSpPr>
          <p:nvPr/>
        </p:nvSpPr>
        <p:spPr bwMode="auto">
          <a:xfrm>
            <a:off x="1982788" y="2573338"/>
            <a:ext cx="1392237" cy="8032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37897" name="Text Box 11"/>
          <p:cNvSpPr txBox="1">
            <a:spLocks noChangeArrowheads="1"/>
          </p:cNvSpPr>
          <p:nvPr/>
        </p:nvSpPr>
        <p:spPr bwMode="auto">
          <a:xfrm>
            <a:off x="2008188" y="2582863"/>
            <a:ext cx="13684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dirty="0">
                <a:solidFill>
                  <a:schemeClr val="bg1"/>
                </a:solidFill>
                <a:latin typeface="Arial" charset="0"/>
                <a:cs typeface="Arial" charset="0"/>
              </a:rPr>
              <a:t>encryption</a:t>
            </a:r>
          </a:p>
          <a:p>
            <a:pPr algn="ctr"/>
            <a:r>
              <a:rPr lang="en-US" dirty="0">
                <a:solidFill>
                  <a:schemeClr val="bg1"/>
                </a:solidFill>
                <a:latin typeface="Arial" charset="0"/>
                <a:cs typeface="Arial" charset="0"/>
              </a:rPr>
              <a:t>algorithm</a:t>
            </a:r>
          </a:p>
        </p:txBody>
      </p:sp>
      <p:sp>
        <p:nvSpPr>
          <p:cNvPr id="37898" name="Rectangle 12"/>
          <p:cNvSpPr>
            <a:spLocks noChangeArrowheads="1"/>
          </p:cNvSpPr>
          <p:nvPr/>
        </p:nvSpPr>
        <p:spPr bwMode="auto">
          <a:xfrm>
            <a:off x="5100638" y="2571750"/>
            <a:ext cx="1377950" cy="8032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37899" name="Text Box 13"/>
          <p:cNvSpPr txBox="1">
            <a:spLocks noChangeArrowheads="1"/>
          </p:cNvSpPr>
          <p:nvPr/>
        </p:nvSpPr>
        <p:spPr bwMode="auto">
          <a:xfrm>
            <a:off x="5121275" y="2595563"/>
            <a:ext cx="143827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dirty="0">
                <a:solidFill>
                  <a:schemeClr val="bg1"/>
                </a:solidFill>
                <a:latin typeface="Arial" charset="0"/>
                <a:cs typeface="Arial" charset="0"/>
              </a:rPr>
              <a:t>decryption </a:t>
            </a:r>
          </a:p>
          <a:p>
            <a:pPr algn="ctr"/>
            <a:r>
              <a:rPr lang="en-US" dirty="0">
                <a:solidFill>
                  <a:schemeClr val="bg1"/>
                </a:solidFill>
                <a:latin typeface="Arial" charset="0"/>
                <a:cs typeface="Arial" charset="0"/>
              </a:rPr>
              <a:t>algorithm</a:t>
            </a:r>
          </a:p>
        </p:txBody>
      </p:sp>
      <p:sp>
        <p:nvSpPr>
          <p:cNvPr id="37900" name="Line 14"/>
          <p:cNvSpPr>
            <a:spLocks noChangeShapeType="1"/>
          </p:cNvSpPr>
          <p:nvPr/>
        </p:nvSpPr>
        <p:spPr bwMode="auto">
          <a:xfrm>
            <a:off x="3403600" y="2986088"/>
            <a:ext cx="1692275" cy="79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37901" name="Line 15"/>
          <p:cNvSpPr>
            <a:spLocks noChangeShapeType="1"/>
          </p:cNvSpPr>
          <p:nvPr/>
        </p:nvSpPr>
        <p:spPr bwMode="auto">
          <a:xfrm flipH="1">
            <a:off x="2373313" y="2193925"/>
            <a:ext cx="1587" cy="3921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pic>
        <p:nvPicPr>
          <p:cNvPr id="37902" name="Picture 16" descr="Bob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5788" y="1855788"/>
            <a:ext cx="81280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903" name="Line 17"/>
          <p:cNvSpPr>
            <a:spLocks noChangeShapeType="1"/>
          </p:cNvSpPr>
          <p:nvPr/>
        </p:nvSpPr>
        <p:spPr bwMode="auto">
          <a:xfrm>
            <a:off x="1238250" y="3011488"/>
            <a:ext cx="67468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37904" name="Line 18"/>
          <p:cNvSpPr>
            <a:spLocks noChangeShapeType="1"/>
          </p:cNvSpPr>
          <p:nvPr/>
        </p:nvSpPr>
        <p:spPr bwMode="auto">
          <a:xfrm>
            <a:off x="6548438" y="3008313"/>
            <a:ext cx="67468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pic>
        <p:nvPicPr>
          <p:cNvPr id="37905" name="Picture 19" descr="BS00768_[1]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2511425" y="1639888"/>
            <a:ext cx="465138" cy="24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906" name="Text Box 20"/>
          <p:cNvSpPr txBox="1">
            <a:spLocks noChangeArrowheads="1"/>
          </p:cNvSpPr>
          <p:nvPr/>
        </p:nvSpPr>
        <p:spPr bwMode="auto">
          <a:xfrm>
            <a:off x="1773238" y="4481513"/>
            <a:ext cx="32543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1600" dirty="0">
                <a:latin typeface="Arial" charset="0"/>
                <a:cs typeface="Arial" charset="0"/>
              </a:rPr>
              <a:t>S</a:t>
            </a:r>
          </a:p>
        </p:txBody>
      </p:sp>
      <p:grpSp>
        <p:nvGrpSpPr>
          <p:cNvPr id="37907" name="Group 21"/>
          <p:cNvGrpSpPr>
            <a:grpSpLocks/>
          </p:cNvGrpSpPr>
          <p:nvPr/>
        </p:nvGrpSpPr>
        <p:grpSpPr bwMode="auto">
          <a:xfrm>
            <a:off x="5351463" y="1665288"/>
            <a:ext cx="642937" cy="579437"/>
            <a:chOff x="1382" y="1036"/>
            <a:chExt cx="405" cy="365"/>
          </a:xfrm>
        </p:grpSpPr>
        <p:sp>
          <p:nvSpPr>
            <p:cNvPr id="37915" name="Text Box 22"/>
            <p:cNvSpPr txBox="1">
              <a:spLocks noChangeArrowheads="1"/>
            </p:cNvSpPr>
            <p:nvPr/>
          </p:nvSpPr>
          <p:spPr bwMode="auto">
            <a:xfrm>
              <a:off x="1382" y="1036"/>
              <a:ext cx="246" cy="29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K</a:t>
              </a:r>
            </a:p>
          </p:txBody>
        </p:sp>
        <p:sp>
          <p:nvSpPr>
            <p:cNvPr id="37916" name="Text Box 23"/>
            <p:cNvSpPr txBox="1">
              <a:spLocks noChangeArrowheads="1"/>
            </p:cNvSpPr>
            <p:nvPr/>
          </p:nvSpPr>
          <p:spPr bwMode="auto">
            <a:xfrm>
              <a:off x="1560" y="1151"/>
              <a:ext cx="22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S</a:t>
              </a:r>
            </a:p>
          </p:txBody>
        </p:sp>
      </p:grpSp>
      <p:sp>
        <p:nvSpPr>
          <p:cNvPr id="37908" name="Line 24"/>
          <p:cNvSpPr>
            <a:spLocks noChangeShapeType="1"/>
          </p:cNvSpPr>
          <p:nvPr/>
        </p:nvSpPr>
        <p:spPr bwMode="auto">
          <a:xfrm flipH="1">
            <a:off x="5559425" y="2143125"/>
            <a:ext cx="1588" cy="3921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pic>
        <p:nvPicPr>
          <p:cNvPr id="37909" name="Picture 25" descr="BS00768_[1]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5697538" y="1589088"/>
            <a:ext cx="465137" cy="24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910" name="Text Box 26"/>
          <p:cNvSpPr txBox="1">
            <a:spLocks noChangeArrowheads="1"/>
          </p:cNvSpPr>
          <p:nvPr/>
        </p:nvSpPr>
        <p:spPr bwMode="auto">
          <a:xfrm>
            <a:off x="355600" y="2643188"/>
            <a:ext cx="157956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dirty="0">
                <a:solidFill>
                  <a:srgbClr val="C00000"/>
                </a:solidFill>
                <a:latin typeface="Arial" charset="0"/>
                <a:cs typeface="Arial" charset="0"/>
              </a:rPr>
              <a:t>plaintext</a:t>
            </a:r>
          </a:p>
          <a:p>
            <a:pPr algn="ctr"/>
            <a:r>
              <a:rPr lang="en-US" dirty="0">
                <a:solidFill>
                  <a:srgbClr val="C00000"/>
                </a:solidFill>
                <a:latin typeface="Arial" charset="0"/>
                <a:cs typeface="Arial" charset="0"/>
              </a:rPr>
              <a:t>message, m</a:t>
            </a:r>
          </a:p>
        </p:txBody>
      </p:sp>
      <p:sp>
        <p:nvSpPr>
          <p:cNvPr id="37911" name="Text Box 27"/>
          <p:cNvSpPr txBox="1">
            <a:spLocks noChangeArrowheads="1"/>
          </p:cNvSpPr>
          <p:nvPr/>
        </p:nvSpPr>
        <p:spPr bwMode="auto">
          <a:xfrm>
            <a:off x="3662363" y="3149600"/>
            <a:ext cx="10287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dirty="0">
                <a:solidFill>
                  <a:srgbClr val="C00000"/>
                </a:solidFill>
                <a:latin typeface="Arial" charset="0"/>
                <a:cs typeface="Arial" charset="0"/>
              </a:rPr>
              <a:t>K    (m)</a:t>
            </a:r>
          </a:p>
        </p:txBody>
      </p:sp>
      <p:sp>
        <p:nvSpPr>
          <p:cNvPr id="37912" name="Text Box 28"/>
          <p:cNvSpPr txBox="1">
            <a:spLocks noChangeArrowheads="1"/>
          </p:cNvSpPr>
          <p:nvPr/>
        </p:nvSpPr>
        <p:spPr bwMode="auto">
          <a:xfrm>
            <a:off x="3914775" y="3341688"/>
            <a:ext cx="3254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1600" dirty="0">
                <a:solidFill>
                  <a:srgbClr val="FF0000"/>
                </a:solidFill>
                <a:latin typeface="Arial" charset="0"/>
                <a:cs typeface="Arial" charset="0"/>
              </a:rPr>
              <a:t>S</a:t>
            </a:r>
          </a:p>
        </p:txBody>
      </p:sp>
      <p:sp>
        <p:nvSpPr>
          <p:cNvPr id="37913" name="Text Box 35"/>
          <p:cNvSpPr txBox="1">
            <a:spLocks noChangeArrowheads="1"/>
          </p:cNvSpPr>
          <p:nvPr/>
        </p:nvSpPr>
        <p:spPr bwMode="auto">
          <a:xfrm>
            <a:off x="6689725" y="3141663"/>
            <a:ext cx="18113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dirty="0">
                <a:solidFill>
                  <a:srgbClr val="C00000"/>
                </a:solidFill>
                <a:latin typeface="Arial" charset="0"/>
                <a:cs typeface="Arial" charset="0"/>
              </a:rPr>
              <a:t>m = K</a:t>
            </a:r>
            <a:r>
              <a:rPr lang="en-US" baseline="-25000" dirty="0">
                <a:solidFill>
                  <a:srgbClr val="C00000"/>
                </a:solidFill>
                <a:latin typeface="Arial" charset="0"/>
                <a:cs typeface="Arial" charset="0"/>
              </a:rPr>
              <a:t>S</a:t>
            </a:r>
            <a:r>
              <a:rPr lang="en-US" dirty="0">
                <a:solidFill>
                  <a:srgbClr val="C00000"/>
                </a:solidFill>
                <a:latin typeface="Arial" charset="0"/>
                <a:cs typeface="Arial" charset="0"/>
              </a:rPr>
              <a:t>(K</a:t>
            </a:r>
            <a:r>
              <a:rPr lang="en-US" baseline="-25000" dirty="0">
                <a:solidFill>
                  <a:srgbClr val="C00000"/>
                </a:solidFill>
                <a:latin typeface="Arial" charset="0"/>
                <a:cs typeface="Arial" charset="0"/>
              </a:rPr>
              <a:t>S</a:t>
            </a:r>
            <a:r>
              <a:rPr lang="en-US" dirty="0">
                <a:solidFill>
                  <a:srgbClr val="C00000"/>
                </a:solidFill>
                <a:latin typeface="Arial" charset="0"/>
                <a:cs typeface="Arial" charset="0"/>
              </a:rPr>
              <a:t>(m))</a:t>
            </a:r>
          </a:p>
        </p:txBody>
      </p:sp>
      <p:pic>
        <p:nvPicPr>
          <p:cNvPr id="37914" name="Picture 20" descr="underline_base"/>
          <p:cNvPicPr>
            <a:picLocks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" y="950913"/>
            <a:ext cx="54848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11</a:t>
            </a:fld>
            <a:endParaRPr lang="en-US" sz="1200" dirty="0">
              <a:latin typeface="Tahoma" charset="0"/>
            </a:endParaRPr>
          </a:p>
        </p:txBody>
      </p:sp>
      <p:sp>
        <p:nvSpPr>
          <p:cNvPr id="33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41935983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68313" y="109538"/>
            <a:ext cx="7772400" cy="1143000"/>
          </a:xfrm>
        </p:spPr>
        <p:txBody>
          <a:bodyPr/>
          <a:lstStyle/>
          <a:p>
            <a:r>
              <a:rPr lang="en-US" dirty="0">
                <a:latin typeface="Gill Sans MT" charset="0"/>
              </a:rPr>
              <a:t>Simple encryption scheme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44513" y="1398588"/>
            <a:ext cx="8077200" cy="1214437"/>
          </a:xfrm>
        </p:spPr>
        <p:txBody>
          <a:bodyPr/>
          <a:lstStyle/>
          <a:p>
            <a:pPr>
              <a:buFont typeface="Wingdings" charset="0"/>
              <a:buNone/>
            </a:pPr>
            <a:r>
              <a:rPr lang="en-US" i="1" dirty="0">
                <a:solidFill>
                  <a:srgbClr val="C00000"/>
                </a:solidFill>
                <a:latin typeface="Gill Sans MT" charset="0"/>
              </a:rPr>
              <a:t>substitution cipher: </a:t>
            </a:r>
            <a:r>
              <a:rPr lang="en-US" sz="2400" dirty="0">
                <a:latin typeface="Gill Sans MT" charset="0"/>
              </a:rPr>
              <a:t>substituting one thing for another</a:t>
            </a:r>
          </a:p>
          <a:p>
            <a:pPr lvl="1">
              <a:buFont typeface="Wingdings" charset="2"/>
              <a:buChar char="§"/>
            </a:pPr>
            <a:r>
              <a:rPr lang="en-US" dirty="0">
                <a:latin typeface="Gill Sans MT" charset="0"/>
              </a:rPr>
              <a:t>monoalphabetic cipher: substitute one letter for another</a:t>
            </a:r>
            <a:endParaRPr lang="en-US" sz="2800" dirty="0">
              <a:latin typeface="Gill Sans MT" charset="0"/>
            </a:endParaRPr>
          </a:p>
        </p:txBody>
      </p:sp>
      <p:sp>
        <p:nvSpPr>
          <p:cNvPr id="38916" name="Rectangle 4"/>
          <p:cNvSpPr>
            <a:spLocks noChangeArrowheads="1"/>
          </p:cNvSpPr>
          <p:nvPr/>
        </p:nvSpPr>
        <p:spPr bwMode="auto">
          <a:xfrm>
            <a:off x="1133956" y="2516188"/>
            <a:ext cx="720311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400" b="1" dirty="0">
                <a:latin typeface="Courier New" charset="0"/>
              </a:rPr>
              <a:t>plaintext:  abcdefghijklmnopqrstuvwxyz</a:t>
            </a:r>
          </a:p>
        </p:txBody>
      </p:sp>
      <p:sp>
        <p:nvSpPr>
          <p:cNvPr id="38917" name="Rectangle 5"/>
          <p:cNvSpPr>
            <a:spLocks noChangeArrowheads="1"/>
          </p:cNvSpPr>
          <p:nvPr/>
        </p:nvSpPr>
        <p:spPr bwMode="auto">
          <a:xfrm>
            <a:off x="969377" y="3295650"/>
            <a:ext cx="738781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400" b="1" dirty="0">
                <a:latin typeface="Courier New" charset="0"/>
              </a:rPr>
              <a:t>ciphertext:  mnbvcxzasdfghjklpoiuytrewq</a:t>
            </a:r>
          </a:p>
        </p:txBody>
      </p:sp>
      <p:sp>
        <p:nvSpPr>
          <p:cNvPr id="38918" name="Line 6"/>
          <p:cNvSpPr>
            <a:spLocks noChangeShapeType="1"/>
          </p:cNvSpPr>
          <p:nvPr/>
        </p:nvSpPr>
        <p:spPr bwMode="auto">
          <a:xfrm>
            <a:off x="3536950" y="2925763"/>
            <a:ext cx="0" cy="49371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38919" name="Line 7"/>
          <p:cNvSpPr>
            <a:spLocks noChangeShapeType="1"/>
          </p:cNvSpPr>
          <p:nvPr/>
        </p:nvSpPr>
        <p:spPr bwMode="auto">
          <a:xfrm>
            <a:off x="8110538" y="2889250"/>
            <a:ext cx="0" cy="493713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38920" name="Rectangle 8"/>
          <p:cNvSpPr>
            <a:spLocks noChangeArrowheads="1"/>
          </p:cNvSpPr>
          <p:nvPr/>
        </p:nvSpPr>
        <p:spPr bwMode="auto">
          <a:xfrm>
            <a:off x="1722535" y="4067175"/>
            <a:ext cx="700544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400" b="1" dirty="0">
                <a:latin typeface="Courier New" charset="0"/>
              </a:rPr>
              <a:t>Plaintext: Brajesh. i love you. Aman</a:t>
            </a:r>
          </a:p>
        </p:txBody>
      </p:sp>
      <p:sp>
        <p:nvSpPr>
          <p:cNvPr id="38921" name="Rectangle 9"/>
          <p:cNvSpPr>
            <a:spLocks noChangeArrowheads="1"/>
          </p:cNvSpPr>
          <p:nvPr/>
        </p:nvSpPr>
        <p:spPr bwMode="auto">
          <a:xfrm>
            <a:off x="1928798" y="4492625"/>
            <a:ext cx="646433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400" b="1" dirty="0">
                <a:latin typeface="Courier New" charset="0"/>
              </a:rPr>
              <a:t>ciphertext: nkn. s gktc wky. mgsbc</a:t>
            </a:r>
          </a:p>
        </p:txBody>
      </p:sp>
      <p:sp>
        <p:nvSpPr>
          <p:cNvPr id="38922" name="Text Box 10"/>
          <p:cNvSpPr txBox="1">
            <a:spLocks noChangeArrowheads="1"/>
          </p:cNvSpPr>
          <p:nvPr/>
        </p:nvSpPr>
        <p:spPr bwMode="auto">
          <a:xfrm>
            <a:off x="1184275" y="4002088"/>
            <a:ext cx="78263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2400" dirty="0">
                <a:solidFill>
                  <a:srgbClr val="000099"/>
                </a:solidFill>
                <a:latin typeface="Arial" charset="0"/>
                <a:cs typeface="Arial" charset="0"/>
              </a:rPr>
              <a:t>e.g.:</a:t>
            </a:r>
          </a:p>
        </p:txBody>
      </p:sp>
      <p:sp>
        <p:nvSpPr>
          <p:cNvPr id="38923" name="Text Box 12"/>
          <p:cNvSpPr txBox="1">
            <a:spLocks noChangeArrowheads="1"/>
          </p:cNvSpPr>
          <p:nvPr/>
        </p:nvSpPr>
        <p:spPr bwMode="auto">
          <a:xfrm>
            <a:off x="1546225" y="5332413"/>
            <a:ext cx="6794500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-1554163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2800" i="1" dirty="0">
                <a:solidFill>
                  <a:srgbClr val="C00000"/>
                </a:solidFill>
                <a:latin typeface="Gill Sans MT" charset="0"/>
              </a:rPr>
              <a:t>Encryption key: </a:t>
            </a:r>
            <a:r>
              <a:rPr lang="en-US" sz="2800" dirty="0">
                <a:latin typeface="Gill Sans MT" charset="0"/>
              </a:rPr>
              <a:t>mapping from set of 26 letters</a:t>
            </a:r>
          </a:p>
          <a:p>
            <a:r>
              <a:rPr lang="en-US" sz="2800" dirty="0">
                <a:latin typeface="Gill Sans MT" charset="0"/>
              </a:rPr>
              <a:t>                     to set of 26 letters</a:t>
            </a:r>
          </a:p>
        </p:txBody>
      </p:sp>
      <p:pic>
        <p:nvPicPr>
          <p:cNvPr id="38924" name="Picture 19" descr="underline_base"/>
          <p:cNvPicPr>
            <a:picLocks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138" y="936625"/>
            <a:ext cx="59420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925" name="Picture 25" descr="BS00768_[1]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27113" y="5475288"/>
            <a:ext cx="465137" cy="24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12521"/>
            <a:ext cx="687846" cy="272319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>
                <a:latin typeface="Tahoma" charset="0"/>
              </a:rPr>
              <a:pPr/>
              <a:t>12</a:t>
            </a:fld>
            <a:endParaRPr lang="en-US" sz="1200" dirty="0">
              <a:latin typeface="Tahoma" charset="0"/>
            </a:endParaRPr>
          </a:p>
        </p:txBody>
      </p:sp>
      <p:sp>
        <p:nvSpPr>
          <p:cNvPr id="16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7831561" y="6508279"/>
            <a:ext cx="721408" cy="254813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40087273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47663" y="0"/>
            <a:ext cx="8353425" cy="1143000"/>
          </a:xfrm>
        </p:spPr>
        <p:txBody>
          <a:bodyPr/>
          <a:lstStyle/>
          <a:p>
            <a:r>
              <a:rPr lang="en-US" sz="3200" dirty="0">
                <a:latin typeface="Gill Sans MT" charset="0"/>
              </a:rPr>
              <a:t>A more sophisticated encryption approach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19113" y="1150938"/>
            <a:ext cx="8115300" cy="4648200"/>
          </a:xfrm>
        </p:spPr>
        <p:txBody>
          <a:bodyPr/>
          <a:lstStyle/>
          <a:p>
            <a:r>
              <a:rPr lang="en-US" dirty="0">
                <a:latin typeface="Gill Sans MT" charset="0"/>
              </a:rPr>
              <a:t>n substitution ciphers, M</a:t>
            </a:r>
            <a:r>
              <a:rPr lang="en-US" baseline="-25000" dirty="0">
                <a:latin typeface="Gill Sans MT" charset="0"/>
              </a:rPr>
              <a:t>1</a:t>
            </a:r>
            <a:r>
              <a:rPr lang="en-US" dirty="0">
                <a:latin typeface="Gill Sans MT" charset="0"/>
              </a:rPr>
              <a:t>,M</a:t>
            </a:r>
            <a:r>
              <a:rPr lang="en-US" baseline="-25000" dirty="0">
                <a:latin typeface="Gill Sans MT" charset="0"/>
              </a:rPr>
              <a:t>2</a:t>
            </a:r>
            <a:r>
              <a:rPr lang="en-US" dirty="0">
                <a:latin typeface="Gill Sans MT" charset="0"/>
              </a:rPr>
              <a:t>,…,M</a:t>
            </a:r>
            <a:r>
              <a:rPr lang="en-US" baseline="-25000" dirty="0">
                <a:latin typeface="Gill Sans MT" charset="0"/>
              </a:rPr>
              <a:t>n</a:t>
            </a:r>
          </a:p>
          <a:p>
            <a:r>
              <a:rPr lang="en-US" dirty="0">
                <a:latin typeface="Gill Sans MT" charset="0"/>
              </a:rPr>
              <a:t>cycling pattern:</a:t>
            </a:r>
          </a:p>
          <a:p>
            <a:pPr lvl="1"/>
            <a:r>
              <a:rPr lang="en-US" dirty="0">
                <a:solidFill>
                  <a:srgbClr val="008000"/>
                </a:solidFill>
                <a:latin typeface="Gill Sans MT" charset="0"/>
              </a:rPr>
              <a:t>e.g., n=4: M</a:t>
            </a:r>
            <a:r>
              <a:rPr lang="en-US" baseline="-25000" dirty="0">
                <a:solidFill>
                  <a:srgbClr val="008000"/>
                </a:solidFill>
                <a:latin typeface="Gill Sans MT" charset="0"/>
              </a:rPr>
              <a:t>1</a:t>
            </a:r>
            <a:r>
              <a:rPr lang="en-US" dirty="0">
                <a:solidFill>
                  <a:srgbClr val="008000"/>
                </a:solidFill>
                <a:latin typeface="Gill Sans MT" charset="0"/>
              </a:rPr>
              <a:t>,M</a:t>
            </a:r>
            <a:r>
              <a:rPr lang="en-US" baseline="-25000" dirty="0">
                <a:solidFill>
                  <a:srgbClr val="008000"/>
                </a:solidFill>
                <a:latin typeface="Gill Sans MT" charset="0"/>
              </a:rPr>
              <a:t>3</a:t>
            </a:r>
            <a:r>
              <a:rPr lang="en-US" dirty="0">
                <a:solidFill>
                  <a:srgbClr val="008000"/>
                </a:solidFill>
                <a:latin typeface="Gill Sans MT" charset="0"/>
              </a:rPr>
              <a:t>,M</a:t>
            </a:r>
            <a:r>
              <a:rPr lang="en-US" baseline="-25000" dirty="0">
                <a:solidFill>
                  <a:srgbClr val="008000"/>
                </a:solidFill>
                <a:latin typeface="Gill Sans MT" charset="0"/>
              </a:rPr>
              <a:t>4</a:t>
            </a:r>
            <a:r>
              <a:rPr lang="en-US" dirty="0">
                <a:solidFill>
                  <a:srgbClr val="008000"/>
                </a:solidFill>
                <a:latin typeface="Gill Sans MT" charset="0"/>
              </a:rPr>
              <a:t>,M</a:t>
            </a:r>
            <a:r>
              <a:rPr lang="en-US" baseline="-25000" dirty="0">
                <a:solidFill>
                  <a:srgbClr val="008000"/>
                </a:solidFill>
                <a:latin typeface="Gill Sans MT" charset="0"/>
              </a:rPr>
              <a:t>3</a:t>
            </a:r>
            <a:r>
              <a:rPr lang="en-US" dirty="0">
                <a:solidFill>
                  <a:srgbClr val="008000"/>
                </a:solidFill>
                <a:latin typeface="Gill Sans MT" charset="0"/>
              </a:rPr>
              <a:t>,M</a:t>
            </a:r>
            <a:r>
              <a:rPr lang="en-US" baseline="-25000" dirty="0">
                <a:solidFill>
                  <a:srgbClr val="008000"/>
                </a:solidFill>
                <a:latin typeface="Gill Sans MT" charset="0"/>
              </a:rPr>
              <a:t>2</a:t>
            </a:r>
            <a:r>
              <a:rPr lang="en-US" dirty="0">
                <a:solidFill>
                  <a:srgbClr val="008000"/>
                </a:solidFill>
                <a:latin typeface="Gill Sans MT" charset="0"/>
              </a:rPr>
              <a:t>;   M</a:t>
            </a:r>
            <a:r>
              <a:rPr lang="en-US" baseline="-25000" dirty="0">
                <a:solidFill>
                  <a:srgbClr val="008000"/>
                </a:solidFill>
                <a:latin typeface="Gill Sans MT" charset="0"/>
              </a:rPr>
              <a:t>1</a:t>
            </a:r>
            <a:r>
              <a:rPr lang="en-US" dirty="0">
                <a:solidFill>
                  <a:srgbClr val="008000"/>
                </a:solidFill>
                <a:latin typeface="Gill Sans MT" charset="0"/>
              </a:rPr>
              <a:t>,M</a:t>
            </a:r>
            <a:r>
              <a:rPr lang="en-US" baseline="-25000" dirty="0">
                <a:solidFill>
                  <a:srgbClr val="008000"/>
                </a:solidFill>
                <a:latin typeface="Gill Sans MT" charset="0"/>
              </a:rPr>
              <a:t>3</a:t>
            </a:r>
            <a:r>
              <a:rPr lang="en-US" dirty="0">
                <a:solidFill>
                  <a:srgbClr val="008000"/>
                </a:solidFill>
                <a:latin typeface="Gill Sans MT" charset="0"/>
              </a:rPr>
              <a:t>,M</a:t>
            </a:r>
            <a:r>
              <a:rPr lang="en-US" baseline="-25000" dirty="0">
                <a:solidFill>
                  <a:srgbClr val="008000"/>
                </a:solidFill>
                <a:latin typeface="Gill Sans MT" charset="0"/>
              </a:rPr>
              <a:t>4</a:t>
            </a:r>
            <a:r>
              <a:rPr lang="en-US" dirty="0">
                <a:solidFill>
                  <a:srgbClr val="008000"/>
                </a:solidFill>
                <a:latin typeface="Gill Sans MT" charset="0"/>
              </a:rPr>
              <a:t>,M</a:t>
            </a:r>
            <a:r>
              <a:rPr lang="en-US" baseline="-25000" dirty="0">
                <a:solidFill>
                  <a:srgbClr val="008000"/>
                </a:solidFill>
                <a:latin typeface="Gill Sans MT" charset="0"/>
              </a:rPr>
              <a:t>3</a:t>
            </a:r>
            <a:r>
              <a:rPr lang="en-US" dirty="0">
                <a:solidFill>
                  <a:srgbClr val="008000"/>
                </a:solidFill>
                <a:latin typeface="Gill Sans MT" charset="0"/>
              </a:rPr>
              <a:t>,M</a:t>
            </a:r>
            <a:r>
              <a:rPr lang="en-US" baseline="-25000" dirty="0">
                <a:solidFill>
                  <a:srgbClr val="008000"/>
                </a:solidFill>
                <a:latin typeface="Gill Sans MT" charset="0"/>
              </a:rPr>
              <a:t>2</a:t>
            </a:r>
            <a:r>
              <a:rPr lang="en-US" dirty="0">
                <a:solidFill>
                  <a:srgbClr val="008000"/>
                </a:solidFill>
                <a:latin typeface="Gill Sans MT" charset="0"/>
              </a:rPr>
              <a:t>;</a:t>
            </a:r>
            <a:r>
              <a:rPr lang="en-US" dirty="0">
                <a:latin typeface="Gill Sans MT" charset="0"/>
              </a:rPr>
              <a:t> ..</a:t>
            </a:r>
          </a:p>
          <a:p>
            <a:r>
              <a:rPr lang="en-US" dirty="0">
                <a:latin typeface="Gill Sans MT" charset="0"/>
              </a:rPr>
              <a:t>for each new plaintext symbol, use subsequent substitution pattern in cyclic pattern</a:t>
            </a:r>
          </a:p>
          <a:p>
            <a:pPr lvl="1"/>
            <a:r>
              <a:rPr lang="en-US" dirty="0">
                <a:solidFill>
                  <a:srgbClr val="008000"/>
                </a:solidFill>
                <a:latin typeface="Gill Sans MT" charset="0"/>
              </a:rPr>
              <a:t>dog: d from M</a:t>
            </a:r>
            <a:r>
              <a:rPr lang="en-US" baseline="-25000" dirty="0">
                <a:solidFill>
                  <a:srgbClr val="008000"/>
                </a:solidFill>
                <a:latin typeface="Gill Sans MT" charset="0"/>
              </a:rPr>
              <a:t>1</a:t>
            </a:r>
            <a:r>
              <a:rPr lang="en-US" dirty="0">
                <a:solidFill>
                  <a:srgbClr val="008000"/>
                </a:solidFill>
                <a:latin typeface="Gill Sans MT" charset="0"/>
              </a:rPr>
              <a:t>, o from M</a:t>
            </a:r>
            <a:r>
              <a:rPr lang="en-US" baseline="-25000" dirty="0">
                <a:solidFill>
                  <a:srgbClr val="008000"/>
                </a:solidFill>
                <a:latin typeface="Gill Sans MT" charset="0"/>
              </a:rPr>
              <a:t>3</a:t>
            </a:r>
            <a:r>
              <a:rPr lang="en-US" dirty="0">
                <a:solidFill>
                  <a:srgbClr val="008000"/>
                </a:solidFill>
                <a:latin typeface="Gill Sans MT" charset="0"/>
              </a:rPr>
              <a:t>, g from M</a:t>
            </a:r>
            <a:r>
              <a:rPr lang="en-US" baseline="-25000" dirty="0">
                <a:solidFill>
                  <a:srgbClr val="008000"/>
                </a:solidFill>
                <a:latin typeface="Gill Sans MT" charset="0"/>
              </a:rPr>
              <a:t>4</a:t>
            </a:r>
          </a:p>
          <a:p>
            <a:pPr lvl="1"/>
            <a:endParaRPr lang="en-US" baseline="-25000" dirty="0">
              <a:solidFill>
                <a:srgbClr val="008000"/>
              </a:solidFill>
              <a:latin typeface="Gill Sans MT" charset="0"/>
            </a:endParaRPr>
          </a:p>
          <a:p>
            <a:pPr lvl="1">
              <a:buFont typeface="Wingdings" charset="0"/>
              <a:buNone/>
            </a:pPr>
            <a:r>
              <a:rPr lang="en-US" sz="2800" i="1" dirty="0">
                <a:solidFill>
                  <a:srgbClr val="C00000"/>
                </a:solidFill>
                <a:latin typeface="Gill Sans MT" charset="0"/>
              </a:rPr>
              <a:t>    Encryption key: </a:t>
            </a:r>
            <a:r>
              <a:rPr lang="en-US" sz="2800" dirty="0">
                <a:latin typeface="Gill Sans MT" charset="0"/>
              </a:rPr>
              <a:t>n substitution ciphers, and cyclic             pattern</a:t>
            </a:r>
          </a:p>
          <a:p>
            <a:pPr lvl="1"/>
            <a:r>
              <a:rPr lang="en-US" dirty="0">
                <a:latin typeface="Gill Sans MT" charset="0"/>
              </a:rPr>
              <a:t>key need not be just n-bit pattern</a:t>
            </a:r>
          </a:p>
        </p:txBody>
      </p:sp>
      <p:pic>
        <p:nvPicPr>
          <p:cNvPr id="39940" name="Picture 16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863" y="803275"/>
            <a:ext cx="73136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941" name="Picture 25" descr="BS00768_[1]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436563" y="4471988"/>
            <a:ext cx="465137" cy="24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12521"/>
            <a:ext cx="687846" cy="272319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>
                <a:latin typeface="Tahoma" charset="0"/>
              </a:rPr>
              <a:pPr/>
              <a:t>13</a:t>
            </a:fld>
            <a:endParaRPr lang="en-US" sz="1200" dirty="0">
              <a:latin typeface="Tahoma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7831561" y="6508279"/>
            <a:ext cx="721408" cy="254813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1648126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3"/>
          <p:cNvSpPr>
            <a:spLocks noGrp="1" noChangeArrowheads="1"/>
          </p:cNvSpPr>
          <p:nvPr>
            <p:ph type="title"/>
          </p:nvPr>
        </p:nvSpPr>
        <p:spPr>
          <a:xfrm>
            <a:off x="338138" y="152400"/>
            <a:ext cx="7772400" cy="1143000"/>
          </a:xfrm>
        </p:spPr>
        <p:txBody>
          <a:bodyPr/>
          <a:lstStyle/>
          <a:p>
            <a:r>
              <a:rPr lang="en-US" dirty="0">
                <a:latin typeface="Gill Sans MT" charset="0"/>
              </a:rPr>
              <a:t>Public Key Cryptography</a:t>
            </a:r>
          </a:p>
        </p:txBody>
      </p:sp>
      <p:sp>
        <p:nvSpPr>
          <p:cNvPr id="45059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239713" y="1654175"/>
            <a:ext cx="3810000" cy="4648200"/>
          </a:xfrm>
        </p:spPr>
        <p:txBody>
          <a:bodyPr/>
          <a:lstStyle/>
          <a:p>
            <a:pPr>
              <a:buFont typeface="Wingdings" charset="0"/>
              <a:buNone/>
            </a:pPr>
            <a:r>
              <a:rPr lang="en-US" i="1" dirty="0">
                <a:solidFill>
                  <a:srgbClr val="C00000"/>
                </a:solidFill>
                <a:latin typeface="Gill Sans MT" charset="0"/>
              </a:rPr>
              <a:t>symmetric key crypto</a:t>
            </a:r>
          </a:p>
          <a:p>
            <a:r>
              <a:rPr lang="en-US" sz="2400" dirty="0">
                <a:latin typeface="Gill Sans MT" charset="0"/>
              </a:rPr>
              <a:t>requires sender, receiver know shared secret key</a:t>
            </a:r>
          </a:p>
          <a:p>
            <a:r>
              <a:rPr lang="en-US" sz="2400" dirty="0">
                <a:latin typeface="Gill Sans MT" charset="0"/>
              </a:rPr>
              <a:t>Q: how to agree on key in first place (particularly if never </a:t>
            </a:r>
            <a:r>
              <a:rPr lang="ja-JP" altLang="en-US" sz="2400" dirty="0">
                <a:latin typeface="Gill Sans MT" charset="0"/>
              </a:rPr>
              <a:t>“</a:t>
            </a:r>
            <a:r>
              <a:rPr lang="en-US" altLang="ja-JP" sz="2400" dirty="0">
                <a:latin typeface="Gill Sans MT" charset="0"/>
              </a:rPr>
              <a:t>met</a:t>
            </a:r>
            <a:r>
              <a:rPr lang="ja-JP" altLang="en-US" sz="2400" dirty="0">
                <a:latin typeface="Gill Sans MT" charset="0"/>
              </a:rPr>
              <a:t>”</a:t>
            </a:r>
            <a:r>
              <a:rPr lang="en-US" altLang="ja-JP" sz="2400" dirty="0">
                <a:latin typeface="Gill Sans MT" charset="0"/>
              </a:rPr>
              <a:t>)?</a:t>
            </a:r>
          </a:p>
          <a:p>
            <a:endParaRPr lang="en-US" sz="2400" dirty="0">
              <a:latin typeface="Gill Sans MT" charset="0"/>
            </a:endParaRPr>
          </a:p>
        </p:txBody>
      </p:sp>
      <p:pic>
        <p:nvPicPr>
          <p:cNvPr id="45060" name="Picture 19" descr="underline_base"/>
          <p:cNvPicPr>
            <a:picLocks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400" y="990600"/>
            <a:ext cx="59420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Group 2"/>
          <p:cNvGrpSpPr>
            <a:grpSpLocks/>
          </p:cNvGrpSpPr>
          <p:nvPr/>
        </p:nvGrpSpPr>
        <p:grpSpPr bwMode="auto">
          <a:xfrm>
            <a:off x="4354513" y="852488"/>
            <a:ext cx="3973512" cy="5430837"/>
            <a:chOff x="4354281" y="853168"/>
            <a:chExt cx="3973290" cy="5430157"/>
          </a:xfrm>
        </p:grpSpPr>
        <p:sp>
          <p:nvSpPr>
            <p:cNvPr id="45062" name="Rectangle 2"/>
            <p:cNvSpPr>
              <a:spLocks noChangeArrowheads="1"/>
            </p:cNvSpPr>
            <p:nvPr/>
          </p:nvSpPr>
          <p:spPr bwMode="auto">
            <a:xfrm>
              <a:off x="4354281" y="1926771"/>
              <a:ext cx="3875314" cy="392974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pic>
          <p:nvPicPr>
            <p:cNvPr id="45063" name="Picture 6" descr="j0078625[1]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64009" y="853168"/>
              <a:ext cx="563562" cy="17129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5064" name="Rectangle 1"/>
            <p:cNvSpPr>
              <a:spLocks noChangeArrowheads="1"/>
            </p:cNvSpPr>
            <p:nvPr/>
          </p:nvSpPr>
          <p:spPr bwMode="auto">
            <a:xfrm>
              <a:off x="4528457" y="1665514"/>
              <a:ext cx="2449286" cy="50074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5065" name="Rectangle 5"/>
            <p:cNvSpPr>
              <a:spLocks noChangeArrowheads="1"/>
            </p:cNvSpPr>
            <p:nvPr/>
          </p:nvSpPr>
          <p:spPr bwMode="auto">
            <a:xfrm>
              <a:off x="4519613" y="1635125"/>
              <a:ext cx="3656012" cy="4648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342900" indent="-342900"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charset="0"/>
                <a:buNone/>
              </a:pPr>
              <a:r>
                <a:rPr lang="en-US" sz="2800" i="1" dirty="0">
                  <a:solidFill>
                    <a:srgbClr val="C00000"/>
                  </a:solidFill>
                  <a:latin typeface="Gill Sans MT" charset="0"/>
                </a:rPr>
                <a:t>public key crypto</a:t>
              </a:r>
            </a:p>
            <a:p>
              <a:pPr marL="277813" indent="-277813"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charset="2"/>
                <a:buChar char="§"/>
              </a:pPr>
              <a:r>
                <a:rPr lang="en-US" sz="2400" dirty="0">
                  <a:latin typeface="Gill Sans MT" charset="0"/>
                </a:rPr>
                <a:t>radically different approach [Diffie-Hellman76, RSA78]</a:t>
              </a:r>
            </a:p>
            <a:p>
              <a:pPr marL="277813" indent="-277813"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charset="2"/>
                <a:buChar char="§"/>
              </a:pPr>
              <a:r>
                <a:rPr lang="en-US" sz="2400" dirty="0">
                  <a:latin typeface="Gill Sans MT" charset="0"/>
                </a:rPr>
                <a:t>sender, receiver do </a:t>
              </a:r>
              <a:r>
                <a:rPr lang="en-US" sz="2400" i="1" dirty="0">
                  <a:solidFill>
                    <a:srgbClr val="000099"/>
                  </a:solidFill>
                  <a:latin typeface="Gill Sans MT" charset="0"/>
                </a:rPr>
                <a:t>not</a:t>
              </a:r>
              <a:r>
                <a:rPr lang="en-US" sz="2400" dirty="0">
                  <a:latin typeface="Gill Sans MT" charset="0"/>
                </a:rPr>
                <a:t> share secret key</a:t>
              </a:r>
            </a:p>
            <a:p>
              <a:pPr marL="277813" indent="-277813"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charset="2"/>
                <a:buChar char="§"/>
              </a:pPr>
              <a:r>
                <a:rPr lang="en-US" sz="2400" i="1" dirty="0">
                  <a:solidFill>
                    <a:srgbClr val="000099"/>
                  </a:solidFill>
                  <a:latin typeface="Gill Sans MT" charset="0"/>
                </a:rPr>
                <a:t>public</a:t>
              </a:r>
              <a:r>
                <a:rPr lang="en-US" sz="2400" i="1" dirty="0">
                  <a:solidFill>
                    <a:schemeClr val="accent2"/>
                  </a:solidFill>
                  <a:latin typeface="Gill Sans MT" charset="0"/>
                </a:rPr>
                <a:t> </a:t>
              </a:r>
              <a:r>
                <a:rPr lang="en-US" sz="2400" dirty="0">
                  <a:latin typeface="Gill Sans MT" charset="0"/>
                </a:rPr>
                <a:t>encryption key </a:t>
              </a:r>
              <a:r>
                <a:rPr lang="en-US" sz="2400" i="1" dirty="0">
                  <a:solidFill>
                    <a:schemeClr val="accent2"/>
                  </a:solidFill>
                  <a:latin typeface="Gill Sans MT" charset="0"/>
                </a:rPr>
                <a:t> </a:t>
              </a:r>
              <a:r>
                <a:rPr lang="en-US" sz="2400" dirty="0">
                  <a:latin typeface="Gill Sans MT" charset="0"/>
                </a:rPr>
                <a:t>known to</a:t>
              </a:r>
              <a:r>
                <a:rPr lang="en-US" sz="2400" i="1" dirty="0">
                  <a:solidFill>
                    <a:schemeClr val="accent2"/>
                  </a:solidFill>
                  <a:latin typeface="Gill Sans MT" charset="0"/>
                </a:rPr>
                <a:t> </a:t>
              </a:r>
              <a:r>
                <a:rPr lang="en-US" sz="2400" i="1" dirty="0">
                  <a:solidFill>
                    <a:srgbClr val="000099"/>
                  </a:solidFill>
                  <a:latin typeface="Gill Sans MT" charset="0"/>
                </a:rPr>
                <a:t>all</a:t>
              </a:r>
            </a:p>
            <a:p>
              <a:pPr marL="277813" indent="-277813"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charset="2"/>
                <a:buChar char="§"/>
              </a:pPr>
              <a:r>
                <a:rPr lang="en-US" sz="2400" i="1" dirty="0">
                  <a:solidFill>
                    <a:srgbClr val="000099"/>
                  </a:solidFill>
                  <a:latin typeface="Gill Sans MT" charset="0"/>
                </a:rPr>
                <a:t>private</a:t>
              </a:r>
              <a:r>
                <a:rPr lang="en-US" sz="2400" dirty="0">
                  <a:latin typeface="Gill Sans MT" charset="0"/>
                </a:rPr>
                <a:t> decryption key known only to receiver</a:t>
              </a:r>
              <a:endParaRPr lang="en-US" sz="2800" dirty="0">
                <a:latin typeface="Gill Sans MT" charset="0"/>
              </a:endParaRPr>
            </a:p>
            <a:p>
              <a:pPr marL="277813" indent="-277813">
                <a:spcBef>
                  <a:spcPct val="20000"/>
                </a:spcBef>
                <a:buClr>
                  <a:schemeClr val="accent2"/>
                </a:buClr>
                <a:buSzPct val="100000"/>
                <a:buFont typeface="Wingdings" charset="2"/>
                <a:buChar char="§"/>
              </a:pPr>
              <a:endParaRPr lang="en-US" sz="2800" dirty="0"/>
            </a:p>
          </p:txBody>
        </p:sp>
      </p:grpSp>
      <p:sp>
        <p:nvSpPr>
          <p:cNvPr id="11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14</a:t>
            </a:fld>
            <a:endParaRPr lang="en-US" sz="1200" dirty="0">
              <a:latin typeface="Tahoma" charset="0"/>
            </a:endParaRPr>
          </a:p>
        </p:txBody>
      </p:sp>
      <p:sp>
        <p:nvSpPr>
          <p:cNvPr id="12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1692744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282575" y="130175"/>
            <a:ext cx="7772400" cy="1143000"/>
          </a:xfrm>
        </p:spPr>
        <p:txBody>
          <a:bodyPr/>
          <a:lstStyle/>
          <a:p>
            <a:r>
              <a:rPr lang="en-US" dirty="0">
                <a:latin typeface="Gill Sans MT" charset="0"/>
              </a:rPr>
              <a:t>Public key cryptography</a:t>
            </a:r>
          </a:p>
        </p:txBody>
      </p:sp>
      <p:sp>
        <p:nvSpPr>
          <p:cNvPr id="46083" name="Text Box 3"/>
          <p:cNvSpPr txBox="1">
            <a:spLocks noChangeArrowheads="1"/>
          </p:cNvSpPr>
          <p:nvPr/>
        </p:nvSpPr>
        <p:spPr bwMode="auto">
          <a:xfrm>
            <a:off x="442913" y="3832225"/>
            <a:ext cx="1579562" cy="7080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dirty="0">
                <a:solidFill>
                  <a:srgbClr val="C00000"/>
                </a:solidFill>
                <a:latin typeface="Arial" charset="0"/>
                <a:cs typeface="Arial" charset="0"/>
              </a:rPr>
              <a:t>plaintext</a:t>
            </a:r>
          </a:p>
          <a:p>
            <a:pPr algn="ctr"/>
            <a:r>
              <a:rPr lang="en-US" dirty="0">
                <a:solidFill>
                  <a:srgbClr val="C00000"/>
                </a:solidFill>
                <a:latin typeface="Arial" charset="0"/>
                <a:cs typeface="Arial" charset="0"/>
              </a:rPr>
              <a:t>message, m</a:t>
            </a:r>
          </a:p>
        </p:txBody>
      </p:sp>
      <p:sp>
        <p:nvSpPr>
          <p:cNvPr id="46084" name="Text Box 4"/>
          <p:cNvSpPr txBox="1">
            <a:spLocks noChangeArrowheads="1"/>
          </p:cNvSpPr>
          <p:nvPr/>
        </p:nvSpPr>
        <p:spPr bwMode="auto">
          <a:xfrm>
            <a:off x="3679825" y="3835400"/>
            <a:ext cx="1295400" cy="4000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dirty="0">
                <a:solidFill>
                  <a:srgbClr val="C00000"/>
                </a:solidFill>
                <a:latin typeface="Arial" charset="0"/>
                <a:cs typeface="Arial" charset="0"/>
              </a:rPr>
              <a:t>ciphertext</a:t>
            </a:r>
          </a:p>
        </p:txBody>
      </p:sp>
      <p:pic>
        <p:nvPicPr>
          <p:cNvPr id="46085" name="Picture 5" descr="Alic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7913" y="3081338"/>
            <a:ext cx="511175" cy="630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086" name="Rectangle 6"/>
          <p:cNvSpPr>
            <a:spLocks noChangeArrowheads="1"/>
          </p:cNvSpPr>
          <p:nvPr/>
        </p:nvSpPr>
        <p:spPr bwMode="auto">
          <a:xfrm>
            <a:off x="2109788" y="3781425"/>
            <a:ext cx="1392237" cy="8032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46087" name="Text Box 7"/>
          <p:cNvSpPr txBox="1">
            <a:spLocks noChangeArrowheads="1"/>
          </p:cNvSpPr>
          <p:nvPr/>
        </p:nvSpPr>
        <p:spPr bwMode="auto">
          <a:xfrm>
            <a:off x="2135188" y="3790950"/>
            <a:ext cx="13684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dirty="0">
                <a:solidFill>
                  <a:schemeClr val="bg1"/>
                </a:solidFill>
                <a:latin typeface="Arial" charset="0"/>
                <a:cs typeface="Arial" charset="0"/>
              </a:rPr>
              <a:t>encryption</a:t>
            </a:r>
          </a:p>
          <a:p>
            <a:pPr algn="ctr"/>
            <a:r>
              <a:rPr lang="en-US" dirty="0">
                <a:solidFill>
                  <a:schemeClr val="bg1"/>
                </a:solidFill>
                <a:latin typeface="Arial" charset="0"/>
                <a:cs typeface="Arial" charset="0"/>
              </a:rPr>
              <a:t>algorithm</a:t>
            </a:r>
          </a:p>
        </p:txBody>
      </p:sp>
      <p:sp>
        <p:nvSpPr>
          <p:cNvPr id="46088" name="Rectangle 8"/>
          <p:cNvSpPr>
            <a:spLocks noChangeArrowheads="1"/>
          </p:cNvSpPr>
          <p:nvPr/>
        </p:nvSpPr>
        <p:spPr bwMode="auto">
          <a:xfrm>
            <a:off x="5330825" y="3794125"/>
            <a:ext cx="1377950" cy="8032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46089" name="Text Box 9"/>
          <p:cNvSpPr txBox="1">
            <a:spLocks noChangeArrowheads="1"/>
          </p:cNvSpPr>
          <p:nvPr/>
        </p:nvSpPr>
        <p:spPr bwMode="auto">
          <a:xfrm>
            <a:off x="5351463" y="3817938"/>
            <a:ext cx="143827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dirty="0">
                <a:solidFill>
                  <a:schemeClr val="bg1"/>
                </a:solidFill>
                <a:latin typeface="Arial" charset="0"/>
                <a:cs typeface="Arial" charset="0"/>
              </a:rPr>
              <a:t>decryption </a:t>
            </a:r>
          </a:p>
          <a:p>
            <a:pPr algn="ctr"/>
            <a:r>
              <a:rPr lang="en-US" dirty="0">
                <a:solidFill>
                  <a:schemeClr val="bg1"/>
                </a:solidFill>
                <a:latin typeface="Arial" charset="0"/>
                <a:cs typeface="Arial" charset="0"/>
              </a:rPr>
              <a:t>algorithm</a:t>
            </a:r>
          </a:p>
        </p:txBody>
      </p:sp>
      <p:sp>
        <p:nvSpPr>
          <p:cNvPr id="46090" name="Line 10"/>
          <p:cNvSpPr>
            <a:spLocks noChangeShapeType="1"/>
          </p:cNvSpPr>
          <p:nvPr/>
        </p:nvSpPr>
        <p:spPr bwMode="auto">
          <a:xfrm flipV="1">
            <a:off x="3530600" y="4189413"/>
            <a:ext cx="1809750" cy="47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46091" name="Text Box 11"/>
          <p:cNvSpPr txBox="1">
            <a:spLocks noChangeArrowheads="1"/>
          </p:cNvSpPr>
          <p:nvPr/>
        </p:nvSpPr>
        <p:spPr bwMode="auto">
          <a:xfrm>
            <a:off x="6473825" y="1697038"/>
            <a:ext cx="1762125" cy="92333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1800" dirty="0">
                <a:latin typeface="Arial" charset="0"/>
                <a:cs typeface="Arial" charset="0"/>
              </a:rPr>
              <a:t>Brajesh</a:t>
            </a:r>
            <a:r>
              <a:rPr lang="ja-JP" altLang="en-US" sz="1800" dirty="0">
                <a:latin typeface="Arial" charset="0"/>
                <a:cs typeface="Arial" charset="0"/>
              </a:rPr>
              <a:t>’</a:t>
            </a:r>
            <a:r>
              <a:rPr lang="en-US" altLang="ja-JP" sz="1800" dirty="0">
                <a:latin typeface="Arial" charset="0"/>
                <a:cs typeface="Arial" charset="0"/>
              </a:rPr>
              <a:t>s </a:t>
            </a:r>
            <a:r>
              <a:rPr lang="en-US" altLang="ja-JP" sz="1800" i="1" u="sng" dirty="0">
                <a:solidFill>
                  <a:srgbClr val="C00000"/>
                </a:solidFill>
                <a:latin typeface="Arial" charset="0"/>
                <a:cs typeface="Arial" charset="0"/>
              </a:rPr>
              <a:t>public </a:t>
            </a:r>
          </a:p>
          <a:p>
            <a:r>
              <a:rPr lang="en-US" sz="1800" dirty="0">
                <a:latin typeface="Arial" charset="0"/>
                <a:cs typeface="Arial" charset="0"/>
              </a:rPr>
              <a:t>key </a:t>
            </a:r>
          </a:p>
        </p:txBody>
      </p:sp>
      <p:pic>
        <p:nvPicPr>
          <p:cNvPr id="46092" name="Picture 12" descr="Bob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8963" y="3098800"/>
            <a:ext cx="665162" cy="677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093" name="Line 13"/>
          <p:cNvSpPr>
            <a:spLocks noChangeShapeType="1"/>
          </p:cNvSpPr>
          <p:nvPr/>
        </p:nvSpPr>
        <p:spPr bwMode="auto">
          <a:xfrm>
            <a:off x="1365250" y="4219575"/>
            <a:ext cx="67468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46094" name="Line 14"/>
          <p:cNvSpPr>
            <a:spLocks noChangeShapeType="1"/>
          </p:cNvSpPr>
          <p:nvPr/>
        </p:nvSpPr>
        <p:spPr bwMode="auto">
          <a:xfrm>
            <a:off x="6750050" y="4175125"/>
            <a:ext cx="67468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pic>
        <p:nvPicPr>
          <p:cNvPr id="46095" name="Picture 15" descr="BS00768_[1]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5516563" y="1839913"/>
            <a:ext cx="458787" cy="236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096" name="Text Box 16"/>
          <p:cNvSpPr txBox="1">
            <a:spLocks noChangeArrowheads="1"/>
          </p:cNvSpPr>
          <p:nvPr/>
        </p:nvSpPr>
        <p:spPr bwMode="auto">
          <a:xfrm>
            <a:off x="6808788" y="3830638"/>
            <a:ext cx="1252537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dirty="0">
                <a:solidFill>
                  <a:srgbClr val="C00000"/>
                </a:solidFill>
                <a:latin typeface="Arial" charset="0"/>
                <a:cs typeface="Arial" charset="0"/>
              </a:rPr>
              <a:t>plaintext</a:t>
            </a:r>
          </a:p>
          <a:p>
            <a:pPr algn="ctr"/>
            <a:r>
              <a:rPr lang="en-US" dirty="0">
                <a:solidFill>
                  <a:srgbClr val="C00000"/>
                </a:solidFill>
                <a:latin typeface="Arial" charset="0"/>
                <a:cs typeface="Arial" charset="0"/>
              </a:rPr>
              <a:t>message</a:t>
            </a:r>
          </a:p>
        </p:txBody>
      </p:sp>
      <p:grpSp>
        <p:nvGrpSpPr>
          <p:cNvPr id="46097" name="Group 17"/>
          <p:cNvGrpSpPr>
            <a:grpSpLocks/>
          </p:cNvGrpSpPr>
          <p:nvPr/>
        </p:nvGrpSpPr>
        <p:grpSpPr bwMode="auto">
          <a:xfrm>
            <a:off x="3954463" y="4162425"/>
            <a:ext cx="876300" cy="617538"/>
            <a:chOff x="2351" y="2077"/>
            <a:chExt cx="552" cy="389"/>
          </a:xfrm>
        </p:grpSpPr>
        <p:sp>
          <p:nvSpPr>
            <p:cNvPr id="46115" name="Text Box 18"/>
            <p:cNvSpPr txBox="1">
              <a:spLocks noChangeArrowheads="1"/>
            </p:cNvSpPr>
            <p:nvPr/>
          </p:nvSpPr>
          <p:spPr bwMode="auto">
            <a:xfrm>
              <a:off x="2351" y="2132"/>
              <a:ext cx="55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K  (m)</a:t>
              </a:r>
            </a:p>
          </p:txBody>
        </p:sp>
        <p:sp>
          <p:nvSpPr>
            <p:cNvPr id="46116" name="Text Box 19"/>
            <p:cNvSpPr txBox="1">
              <a:spLocks noChangeArrowheads="1"/>
            </p:cNvSpPr>
            <p:nvPr/>
          </p:nvSpPr>
          <p:spPr bwMode="auto">
            <a:xfrm>
              <a:off x="2463" y="2253"/>
              <a:ext cx="202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6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B</a:t>
              </a:r>
            </a:p>
          </p:txBody>
        </p:sp>
        <p:sp>
          <p:nvSpPr>
            <p:cNvPr id="46117" name="Text Box 20"/>
            <p:cNvSpPr txBox="1">
              <a:spLocks noChangeArrowheads="1"/>
            </p:cNvSpPr>
            <p:nvPr/>
          </p:nvSpPr>
          <p:spPr bwMode="auto">
            <a:xfrm>
              <a:off x="2468" y="2077"/>
              <a:ext cx="192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6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+</a:t>
              </a:r>
            </a:p>
          </p:txBody>
        </p:sp>
      </p:grpSp>
      <p:sp>
        <p:nvSpPr>
          <p:cNvPr id="46098" name="Text Box 21"/>
          <p:cNvSpPr txBox="1">
            <a:spLocks noChangeArrowheads="1"/>
          </p:cNvSpPr>
          <p:nvPr/>
        </p:nvSpPr>
        <p:spPr bwMode="auto">
          <a:xfrm>
            <a:off x="6013450" y="1757363"/>
            <a:ext cx="4254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dirty="0">
                <a:solidFill>
                  <a:srgbClr val="C00000"/>
                </a:solidFill>
                <a:latin typeface="Arial" charset="0"/>
                <a:cs typeface="Arial" charset="0"/>
              </a:rPr>
              <a:t>K </a:t>
            </a:r>
          </a:p>
        </p:txBody>
      </p:sp>
      <p:sp>
        <p:nvSpPr>
          <p:cNvPr id="46099" name="Text Box 22"/>
          <p:cNvSpPr txBox="1">
            <a:spLocks noChangeArrowheads="1"/>
          </p:cNvSpPr>
          <p:nvPr/>
        </p:nvSpPr>
        <p:spPr bwMode="auto">
          <a:xfrm>
            <a:off x="6157913" y="1936750"/>
            <a:ext cx="322262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1600" dirty="0">
                <a:solidFill>
                  <a:srgbClr val="C00000"/>
                </a:solidFill>
                <a:latin typeface="Arial" charset="0"/>
                <a:cs typeface="Arial" charset="0"/>
              </a:rPr>
              <a:t>B</a:t>
            </a:r>
          </a:p>
        </p:txBody>
      </p:sp>
      <p:sp>
        <p:nvSpPr>
          <p:cNvPr id="46100" name="Text Box 23"/>
          <p:cNvSpPr txBox="1">
            <a:spLocks noChangeArrowheads="1"/>
          </p:cNvSpPr>
          <p:nvPr/>
        </p:nvSpPr>
        <p:spPr bwMode="auto">
          <a:xfrm>
            <a:off x="6165850" y="1657350"/>
            <a:ext cx="3048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1600" dirty="0">
                <a:solidFill>
                  <a:srgbClr val="C00000"/>
                </a:solidFill>
                <a:latin typeface="Arial" charset="0"/>
                <a:cs typeface="Arial" charset="0"/>
              </a:rPr>
              <a:t>+</a:t>
            </a:r>
          </a:p>
        </p:txBody>
      </p:sp>
      <p:sp>
        <p:nvSpPr>
          <p:cNvPr id="46101" name="Text Box 24"/>
          <p:cNvSpPr txBox="1">
            <a:spLocks noChangeArrowheads="1"/>
          </p:cNvSpPr>
          <p:nvPr/>
        </p:nvSpPr>
        <p:spPr bwMode="auto">
          <a:xfrm>
            <a:off x="6470650" y="2374900"/>
            <a:ext cx="1762125" cy="92333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1800" dirty="0">
                <a:latin typeface="Arial" charset="0"/>
                <a:cs typeface="Arial" charset="0"/>
              </a:rPr>
              <a:t>Brajesh</a:t>
            </a:r>
            <a:r>
              <a:rPr lang="ja-JP" altLang="en-US" sz="1800" dirty="0">
                <a:latin typeface="Arial" charset="0"/>
                <a:cs typeface="Arial" charset="0"/>
              </a:rPr>
              <a:t>’</a:t>
            </a:r>
            <a:r>
              <a:rPr lang="en-US" altLang="ja-JP" sz="1800" dirty="0">
                <a:latin typeface="Arial" charset="0"/>
                <a:cs typeface="Arial" charset="0"/>
              </a:rPr>
              <a:t>s </a:t>
            </a:r>
            <a:r>
              <a:rPr lang="en-US" altLang="ja-JP" sz="1800" i="1" u="sng" dirty="0">
                <a:solidFill>
                  <a:srgbClr val="C00000"/>
                </a:solidFill>
                <a:latin typeface="Arial" charset="0"/>
                <a:cs typeface="Arial" charset="0"/>
              </a:rPr>
              <a:t>private</a:t>
            </a:r>
          </a:p>
          <a:p>
            <a:r>
              <a:rPr lang="en-US" sz="1800" dirty="0">
                <a:latin typeface="Arial" charset="0"/>
                <a:cs typeface="Arial" charset="0"/>
              </a:rPr>
              <a:t>key </a:t>
            </a:r>
          </a:p>
        </p:txBody>
      </p:sp>
      <p:pic>
        <p:nvPicPr>
          <p:cNvPr id="46102" name="Picture 25" descr="BS00768_[1]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5513388" y="2513013"/>
            <a:ext cx="542925" cy="27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103" name="Text Box 26"/>
          <p:cNvSpPr txBox="1">
            <a:spLocks noChangeArrowheads="1"/>
          </p:cNvSpPr>
          <p:nvPr/>
        </p:nvSpPr>
        <p:spPr bwMode="auto">
          <a:xfrm>
            <a:off x="6022975" y="2447925"/>
            <a:ext cx="4254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dirty="0">
                <a:solidFill>
                  <a:srgbClr val="C00000"/>
                </a:solidFill>
                <a:latin typeface="Arial" charset="0"/>
                <a:cs typeface="Arial" charset="0"/>
              </a:rPr>
              <a:t>K </a:t>
            </a:r>
          </a:p>
        </p:txBody>
      </p:sp>
      <p:sp>
        <p:nvSpPr>
          <p:cNvPr id="46104" name="Text Box 27"/>
          <p:cNvSpPr txBox="1">
            <a:spLocks noChangeArrowheads="1"/>
          </p:cNvSpPr>
          <p:nvPr/>
        </p:nvSpPr>
        <p:spPr bwMode="auto">
          <a:xfrm>
            <a:off x="6230938" y="2640013"/>
            <a:ext cx="322262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1600" dirty="0">
                <a:solidFill>
                  <a:srgbClr val="C00000"/>
                </a:solidFill>
                <a:latin typeface="Arial" charset="0"/>
                <a:cs typeface="Arial" charset="0"/>
              </a:rPr>
              <a:t>B</a:t>
            </a:r>
          </a:p>
        </p:txBody>
      </p:sp>
      <p:sp>
        <p:nvSpPr>
          <p:cNvPr id="46105" name="Text Box 28"/>
          <p:cNvSpPr txBox="1">
            <a:spLocks noChangeArrowheads="1"/>
          </p:cNvSpPr>
          <p:nvPr/>
        </p:nvSpPr>
        <p:spPr bwMode="auto">
          <a:xfrm>
            <a:off x="6264275" y="2360613"/>
            <a:ext cx="252413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1600" dirty="0">
                <a:solidFill>
                  <a:srgbClr val="C00000"/>
                </a:solidFill>
                <a:latin typeface="Arial" charset="0"/>
                <a:cs typeface="Arial" charset="0"/>
              </a:rPr>
              <a:t>-</a:t>
            </a:r>
          </a:p>
        </p:txBody>
      </p:sp>
      <p:grpSp>
        <p:nvGrpSpPr>
          <p:cNvPr id="46106" name="Group 29"/>
          <p:cNvGrpSpPr>
            <a:grpSpLocks/>
          </p:cNvGrpSpPr>
          <p:nvPr/>
        </p:nvGrpSpPr>
        <p:grpSpPr bwMode="auto">
          <a:xfrm>
            <a:off x="6840538" y="4359275"/>
            <a:ext cx="1885950" cy="636588"/>
            <a:chOff x="2413" y="3394"/>
            <a:chExt cx="1188" cy="401"/>
          </a:xfrm>
        </p:grpSpPr>
        <p:sp>
          <p:nvSpPr>
            <p:cNvPr id="46110" name="Text Box 30"/>
            <p:cNvSpPr txBox="1">
              <a:spLocks noChangeArrowheads="1"/>
            </p:cNvSpPr>
            <p:nvPr/>
          </p:nvSpPr>
          <p:spPr bwMode="auto">
            <a:xfrm>
              <a:off x="2413" y="3434"/>
              <a:ext cx="11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m = K  </a:t>
              </a:r>
              <a:r>
                <a:rPr lang="en-US" sz="24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(</a:t>
              </a:r>
              <a:r>
                <a:rPr lang="en-US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K  (m)</a:t>
              </a:r>
              <a:r>
                <a:rPr lang="en-US" sz="24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)</a:t>
              </a:r>
            </a:p>
          </p:txBody>
        </p:sp>
        <p:sp>
          <p:nvSpPr>
            <p:cNvPr id="46111" name="Text Box 31"/>
            <p:cNvSpPr txBox="1">
              <a:spLocks noChangeArrowheads="1"/>
            </p:cNvSpPr>
            <p:nvPr/>
          </p:nvSpPr>
          <p:spPr bwMode="auto">
            <a:xfrm>
              <a:off x="3090" y="3582"/>
              <a:ext cx="202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6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B</a:t>
              </a:r>
            </a:p>
          </p:txBody>
        </p:sp>
        <p:sp>
          <p:nvSpPr>
            <p:cNvPr id="46112" name="Text Box 32"/>
            <p:cNvSpPr txBox="1">
              <a:spLocks noChangeArrowheads="1"/>
            </p:cNvSpPr>
            <p:nvPr/>
          </p:nvSpPr>
          <p:spPr bwMode="auto">
            <a:xfrm>
              <a:off x="3092" y="3400"/>
              <a:ext cx="192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6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+</a:t>
              </a:r>
            </a:p>
          </p:txBody>
        </p:sp>
        <p:sp>
          <p:nvSpPr>
            <p:cNvPr id="46113" name="Text Box 33"/>
            <p:cNvSpPr txBox="1">
              <a:spLocks noChangeArrowheads="1"/>
            </p:cNvSpPr>
            <p:nvPr/>
          </p:nvSpPr>
          <p:spPr bwMode="auto">
            <a:xfrm>
              <a:off x="2829" y="3570"/>
              <a:ext cx="202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6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B</a:t>
              </a:r>
            </a:p>
          </p:txBody>
        </p:sp>
        <p:sp>
          <p:nvSpPr>
            <p:cNvPr id="46114" name="Text Box 34"/>
            <p:cNvSpPr txBox="1">
              <a:spLocks noChangeArrowheads="1"/>
            </p:cNvSpPr>
            <p:nvPr/>
          </p:nvSpPr>
          <p:spPr bwMode="auto">
            <a:xfrm>
              <a:off x="2856" y="3394"/>
              <a:ext cx="160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6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-</a:t>
              </a:r>
            </a:p>
          </p:txBody>
        </p:sp>
      </p:grpSp>
      <p:sp>
        <p:nvSpPr>
          <p:cNvPr id="46107" name="Freeform 35"/>
          <p:cNvSpPr>
            <a:spLocks/>
          </p:cNvSpPr>
          <p:nvPr/>
        </p:nvSpPr>
        <p:spPr bwMode="auto">
          <a:xfrm>
            <a:off x="3001963" y="1973263"/>
            <a:ext cx="2393950" cy="1754187"/>
          </a:xfrm>
          <a:custGeom>
            <a:avLst/>
            <a:gdLst>
              <a:gd name="T0" fmla="*/ 2147483647 w 1508"/>
              <a:gd name="T1" fmla="*/ 0 h 1105"/>
              <a:gd name="T2" fmla="*/ 0 w 1508"/>
              <a:gd name="T3" fmla="*/ 0 h 1105"/>
              <a:gd name="T4" fmla="*/ 2147483647 w 1508"/>
              <a:gd name="T5" fmla="*/ 2147483647 h 1105"/>
              <a:gd name="T6" fmla="*/ 0 60000 65536"/>
              <a:gd name="T7" fmla="*/ 0 60000 65536"/>
              <a:gd name="T8" fmla="*/ 0 60000 65536"/>
              <a:gd name="T9" fmla="*/ 0 w 1508"/>
              <a:gd name="T10" fmla="*/ 0 h 1105"/>
              <a:gd name="T11" fmla="*/ 1508 w 1508"/>
              <a:gd name="T12" fmla="*/ 1105 h 110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508" h="1105">
                <a:moveTo>
                  <a:pt x="1508" y="0"/>
                </a:moveTo>
                <a:lnTo>
                  <a:pt x="0" y="0"/>
                </a:lnTo>
                <a:lnTo>
                  <a:pt x="5" y="1105"/>
                </a:lnTo>
              </a:path>
            </a:pathLst>
          </a:custGeom>
          <a:noFill/>
          <a:ln w="19050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46108" name="Freeform 36"/>
          <p:cNvSpPr>
            <a:spLocks/>
          </p:cNvSpPr>
          <p:nvPr/>
        </p:nvSpPr>
        <p:spPr bwMode="auto">
          <a:xfrm>
            <a:off x="5446713" y="2646363"/>
            <a:ext cx="330200" cy="1074737"/>
          </a:xfrm>
          <a:custGeom>
            <a:avLst/>
            <a:gdLst>
              <a:gd name="T0" fmla="*/ 2147483647 w 184"/>
              <a:gd name="T1" fmla="*/ 0 h 1113"/>
              <a:gd name="T2" fmla="*/ 0 w 184"/>
              <a:gd name="T3" fmla="*/ 2147483647 h 1113"/>
              <a:gd name="T4" fmla="*/ 2147483647 w 184"/>
              <a:gd name="T5" fmla="*/ 2147483647 h 1113"/>
              <a:gd name="T6" fmla="*/ 0 60000 65536"/>
              <a:gd name="T7" fmla="*/ 0 60000 65536"/>
              <a:gd name="T8" fmla="*/ 0 60000 65536"/>
              <a:gd name="T9" fmla="*/ 0 w 184"/>
              <a:gd name="T10" fmla="*/ 0 h 1113"/>
              <a:gd name="T11" fmla="*/ 184 w 184"/>
              <a:gd name="T12" fmla="*/ 1113 h 111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4" h="1113">
                <a:moveTo>
                  <a:pt x="184" y="0"/>
                </a:moveTo>
                <a:lnTo>
                  <a:pt x="0" y="8"/>
                </a:lnTo>
                <a:lnTo>
                  <a:pt x="5" y="1113"/>
                </a:lnTo>
              </a:path>
            </a:pathLst>
          </a:custGeom>
          <a:noFill/>
          <a:ln w="19050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pic>
        <p:nvPicPr>
          <p:cNvPr id="46109" name="Picture 20" descr="underline_base"/>
          <p:cNvPicPr>
            <a:picLocks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" y="950913"/>
            <a:ext cx="54848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15</a:t>
            </a:fld>
            <a:endParaRPr lang="en-US" sz="1200" dirty="0">
              <a:latin typeface="Tahoma" charset="0"/>
            </a:endParaRPr>
          </a:p>
        </p:txBody>
      </p:sp>
      <p:sp>
        <p:nvSpPr>
          <p:cNvPr id="40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7484002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414338" y="163513"/>
            <a:ext cx="7772400" cy="1143000"/>
          </a:xfrm>
        </p:spPr>
        <p:txBody>
          <a:bodyPr/>
          <a:lstStyle/>
          <a:p>
            <a:r>
              <a:rPr lang="en-US" dirty="0">
                <a:latin typeface="Gill Sans MT" charset="0"/>
              </a:rPr>
              <a:t>Public key encryption algorithms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95500" y="2298700"/>
            <a:ext cx="5619750" cy="625475"/>
          </a:xfrm>
        </p:spPr>
        <p:txBody>
          <a:bodyPr/>
          <a:lstStyle/>
          <a:p>
            <a:pPr>
              <a:buFont typeface="Wingdings" charset="0"/>
              <a:buNone/>
            </a:pPr>
            <a:r>
              <a:rPr lang="en-US" dirty="0">
                <a:latin typeface="Arial" charset="0"/>
                <a:cs typeface="Arial" charset="0"/>
              </a:rPr>
              <a:t>need K  ( ) and K  ( ) such that</a:t>
            </a:r>
          </a:p>
        </p:txBody>
      </p:sp>
      <p:sp>
        <p:nvSpPr>
          <p:cNvPr id="47108" name="Text Box 4"/>
          <p:cNvSpPr txBox="1">
            <a:spLocks noChangeArrowheads="1"/>
          </p:cNvSpPr>
          <p:nvPr/>
        </p:nvSpPr>
        <p:spPr bwMode="auto">
          <a:xfrm>
            <a:off x="3208338" y="2522538"/>
            <a:ext cx="38893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2400" dirty="0">
                <a:latin typeface="Arial" charset="0"/>
                <a:cs typeface="Arial" charset="0"/>
              </a:rPr>
              <a:t>B</a:t>
            </a:r>
          </a:p>
        </p:txBody>
      </p:sp>
      <p:sp>
        <p:nvSpPr>
          <p:cNvPr id="47109" name="Text Box 5"/>
          <p:cNvSpPr txBox="1">
            <a:spLocks noChangeArrowheads="1"/>
          </p:cNvSpPr>
          <p:nvPr/>
        </p:nvSpPr>
        <p:spPr bwMode="auto">
          <a:xfrm>
            <a:off x="4810125" y="2560638"/>
            <a:ext cx="38893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2400" dirty="0">
                <a:latin typeface="Arial" charset="0"/>
                <a:cs typeface="Arial" charset="0"/>
              </a:rPr>
              <a:t>B</a:t>
            </a:r>
          </a:p>
        </p:txBody>
      </p:sp>
      <p:sp>
        <p:nvSpPr>
          <p:cNvPr id="47110" name="Text Box 6"/>
          <p:cNvSpPr txBox="1">
            <a:spLocks noChangeArrowheads="1"/>
          </p:cNvSpPr>
          <p:nvPr/>
        </p:nvSpPr>
        <p:spPr bwMode="auto">
          <a:xfrm>
            <a:off x="3519488" y="1958975"/>
            <a:ext cx="3556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4800" dirty="0">
                <a:latin typeface="Arial" charset="0"/>
                <a:cs typeface="Arial" charset="0"/>
              </a:rPr>
              <a:t>.</a:t>
            </a:r>
            <a:endParaRPr lang="en-US" sz="2400" dirty="0">
              <a:latin typeface="Arial" charset="0"/>
              <a:cs typeface="Arial" charset="0"/>
            </a:endParaRPr>
          </a:p>
        </p:txBody>
      </p:sp>
      <p:sp>
        <p:nvSpPr>
          <p:cNvPr id="47111" name="Text Box 7"/>
          <p:cNvSpPr txBox="1">
            <a:spLocks noChangeArrowheads="1"/>
          </p:cNvSpPr>
          <p:nvPr/>
        </p:nvSpPr>
        <p:spPr bwMode="auto">
          <a:xfrm>
            <a:off x="5103813" y="1997075"/>
            <a:ext cx="3556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4800" dirty="0">
                <a:latin typeface="Arial" charset="0"/>
                <a:cs typeface="Arial" charset="0"/>
              </a:rPr>
              <a:t>.</a:t>
            </a:r>
            <a:endParaRPr lang="en-US" sz="2400" dirty="0">
              <a:latin typeface="Arial" charset="0"/>
              <a:cs typeface="Arial" charset="0"/>
            </a:endParaRPr>
          </a:p>
        </p:txBody>
      </p:sp>
      <p:sp>
        <p:nvSpPr>
          <p:cNvPr id="47112" name="Rectangle 8"/>
          <p:cNvSpPr>
            <a:spLocks noChangeArrowheads="1"/>
          </p:cNvSpPr>
          <p:nvPr/>
        </p:nvSpPr>
        <p:spPr bwMode="auto">
          <a:xfrm>
            <a:off x="2117725" y="3857625"/>
            <a:ext cx="5468938" cy="62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5000"/>
              <a:buFont typeface="ZapfDingbats" charset="0"/>
              <a:buNone/>
            </a:pPr>
            <a:r>
              <a:rPr lang="en-US" sz="2800" dirty="0">
                <a:latin typeface="Arial" charset="0"/>
                <a:cs typeface="Arial" charset="0"/>
              </a:rPr>
              <a:t>given public key K  , it should be impossible to compute private key K  </a:t>
            </a:r>
          </a:p>
        </p:txBody>
      </p:sp>
      <p:sp>
        <p:nvSpPr>
          <p:cNvPr id="47113" name="Text Box 9"/>
          <p:cNvSpPr txBox="1">
            <a:spLocks noChangeArrowheads="1"/>
          </p:cNvSpPr>
          <p:nvPr/>
        </p:nvSpPr>
        <p:spPr bwMode="auto">
          <a:xfrm>
            <a:off x="3409950" y="4962525"/>
            <a:ext cx="3905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2400" dirty="0">
                <a:latin typeface="Arial" charset="0"/>
                <a:cs typeface="Arial" charset="0"/>
              </a:rPr>
              <a:t>B</a:t>
            </a:r>
          </a:p>
        </p:txBody>
      </p:sp>
      <p:sp>
        <p:nvSpPr>
          <p:cNvPr id="47114" name="Text Box 10"/>
          <p:cNvSpPr txBox="1">
            <a:spLocks noChangeArrowheads="1"/>
          </p:cNvSpPr>
          <p:nvPr/>
        </p:nvSpPr>
        <p:spPr bwMode="auto">
          <a:xfrm>
            <a:off x="4995863" y="4054475"/>
            <a:ext cx="4333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2400" dirty="0">
                <a:latin typeface="Arial" charset="0"/>
                <a:cs typeface="Arial" charset="0"/>
              </a:rPr>
              <a:t>B</a:t>
            </a:r>
          </a:p>
        </p:txBody>
      </p:sp>
      <p:sp>
        <p:nvSpPr>
          <p:cNvPr id="47115" name="Text Box 11"/>
          <p:cNvSpPr txBox="1">
            <a:spLocks noChangeArrowheads="1"/>
          </p:cNvSpPr>
          <p:nvPr/>
        </p:nvSpPr>
        <p:spPr bwMode="auto">
          <a:xfrm>
            <a:off x="703263" y="1535113"/>
            <a:ext cx="22002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2800" dirty="0">
                <a:latin typeface="Gill Sans MT" charset="0"/>
                <a:cs typeface="Arial" charset="0"/>
              </a:rPr>
              <a:t>requirements:</a:t>
            </a:r>
            <a:endParaRPr lang="en-US" sz="2400" dirty="0">
              <a:latin typeface="Gill Sans MT" charset="0"/>
              <a:cs typeface="Arial" charset="0"/>
            </a:endParaRPr>
          </a:p>
        </p:txBody>
      </p:sp>
      <p:sp>
        <p:nvSpPr>
          <p:cNvPr id="47116" name="Oval 13"/>
          <p:cNvSpPr>
            <a:spLocks noChangeArrowheads="1"/>
          </p:cNvSpPr>
          <p:nvPr/>
        </p:nvSpPr>
        <p:spPr bwMode="auto">
          <a:xfrm>
            <a:off x="1490663" y="2308225"/>
            <a:ext cx="552450" cy="5175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99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dirty="0">
              <a:solidFill>
                <a:srgbClr val="000099"/>
              </a:solidFill>
              <a:latin typeface="Arial" charset="0"/>
              <a:cs typeface="Arial" charset="0"/>
            </a:endParaRPr>
          </a:p>
        </p:txBody>
      </p:sp>
      <p:sp>
        <p:nvSpPr>
          <p:cNvPr id="47117" name="Text Box 14"/>
          <p:cNvSpPr txBox="1">
            <a:spLocks noChangeArrowheads="1"/>
          </p:cNvSpPr>
          <p:nvPr/>
        </p:nvSpPr>
        <p:spPr bwMode="auto">
          <a:xfrm>
            <a:off x="1576388" y="2308225"/>
            <a:ext cx="3841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99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2800" dirty="0">
                <a:solidFill>
                  <a:srgbClr val="000099"/>
                </a:solidFill>
                <a:latin typeface="Arial" charset="0"/>
                <a:cs typeface="Arial" charset="0"/>
              </a:rPr>
              <a:t>1</a:t>
            </a:r>
            <a:endParaRPr lang="en-US" sz="2400" dirty="0">
              <a:solidFill>
                <a:srgbClr val="000099"/>
              </a:solidFill>
              <a:latin typeface="Arial" charset="0"/>
              <a:cs typeface="Arial" charset="0"/>
            </a:endParaRPr>
          </a:p>
        </p:txBody>
      </p:sp>
      <p:grpSp>
        <p:nvGrpSpPr>
          <p:cNvPr id="47118" name="Group 15"/>
          <p:cNvGrpSpPr>
            <a:grpSpLocks/>
          </p:cNvGrpSpPr>
          <p:nvPr/>
        </p:nvGrpSpPr>
        <p:grpSpPr bwMode="auto">
          <a:xfrm>
            <a:off x="1524000" y="3810000"/>
            <a:ext cx="552450" cy="533400"/>
            <a:chOff x="489" y="1776"/>
            <a:chExt cx="348" cy="336"/>
          </a:xfrm>
        </p:grpSpPr>
        <p:sp>
          <p:nvSpPr>
            <p:cNvPr id="47132" name="Oval 16"/>
            <p:cNvSpPr>
              <a:spLocks noChangeArrowheads="1"/>
            </p:cNvSpPr>
            <p:nvPr/>
          </p:nvSpPr>
          <p:spPr bwMode="auto">
            <a:xfrm>
              <a:off x="489" y="1786"/>
              <a:ext cx="348" cy="326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99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solidFill>
                  <a:srgbClr val="000099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47133" name="Text Box 17"/>
            <p:cNvSpPr txBox="1">
              <a:spLocks noChangeArrowheads="1"/>
            </p:cNvSpPr>
            <p:nvPr/>
          </p:nvSpPr>
          <p:spPr bwMode="auto">
            <a:xfrm>
              <a:off x="546" y="1776"/>
              <a:ext cx="243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99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800" dirty="0">
                  <a:solidFill>
                    <a:srgbClr val="000099"/>
                  </a:solidFill>
                  <a:latin typeface="Arial" charset="0"/>
                  <a:cs typeface="Arial" charset="0"/>
                </a:rPr>
                <a:t>2</a:t>
              </a:r>
              <a:endParaRPr lang="en-US" sz="2400" dirty="0">
                <a:solidFill>
                  <a:srgbClr val="000099"/>
                </a:solidFill>
                <a:latin typeface="Arial" charset="0"/>
                <a:cs typeface="Arial" charset="0"/>
              </a:endParaRPr>
            </a:p>
          </p:txBody>
        </p:sp>
      </p:grpSp>
      <p:sp>
        <p:nvSpPr>
          <p:cNvPr id="47119" name="Text Box 18"/>
          <p:cNvSpPr txBox="1">
            <a:spLocks noChangeArrowheads="1"/>
          </p:cNvSpPr>
          <p:nvPr/>
        </p:nvSpPr>
        <p:spPr bwMode="auto">
          <a:xfrm>
            <a:off x="1431925" y="5638800"/>
            <a:ext cx="57070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3200" i="1" dirty="0">
                <a:solidFill>
                  <a:srgbClr val="C00000"/>
                </a:solidFill>
                <a:latin typeface="Gill Sans MT" charset="0"/>
              </a:rPr>
              <a:t>RSA: </a:t>
            </a:r>
            <a:r>
              <a:rPr lang="en-US" sz="2800" dirty="0">
                <a:latin typeface="Gill Sans MT" charset="0"/>
              </a:rPr>
              <a:t>Rivest, Shamir, Adelson algorithm</a:t>
            </a:r>
            <a:endParaRPr lang="en-US" sz="2400" dirty="0">
              <a:latin typeface="Gill Sans MT" charset="0"/>
            </a:endParaRPr>
          </a:p>
        </p:txBody>
      </p:sp>
      <p:sp>
        <p:nvSpPr>
          <p:cNvPr id="47120" name="Text Box 19"/>
          <p:cNvSpPr txBox="1">
            <a:spLocks noChangeArrowheads="1"/>
          </p:cNvSpPr>
          <p:nvPr/>
        </p:nvSpPr>
        <p:spPr bwMode="auto">
          <a:xfrm>
            <a:off x="3213100" y="2147888"/>
            <a:ext cx="3651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2400" dirty="0">
                <a:latin typeface="Arial" charset="0"/>
                <a:cs typeface="Arial" charset="0"/>
              </a:rPr>
              <a:t>+</a:t>
            </a:r>
          </a:p>
        </p:txBody>
      </p:sp>
      <p:sp>
        <p:nvSpPr>
          <p:cNvPr id="47121" name="Text Box 20"/>
          <p:cNvSpPr txBox="1">
            <a:spLocks noChangeArrowheads="1"/>
          </p:cNvSpPr>
          <p:nvPr/>
        </p:nvSpPr>
        <p:spPr bwMode="auto">
          <a:xfrm>
            <a:off x="4838700" y="2187575"/>
            <a:ext cx="2857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2400" dirty="0">
                <a:latin typeface="Arial" charset="0"/>
                <a:cs typeface="Arial" charset="0"/>
              </a:rPr>
              <a:t>-</a:t>
            </a:r>
          </a:p>
        </p:txBody>
      </p:sp>
      <p:grpSp>
        <p:nvGrpSpPr>
          <p:cNvPr id="47122" name="Group 21"/>
          <p:cNvGrpSpPr>
            <a:grpSpLocks/>
          </p:cNvGrpSpPr>
          <p:nvPr/>
        </p:nvGrpSpPr>
        <p:grpSpPr bwMode="auto">
          <a:xfrm>
            <a:off x="3238500" y="2720975"/>
            <a:ext cx="2830513" cy="947738"/>
            <a:chOff x="1340" y="1706"/>
            <a:chExt cx="1783" cy="597"/>
          </a:xfrm>
        </p:grpSpPr>
        <p:grpSp>
          <p:nvGrpSpPr>
            <p:cNvPr id="47126" name="Group 22"/>
            <p:cNvGrpSpPr>
              <a:grpSpLocks/>
            </p:cNvGrpSpPr>
            <p:nvPr/>
          </p:nvGrpSpPr>
          <p:grpSpPr bwMode="auto">
            <a:xfrm>
              <a:off x="1340" y="1841"/>
              <a:ext cx="1783" cy="462"/>
              <a:chOff x="1711" y="1463"/>
              <a:chExt cx="1783" cy="462"/>
            </a:xfrm>
          </p:grpSpPr>
          <p:sp>
            <p:nvSpPr>
              <p:cNvPr id="47129" name="Text Box 23"/>
              <p:cNvSpPr txBox="1">
                <a:spLocks noChangeArrowheads="1"/>
              </p:cNvSpPr>
              <p:nvPr/>
            </p:nvSpPr>
            <p:spPr bwMode="auto">
              <a:xfrm>
                <a:off x="1711" y="1463"/>
                <a:ext cx="1783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800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K  (K  (m))  =  m </a:t>
                </a:r>
              </a:p>
            </p:txBody>
          </p:sp>
          <p:sp>
            <p:nvSpPr>
              <p:cNvPr id="47130" name="Text Box 24"/>
              <p:cNvSpPr txBox="1">
                <a:spLocks noChangeArrowheads="1"/>
              </p:cNvSpPr>
              <p:nvPr/>
            </p:nvSpPr>
            <p:spPr bwMode="auto">
              <a:xfrm>
                <a:off x="2234" y="1634"/>
                <a:ext cx="246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400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B</a:t>
                </a:r>
                <a:endParaRPr lang="en-US" sz="2800" dirty="0">
                  <a:solidFill>
                    <a:srgbClr val="C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47131" name="Text Box 25"/>
              <p:cNvSpPr txBox="1">
                <a:spLocks noChangeArrowheads="1"/>
              </p:cNvSpPr>
              <p:nvPr/>
            </p:nvSpPr>
            <p:spPr bwMode="auto">
              <a:xfrm>
                <a:off x="1892" y="1620"/>
                <a:ext cx="246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400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B</a:t>
                </a:r>
                <a:endParaRPr lang="en-US" sz="2800" dirty="0">
                  <a:solidFill>
                    <a:srgbClr val="C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47127" name="Text Box 26"/>
            <p:cNvSpPr txBox="1">
              <a:spLocks noChangeArrowheads="1"/>
            </p:cNvSpPr>
            <p:nvPr/>
          </p:nvSpPr>
          <p:spPr bwMode="auto">
            <a:xfrm>
              <a:off x="1521" y="1706"/>
              <a:ext cx="181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-</a:t>
              </a:r>
            </a:p>
          </p:txBody>
        </p:sp>
        <p:sp>
          <p:nvSpPr>
            <p:cNvPr id="47128" name="Text Box 27"/>
            <p:cNvSpPr txBox="1">
              <a:spLocks noChangeArrowheads="1"/>
            </p:cNvSpPr>
            <p:nvPr/>
          </p:nvSpPr>
          <p:spPr bwMode="auto">
            <a:xfrm>
              <a:off x="1860" y="1722"/>
              <a:ext cx="229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+</a:t>
              </a:r>
            </a:p>
          </p:txBody>
        </p:sp>
      </p:grpSp>
      <p:sp>
        <p:nvSpPr>
          <p:cNvPr id="47123" name="Text Box 28"/>
          <p:cNvSpPr txBox="1">
            <a:spLocks noChangeArrowheads="1"/>
          </p:cNvSpPr>
          <p:nvPr/>
        </p:nvSpPr>
        <p:spPr bwMode="auto">
          <a:xfrm>
            <a:off x="5053013" y="3708400"/>
            <a:ext cx="365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2400" dirty="0">
                <a:latin typeface="Arial" charset="0"/>
                <a:cs typeface="Arial" charset="0"/>
              </a:rPr>
              <a:t>+</a:t>
            </a:r>
          </a:p>
        </p:txBody>
      </p:sp>
      <p:sp>
        <p:nvSpPr>
          <p:cNvPr id="47124" name="Text Box 29"/>
          <p:cNvSpPr txBox="1">
            <a:spLocks noChangeArrowheads="1"/>
          </p:cNvSpPr>
          <p:nvPr/>
        </p:nvSpPr>
        <p:spPr bwMode="auto">
          <a:xfrm>
            <a:off x="3408363" y="4557713"/>
            <a:ext cx="2857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2400" dirty="0">
                <a:latin typeface="Arial" charset="0"/>
                <a:cs typeface="Arial" charset="0"/>
              </a:rPr>
              <a:t>-</a:t>
            </a:r>
          </a:p>
        </p:txBody>
      </p:sp>
      <p:pic>
        <p:nvPicPr>
          <p:cNvPr id="47125" name="Picture 15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363" y="954088"/>
            <a:ext cx="7769225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16</a:t>
            </a:fld>
            <a:endParaRPr lang="en-US" sz="1200" dirty="0">
              <a:latin typeface="Tahoma" charset="0"/>
            </a:endParaRPr>
          </a:p>
        </p:txBody>
      </p:sp>
      <p:sp>
        <p:nvSpPr>
          <p:cNvPr id="32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40089501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403225" y="141288"/>
            <a:ext cx="7772400" cy="1143000"/>
          </a:xfrm>
        </p:spPr>
        <p:txBody>
          <a:bodyPr/>
          <a:lstStyle/>
          <a:p>
            <a:r>
              <a:rPr lang="en-US" dirty="0">
                <a:latin typeface="Gill Sans MT" charset="0"/>
              </a:rPr>
              <a:t>Prerequisite: modular arithmetic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7924800" cy="4648200"/>
          </a:xfrm>
        </p:spPr>
        <p:txBody>
          <a:bodyPr/>
          <a:lstStyle/>
          <a:p>
            <a:pPr marL="277813" indent="-277813">
              <a:lnSpc>
                <a:spcPct val="90000"/>
              </a:lnSpc>
            </a:pPr>
            <a:r>
              <a:rPr lang="en-US" dirty="0">
                <a:latin typeface="Gill Sans MT" charset="0"/>
              </a:rPr>
              <a:t>x mod n = remainder of x when divide by n</a:t>
            </a:r>
          </a:p>
          <a:p>
            <a:pPr marL="277813" indent="-277813">
              <a:lnSpc>
                <a:spcPct val="90000"/>
              </a:lnSpc>
            </a:pPr>
            <a:r>
              <a:rPr lang="en-US" dirty="0">
                <a:latin typeface="Gill Sans MT" charset="0"/>
              </a:rPr>
              <a:t>facts:</a:t>
            </a:r>
          </a:p>
          <a:p>
            <a:pPr marL="277813" lvl="1" indent="60325">
              <a:lnSpc>
                <a:spcPct val="90000"/>
              </a:lnSpc>
              <a:buFont typeface="Wingdings" charset="0"/>
              <a:buNone/>
            </a:pPr>
            <a:r>
              <a:rPr lang="en-US" dirty="0">
                <a:solidFill>
                  <a:srgbClr val="000099"/>
                </a:solidFill>
                <a:latin typeface="Gill Sans MT" charset="0"/>
              </a:rPr>
              <a:t>[(a mod n) + (b mod n)] mod n = (a+b) mod n</a:t>
            </a:r>
          </a:p>
          <a:p>
            <a:pPr marL="277813" lvl="1" indent="60325">
              <a:lnSpc>
                <a:spcPct val="90000"/>
              </a:lnSpc>
              <a:buFont typeface="Wingdings" charset="0"/>
              <a:buNone/>
            </a:pPr>
            <a:r>
              <a:rPr lang="en-US" dirty="0">
                <a:solidFill>
                  <a:srgbClr val="000099"/>
                </a:solidFill>
                <a:latin typeface="Gill Sans MT" charset="0"/>
              </a:rPr>
              <a:t>[(a mod n) - (b mod n)] mod n = (a-b) mod n</a:t>
            </a:r>
          </a:p>
          <a:p>
            <a:pPr marL="277813" lvl="1" indent="60325">
              <a:lnSpc>
                <a:spcPct val="90000"/>
              </a:lnSpc>
              <a:buFont typeface="Wingdings" charset="0"/>
              <a:buNone/>
            </a:pPr>
            <a:r>
              <a:rPr lang="en-US" dirty="0">
                <a:solidFill>
                  <a:srgbClr val="000099"/>
                </a:solidFill>
                <a:latin typeface="Gill Sans MT" charset="0"/>
              </a:rPr>
              <a:t>[(a mod n) * (b mod n)] mod n = (a*b) mod n</a:t>
            </a:r>
          </a:p>
          <a:p>
            <a:pPr marL="277813" indent="-277813">
              <a:lnSpc>
                <a:spcPct val="90000"/>
              </a:lnSpc>
            </a:pPr>
            <a:r>
              <a:rPr lang="en-US" dirty="0">
                <a:latin typeface="Gill Sans MT" charset="0"/>
              </a:rPr>
              <a:t>thus</a:t>
            </a:r>
          </a:p>
          <a:p>
            <a:pPr marL="277813" indent="-277813">
              <a:lnSpc>
                <a:spcPct val="90000"/>
              </a:lnSpc>
              <a:buFont typeface="Wingdings" charset="0"/>
              <a:buNone/>
            </a:pPr>
            <a:r>
              <a:rPr lang="en-US" dirty="0">
                <a:latin typeface="Gill Sans MT" charset="0"/>
              </a:rPr>
              <a:t>    </a:t>
            </a:r>
            <a:r>
              <a:rPr lang="en-US" dirty="0">
                <a:solidFill>
                  <a:srgbClr val="000099"/>
                </a:solidFill>
                <a:latin typeface="Gill Sans MT" charset="0"/>
              </a:rPr>
              <a:t>(a mod n)</a:t>
            </a:r>
            <a:r>
              <a:rPr lang="en-US" baseline="30000" dirty="0">
                <a:solidFill>
                  <a:srgbClr val="000099"/>
                </a:solidFill>
                <a:latin typeface="Gill Sans MT" charset="0"/>
              </a:rPr>
              <a:t>d</a:t>
            </a:r>
            <a:r>
              <a:rPr lang="en-US" dirty="0">
                <a:solidFill>
                  <a:srgbClr val="000099"/>
                </a:solidFill>
                <a:latin typeface="Gill Sans MT" charset="0"/>
              </a:rPr>
              <a:t> mod n = a</a:t>
            </a:r>
            <a:r>
              <a:rPr lang="en-US" baseline="30000" dirty="0">
                <a:solidFill>
                  <a:srgbClr val="000099"/>
                </a:solidFill>
                <a:latin typeface="Gill Sans MT" charset="0"/>
              </a:rPr>
              <a:t>d</a:t>
            </a:r>
            <a:r>
              <a:rPr lang="en-US" dirty="0">
                <a:solidFill>
                  <a:srgbClr val="000099"/>
                </a:solidFill>
                <a:latin typeface="Gill Sans MT" charset="0"/>
              </a:rPr>
              <a:t> mod n</a:t>
            </a:r>
          </a:p>
          <a:p>
            <a:pPr marL="277813" indent="-277813">
              <a:lnSpc>
                <a:spcPct val="90000"/>
              </a:lnSpc>
            </a:pPr>
            <a:r>
              <a:rPr lang="en-US" dirty="0">
                <a:latin typeface="Gill Sans MT" charset="0"/>
              </a:rPr>
              <a:t>example: x=14, n=10, d=2:</a:t>
            </a:r>
            <a:br>
              <a:rPr lang="en-US" dirty="0">
                <a:latin typeface="Gill Sans MT" charset="0"/>
              </a:rPr>
            </a:br>
            <a:r>
              <a:rPr lang="en-US" dirty="0">
                <a:latin typeface="Gill Sans MT" charset="0"/>
              </a:rPr>
              <a:t>  (x mod n)</a:t>
            </a:r>
            <a:r>
              <a:rPr lang="en-US" baseline="30000" dirty="0">
                <a:latin typeface="Gill Sans MT" charset="0"/>
              </a:rPr>
              <a:t>d</a:t>
            </a:r>
            <a:r>
              <a:rPr lang="en-US" dirty="0">
                <a:latin typeface="Gill Sans MT" charset="0"/>
              </a:rPr>
              <a:t> mod n = 4</a:t>
            </a:r>
            <a:r>
              <a:rPr lang="en-US" baseline="30000" dirty="0">
                <a:latin typeface="Gill Sans MT" charset="0"/>
              </a:rPr>
              <a:t>2</a:t>
            </a:r>
            <a:r>
              <a:rPr lang="en-US" dirty="0">
                <a:latin typeface="Gill Sans MT" charset="0"/>
              </a:rPr>
              <a:t> mod 10 = 6</a:t>
            </a:r>
            <a:br>
              <a:rPr lang="en-US" dirty="0">
                <a:latin typeface="Gill Sans MT" charset="0"/>
              </a:rPr>
            </a:br>
            <a:r>
              <a:rPr lang="en-US" dirty="0">
                <a:latin typeface="Gill Sans MT" charset="0"/>
              </a:rPr>
              <a:t>  x</a:t>
            </a:r>
            <a:r>
              <a:rPr lang="en-US" baseline="30000" dirty="0">
                <a:latin typeface="Gill Sans MT" charset="0"/>
              </a:rPr>
              <a:t>d</a:t>
            </a:r>
            <a:r>
              <a:rPr lang="en-US" dirty="0">
                <a:latin typeface="Gill Sans MT" charset="0"/>
              </a:rPr>
              <a:t> = 14</a:t>
            </a:r>
            <a:r>
              <a:rPr lang="en-US" baseline="30000" dirty="0">
                <a:latin typeface="Gill Sans MT" charset="0"/>
              </a:rPr>
              <a:t>2</a:t>
            </a:r>
            <a:r>
              <a:rPr lang="en-US" dirty="0">
                <a:latin typeface="Gill Sans MT" charset="0"/>
              </a:rPr>
              <a:t> = 196   x</a:t>
            </a:r>
            <a:r>
              <a:rPr lang="en-US" baseline="30000" dirty="0">
                <a:latin typeface="Gill Sans MT" charset="0"/>
              </a:rPr>
              <a:t>d</a:t>
            </a:r>
            <a:r>
              <a:rPr lang="en-US" dirty="0">
                <a:latin typeface="Gill Sans MT" charset="0"/>
              </a:rPr>
              <a:t> mod 10  = 6 </a:t>
            </a:r>
          </a:p>
        </p:txBody>
      </p:sp>
      <p:pic>
        <p:nvPicPr>
          <p:cNvPr id="48132" name="Picture 15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500" y="931863"/>
            <a:ext cx="7769225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17</a:t>
            </a:fld>
            <a:endParaRPr lang="en-US" sz="1200" dirty="0">
              <a:latin typeface="Tahoma" charset="0"/>
            </a:endParaRPr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42016030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ill Sans MT" charset="0"/>
              </a:rPr>
              <a:t>RSA: getting ready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277813" indent="-277813"/>
            <a:r>
              <a:rPr lang="en-US" dirty="0">
                <a:latin typeface="Gill Sans MT" charset="0"/>
              </a:rPr>
              <a:t>message: just a bit pattern</a:t>
            </a:r>
          </a:p>
          <a:p>
            <a:pPr marL="277813" indent="-277813"/>
            <a:r>
              <a:rPr lang="en-US" dirty="0">
                <a:latin typeface="Gill Sans MT" charset="0"/>
              </a:rPr>
              <a:t>bit pattern can be uniquely represented by an integer number </a:t>
            </a:r>
          </a:p>
          <a:p>
            <a:pPr marL="277813" indent="-277813"/>
            <a:r>
              <a:rPr lang="en-US" dirty="0">
                <a:latin typeface="Gill Sans MT" charset="0"/>
              </a:rPr>
              <a:t>thus, encrypting a message is equivalent to encrypting a number</a:t>
            </a:r>
          </a:p>
          <a:p>
            <a:pPr>
              <a:buFont typeface="Wingdings" charset="0"/>
              <a:buNone/>
            </a:pPr>
            <a:r>
              <a:rPr lang="en-US" i="1" dirty="0">
                <a:solidFill>
                  <a:srgbClr val="C00000"/>
                </a:solidFill>
                <a:latin typeface="Gill Sans MT" charset="0"/>
              </a:rPr>
              <a:t>example:</a:t>
            </a:r>
          </a:p>
          <a:p>
            <a:r>
              <a:rPr lang="en-US" sz="2400" dirty="0">
                <a:latin typeface="Gill Sans MT" charset="0"/>
              </a:rPr>
              <a:t>m= 10010001 . This message is uniquely represented by the decimal number 145. </a:t>
            </a:r>
          </a:p>
          <a:p>
            <a:r>
              <a:rPr lang="en-US" sz="2400" dirty="0">
                <a:latin typeface="Gill Sans MT" charset="0"/>
              </a:rPr>
              <a:t>to encrypt m, we encrypt the corresponding number, which gives a new number (the ciphertext).</a:t>
            </a:r>
          </a:p>
        </p:txBody>
      </p:sp>
      <p:pic>
        <p:nvPicPr>
          <p:cNvPr id="49156" name="Picture 22" descr="underline_base"/>
          <p:cNvPicPr>
            <a:picLocks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013" y="1044575"/>
            <a:ext cx="45704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18</a:t>
            </a:fld>
            <a:endParaRPr lang="en-US" sz="1200" dirty="0">
              <a:latin typeface="Tahoma" charset="0"/>
            </a:endParaRPr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7531959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414338" y="98425"/>
            <a:ext cx="7772400" cy="1143000"/>
          </a:xfrm>
        </p:spPr>
        <p:txBody>
          <a:bodyPr/>
          <a:lstStyle/>
          <a:p>
            <a:r>
              <a:rPr lang="en-US" sz="3600" dirty="0">
                <a:latin typeface="Gill Sans MT" charset="0"/>
              </a:rPr>
              <a:t>RSA: Creating public/private key pair</a:t>
            </a:r>
          </a:p>
        </p:txBody>
      </p:sp>
      <p:sp>
        <p:nvSpPr>
          <p:cNvPr id="50179" name="Text Box 3"/>
          <p:cNvSpPr txBox="1">
            <a:spLocks noChangeArrowheads="1"/>
          </p:cNvSpPr>
          <p:nvPr/>
        </p:nvSpPr>
        <p:spPr bwMode="auto">
          <a:xfrm>
            <a:off x="625475" y="1400175"/>
            <a:ext cx="6080125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2800" dirty="0">
                <a:solidFill>
                  <a:srgbClr val="000099"/>
                </a:solidFill>
                <a:latin typeface="Gill Sans MT" charset="0"/>
              </a:rPr>
              <a:t>1.</a:t>
            </a:r>
            <a:r>
              <a:rPr lang="en-US" sz="2800" dirty="0">
                <a:latin typeface="Gill Sans MT" charset="0"/>
              </a:rPr>
              <a:t> choose two large prime numbers </a:t>
            </a:r>
            <a:r>
              <a:rPr lang="en-US" sz="2800" i="1" dirty="0">
                <a:latin typeface="Gill Sans MT" charset="0"/>
              </a:rPr>
              <a:t>p, q.</a:t>
            </a:r>
            <a:r>
              <a:rPr lang="en-US" sz="2800" dirty="0">
                <a:latin typeface="Gill Sans MT" charset="0"/>
              </a:rPr>
              <a:t> </a:t>
            </a:r>
          </a:p>
          <a:p>
            <a:r>
              <a:rPr lang="en-US" sz="2800" dirty="0">
                <a:latin typeface="Gill Sans MT" charset="0"/>
              </a:rPr>
              <a:t>   (e.g., 1024 bits each)</a:t>
            </a:r>
          </a:p>
        </p:txBody>
      </p:sp>
      <p:sp>
        <p:nvSpPr>
          <p:cNvPr id="50180" name="Text Box 4"/>
          <p:cNvSpPr txBox="1">
            <a:spLocks noChangeArrowheads="1"/>
          </p:cNvSpPr>
          <p:nvPr/>
        </p:nvSpPr>
        <p:spPr bwMode="auto">
          <a:xfrm>
            <a:off x="611188" y="2386013"/>
            <a:ext cx="49450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2800" dirty="0">
                <a:solidFill>
                  <a:srgbClr val="000099"/>
                </a:solidFill>
                <a:latin typeface="Gill Sans MT" charset="0"/>
              </a:rPr>
              <a:t>2.</a:t>
            </a:r>
            <a:r>
              <a:rPr lang="en-US" sz="2800" dirty="0">
                <a:latin typeface="Gill Sans MT" charset="0"/>
              </a:rPr>
              <a:t> compute </a:t>
            </a:r>
            <a:r>
              <a:rPr lang="en-US" sz="2800" i="1" dirty="0">
                <a:solidFill>
                  <a:srgbClr val="C00000"/>
                </a:solidFill>
                <a:latin typeface="Gill Sans MT" charset="0"/>
              </a:rPr>
              <a:t>n </a:t>
            </a:r>
            <a:r>
              <a:rPr lang="en-US" sz="2800" i="1" dirty="0">
                <a:latin typeface="Gill Sans MT" charset="0"/>
              </a:rPr>
              <a:t>= pq,  z = (p-1)(q-1</a:t>
            </a:r>
            <a:r>
              <a:rPr lang="en-US" sz="2800" dirty="0">
                <a:latin typeface="Gill Sans MT" charset="0"/>
              </a:rPr>
              <a:t>)</a:t>
            </a:r>
          </a:p>
        </p:txBody>
      </p:sp>
      <p:sp>
        <p:nvSpPr>
          <p:cNvPr id="50181" name="Text Box 5"/>
          <p:cNvSpPr txBox="1">
            <a:spLocks noChangeArrowheads="1"/>
          </p:cNvSpPr>
          <p:nvPr/>
        </p:nvSpPr>
        <p:spPr bwMode="auto">
          <a:xfrm>
            <a:off x="609600" y="3055938"/>
            <a:ext cx="7693025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2800" dirty="0">
                <a:solidFill>
                  <a:srgbClr val="000099"/>
                </a:solidFill>
                <a:latin typeface="Gill Sans MT" charset="0"/>
              </a:rPr>
              <a:t>3.</a:t>
            </a:r>
            <a:r>
              <a:rPr lang="en-US" sz="2800" dirty="0">
                <a:latin typeface="Gill Sans MT" charset="0"/>
              </a:rPr>
              <a:t> choose </a:t>
            </a:r>
            <a:r>
              <a:rPr lang="en-US" sz="2800" i="1" dirty="0">
                <a:solidFill>
                  <a:srgbClr val="C00000"/>
                </a:solidFill>
                <a:latin typeface="Gill Sans MT" charset="0"/>
              </a:rPr>
              <a:t>e</a:t>
            </a:r>
            <a:r>
              <a:rPr lang="en-US" sz="2800" i="1" dirty="0">
                <a:latin typeface="Gill Sans MT" charset="0"/>
              </a:rPr>
              <a:t> (</a:t>
            </a:r>
            <a:r>
              <a:rPr lang="en-US" sz="2800" dirty="0">
                <a:latin typeface="Gill Sans MT" charset="0"/>
              </a:rPr>
              <a:t>with</a:t>
            </a:r>
            <a:r>
              <a:rPr lang="en-US" sz="2800" i="1" dirty="0">
                <a:latin typeface="Gill Sans MT" charset="0"/>
              </a:rPr>
              <a:t> e&lt;n)</a:t>
            </a:r>
            <a:r>
              <a:rPr lang="en-US" sz="2800" dirty="0">
                <a:latin typeface="Gill Sans MT" charset="0"/>
              </a:rPr>
              <a:t> that has no common factors</a:t>
            </a:r>
          </a:p>
          <a:p>
            <a:r>
              <a:rPr lang="en-US" sz="2800" dirty="0">
                <a:latin typeface="Gill Sans MT" charset="0"/>
              </a:rPr>
              <a:t>    with z (</a:t>
            </a:r>
            <a:r>
              <a:rPr lang="en-US" sz="2800" i="1" dirty="0">
                <a:latin typeface="Gill Sans MT" charset="0"/>
              </a:rPr>
              <a:t>e, z</a:t>
            </a:r>
            <a:r>
              <a:rPr lang="en-US" sz="2800" dirty="0">
                <a:latin typeface="Gill Sans MT" charset="0"/>
              </a:rPr>
              <a:t> are </a:t>
            </a:r>
            <a:r>
              <a:rPr lang="ja-JP" altLang="en-US" sz="2800">
                <a:latin typeface="Gill Sans MT" charset="0"/>
              </a:rPr>
              <a:t>“</a:t>
            </a:r>
            <a:r>
              <a:rPr lang="en-US" altLang="ja-JP" sz="2800" dirty="0">
                <a:latin typeface="Gill Sans MT" charset="0"/>
              </a:rPr>
              <a:t>relatively prime</a:t>
            </a:r>
            <a:r>
              <a:rPr lang="ja-JP" altLang="en-US" sz="2800">
                <a:latin typeface="Gill Sans MT" charset="0"/>
              </a:rPr>
              <a:t>”</a:t>
            </a:r>
            <a:r>
              <a:rPr lang="en-US" altLang="ja-JP" sz="2800" dirty="0">
                <a:latin typeface="Gill Sans MT" charset="0"/>
              </a:rPr>
              <a:t>).</a:t>
            </a:r>
            <a:endParaRPr lang="en-US" sz="2800" dirty="0">
              <a:latin typeface="Gill Sans MT" charset="0"/>
            </a:endParaRPr>
          </a:p>
        </p:txBody>
      </p:sp>
      <p:sp>
        <p:nvSpPr>
          <p:cNvPr id="50182" name="Text Box 6"/>
          <p:cNvSpPr txBox="1">
            <a:spLocks noChangeArrowheads="1"/>
          </p:cNvSpPr>
          <p:nvPr/>
        </p:nvSpPr>
        <p:spPr bwMode="auto">
          <a:xfrm>
            <a:off x="625475" y="4044950"/>
            <a:ext cx="7591425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2800" dirty="0">
                <a:solidFill>
                  <a:srgbClr val="000099"/>
                </a:solidFill>
                <a:latin typeface="Gill Sans MT" charset="0"/>
              </a:rPr>
              <a:t>4.</a:t>
            </a:r>
            <a:r>
              <a:rPr lang="en-US" sz="2800" dirty="0">
                <a:latin typeface="Gill Sans MT" charset="0"/>
              </a:rPr>
              <a:t> choose </a:t>
            </a:r>
            <a:r>
              <a:rPr lang="en-US" sz="2800" i="1" dirty="0">
                <a:solidFill>
                  <a:srgbClr val="C00000"/>
                </a:solidFill>
                <a:latin typeface="Gill Sans MT" charset="0"/>
              </a:rPr>
              <a:t>d</a:t>
            </a:r>
            <a:r>
              <a:rPr lang="en-US" sz="2800" dirty="0">
                <a:latin typeface="Gill Sans MT" charset="0"/>
              </a:rPr>
              <a:t> such that </a:t>
            </a:r>
            <a:r>
              <a:rPr lang="en-US" sz="2800" i="1" dirty="0">
                <a:latin typeface="Gill Sans MT" charset="0"/>
              </a:rPr>
              <a:t>ed-1</a:t>
            </a:r>
            <a:r>
              <a:rPr lang="en-US" sz="2800" dirty="0">
                <a:latin typeface="Gill Sans MT" charset="0"/>
              </a:rPr>
              <a:t> is  exactly divisible by </a:t>
            </a:r>
            <a:r>
              <a:rPr lang="en-US" sz="2800" i="1" dirty="0">
                <a:latin typeface="Gill Sans MT" charset="0"/>
              </a:rPr>
              <a:t>z</a:t>
            </a:r>
            <a:r>
              <a:rPr lang="en-US" sz="2800" dirty="0">
                <a:latin typeface="Gill Sans MT" charset="0"/>
              </a:rPr>
              <a:t>.</a:t>
            </a:r>
          </a:p>
          <a:p>
            <a:r>
              <a:rPr lang="en-US" sz="2800" dirty="0">
                <a:latin typeface="Gill Sans MT" charset="0"/>
              </a:rPr>
              <a:t>    (in other words: </a:t>
            </a:r>
            <a:r>
              <a:rPr lang="en-US" sz="2800" i="1" dirty="0">
                <a:latin typeface="Gill Sans MT" charset="0"/>
              </a:rPr>
              <a:t>ed</a:t>
            </a:r>
            <a:r>
              <a:rPr lang="en-US" sz="2800" dirty="0">
                <a:latin typeface="Gill Sans MT" charset="0"/>
              </a:rPr>
              <a:t> mod </a:t>
            </a:r>
            <a:r>
              <a:rPr lang="en-US" sz="2800" i="1" dirty="0">
                <a:latin typeface="Gill Sans MT" charset="0"/>
              </a:rPr>
              <a:t>z  = 1 </a:t>
            </a:r>
            <a:r>
              <a:rPr lang="en-US" sz="2800" dirty="0">
                <a:latin typeface="Gill Sans MT" charset="0"/>
              </a:rPr>
              <a:t>).</a:t>
            </a:r>
          </a:p>
        </p:txBody>
      </p:sp>
      <p:sp>
        <p:nvSpPr>
          <p:cNvPr id="50183" name="Text Box 7"/>
          <p:cNvSpPr txBox="1">
            <a:spLocks noChangeArrowheads="1"/>
          </p:cNvSpPr>
          <p:nvPr/>
        </p:nvSpPr>
        <p:spPr bwMode="auto">
          <a:xfrm>
            <a:off x="636588" y="5156200"/>
            <a:ext cx="579714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2800" dirty="0">
                <a:solidFill>
                  <a:srgbClr val="000099"/>
                </a:solidFill>
                <a:latin typeface="Gill Sans MT" charset="0"/>
              </a:rPr>
              <a:t>5.</a:t>
            </a:r>
            <a:r>
              <a:rPr lang="en-US" sz="2800" dirty="0">
                <a:latin typeface="Gill Sans MT" charset="0"/>
              </a:rPr>
              <a:t> </a:t>
            </a:r>
            <a:r>
              <a:rPr lang="en-US" sz="2800" i="1" dirty="0">
                <a:latin typeface="Gill Sans MT" charset="0"/>
              </a:rPr>
              <a:t>public</a:t>
            </a:r>
            <a:r>
              <a:rPr lang="en-US" sz="2800" dirty="0">
                <a:latin typeface="Gill Sans MT" charset="0"/>
              </a:rPr>
              <a:t> key is </a:t>
            </a:r>
            <a:r>
              <a:rPr lang="en-US" sz="2800" i="1" dirty="0">
                <a:latin typeface="Gill Sans MT" charset="0"/>
              </a:rPr>
              <a:t>(</a:t>
            </a:r>
            <a:r>
              <a:rPr lang="en-US" sz="2800" i="1" dirty="0">
                <a:solidFill>
                  <a:srgbClr val="C00000"/>
                </a:solidFill>
                <a:latin typeface="Gill Sans MT" charset="0"/>
              </a:rPr>
              <a:t>n,e</a:t>
            </a:r>
            <a:r>
              <a:rPr lang="en-US" sz="2800" i="1" dirty="0">
                <a:latin typeface="Gill Sans MT" charset="0"/>
              </a:rPr>
              <a:t>).</a:t>
            </a:r>
            <a:r>
              <a:rPr lang="en-US" sz="2800" dirty="0">
                <a:latin typeface="Gill Sans MT" charset="0"/>
              </a:rPr>
              <a:t>  </a:t>
            </a:r>
            <a:r>
              <a:rPr lang="en-US" sz="2800" i="1" dirty="0">
                <a:latin typeface="Gill Sans MT" charset="0"/>
              </a:rPr>
              <a:t>private</a:t>
            </a:r>
            <a:r>
              <a:rPr lang="en-US" sz="2800" dirty="0">
                <a:latin typeface="Gill Sans MT" charset="0"/>
              </a:rPr>
              <a:t> key is </a:t>
            </a:r>
            <a:r>
              <a:rPr lang="en-US" sz="2800" i="1" dirty="0">
                <a:latin typeface="Gill Sans MT" charset="0"/>
              </a:rPr>
              <a:t>(</a:t>
            </a:r>
            <a:r>
              <a:rPr lang="en-US" sz="2800" i="1" dirty="0">
                <a:solidFill>
                  <a:srgbClr val="C00000"/>
                </a:solidFill>
                <a:latin typeface="Gill Sans MT" charset="0"/>
              </a:rPr>
              <a:t>n,d</a:t>
            </a:r>
            <a:r>
              <a:rPr lang="en-US" sz="2800" i="1" dirty="0">
                <a:latin typeface="Gill Sans MT" charset="0"/>
              </a:rPr>
              <a:t>).</a:t>
            </a:r>
          </a:p>
        </p:txBody>
      </p:sp>
      <p:grpSp>
        <p:nvGrpSpPr>
          <p:cNvPr id="50184" name="Group 8"/>
          <p:cNvGrpSpPr>
            <a:grpSpLocks/>
          </p:cNvGrpSpPr>
          <p:nvPr/>
        </p:nvGrpSpPr>
        <p:grpSpPr bwMode="auto">
          <a:xfrm>
            <a:off x="2938463" y="5684838"/>
            <a:ext cx="612775" cy="708025"/>
            <a:chOff x="1748" y="3628"/>
            <a:chExt cx="386" cy="446"/>
          </a:xfrm>
        </p:grpSpPr>
        <p:sp>
          <p:nvSpPr>
            <p:cNvPr id="50192" name="Text Box 9"/>
            <p:cNvSpPr txBox="1">
              <a:spLocks noChangeArrowheads="1"/>
            </p:cNvSpPr>
            <p:nvPr/>
          </p:nvSpPr>
          <p:spPr bwMode="auto">
            <a:xfrm>
              <a:off x="1748" y="3700"/>
              <a:ext cx="29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K</a:t>
              </a:r>
              <a:r>
                <a:rPr lang="en-US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 </a:t>
              </a:r>
            </a:p>
          </p:txBody>
        </p:sp>
        <p:sp>
          <p:nvSpPr>
            <p:cNvPr id="50193" name="Text Box 10"/>
            <p:cNvSpPr txBox="1">
              <a:spLocks noChangeArrowheads="1"/>
            </p:cNvSpPr>
            <p:nvPr/>
          </p:nvSpPr>
          <p:spPr bwMode="auto">
            <a:xfrm>
              <a:off x="1910" y="3822"/>
              <a:ext cx="22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B</a:t>
              </a:r>
            </a:p>
          </p:txBody>
        </p:sp>
        <p:sp>
          <p:nvSpPr>
            <p:cNvPr id="50194" name="Text Box 11"/>
            <p:cNvSpPr txBox="1">
              <a:spLocks noChangeArrowheads="1"/>
            </p:cNvSpPr>
            <p:nvPr/>
          </p:nvSpPr>
          <p:spPr bwMode="auto">
            <a:xfrm>
              <a:off x="1909" y="3628"/>
              <a:ext cx="21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+</a:t>
              </a:r>
            </a:p>
          </p:txBody>
        </p:sp>
      </p:grpSp>
      <p:grpSp>
        <p:nvGrpSpPr>
          <p:cNvPr id="50185" name="Group 12"/>
          <p:cNvGrpSpPr>
            <a:grpSpLocks/>
          </p:cNvGrpSpPr>
          <p:nvPr/>
        </p:nvGrpSpPr>
        <p:grpSpPr bwMode="auto">
          <a:xfrm>
            <a:off x="5705475" y="5676900"/>
            <a:ext cx="612775" cy="708025"/>
            <a:chOff x="1748" y="3628"/>
            <a:chExt cx="386" cy="446"/>
          </a:xfrm>
        </p:grpSpPr>
        <p:sp>
          <p:nvSpPr>
            <p:cNvPr id="50189" name="Text Box 13"/>
            <p:cNvSpPr txBox="1">
              <a:spLocks noChangeArrowheads="1"/>
            </p:cNvSpPr>
            <p:nvPr/>
          </p:nvSpPr>
          <p:spPr bwMode="auto">
            <a:xfrm>
              <a:off x="1748" y="3700"/>
              <a:ext cx="29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K</a:t>
              </a:r>
              <a:r>
                <a:rPr lang="en-US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 </a:t>
              </a:r>
            </a:p>
          </p:txBody>
        </p:sp>
        <p:sp>
          <p:nvSpPr>
            <p:cNvPr id="50190" name="Text Box 14"/>
            <p:cNvSpPr txBox="1">
              <a:spLocks noChangeArrowheads="1"/>
            </p:cNvSpPr>
            <p:nvPr/>
          </p:nvSpPr>
          <p:spPr bwMode="auto">
            <a:xfrm>
              <a:off x="1910" y="3822"/>
              <a:ext cx="22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B</a:t>
              </a:r>
            </a:p>
          </p:txBody>
        </p:sp>
        <p:sp>
          <p:nvSpPr>
            <p:cNvPr id="50191" name="Text Box 15"/>
            <p:cNvSpPr txBox="1">
              <a:spLocks noChangeArrowheads="1"/>
            </p:cNvSpPr>
            <p:nvPr/>
          </p:nvSpPr>
          <p:spPr bwMode="auto">
            <a:xfrm>
              <a:off x="1924" y="3628"/>
              <a:ext cx="17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-</a:t>
              </a:r>
            </a:p>
          </p:txBody>
        </p:sp>
      </p:grpSp>
      <p:sp>
        <p:nvSpPr>
          <p:cNvPr id="50186" name="AutoShape 16"/>
          <p:cNvSpPr>
            <a:spLocks/>
          </p:cNvSpPr>
          <p:nvPr/>
        </p:nvSpPr>
        <p:spPr bwMode="auto">
          <a:xfrm rot="5400000">
            <a:off x="3064669" y="5347494"/>
            <a:ext cx="165100" cy="760412"/>
          </a:xfrm>
          <a:prstGeom prst="rightBrace">
            <a:avLst>
              <a:gd name="adj1" fmla="val 38381"/>
              <a:gd name="adj2" fmla="val 50000"/>
            </a:avLst>
          </a:prstGeom>
          <a:noFill/>
          <a:ln w="28575">
            <a:solidFill>
              <a:srgbClr val="C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50187" name="AutoShape 17"/>
          <p:cNvSpPr>
            <a:spLocks/>
          </p:cNvSpPr>
          <p:nvPr/>
        </p:nvSpPr>
        <p:spPr bwMode="auto">
          <a:xfrm rot="5400000">
            <a:off x="5844382" y="5317331"/>
            <a:ext cx="165100" cy="760413"/>
          </a:xfrm>
          <a:prstGeom prst="rightBrace">
            <a:avLst>
              <a:gd name="adj1" fmla="val 38381"/>
              <a:gd name="adj2" fmla="val 50000"/>
            </a:avLst>
          </a:prstGeom>
          <a:noFill/>
          <a:ln w="28575">
            <a:solidFill>
              <a:srgbClr val="C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pic>
        <p:nvPicPr>
          <p:cNvPr id="50188" name="Picture 16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879475"/>
            <a:ext cx="73136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19</a:t>
            </a:fld>
            <a:endParaRPr lang="en-US" sz="1200" dirty="0">
              <a:latin typeface="Tahoma" charset="0"/>
            </a:endParaRPr>
          </a:p>
        </p:txBody>
      </p:sp>
      <p:sp>
        <p:nvSpPr>
          <p:cNvPr id="21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29214103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ill Sans MT" charset="0"/>
              </a:rPr>
              <a:t>RSA: encryption, decryption</a:t>
            </a:r>
          </a:p>
        </p:txBody>
      </p:sp>
      <p:sp>
        <p:nvSpPr>
          <p:cNvPr id="51203" name="Text Box 3"/>
          <p:cNvSpPr txBox="1">
            <a:spLocks noChangeArrowheads="1"/>
          </p:cNvSpPr>
          <p:nvPr/>
        </p:nvSpPr>
        <p:spPr bwMode="auto">
          <a:xfrm>
            <a:off x="612775" y="1500188"/>
            <a:ext cx="6324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2800" dirty="0">
                <a:solidFill>
                  <a:srgbClr val="000099"/>
                </a:solidFill>
                <a:latin typeface="Gill Sans MT" charset="0"/>
              </a:rPr>
              <a:t>0.</a:t>
            </a:r>
            <a:r>
              <a:rPr lang="en-US" sz="2800" dirty="0">
                <a:latin typeface="Gill Sans MT" charset="0"/>
              </a:rPr>
              <a:t>  given (</a:t>
            </a:r>
            <a:r>
              <a:rPr lang="en-US" sz="2800" i="1" dirty="0">
                <a:solidFill>
                  <a:srgbClr val="C00000"/>
                </a:solidFill>
                <a:latin typeface="Gill Sans MT" charset="0"/>
              </a:rPr>
              <a:t>n,e</a:t>
            </a:r>
            <a:r>
              <a:rPr lang="en-US" sz="2800" dirty="0">
                <a:latin typeface="Gill Sans MT" charset="0"/>
              </a:rPr>
              <a:t>) and (</a:t>
            </a:r>
            <a:r>
              <a:rPr lang="en-US" sz="2800" i="1" dirty="0">
                <a:solidFill>
                  <a:srgbClr val="C00000"/>
                </a:solidFill>
                <a:latin typeface="Gill Sans MT" charset="0"/>
              </a:rPr>
              <a:t>n,d</a:t>
            </a:r>
            <a:r>
              <a:rPr lang="en-US" sz="2800" dirty="0">
                <a:latin typeface="Gill Sans MT" charset="0"/>
              </a:rPr>
              <a:t>) as computed above</a:t>
            </a:r>
          </a:p>
        </p:txBody>
      </p:sp>
      <p:grpSp>
        <p:nvGrpSpPr>
          <p:cNvPr id="51204" name="Group 4"/>
          <p:cNvGrpSpPr>
            <a:grpSpLocks/>
          </p:cNvGrpSpPr>
          <p:nvPr/>
        </p:nvGrpSpPr>
        <p:grpSpPr bwMode="auto">
          <a:xfrm>
            <a:off x="669925" y="2179638"/>
            <a:ext cx="6024563" cy="1031875"/>
            <a:chOff x="407" y="1521"/>
            <a:chExt cx="3795" cy="650"/>
          </a:xfrm>
        </p:grpSpPr>
        <p:sp>
          <p:nvSpPr>
            <p:cNvPr id="51219" name="Text Box 5"/>
            <p:cNvSpPr txBox="1">
              <a:spLocks noChangeArrowheads="1"/>
            </p:cNvSpPr>
            <p:nvPr/>
          </p:nvSpPr>
          <p:spPr bwMode="auto">
            <a:xfrm>
              <a:off x="407" y="1521"/>
              <a:ext cx="3667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2800" dirty="0">
                  <a:solidFill>
                    <a:srgbClr val="000099"/>
                  </a:solidFill>
                  <a:latin typeface="Gill Sans MT" charset="0"/>
                </a:rPr>
                <a:t>1.</a:t>
              </a:r>
              <a:r>
                <a:rPr lang="en-US" sz="2800" dirty="0">
                  <a:latin typeface="Gill Sans MT" charset="0"/>
                </a:rPr>
                <a:t> to encrypt message </a:t>
              </a:r>
              <a:r>
                <a:rPr lang="en-US" sz="2800" i="1" dirty="0">
                  <a:latin typeface="Gill Sans MT" charset="0"/>
                </a:rPr>
                <a:t>m (&lt;n)</a:t>
              </a:r>
              <a:r>
                <a:rPr lang="en-US" sz="2800" dirty="0">
                  <a:latin typeface="Gill Sans MT" charset="0"/>
                </a:rPr>
                <a:t>, compute</a:t>
              </a:r>
            </a:p>
          </p:txBody>
        </p:sp>
        <p:grpSp>
          <p:nvGrpSpPr>
            <p:cNvPr id="51220" name="Group 6"/>
            <p:cNvGrpSpPr>
              <a:grpSpLocks/>
            </p:cNvGrpSpPr>
            <p:nvPr/>
          </p:nvGrpSpPr>
          <p:grpSpPr bwMode="auto">
            <a:xfrm>
              <a:off x="563" y="1768"/>
              <a:ext cx="1451" cy="403"/>
              <a:chOff x="1688" y="1812"/>
              <a:chExt cx="1451" cy="403"/>
            </a:xfrm>
          </p:grpSpPr>
          <p:sp>
            <p:nvSpPr>
              <p:cNvPr id="51224" name="Text Box 7"/>
              <p:cNvSpPr txBox="1">
                <a:spLocks noChangeArrowheads="1"/>
              </p:cNvSpPr>
              <p:nvPr/>
            </p:nvSpPr>
            <p:spPr bwMode="auto">
              <a:xfrm>
                <a:off x="1688" y="1885"/>
                <a:ext cx="1451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800" i="1" dirty="0">
                    <a:solidFill>
                      <a:srgbClr val="C00000"/>
                    </a:solidFill>
                    <a:latin typeface="Gill Sans MT" charset="0"/>
                  </a:rPr>
                  <a:t>c = m   </a:t>
                </a:r>
                <a:r>
                  <a:rPr lang="en-US" sz="2800" dirty="0">
                    <a:solidFill>
                      <a:srgbClr val="C00000"/>
                    </a:solidFill>
                    <a:latin typeface="Gill Sans MT" charset="0"/>
                  </a:rPr>
                  <a:t>mod</a:t>
                </a:r>
                <a:r>
                  <a:rPr lang="en-US" sz="2800" i="1" dirty="0">
                    <a:solidFill>
                      <a:srgbClr val="C00000"/>
                    </a:solidFill>
                    <a:latin typeface="Gill Sans MT" charset="0"/>
                  </a:rPr>
                  <a:t>  n</a:t>
                </a:r>
              </a:p>
            </p:txBody>
          </p:sp>
          <p:sp>
            <p:nvSpPr>
              <p:cNvPr id="51225" name="Text Box 8"/>
              <p:cNvSpPr txBox="1">
                <a:spLocks noChangeArrowheads="1"/>
              </p:cNvSpPr>
              <p:nvPr/>
            </p:nvSpPr>
            <p:spPr bwMode="auto">
              <a:xfrm>
                <a:off x="2227" y="1812"/>
                <a:ext cx="215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800" i="1" dirty="0">
                    <a:solidFill>
                      <a:srgbClr val="C00000"/>
                    </a:solidFill>
                    <a:latin typeface="Gill Sans MT" charset="0"/>
                  </a:rPr>
                  <a:t>e</a:t>
                </a:r>
              </a:p>
            </p:txBody>
          </p:sp>
        </p:grpSp>
        <p:grpSp>
          <p:nvGrpSpPr>
            <p:cNvPr id="51221" name="Group 9"/>
            <p:cNvGrpSpPr>
              <a:grpSpLocks/>
            </p:cNvGrpSpPr>
            <p:nvPr/>
          </p:nvGrpSpPr>
          <p:grpSpPr bwMode="auto">
            <a:xfrm>
              <a:off x="1966" y="1724"/>
              <a:ext cx="2236" cy="439"/>
              <a:chOff x="777" y="2538"/>
              <a:chExt cx="2236" cy="439"/>
            </a:xfrm>
          </p:grpSpPr>
          <p:sp>
            <p:nvSpPr>
              <p:cNvPr id="51222" name="Text Box 10"/>
              <p:cNvSpPr txBox="1">
                <a:spLocks noChangeArrowheads="1"/>
              </p:cNvSpPr>
              <p:nvPr/>
            </p:nvSpPr>
            <p:spPr bwMode="auto">
              <a:xfrm>
                <a:off x="777" y="2647"/>
                <a:ext cx="116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endParaRPr lang="en-US" sz="2800" dirty="0">
                  <a:latin typeface="Gill Sans MT" charset="0"/>
                </a:endParaRPr>
              </a:p>
            </p:txBody>
          </p:sp>
          <p:sp>
            <p:nvSpPr>
              <p:cNvPr id="51223" name="Text Box 11"/>
              <p:cNvSpPr txBox="1">
                <a:spLocks noChangeArrowheads="1"/>
              </p:cNvSpPr>
              <p:nvPr/>
            </p:nvSpPr>
            <p:spPr bwMode="auto">
              <a:xfrm>
                <a:off x="2897" y="2538"/>
                <a:ext cx="116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endParaRPr lang="en-US" sz="2800" i="1" dirty="0">
                  <a:solidFill>
                    <a:srgbClr val="FF0000"/>
                  </a:solidFill>
                  <a:latin typeface="Gill Sans MT" charset="0"/>
                </a:endParaRPr>
              </a:p>
            </p:txBody>
          </p:sp>
        </p:grpSp>
      </p:grpSp>
      <p:sp>
        <p:nvSpPr>
          <p:cNvPr id="51205" name="Text Box 12"/>
          <p:cNvSpPr txBox="1">
            <a:spLocks noChangeArrowheads="1"/>
          </p:cNvSpPr>
          <p:nvPr/>
        </p:nvSpPr>
        <p:spPr bwMode="auto">
          <a:xfrm>
            <a:off x="669925" y="3449638"/>
            <a:ext cx="67119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2800" dirty="0">
                <a:solidFill>
                  <a:srgbClr val="000099"/>
                </a:solidFill>
                <a:latin typeface="Gill Sans MT" charset="0"/>
              </a:rPr>
              <a:t>2.</a:t>
            </a:r>
            <a:r>
              <a:rPr lang="en-US" sz="2800" dirty="0">
                <a:latin typeface="Gill Sans MT" charset="0"/>
              </a:rPr>
              <a:t> to decrypt received bit pattern, </a:t>
            </a:r>
            <a:r>
              <a:rPr lang="en-US" sz="2800" i="1" dirty="0">
                <a:latin typeface="Gill Sans MT" charset="0"/>
              </a:rPr>
              <a:t>c</a:t>
            </a:r>
            <a:r>
              <a:rPr lang="en-US" sz="2800" dirty="0">
                <a:latin typeface="Gill Sans MT" charset="0"/>
              </a:rPr>
              <a:t>, compute</a:t>
            </a:r>
          </a:p>
        </p:txBody>
      </p:sp>
      <p:grpSp>
        <p:nvGrpSpPr>
          <p:cNvPr id="51206" name="Group 13"/>
          <p:cNvGrpSpPr>
            <a:grpSpLocks/>
          </p:cNvGrpSpPr>
          <p:nvPr/>
        </p:nvGrpSpPr>
        <p:grpSpPr bwMode="auto">
          <a:xfrm>
            <a:off x="917575" y="3841750"/>
            <a:ext cx="2303463" cy="639763"/>
            <a:chOff x="1688" y="1812"/>
            <a:chExt cx="1451" cy="403"/>
          </a:xfrm>
        </p:grpSpPr>
        <p:sp>
          <p:nvSpPr>
            <p:cNvPr id="51217" name="Text Box 14"/>
            <p:cNvSpPr txBox="1">
              <a:spLocks noChangeArrowheads="1"/>
            </p:cNvSpPr>
            <p:nvPr/>
          </p:nvSpPr>
          <p:spPr bwMode="auto">
            <a:xfrm>
              <a:off x="1688" y="1885"/>
              <a:ext cx="1451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800" i="1" dirty="0">
                  <a:solidFill>
                    <a:srgbClr val="C00000"/>
                  </a:solidFill>
                  <a:latin typeface="Gill Sans MT" charset="0"/>
                </a:rPr>
                <a:t>m = c   </a:t>
              </a:r>
              <a:r>
                <a:rPr lang="en-US" sz="2800" dirty="0">
                  <a:solidFill>
                    <a:srgbClr val="C00000"/>
                  </a:solidFill>
                  <a:latin typeface="Gill Sans MT" charset="0"/>
                </a:rPr>
                <a:t>mod</a:t>
              </a:r>
              <a:r>
                <a:rPr lang="en-US" sz="2800" i="1" dirty="0">
                  <a:solidFill>
                    <a:srgbClr val="C00000"/>
                  </a:solidFill>
                  <a:latin typeface="Gill Sans MT" charset="0"/>
                </a:rPr>
                <a:t>  n</a:t>
              </a:r>
            </a:p>
          </p:txBody>
        </p:sp>
        <p:sp>
          <p:nvSpPr>
            <p:cNvPr id="51218" name="Text Box 15"/>
            <p:cNvSpPr txBox="1">
              <a:spLocks noChangeArrowheads="1"/>
            </p:cNvSpPr>
            <p:nvPr/>
          </p:nvSpPr>
          <p:spPr bwMode="auto">
            <a:xfrm>
              <a:off x="2223" y="1812"/>
              <a:ext cx="222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800" i="1" dirty="0">
                  <a:solidFill>
                    <a:srgbClr val="C00000"/>
                  </a:solidFill>
                  <a:latin typeface="Gill Sans MT" charset="0"/>
                </a:rPr>
                <a:t>d</a:t>
              </a:r>
            </a:p>
          </p:txBody>
        </p:sp>
      </p:grpSp>
      <p:grpSp>
        <p:nvGrpSpPr>
          <p:cNvPr id="51207" name="Group 16"/>
          <p:cNvGrpSpPr>
            <a:grpSpLocks/>
          </p:cNvGrpSpPr>
          <p:nvPr/>
        </p:nvGrpSpPr>
        <p:grpSpPr bwMode="auto">
          <a:xfrm>
            <a:off x="2965450" y="4922838"/>
            <a:ext cx="3935413" cy="619125"/>
            <a:chOff x="868" y="3287"/>
            <a:chExt cx="2479" cy="390"/>
          </a:xfrm>
        </p:grpSpPr>
        <p:sp>
          <p:nvSpPr>
            <p:cNvPr id="51213" name="Text Box 17"/>
            <p:cNvSpPr txBox="1">
              <a:spLocks noChangeArrowheads="1"/>
            </p:cNvSpPr>
            <p:nvPr/>
          </p:nvSpPr>
          <p:spPr bwMode="auto">
            <a:xfrm>
              <a:off x="868" y="3388"/>
              <a:ext cx="171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i="1" dirty="0">
                  <a:latin typeface="Arial" charset="0"/>
                  <a:cs typeface="Arial" charset="0"/>
                </a:rPr>
                <a:t>m  =  (m   </a:t>
              </a:r>
              <a:r>
                <a:rPr lang="en-US" sz="2400" dirty="0">
                  <a:latin typeface="Arial" charset="0"/>
                  <a:cs typeface="Arial" charset="0"/>
                </a:rPr>
                <a:t>mod</a:t>
              </a:r>
              <a:r>
                <a:rPr lang="en-US" sz="2400" i="1" dirty="0">
                  <a:latin typeface="Arial" charset="0"/>
                  <a:cs typeface="Arial" charset="0"/>
                </a:rPr>
                <a:t>  n)</a:t>
              </a:r>
            </a:p>
          </p:txBody>
        </p:sp>
        <p:sp>
          <p:nvSpPr>
            <p:cNvPr id="51214" name="Text Box 18"/>
            <p:cNvSpPr txBox="1">
              <a:spLocks noChangeArrowheads="1"/>
            </p:cNvSpPr>
            <p:nvPr/>
          </p:nvSpPr>
          <p:spPr bwMode="auto">
            <a:xfrm>
              <a:off x="1615" y="3308"/>
              <a:ext cx="22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i="1" dirty="0">
                  <a:latin typeface="Arial" charset="0"/>
                  <a:cs typeface="Arial" charset="0"/>
                </a:rPr>
                <a:t>e</a:t>
              </a:r>
            </a:p>
          </p:txBody>
        </p:sp>
        <p:sp>
          <p:nvSpPr>
            <p:cNvPr id="51215" name="Text Box 19"/>
            <p:cNvSpPr txBox="1">
              <a:spLocks noChangeArrowheads="1"/>
            </p:cNvSpPr>
            <p:nvPr/>
          </p:nvSpPr>
          <p:spPr bwMode="auto">
            <a:xfrm>
              <a:off x="2533" y="3389"/>
              <a:ext cx="81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i="1" dirty="0">
                  <a:latin typeface="Arial" charset="0"/>
                  <a:cs typeface="Arial" charset="0"/>
                </a:rPr>
                <a:t> </a:t>
              </a:r>
              <a:r>
                <a:rPr lang="en-US" sz="2400" dirty="0">
                  <a:latin typeface="Arial" charset="0"/>
                  <a:cs typeface="Arial" charset="0"/>
                </a:rPr>
                <a:t>mod</a:t>
              </a:r>
              <a:r>
                <a:rPr lang="en-US" sz="2400" i="1" dirty="0">
                  <a:latin typeface="Arial" charset="0"/>
                  <a:cs typeface="Arial" charset="0"/>
                </a:rPr>
                <a:t>  n</a:t>
              </a:r>
            </a:p>
          </p:txBody>
        </p:sp>
        <p:sp>
          <p:nvSpPr>
            <p:cNvPr id="51216" name="Text Box 20"/>
            <p:cNvSpPr txBox="1">
              <a:spLocks noChangeArrowheads="1"/>
            </p:cNvSpPr>
            <p:nvPr/>
          </p:nvSpPr>
          <p:spPr bwMode="auto">
            <a:xfrm>
              <a:off x="2450" y="3287"/>
              <a:ext cx="22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i="1" dirty="0">
                  <a:latin typeface="Arial" charset="0"/>
                  <a:cs typeface="Arial" charset="0"/>
                </a:rPr>
                <a:t>d</a:t>
              </a:r>
            </a:p>
          </p:txBody>
        </p:sp>
      </p:grpSp>
      <p:sp>
        <p:nvSpPr>
          <p:cNvPr id="51208" name="Text Box 21"/>
          <p:cNvSpPr txBox="1">
            <a:spLocks noChangeArrowheads="1"/>
          </p:cNvSpPr>
          <p:nvPr/>
        </p:nvSpPr>
        <p:spPr bwMode="auto">
          <a:xfrm>
            <a:off x="1466850" y="4910138"/>
            <a:ext cx="1460500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r"/>
            <a:r>
              <a:rPr lang="en-US" sz="2800" i="1" dirty="0">
                <a:solidFill>
                  <a:srgbClr val="C00000"/>
                </a:solidFill>
                <a:latin typeface="Gill Sans MT" charset="0"/>
              </a:rPr>
              <a:t>magic</a:t>
            </a:r>
          </a:p>
          <a:p>
            <a:pPr algn="r"/>
            <a:r>
              <a:rPr lang="en-US" sz="2800" i="1" dirty="0">
                <a:solidFill>
                  <a:srgbClr val="C00000"/>
                </a:solidFill>
                <a:latin typeface="Gill Sans MT" charset="0"/>
              </a:rPr>
              <a:t>happens!</a:t>
            </a:r>
          </a:p>
        </p:txBody>
      </p:sp>
      <p:sp>
        <p:nvSpPr>
          <p:cNvPr id="51209" name="Rectangle 22"/>
          <p:cNvSpPr>
            <a:spLocks noChangeArrowheads="1"/>
          </p:cNvSpPr>
          <p:nvPr/>
        </p:nvSpPr>
        <p:spPr bwMode="auto">
          <a:xfrm>
            <a:off x="1198563" y="4786313"/>
            <a:ext cx="6256337" cy="1268412"/>
          </a:xfrm>
          <a:prstGeom prst="rect">
            <a:avLst/>
          </a:prstGeom>
          <a:noFill/>
          <a:ln w="19050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51210" name="AutoShape 23"/>
          <p:cNvSpPr>
            <a:spLocks/>
          </p:cNvSpPr>
          <p:nvPr/>
        </p:nvSpPr>
        <p:spPr bwMode="auto">
          <a:xfrm rot="-5400000">
            <a:off x="4688682" y="4985543"/>
            <a:ext cx="139700" cy="1223963"/>
          </a:xfrm>
          <a:prstGeom prst="leftBrace">
            <a:avLst>
              <a:gd name="adj1" fmla="val 73011"/>
              <a:gd name="adj2" fmla="val 52954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51211" name="Text Box 24"/>
          <p:cNvSpPr txBox="1">
            <a:spLocks noChangeArrowheads="1"/>
          </p:cNvSpPr>
          <p:nvPr/>
        </p:nvSpPr>
        <p:spPr bwMode="auto">
          <a:xfrm>
            <a:off x="4656138" y="5584825"/>
            <a:ext cx="4365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2400" dirty="0">
                <a:latin typeface="Arial" charset="0"/>
                <a:cs typeface="Arial" charset="0"/>
              </a:rPr>
              <a:t>c</a:t>
            </a:r>
          </a:p>
        </p:txBody>
      </p:sp>
      <p:pic>
        <p:nvPicPr>
          <p:cNvPr id="51212" name="Picture 17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850" y="1027113"/>
            <a:ext cx="68564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20</a:t>
            </a:fld>
            <a:endParaRPr lang="en-US" sz="1200" dirty="0">
              <a:latin typeface="Tahoma" charset="0"/>
            </a:endParaRPr>
          </a:p>
        </p:txBody>
      </p:sp>
      <p:sp>
        <p:nvSpPr>
          <p:cNvPr id="28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4778977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338138" y="152400"/>
            <a:ext cx="7772400" cy="1143000"/>
          </a:xfrm>
        </p:spPr>
        <p:txBody>
          <a:bodyPr/>
          <a:lstStyle/>
          <a:p>
            <a:r>
              <a:rPr lang="en-US" dirty="0">
                <a:latin typeface="Gill Sans MT" charset="0"/>
              </a:rPr>
              <a:t>RSA example:</a:t>
            </a:r>
          </a:p>
        </p:txBody>
      </p:sp>
      <p:sp>
        <p:nvSpPr>
          <p:cNvPr id="52227" name="Text Box 3"/>
          <p:cNvSpPr txBox="1">
            <a:spLocks noChangeArrowheads="1"/>
          </p:cNvSpPr>
          <p:nvPr/>
        </p:nvSpPr>
        <p:spPr bwMode="auto">
          <a:xfrm>
            <a:off x="262051" y="1300163"/>
            <a:ext cx="642438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2400" dirty="0">
                <a:latin typeface="Arial" charset="0"/>
                <a:cs typeface="Arial" charset="0"/>
              </a:rPr>
              <a:t>Brajesh chooses </a:t>
            </a:r>
            <a:r>
              <a:rPr lang="en-US" sz="2400" i="1" dirty="0">
                <a:latin typeface="Arial" charset="0"/>
                <a:cs typeface="Arial" charset="0"/>
              </a:rPr>
              <a:t>p=5, q=7</a:t>
            </a:r>
            <a:r>
              <a:rPr lang="en-US" sz="2400" dirty="0">
                <a:latin typeface="Arial" charset="0"/>
                <a:cs typeface="Arial" charset="0"/>
              </a:rPr>
              <a:t>.  Then </a:t>
            </a:r>
            <a:r>
              <a:rPr lang="en-US" sz="2400" i="1" dirty="0">
                <a:latin typeface="Arial" charset="0"/>
                <a:cs typeface="Arial" charset="0"/>
              </a:rPr>
              <a:t>n=35, z=24</a:t>
            </a:r>
            <a:r>
              <a:rPr lang="en-US" sz="2400" dirty="0">
                <a:latin typeface="Arial" charset="0"/>
                <a:cs typeface="Arial" charset="0"/>
              </a:rPr>
              <a:t>.</a:t>
            </a:r>
          </a:p>
        </p:txBody>
      </p:sp>
      <p:sp>
        <p:nvSpPr>
          <p:cNvPr id="52228" name="Text Box 4"/>
          <p:cNvSpPr txBox="1">
            <a:spLocks noChangeArrowheads="1"/>
          </p:cNvSpPr>
          <p:nvPr/>
        </p:nvSpPr>
        <p:spPr bwMode="auto">
          <a:xfrm>
            <a:off x="2312988" y="1724025"/>
            <a:ext cx="5157787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2400" i="1" dirty="0">
                <a:latin typeface="Arial" charset="0"/>
                <a:cs typeface="Arial" charset="0"/>
              </a:rPr>
              <a:t>e=5</a:t>
            </a:r>
            <a:r>
              <a:rPr lang="en-US" sz="2400" dirty="0">
                <a:latin typeface="Arial" charset="0"/>
                <a:cs typeface="Arial" charset="0"/>
              </a:rPr>
              <a:t>  (so </a:t>
            </a:r>
            <a:r>
              <a:rPr lang="en-US" sz="2400" i="1" dirty="0">
                <a:latin typeface="Arial" charset="0"/>
                <a:cs typeface="Arial" charset="0"/>
              </a:rPr>
              <a:t>e, z</a:t>
            </a:r>
            <a:r>
              <a:rPr lang="en-US" sz="2400" dirty="0">
                <a:latin typeface="Arial" charset="0"/>
                <a:cs typeface="Arial" charset="0"/>
              </a:rPr>
              <a:t>  relatively prime).</a:t>
            </a:r>
          </a:p>
          <a:p>
            <a:r>
              <a:rPr lang="en-US" sz="2400" i="1" dirty="0">
                <a:latin typeface="Arial" charset="0"/>
                <a:cs typeface="Arial" charset="0"/>
              </a:rPr>
              <a:t>d=29</a:t>
            </a:r>
            <a:r>
              <a:rPr lang="en-US" sz="2400" dirty="0">
                <a:latin typeface="Arial" charset="0"/>
                <a:cs typeface="Arial" charset="0"/>
              </a:rPr>
              <a:t> (so </a:t>
            </a:r>
            <a:r>
              <a:rPr lang="en-US" sz="2400" i="1" dirty="0">
                <a:latin typeface="Arial" charset="0"/>
                <a:cs typeface="Arial" charset="0"/>
              </a:rPr>
              <a:t>ed-1</a:t>
            </a:r>
            <a:r>
              <a:rPr lang="en-US" sz="2400" dirty="0">
                <a:latin typeface="Arial" charset="0"/>
                <a:cs typeface="Arial" charset="0"/>
              </a:rPr>
              <a:t> exactly divisible by z).</a:t>
            </a:r>
          </a:p>
          <a:p>
            <a:r>
              <a:rPr lang="en-US" sz="2400" dirty="0">
                <a:latin typeface="Arial" charset="0"/>
                <a:cs typeface="Arial" charset="0"/>
              </a:rPr>
              <a:t> </a:t>
            </a:r>
          </a:p>
        </p:txBody>
      </p:sp>
      <p:sp>
        <p:nvSpPr>
          <p:cNvPr id="52229" name="Text Box 5"/>
          <p:cNvSpPr txBox="1">
            <a:spLocks noChangeArrowheads="1"/>
          </p:cNvSpPr>
          <p:nvPr/>
        </p:nvSpPr>
        <p:spPr bwMode="auto">
          <a:xfrm>
            <a:off x="1954213" y="3465513"/>
            <a:ext cx="155416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2400" dirty="0">
                <a:latin typeface="Arial" charset="0"/>
                <a:cs typeface="Arial" charset="0"/>
              </a:rPr>
              <a:t>bit pattern</a:t>
            </a:r>
          </a:p>
        </p:txBody>
      </p:sp>
      <p:sp>
        <p:nvSpPr>
          <p:cNvPr id="52230" name="Text Box 6"/>
          <p:cNvSpPr txBox="1">
            <a:spLocks noChangeArrowheads="1"/>
          </p:cNvSpPr>
          <p:nvPr/>
        </p:nvSpPr>
        <p:spPr bwMode="auto">
          <a:xfrm>
            <a:off x="3810000" y="3441700"/>
            <a:ext cx="4413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2400" dirty="0">
                <a:latin typeface="Arial" charset="0"/>
                <a:cs typeface="Arial" charset="0"/>
              </a:rPr>
              <a:t>m</a:t>
            </a:r>
          </a:p>
        </p:txBody>
      </p:sp>
      <p:sp>
        <p:nvSpPr>
          <p:cNvPr id="52231" name="Text Box 7"/>
          <p:cNvSpPr txBox="1">
            <a:spLocks noChangeArrowheads="1"/>
          </p:cNvSpPr>
          <p:nvPr/>
        </p:nvSpPr>
        <p:spPr bwMode="auto">
          <a:xfrm>
            <a:off x="5078413" y="3462338"/>
            <a:ext cx="4397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2400" dirty="0">
                <a:latin typeface="Arial" charset="0"/>
                <a:cs typeface="Arial" charset="0"/>
              </a:rPr>
              <a:t>m</a:t>
            </a:r>
          </a:p>
        </p:txBody>
      </p:sp>
      <p:sp>
        <p:nvSpPr>
          <p:cNvPr id="52232" name="Text Box 8"/>
          <p:cNvSpPr txBox="1">
            <a:spLocks noChangeArrowheads="1"/>
          </p:cNvSpPr>
          <p:nvPr/>
        </p:nvSpPr>
        <p:spPr bwMode="auto">
          <a:xfrm>
            <a:off x="5307013" y="3309938"/>
            <a:ext cx="3571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2400" dirty="0">
                <a:latin typeface="Arial" charset="0"/>
                <a:cs typeface="Arial" charset="0"/>
              </a:rPr>
              <a:t>e</a:t>
            </a:r>
          </a:p>
        </p:txBody>
      </p:sp>
      <p:grpSp>
        <p:nvGrpSpPr>
          <p:cNvPr id="52233" name="Group 9"/>
          <p:cNvGrpSpPr>
            <a:grpSpLocks/>
          </p:cNvGrpSpPr>
          <p:nvPr/>
        </p:nvGrpSpPr>
        <p:grpSpPr bwMode="auto">
          <a:xfrm>
            <a:off x="6704013" y="3343275"/>
            <a:ext cx="2055812" cy="590550"/>
            <a:chOff x="2708" y="1773"/>
            <a:chExt cx="1295" cy="372"/>
          </a:xfrm>
        </p:grpSpPr>
        <p:sp>
          <p:nvSpPr>
            <p:cNvPr id="52261" name="Text Box 10"/>
            <p:cNvSpPr txBox="1">
              <a:spLocks noChangeArrowheads="1"/>
            </p:cNvSpPr>
            <p:nvPr/>
          </p:nvSpPr>
          <p:spPr bwMode="auto">
            <a:xfrm>
              <a:off x="2708" y="1854"/>
              <a:ext cx="1295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latin typeface="Arial" charset="0"/>
                  <a:cs typeface="Arial" charset="0"/>
                </a:rPr>
                <a:t>c = m  mod  n</a:t>
              </a:r>
            </a:p>
          </p:txBody>
        </p:sp>
        <p:sp>
          <p:nvSpPr>
            <p:cNvPr id="52262" name="Text Box 11"/>
            <p:cNvSpPr txBox="1">
              <a:spLocks noChangeArrowheads="1"/>
            </p:cNvSpPr>
            <p:nvPr/>
          </p:nvSpPr>
          <p:spPr bwMode="auto">
            <a:xfrm>
              <a:off x="3168" y="1773"/>
              <a:ext cx="22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latin typeface="Arial" charset="0"/>
                  <a:cs typeface="Arial" charset="0"/>
                </a:rPr>
                <a:t>e</a:t>
              </a:r>
            </a:p>
          </p:txBody>
        </p:sp>
      </p:grpSp>
      <p:sp>
        <p:nvSpPr>
          <p:cNvPr id="52234" name="Text Box 12"/>
          <p:cNvSpPr txBox="1">
            <a:spLocks noChangeArrowheads="1"/>
          </p:cNvSpPr>
          <p:nvPr/>
        </p:nvSpPr>
        <p:spPr bwMode="auto">
          <a:xfrm>
            <a:off x="2006600" y="4005263"/>
            <a:ext cx="14414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2400" dirty="0">
                <a:solidFill>
                  <a:srgbClr val="C00000"/>
                </a:solidFill>
                <a:latin typeface="Arial" charset="0"/>
              </a:rPr>
              <a:t>0000l000</a:t>
            </a:r>
            <a:endParaRPr lang="en-US" sz="2400" dirty="0">
              <a:solidFill>
                <a:srgbClr val="C00000"/>
              </a:solidFill>
              <a:latin typeface="Times New Roman" charset="0"/>
            </a:endParaRPr>
          </a:p>
        </p:txBody>
      </p:sp>
      <p:sp>
        <p:nvSpPr>
          <p:cNvPr id="52235" name="Text Box 13"/>
          <p:cNvSpPr txBox="1">
            <a:spLocks noChangeArrowheads="1"/>
          </p:cNvSpPr>
          <p:nvPr/>
        </p:nvSpPr>
        <p:spPr bwMode="auto">
          <a:xfrm>
            <a:off x="3741738" y="3995738"/>
            <a:ext cx="523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2400" dirty="0">
                <a:solidFill>
                  <a:srgbClr val="C00000"/>
                </a:solidFill>
                <a:latin typeface="Arial" charset="0"/>
              </a:rPr>
              <a:t>12</a:t>
            </a:r>
            <a:endParaRPr lang="en-US" sz="2400" dirty="0">
              <a:solidFill>
                <a:srgbClr val="C00000"/>
              </a:solidFill>
              <a:latin typeface="Times New Roman" charset="0"/>
            </a:endParaRPr>
          </a:p>
        </p:txBody>
      </p:sp>
      <p:sp>
        <p:nvSpPr>
          <p:cNvPr id="52236" name="Text Box 14"/>
          <p:cNvSpPr txBox="1">
            <a:spLocks noChangeArrowheads="1"/>
          </p:cNvSpPr>
          <p:nvPr/>
        </p:nvSpPr>
        <p:spPr bwMode="auto">
          <a:xfrm>
            <a:off x="4783138" y="3987800"/>
            <a:ext cx="10334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2400" dirty="0">
                <a:solidFill>
                  <a:srgbClr val="C00000"/>
                </a:solidFill>
                <a:latin typeface="Arial" charset="0"/>
              </a:rPr>
              <a:t>24832</a:t>
            </a:r>
            <a:endParaRPr lang="en-US" sz="2400" dirty="0">
              <a:solidFill>
                <a:srgbClr val="C00000"/>
              </a:solidFill>
              <a:latin typeface="Times New Roman" charset="0"/>
            </a:endParaRPr>
          </a:p>
        </p:txBody>
      </p:sp>
      <p:sp>
        <p:nvSpPr>
          <p:cNvPr id="52237" name="Text Box 15"/>
          <p:cNvSpPr txBox="1">
            <a:spLocks noChangeArrowheads="1"/>
          </p:cNvSpPr>
          <p:nvPr/>
        </p:nvSpPr>
        <p:spPr bwMode="auto">
          <a:xfrm>
            <a:off x="7637463" y="3986213"/>
            <a:ext cx="523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2400" dirty="0">
                <a:solidFill>
                  <a:srgbClr val="C00000"/>
                </a:solidFill>
                <a:latin typeface="Arial" charset="0"/>
              </a:rPr>
              <a:t>17</a:t>
            </a:r>
            <a:endParaRPr lang="en-US" sz="2400" dirty="0">
              <a:solidFill>
                <a:srgbClr val="C00000"/>
              </a:solidFill>
              <a:latin typeface="Times New Roman" charset="0"/>
            </a:endParaRPr>
          </a:p>
        </p:txBody>
      </p:sp>
      <p:sp>
        <p:nvSpPr>
          <p:cNvPr id="52238" name="Text Box 28"/>
          <p:cNvSpPr txBox="1">
            <a:spLocks noChangeArrowheads="1"/>
          </p:cNvSpPr>
          <p:nvPr/>
        </p:nvSpPr>
        <p:spPr bwMode="auto">
          <a:xfrm>
            <a:off x="487363" y="3767138"/>
            <a:ext cx="12795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2400" dirty="0">
                <a:solidFill>
                  <a:srgbClr val="000099"/>
                </a:solidFill>
                <a:latin typeface="Arial" charset="0"/>
                <a:cs typeface="Arial" charset="0"/>
              </a:rPr>
              <a:t>encrypt:</a:t>
            </a:r>
          </a:p>
        </p:txBody>
      </p:sp>
      <p:sp>
        <p:nvSpPr>
          <p:cNvPr id="52239" name="Text Box 31"/>
          <p:cNvSpPr txBox="1">
            <a:spLocks noChangeArrowheads="1"/>
          </p:cNvSpPr>
          <p:nvPr/>
        </p:nvSpPr>
        <p:spPr bwMode="auto">
          <a:xfrm>
            <a:off x="503238" y="2667000"/>
            <a:ext cx="38655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2400" dirty="0">
                <a:latin typeface="Arial" charset="0"/>
                <a:cs typeface="Arial" charset="0"/>
              </a:rPr>
              <a:t>encrypting 8-bit messages.</a:t>
            </a:r>
          </a:p>
        </p:txBody>
      </p:sp>
      <p:pic>
        <p:nvPicPr>
          <p:cNvPr id="52240" name="Picture 24" descr="underline_base"/>
          <p:cNvPicPr>
            <a:picLocks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088" y="968375"/>
            <a:ext cx="3101975" cy="163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41" name="Right Brace 1"/>
          <p:cNvSpPr>
            <a:spLocks/>
          </p:cNvSpPr>
          <p:nvPr/>
        </p:nvSpPr>
        <p:spPr bwMode="auto">
          <a:xfrm rot="5400000">
            <a:off x="2625725" y="3203576"/>
            <a:ext cx="180975" cy="1403350"/>
          </a:xfrm>
          <a:prstGeom prst="rightBrace">
            <a:avLst>
              <a:gd name="adj1" fmla="val 825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52242" name="Right Brace 31"/>
          <p:cNvSpPr>
            <a:spLocks/>
          </p:cNvSpPr>
          <p:nvPr/>
        </p:nvSpPr>
        <p:spPr bwMode="auto">
          <a:xfrm rot="5400000">
            <a:off x="3948112" y="3676651"/>
            <a:ext cx="169863" cy="468312"/>
          </a:xfrm>
          <a:prstGeom prst="rightBrace">
            <a:avLst>
              <a:gd name="adj1" fmla="val 8284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52243" name="Right Brace 32"/>
          <p:cNvSpPr>
            <a:spLocks/>
          </p:cNvSpPr>
          <p:nvPr/>
        </p:nvSpPr>
        <p:spPr bwMode="auto">
          <a:xfrm rot="5400000">
            <a:off x="5195094" y="3682206"/>
            <a:ext cx="168275" cy="468313"/>
          </a:xfrm>
          <a:prstGeom prst="rightBrace">
            <a:avLst>
              <a:gd name="adj1" fmla="val 836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52244" name="Right Brace 33"/>
          <p:cNvSpPr>
            <a:spLocks/>
          </p:cNvSpPr>
          <p:nvPr/>
        </p:nvSpPr>
        <p:spPr bwMode="auto">
          <a:xfrm rot="5400000">
            <a:off x="7737475" y="2892425"/>
            <a:ext cx="179388" cy="2046288"/>
          </a:xfrm>
          <a:prstGeom prst="rightBrace">
            <a:avLst>
              <a:gd name="adj1" fmla="val 8344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grpSp>
        <p:nvGrpSpPr>
          <p:cNvPr id="5" name="Group 4"/>
          <p:cNvGrpSpPr>
            <a:grpSpLocks/>
          </p:cNvGrpSpPr>
          <p:nvPr/>
        </p:nvGrpSpPr>
        <p:grpSpPr bwMode="auto">
          <a:xfrm>
            <a:off x="544513" y="4729163"/>
            <a:ext cx="7564437" cy="1150937"/>
            <a:chOff x="543729" y="4729393"/>
            <a:chExt cx="7565229" cy="1150260"/>
          </a:xfrm>
        </p:grpSpPr>
        <p:sp>
          <p:nvSpPr>
            <p:cNvPr id="52247" name="Text Box 16"/>
            <p:cNvSpPr txBox="1">
              <a:spLocks noChangeArrowheads="1"/>
            </p:cNvSpPr>
            <p:nvPr/>
          </p:nvSpPr>
          <p:spPr bwMode="auto">
            <a:xfrm>
              <a:off x="2359031" y="4873856"/>
              <a:ext cx="34131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latin typeface="Arial" charset="0"/>
                  <a:cs typeface="Arial" charset="0"/>
                </a:rPr>
                <a:t>c</a:t>
              </a:r>
            </a:p>
          </p:txBody>
        </p:sp>
        <p:grpSp>
          <p:nvGrpSpPr>
            <p:cNvPr id="52248" name="Group 17"/>
            <p:cNvGrpSpPr>
              <a:grpSpLocks/>
            </p:cNvGrpSpPr>
            <p:nvPr/>
          </p:nvGrpSpPr>
          <p:grpSpPr bwMode="auto">
            <a:xfrm>
              <a:off x="6053145" y="4766587"/>
              <a:ext cx="2055813" cy="590551"/>
              <a:chOff x="2708" y="1773"/>
              <a:chExt cx="1295" cy="372"/>
            </a:xfrm>
          </p:grpSpPr>
          <p:sp>
            <p:nvSpPr>
              <p:cNvPr id="52259" name="Text Box 18"/>
              <p:cNvSpPr txBox="1">
                <a:spLocks noChangeArrowheads="1"/>
              </p:cNvSpPr>
              <p:nvPr/>
            </p:nvSpPr>
            <p:spPr bwMode="auto">
              <a:xfrm>
                <a:off x="2708" y="1854"/>
                <a:ext cx="1295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400" dirty="0">
                    <a:latin typeface="Arial" charset="0"/>
                    <a:cs typeface="Arial" charset="0"/>
                  </a:rPr>
                  <a:t>m = c  mod  n</a:t>
                </a:r>
              </a:p>
            </p:txBody>
          </p:sp>
          <p:sp>
            <p:nvSpPr>
              <p:cNvPr id="52260" name="Text Box 19"/>
              <p:cNvSpPr txBox="1">
                <a:spLocks noChangeArrowheads="1"/>
              </p:cNvSpPr>
              <p:nvPr/>
            </p:nvSpPr>
            <p:spPr bwMode="auto">
              <a:xfrm>
                <a:off x="3166" y="1773"/>
                <a:ext cx="229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400" dirty="0">
                    <a:latin typeface="Arial" charset="0"/>
                    <a:cs typeface="Arial" charset="0"/>
                  </a:rPr>
                  <a:t>d</a:t>
                </a:r>
              </a:p>
            </p:txBody>
          </p:sp>
        </p:grpSp>
        <p:sp>
          <p:nvSpPr>
            <p:cNvPr id="52249" name="Text Box 20"/>
            <p:cNvSpPr txBox="1">
              <a:spLocks noChangeArrowheads="1"/>
            </p:cNvSpPr>
            <p:nvPr/>
          </p:nvSpPr>
          <p:spPr bwMode="auto">
            <a:xfrm>
              <a:off x="2208219" y="5409753"/>
              <a:ext cx="523875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17</a:t>
              </a:r>
            </a:p>
          </p:txBody>
        </p:sp>
        <p:sp>
          <p:nvSpPr>
            <p:cNvPr id="52250" name="Text Box 21"/>
            <p:cNvSpPr txBox="1">
              <a:spLocks noChangeArrowheads="1"/>
            </p:cNvSpPr>
            <p:nvPr/>
          </p:nvSpPr>
          <p:spPr bwMode="auto">
            <a:xfrm>
              <a:off x="2869299" y="5541062"/>
              <a:ext cx="3213100" cy="2746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2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481968572106750915091411825223071697</a:t>
              </a:r>
            </a:p>
          </p:txBody>
        </p:sp>
        <p:sp>
          <p:nvSpPr>
            <p:cNvPr id="52251" name="Text Box 22"/>
            <p:cNvSpPr txBox="1">
              <a:spLocks noChangeArrowheads="1"/>
            </p:cNvSpPr>
            <p:nvPr/>
          </p:nvSpPr>
          <p:spPr bwMode="auto">
            <a:xfrm>
              <a:off x="6808794" y="5422453"/>
              <a:ext cx="523875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12</a:t>
              </a:r>
            </a:p>
          </p:txBody>
        </p:sp>
        <p:grpSp>
          <p:nvGrpSpPr>
            <p:cNvPr id="52252" name="Group 23"/>
            <p:cNvGrpSpPr>
              <a:grpSpLocks/>
            </p:cNvGrpSpPr>
            <p:nvPr/>
          </p:nvGrpSpPr>
          <p:grpSpPr bwMode="auto">
            <a:xfrm>
              <a:off x="3489331" y="4729393"/>
              <a:ext cx="514350" cy="611188"/>
              <a:chOff x="3034" y="2876"/>
              <a:chExt cx="324" cy="385"/>
            </a:xfrm>
          </p:grpSpPr>
          <p:sp>
            <p:nvSpPr>
              <p:cNvPr id="52257" name="Text Box 24"/>
              <p:cNvSpPr txBox="1">
                <a:spLocks noChangeArrowheads="1"/>
              </p:cNvSpPr>
              <p:nvPr/>
            </p:nvSpPr>
            <p:spPr bwMode="auto">
              <a:xfrm>
                <a:off x="3034" y="2973"/>
                <a:ext cx="21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400" dirty="0">
                    <a:latin typeface="Arial" charset="0"/>
                    <a:cs typeface="Arial" charset="0"/>
                  </a:rPr>
                  <a:t>c</a:t>
                </a:r>
              </a:p>
            </p:txBody>
          </p:sp>
          <p:sp>
            <p:nvSpPr>
              <p:cNvPr id="52258" name="Text Box 25"/>
              <p:cNvSpPr txBox="1">
                <a:spLocks noChangeArrowheads="1"/>
              </p:cNvSpPr>
              <p:nvPr/>
            </p:nvSpPr>
            <p:spPr bwMode="auto">
              <a:xfrm>
                <a:off x="3129" y="2876"/>
                <a:ext cx="229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400" dirty="0">
                    <a:latin typeface="Arial" charset="0"/>
                    <a:cs typeface="Arial" charset="0"/>
                  </a:rPr>
                  <a:t>d</a:t>
                </a:r>
              </a:p>
            </p:txBody>
          </p:sp>
        </p:grpSp>
        <p:sp>
          <p:nvSpPr>
            <p:cNvPr id="52253" name="Text Box 29"/>
            <p:cNvSpPr txBox="1">
              <a:spLocks noChangeArrowheads="1"/>
            </p:cNvSpPr>
            <p:nvPr/>
          </p:nvSpPr>
          <p:spPr bwMode="auto">
            <a:xfrm>
              <a:off x="543729" y="5059140"/>
              <a:ext cx="127951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solidFill>
                    <a:srgbClr val="000099"/>
                  </a:solidFill>
                  <a:latin typeface="Arial" charset="0"/>
                  <a:cs typeface="Arial" charset="0"/>
                </a:rPr>
                <a:t>decrypt:</a:t>
              </a:r>
            </a:p>
          </p:txBody>
        </p:sp>
        <p:sp>
          <p:nvSpPr>
            <p:cNvPr id="52254" name="Right Brace 36"/>
            <p:cNvSpPr>
              <a:spLocks/>
            </p:cNvSpPr>
            <p:nvPr/>
          </p:nvSpPr>
          <p:spPr bwMode="auto">
            <a:xfrm rot="5400000">
              <a:off x="2446575" y="5102686"/>
              <a:ext cx="168727" cy="468086"/>
            </a:xfrm>
            <a:prstGeom prst="rightBrace">
              <a:avLst>
                <a:gd name="adj1" fmla="val 8336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255" name="Right Brace 37"/>
            <p:cNvSpPr>
              <a:spLocks/>
            </p:cNvSpPr>
            <p:nvPr/>
          </p:nvSpPr>
          <p:spPr bwMode="auto">
            <a:xfrm rot="5400000">
              <a:off x="3605907" y="5108131"/>
              <a:ext cx="168727" cy="468086"/>
            </a:xfrm>
            <a:prstGeom prst="rightBrace">
              <a:avLst>
                <a:gd name="adj1" fmla="val 8336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256" name="Right Brace 38"/>
            <p:cNvSpPr>
              <a:spLocks/>
            </p:cNvSpPr>
            <p:nvPr/>
          </p:nvSpPr>
          <p:spPr bwMode="auto">
            <a:xfrm rot="5400000">
              <a:off x="6964140" y="4340683"/>
              <a:ext cx="179612" cy="2046514"/>
            </a:xfrm>
            <a:prstGeom prst="rightBrace">
              <a:avLst>
                <a:gd name="adj1" fmla="val 8335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6" name="Left-Right Arrow 5"/>
          <p:cNvSpPr>
            <a:spLocks noChangeArrowheads="1"/>
          </p:cNvSpPr>
          <p:nvPr/>
        </p:nvSpPr>
        <p:spPr bwMode="auto">
          <a:xfrm rot="1604466">
            <a:off x="4113213" y="4827588"/>
            <a:ext cx="2944812" cy="246062"/>
          </a:xfrm>
          <a:prstGeom prst="leftRightArrow">
            <a:avLst>
              <a:gd name="adj1" fmla="val 50000"/>
              <a:gd name="adj2" fmla="val 50032"/>
            </a:avLst>
          </a:prstGeom>
          <a:solidFill>
            <a:schemeClr val="accent2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40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21</a:t>
            </a:fld>
            <a:endParaRPr lang="en-US" sz="1200" dirty="0">
              <a:latin typeface="Tahoma" charset="0"/>
            </a:endParaRPr>
          </a:p>
        </p:txBody>
      </p:sp>
      <p:sp>
        <p:nvSpPr>
          <p:cNvPr id="41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699331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392113" y="141288"/>
            <a:ext cx="7772400" cy="1143000"/>
          </a:xfrm>
        </p:spPr>
        <p:txBody>
          <a:bodyPr/>
          <a:lstStyle/>
          <a:p>
            <a:r>
              <a:rPr lang="en-US" dirty="0">
                <a:latin typeface="Gill Sans MT" charset="0"/>
              </a:rPr>
              <a:t>Why does RSA work?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Gill Sans MT" charset="0"/>
              </a:rPr>
              <a:t>must show that c</a:t>
            </a:r>
            <a:r>
              <a:rPr lang="en-US" baseline="30000" dirty="0">
                <a:latin typeface="Gill Sans MT" charset="0"/>
              </a:rPr>
              <a:t>d</a:t>
            </a:r>
            <a:r>
              <a:rPr lang="en-US" dirty="0">
                <a:latin typeface="Gill Sans MT" charset="0"/>
              </a:rPr>
              <a:t> mod n = m </a:t>
            </a:r>
            <a:br>
              <a:rPr lang="en-US" dirty="0">
                <a:latin typeface="Gill Sans MT" charset="0"/>
              </a:rPr>
            </a:br>
            <a:r>
              <a:rPr lang="en-US" dirty="0">
                <a:latin typeface="Gill Sans MT" charset="0"/>
              </a:rPr>
              <a:t>where c = m</a:t>
            </a:r>
            <a:r>
              <a:rPr lang="en-US" baseline="30000" dirty="0">
                <a:latin typeface="Gill Sans MT" charset="0"/>
              </a:rPr>
              <a:t>e</a:t>
            </a:r>
            <a:r>
              <a:rPr lang="en-US" dirty="0">
                <a:latin typeface="Gill Sans MT" charset="0"/>
              </a:rPr>
              <a:t> mod n</a:t>
            </a:r>
          </a:p>
          <a:p>
            <a:r>
              <a:rPr lang="en-US" dirty="0">
                <a:latin typeface="Gill Sans MT" charset="0"/>
              </a:rPr>
              <a:t>fact: for any x and y: x</a:t>
            </a:r>
            <a:r>
              <a:rPr lang="en-US" baseline="30000" dirty="0">
                <a:latin typeface="Gill Sans MT" charset="0"/>
              </a:rPr>
              <a:t>y</a:t>
            </a:r>
            <a:r>
              <a:rPr lang="en-US" dirty="0">
                <a:latin typeface="Gill Sans MT" charset="0"/>
              </a:rPr>
              <a:t> mod n = x</a:t>
            </a:r>
            <a:r>
              <a:rPr lang="en-US" baseline="30000" dirty="0">
                <a:latin typeface="Gill Sans MT" charset="0"/>
              </a:rPr>
              <a:t>(y mod z)</a:t>
            </a:r>
            <a:r>
              <a:rPr lang="en-US" dirty="0">
                <a:latin typeface="Gill Sans MT" charset="0"/>
              </a:rPr>
              <a:t> mod n</a:t>
            </a:r>
          </a:p>
          <a:p>
            <a:pPr lvl="1"/>
            <a:r>
              <a:rPr lang="en-US" dirty="0">
                <a:latin typeface="Gill Sans MT" charset="0"/>
              </a:rPr>
              <a:t>where n= pq and z = (p-1)(q-1)</a:t>
            </a:r>
          </a:p>
          <a:p>
            <a:r>
              <a:rPr lang="en-US" dirty="0">
                <a:latin typeface="Gill Sans MT" charset="0"/>
              </a:rPr>
              <a:t>thus, </a:t>
            </a:r>
            <a:br>
              <a:rPr lang="en-US" dirty="0">
                <a:latin typeface="Gill Sans MT" charset="0"/>
              </a:rPr>
            </a:br>
            <a:r>
              <a:rPr lang="en-US" dirty="0">
                <a:latin typeface="Gill Sans MT" charset="0"/>
              </a:rPr>
              <a:t> c</a:t>
            </a:r>
            <a:r>
              <a:rPr lang="en-US" baseline="30000" dirty="0">
                <a:latin typeface="Gill Sans MT" charset="0"/>
              </a:rPr>
              <a:t>d</a:t>
            </a:r>
            <a:r>
              <a:rPr lang="en-US" dirty="0">
                <a:latin typeface="Gill Sans MT" charset="0"/>
              </a:rPr>
              <a:t> mod n = (m</a:t>
            </a:r>
            <a:r>
              <a:rPr lang="en-US" baseline="30000" dirty="0">
                <a:latin typeface="Gill Sans MT" charset="0"/>
              </a:rPr>
              <a:t>e</a:t>
            </a:r>
            <a:r>
              <a:rPr lang="en-US" dirty="0">
                <a:latin typeface="Gill Sans MT" charset="0"/>
              </a:rPr>
              <a:t> mod n)</a:t>
            </a:r>
            <a:r>
              <a:rPr lang="en-US" baseline="30000" dirty="0">
                <a:latin typeface="Gill Sans MT" charset="0"/>
              </a:rPr>
              <a:t>d</a:t>
            </a:r>
            <a:r>
              <a:rPr lang="en-US" dirty="0">
                <a:latin typeface="Gill Sans MT" charset="0"/>
              </a:rPr>
              <a:t> mod n</a:t>
            </a:r>
          </a:p>
          <a:p>
            <a:pPr>
              <a:buFont typeface="Wingdings" charset="0"/>
              <a:buNone/>
            </a:pPr>
            <a:r>
              <a:rPr lang="en-US" dirty="0">
                <a:latin typeface="Gill Sans MT" charset="0"/>
              </a:rPr>
              <a:t>                  = m</a:t>
            </a:r>
            <a:r>
              <a:rPr lang="en-US" baseline="30000" dirty="0">
                <a:latin typeface="Gill Sans MT" charset="0"/>
              </a:rPr>
              <a:t>ed</a:t>
            </a:r>
            <a:r>
              <a:rPr lang="en-US" dirty="0">
                <a:latin typeface="Gill Sans MT" charset="0"/>
              </a:rPr>
              <a:t> mod n </a:t>
            </a:r>
          </a:p>
          <a:p>
            <a:pPr>
              <a:buFont typeface="Wingdings" charset="0"/>
              <a:buNone/>
            </a:pPr>
            <a:r>
              <a:rPr lang="en-US" dirty="0">
                <a:latin typeface="Gill Sans MT" charset="0"/>
              </a:rPr>
              <a:t>                  = m</a:t>
            </a:r>
            <a:r>
              <a:rPr lang="en-US" baseline="30000" dirty="0">
                <a:latin typeface="Gill Sans MT" charset="0"/>
              </a:rPr>
              <a:t>(ed mod z)</a:t>
            </a:r>
            <a:r>
              <a:rPr lang="en-US" dirty="0">
                <a:latin typeface="Gill Sans MT" charset="0"/>
              </a:rPr>
              <a:t> mod n</a:t>
            </a:r>
          </a:p>
          <a:p>
            <a:pPr>
              <a:buFont typeface="Wingdings" charset="0"/>
              <a:buNone/>
            </a:pPr>
            <a:r>
              <a:rPr lang="en-US" dirty="0">
                <a:latin typeface="Gill Sans MT" charset="0"/>
              </a:rPr>
              <a:t>                  = m</a:t>
            </a:r>
            <a:r>
              <a:rPr lang="en-US" baseline="30000" dirty="0">
                <a:latin typeface="Gill Sans MT" charset="0"/>
              </a:rPr>
              <a:t>1</a:t>
            </a:r>
            <a:r>
              <a:rPr lang="en-US" dirty="0">
                <a:latin typeface="Gill Sans MT" charset="0"/>
              </a:rPr>
              <a:t> mod n</a:t>
            </a:r>
          </a:p>
          <a:p>
            <a:pPr>
              <a:buFont typeface="Wingdings" charset="0"/>
              <a:buNone/>
            </a:pPr>
            <a:r>
              <a:rPr lang="en-US" dirty="0">
                <a:latin typeface="Gill Sans MT" charset="0"/>
              </a:rPr>
              <a:t>                  = m</a:t>
            </a:r>
          </a:p>
        </p:txBody>
      </p:sp>
      <p:grpSp>
        <p:nvGrpSpPr>
          <p:cNvPr id="49160" name="Group 8"/>
          <p:cNvGrpSpPr>
            <a:grpSpLocks/>
          </p:cNvGrpSpPr>
          <p:nvPr/>
        </p:nvGrpSpPr>
        <p:grpSpPr bwMode="auto">
          <a:xfrm>
            <a:off x="3979863" y="2289175"/>
            <a:ext cx="3830638" cy="2373313"/>
            <a:chOff x="2507" y="1442"/>
            <a:chExt cx="2413" cy="1495"/>
          </a:xfrm>
        </p:grpSpPr>
        <p:sp>
          <p:nvSpPr>
            <p:cNvPr id="25607" name="Oval 6"/>
            <p:cNvSpPr>
              <a:spLocks noChangeArrowheads="1"/>
            </p:cNvSpPr>
            <p:nvPr/>
          </p:nvSpPr>
          <p:spPr bwMode="auto">
            <a:xfrm>
              <a:off x="2507" y="1442"/>
              <a:ext cx="2413" cy="441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53255" name="Freeform 7"/>
            <p:cNvSpPr>
              <a:spLocks/>
            </p:cNvSpPr>
            <p:nvPr/>
          </p:nvSpPr>
          <p:spPr bwMode="auto">
            <a:xfrm>
              <a:off x="3238" y="1897"/>
              <a:ext cx="482" cy="1040"/>
            </a:xfrm>
            <a:custGeom>
              <a:avLst/>
              <a:gdLst>
                <a:gd name="T0" fmla="*/ 1260 w 1260"/>
                <a:gd name="T1" fmla="*/ 0 h 847"/>
                <a:gd name="T2" fmla="*/ 1260 w 1260"/>
                <a:gd name="T3" fmla="*/ 847 h 847"/>
                <a:gd name="T4" fmla="*/ 0 w 1260"/>
                <a:gd name="T5" fmla="*/ 847 h 84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60" h="847">
                  <a:moveTo>
                    <a:pt x="1260" y="0"/>
                  </a:moveTo>
                  <a:lnTo>
                    <a:pt x="1260" y="847"/>
                  </a:lnTo>
                  <a:lnTo>
                    <a:pt x="0" y="847"/>
                  </a:lnTo>
                </a:path>
              </a:pathLst>
            </a:cu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pic>
        <p:nvPicPr>
          <p:cNvPr id="53253" name="Picture 21" descr="underline_base"/>
          <p:cNvPicPr>
            <a:picLocks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963613"/>
            <a:ext cx="50276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22</a:t>
            </a:fld>
            <a:endParaRPr lang="en-US" sz="1200" dirty="0">
              <a:latin typeface="Tahoma" charset="0"/>
            </a:endParaRPr>
          </a:p>
        </p:txBody>
      </p:sp>
      <p:sp>
        <p:nvSpPr>
          <p:cNvPr id="10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1584555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latin typeface="Gill Sans MT" charset="0"/>
              </a:rPr>
              <a:t>RSA: another important property</a:t>
            </a:r>
          </a:p>
        </p:txBody>
      </p:sp>
      <p:sp>
        <p:nvSpPr>
          <p:cNvPr id="54275" name="Text Box 3"/>
          <p:cNvSpPr txBox="1">
            <a:spLocks noChangeArrowheads="1"/>
          </p:cNvSpPr>
          <p:nvPr/>
        </p:nvSpPr>
        <p:spPr bwMode="auto">
          <a:xfrm>
            <a:off x="981075" y="1422400"/>
            <a:ext cx="70405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2800" dirty="0">
                <a:latin typeface="Gill Sans MT" charset="0"/>
              </a:rPr>
              <a:t>The following property will be </a:t>
            </a:r>
            <a:r>
              <a:rPr lang="en-US" sz="2800" i="1" dirty="0">
                <a:solidFill>
                  <a:srgbClr val="C00000"/>
                </a:solidFill>
                <a:latin typeface="Gill Sans MT" charset="0"/>
              </a:rPr>
              <a:t>very</a:t>
            </a:r>
            <a:r>
              <a:rPr lang="en-US" sz="2800" dirty="0">
                <a:solidFill>
                  <a:srgbClr val="C00000"/>
                </a:solidFill>
                <a:latin typeface="Gill Sans MT" charset="0"/>
              </a:rPr>
              <a:t> </a:t>
            </a:r>
            <a:r>
              <a:rPr lang="en-US" sz="2800" dirty="0">
                <a:latin typeface="Gill Sans MT" charset="0"/>
              </a:rPr>
              <a:t>useful later:</a:t>
            </a:r>
            <a:endParaRPr lang="en-US" sz="2400" dirty="0">
              <a:latin typeface="Gill Sans MT" charset="0"/>
            </a:endParaRPr>
          </a:p>
        </p:txBody>
      </p:sp>
      <p:grpSp>
        <p:nvGrpSpPr>
          <p:cNvPr id="54276" name="Group 4"/>
          <p:cNvGrpSpPr>
            <a:grpSpLocks/>
          </p:cNvGrpSpPr>
          <p:nvPr/>
        </p:nvGrpSpPr>
        <p:grpSpPr bwMode="auto">
          <a:xfrm>
            <a:off x="1636713" y="2257425"/>
            <a:ext cx="5259387" cy="946150"/>
            <a:chOff x="501" y="1586"/>
            <a:chExt cx="3313" cy="596"/>
          </a:xfrm>
        </p:grpSpPr>
        <p:grpSp>
          <p:nvGrpSpPr>
            <p:cNvPr id="54283" name="Group 5"/>
            <p:cNvGrpSpPr>
              <a:grpSpLocks/>
            </p:cNvGrpSpPr>
            <p:nvPr/>
          </p:nvGrpSpPr>
          <p:grpSpPr bwMode="auto">
            <a:xfrm>
              <a:off x="501" y="1586"/>
              <a:ext cx="1807" cy="594"/>
              <a:chOff x="1328" y="1706"/>
              <a:chExt cx="1807" cy="594"/>
            </a:xfrm>
          </p:grpSpPr>
          <p:grpSp>
            <p:nvGrpSpPr>
              <p:cNvPr id="54290" name="Group 6"/>
              <p:cNvGrpSpPr>
                <a:grpSpLocks/>
              </p:cNvGrpSpPr>
              <p:nvPr/>
            </p:nvGrpSpPr>
            <p:grpSpPr bwMode="auto">
              <a:xfrm>
                <a:off x="1328" y="1811"/>
                <a:ext cx="1807" cy="489"/>
                <a:chOff x="1699" y="1433"/>
                <a:chExt cx="1807" cy="489"/>
              </a:xfrm>
            </p:grpSpPr>
            <p:sp>
              <p:nvSpPr>
                <p:cNvPr id="54293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1699" y="1433"/>
                  <a:ext cx="1807" cy="3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/>
                  <a:r>
                    <a:rPr lang="en-US" sz="2800" dirty="0">
                      <a:solidFill>
                        <a:srgbClr val="C00000"/>
                      </a:solidFill>
                      <a:latin typeface="Arial" charset="0"/>
                      <a:cs typeface="Arial" charset="0"/>
                    </a:rPr>
                    <a:t>K  </a:t>
                  </a:r>
                  <a:r>
                    <a:rPr lang="en-US" sz="3200" dirty="0">
                      <a:solidFill>
                        <a:srgbClr val="C00000"/>
                      </a:solidFill>
                      <a:latin typeface="Arial" charset="0"/>
                      <a:cs typeface="Arial" charset="0"/>
                    </a:rPr>
                    <a:t>(</a:t>
                  </a:r>
                  <a:r>
                    <a:rPr lang="en-US" sz="2800" dirty="0">
                      <a:solidFill>
                        <a:srgbClr val="C00000"/>
                      </a:solidFill>
                      <a:latin typeface="Arial" charset="0"/>
                      <a:cs typeface="Arial" charset="0"/>
                    </a:rPr>
                    <a:t>K  (m)</a:t>
                  </a:r>
                  <a:r>
                    <a:rPr lang="en-US" sz="3200" dirty="0">
                      <a:solidFill>
                        <a:srgbClr val="C00000"/>
                      </a:solidFill>
                      <a:latin typeface="Arial" charset="0"/>
                      <a:cs typeface="Arial" charset="0"/>
                    </a:rPr>
                    <a:t>)</a:t>
                  </a:r>
                  <a:r>
                    <a:rPr lang="en-US" sz="2800" dirty="0">
                      <a:solidFill>
                        <a:srgbClr val="C00000"/>
                      </a:solidFill>
                      <a:latin typeface="Arial" charset="0"/>
                      <a:cs typeface="Arial" charset="0"/>
                    </a:rPr>
                    <a:t>  =  m </a:t>
                  </a:r>
                </a:p>
              </p:txBody>
            </p:sp>
            <p:sp>
              <p:nvSpPr>
                <p:cNvPr id="54294" name="Text Box 8"/>
                <p:cNvSpPr txBox="1">
                  <a:spLocks noChangeArrowheads="1"/>
                </p:cNvSpPr>
                <p:nvPr/>
              </p:nvSpPr>
              <p:spPr bwMode="auto">
                <a:xfrm>
                  <a:off x="2235" y="1631"/>
                  <a:ext cx="246" cy="2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/>
                  <a:r>
                    <a:rPr lang="en-US" sz="2400" dirty="0">
                      <a:solidFill>
                        <a:srgbClr val="C00000"/>
                      </a:solidFill>
                      <a:latin typeface="Arial" charset="0"/>
                      <a:cs typeface="Arial" charset="0"/>
                    </a:rPr>
                    <a:t>B</a:t>
                  </a:r>
                  <a:endParaRPr lang="en-US" sz="2800" dirty="0">
                    <a:solidFill>
                      <a:srgbClr val="C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54295" name="Text Box 9"/>
                <p:cNvSpPr txBox="1">
                  <a:spLocks noChangeArrowheads="1"/>
                </p:cNvSpPr>
                <p:nvPr/>
              </p:nvSpPr>
              <p:spPr bwMode="auto">
                <a:xfrm>
                  <a:off x="1884" y="1620"/>
                  <a:ext cx="246" cy="2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/>
                  <a:r>
                    <a:rPr lang="en-US" sz="2400" dirty="0">
                      <a:solidFill>
                        <a:srgbClr val="C00000"/>
                      </a:solidFill>
                      <a:latin typeface="Arial" charset="0"/>
                      <a:cs typeface="Arial" charset="0"/>
                    </a:rPr>
                    <a:t>B</a:t>
                  </a:r>
                  <a:endParaRPr lang="en-US" sz="2800" dirty="0">
                    <a:solidFill>
                      <a:srgbClr val="C00000"/>
                    </a:solidFill>
                    <a:latin typeface="Arial" charset="0"/>
                    <a:cs typeface="Arial" charset="0"/>
                  </a:endParaRPr>
                </a:p>
              </p:txBody>
            </p:sp>
          </p:grpSp>
          <p:sp>
            <p:nvSpPr>
              <p:cNvPr id="54291" name="Text Box 10"/>
              <p:cNvSpPr txBox="1">
                <a:spLocks noChangeArrowheads="1"/>
              </p:cNvSpPr>
              <p:nvPr/>
            </p:nvSpPr>
            <p:spPr bwMode="auto">
              <a:xfrm>
                <a:off x="1523" y="1706"/>
                <a:ext cx="181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400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-</a:t>
                </a:r>
              </a:p>
            </p:txBody>
          </p:sp>
          <p:sp>
            <p:nvSpPr>
              <p:cNvPr id="54292" name="Text Box 11"/>
              <p:cNvSpPr txBox="1">
                <a:spLocks noChangeArrowheads="1"/>
              </p:cNvSpPr>
              <p:nvPr/>
            </p:nvSpPr>
            <p:spPr bwMode="auto">
              <a:xfrm>
                <a:off x="1842" y="1722"/>
                <a:ext cx="229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400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+</a:t>
                </a:r>
              </a:p>
            </p:txBody>
          </p:sp>
        </p:grpSp>
        <p:sp>
          <p:nvSpPr>
            <p:cNvPr id="54284" name="Text Box 12"/>
            <p:cNvSpPr txBox="1">
              <a:spLocks noChangeArrowheads="1"/>
            </p:cNvSpPr>
            <p:nvPr/>
          </p:nvSpPr>
          <p:spPr bwMode="auto">
            <a:xfrm>
              <a:off x="2496" y="1704"/>
              <a:ext cx="1318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8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K  </a:t>
              </a:r>
              <a:r>
                <a:rPr lang="en-US" sz="32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(</a:t>
              </a:r>
              <a:r>
                <a:rPr lang="en-US" sz="28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K  (m)</a:t>
              </a:r>
              <a:r>
                <a:rPr lang="en-US" sz="32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)</a:t>
              </a:r>
              <a:r>
                <a:rPr lang="en-US" sz="28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  </a:t>
              </a:r>
            </a:p>
          </p:txBody>
        </p:sp>
        <p:sp>
          <p:nvSpPr>
            <p:cNvPr id="54285" name="Text Box 13"/>
            <p:cNvSpPr txBox="1">
              <a:spLocks noChangeArrowheads="1"/>
            </p:cNvSpPr>
            <p:nvPr/>
          </p:nvSpPr>
          <p:spPr bwMode="auto">
            <a:xfrm>
              <a:off x="3074" y="1887"/>
              <a:ext cx="24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B</a:t>
              </a:r>
              <a:endParaRPr lang="en-US" sz="2800" dirty="0">
                <a:solidFill>
                  <a:srgbClr val="C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54286" name="Text Box 14"/>
            <p:cNvSpPr txBox="1">
              <a:spLocks noChangeArrowheads="1"/>
            </p:cNvSpPr>
            <p:nvPr/>
          </p:nvSpPr>
          <p:spPr bwMode="auto">
            <a:xfrm>
              <a:off x="2722" y="1891"/>
              <a:ext cx="24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B</a:t>
              </a:r>
              <a:endParaRPr lang="en-US" sz="2800" dirty="0">
                <a:solidFill>
                  <a:srgbClr val="C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54287" name="Text Box 15"/>
            <p:cNvSpPr txBox="1">
              <a:spLocks noChangeArrowheads="1"/>
            </p:cNvSpPr>
            <p:nvPr/>
          </p:nvSpPr>
          <p:spPr bwMode="auto">
            <a:xfrm>
              <a:off x="2709" y="1636"/>
              <a:ext cx="229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+</a:t>
              </a:r>
            </a:p>
          </p:txBody>
        </p:sp>
        <p:sp>
          <p:nvSpPr>
            <p:cNvPr id="54288" name="Text Box 16"/>
            <p:cNvSpPr txBox="1">
              <a:spLocks noChangeArrowheads="1"/>
            </p:cNvSpPr>
            <p:nvPr/>
          </p:nvSpPr>
          <p:spPr bwMode="auto">
            <a:xfrm>
              <a:off x="3076" y="1615"/>
              <a:ext cx="181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-</a:t>
              </a:r>
            </a:p>
          </p:txBody>
        </p:sp>
        <p:sp>
          <p:nvSpPr>
            <p:cNvPr id="54289" name="Text Box 17"/>
            <p:cNvSpPr txBox="1">
              <a:spLocks noChangeArrowheads="1"/>
            </p:cNvSpPr>
            <p:nvPr/>
          </p:nvSpPr>
          <p:spPr bwMode="auto">
            <a:xfrm>
              <a:off x="2253" y="1755"/>
              <a:ext cx="229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=</a:t>
              </a:r>
            </a:p>
          </p:txBody>
        </p:sp>
      </p:grpSp>
      <p:sp>
        <p:nvSpPr>
          <p:cNvPr id="54277" name="Text Box 18"/>
          <p:cNvSpPr txBox="1">
            <a:spLocks noChangeArrowheads="1"/>
          </p:cNvSpPr>
          <p:nvPr/>
        </p:nvSpPr>
        <p:spPr bwMode="auto">
          <a:xfrm>
            <a:off x="1163638" y="3487738"/>
            <a:ext cx="2917825" cy="137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2800" dirty="0">
                <a:latin typeface="Gill Sans MT" charset="0"/>
              </a:rPr>
              <a:t>use public key first, followed by private key </a:t>
            </a:r>
            <a:endParaRPr lang="en-US" sz="2400" dirty="0">
              <a:latin typeface="Gill Sans MT" charset="0"/>
            </a:endParaRPr>
          </a:p>
        </p:txBody>
      </p:sp>
      <p:sp>
        <p:nvSpPr>
          <p:cNvPr id="54278" name="Text Box 19"/>
          <p:cNvSpPr txBox="1">
            <a:spLocks noChangeArrowheads="1"/>
          </p:cNvSpPr>
          <p:nvPr/>
        </p:nvSpPr>
        <p:spPr bwMode="auto">
          <a:xfrm>
            <a:off x="4494213" y="3479800"/>
            <a:ext cx="2917825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2800" dirty="0">
                <a:latin typeface="Gill Sans MT" charset="0"/>
              </a:rPr>
              <a:t>use private key first, followed by public key </a:t>
            </a:r>
            <a:endParaRPr lang="en-US" sz="2400" dirty="0">
              <a:latin typeface="Gill Sans MT" charset="0"/>
            </a:endParaRPr>
          </a:p>
        </p:txBody>
      </p:sp>
      <p:sp>
        <p:nvSpPr>
          <p:cNvPr id="54279" name="AutoShape 20"/>
          <p:cNvSpPr>
            <a:spLocks/>
          </p:cNvSpPr>
          <p:nvPr/>
        </p:nvSpPr>
        <p:spPr bwMode="auto">
          <a:xfrm rot="5400000">
            <a:off x="2481263" y="2509838"/>
            <a:ext cx="138112" cy="1509712"/>
          </a:xfrm>
          <a:prstGeom prst="rightBrace">
            <a:avLst>
              <a:gd name="adj1" fmla="val 9109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dirty="0">
              <a:solidFill>
                <a:srgbClr val="C00000"/>
              </a:solidFill>
              <a:latin typeface="Gill Sans MT" charset="0"/>
              <a:cs typeface="Arial" charset="0"/>
            </a:endParaRPr>
          </a:p>
        </p:txBody>
      </p:sp>
      <p:sp>
        <p:nvSpPr>
          <p:cNvPr id="54280" name="AutoShape 21"/>
          <p:cNvSpPr>
            <a:spLocks/>
          </p:cNvSpPr>
          <p:nvPr/>
        </p:nvSpPr>
        <p:spPr bwMode="auto">
          <a:xfrm rot="5400000">
            <a:off x="5753100" y="2501900"/>
            <a:ext cx="138113" cy="1509713"/>
          </a:xfrm>
          <a:prstGeom prst="rightBrace">
            <a:avLst>
              <a:gd name="adj1" fmla="val 9109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dirty="0">
              <a:solidFill>
                <a:srgbClr val="C00000"/>
              </a:solidFill>
              <a:latin typeface="Gill Sans MT" charset="0"/>
              <a:cs typeface="Arial" charset="0"/>
            </a:endParaRPr>
          </a:p>
        </p:txBody>
      </p:sp>
      <p:sp>
        <p:nvSpPr>
          <p:cNvPr id="54281" name="Text Box 22"/>
          <p:cNvSpPr txBox="1">
            <a:spLocks noChangeArrowheads="1"/>
          </p:cNvSpPr>
          <p:nvPr/>
        </p:nvSpPr>
        <p:spPr bwMode="auto">
          <a:xfrm>
            <a:off x="2708275" y="5200650"/>
            <a:ext cx="34671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3200" i="1" dirty="0">
                <a:solidFill>
                  <a:srgbClr val="C00000"/>
                </a:solidFill>
                <a:latin typeface="Gill Sans MT" charset="0"/>
              </a:rPr>
              <a:t>result is the same!</a:t>
            </a:r>
            <a:r>
              <a:rPr lang="en-US" sz="3200" dirty="0">
                <a:solidFill>
                  <a:srgbClr val="C00000"/>
                </a:solidFill>
                <a:latin typeface="Gill Sans MT" charset="0"/>
              </a:rPr>
              <a:t> </a:t>
            </a:r>
          </a:p>
        </p:txBody>
      </p:sp>
      <p:pic>
        <p:nvPicPr>
          <p:cNvPr id="54282" name="Picture 16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488" y="1031875"/>
            <a:ext cx="73136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23</a:t>
            </a:fld>
            <a:endParaRPr lang="en-US" sz="1200" dirty="0">
              <a:latin typeface="Tahoma" charset="0"/>
            </a:endParaRPr>
          </a:p>
        </p:txBody>
      </p:sp>
      <p:sp>
        <p:nvSpPr>
          <p:cNvPr id="26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28400489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22288" y="1425575"/>
            <a:ext cx="7772400" cy="4648200"/>
          </a:xfrm>
        </p:spPr>
        <p:txBody>
          <a:bodyPr/>
          <a:lstStyle/>
          <a:p>
            <a:pPr>
              <a:buFont typeface="Wingdings" charset="0"/>
              <a:buNone/>
            </a:pPr>
            <a:endParaRPr lang="en-US" dirty="0">
              <a:latin typeface="Gill Sans MT" charset="0"/>
            </a:endParaRPr>
          </a:p>
          <a:p>
            <a:pPr>
              <a:buFont typeface="Wingdings" charset="0"/>
              <a:buNone/>
            </a:pPr>
            <a:r>
              <a:rPr lang="en-US" dirty="0">
                <a:latin typeface="Gill Sans MT" charset="0"/>
              </a:rPr>
              <a:t>follows directly from modular arithmetic:</a:t>
            </a:r>
          </a:p>
          <a:p>
            <a:pPr>
              <a:buFont typeface="Wingdings" charset="0"/>
              <a:buNone/>
            </a:pPr>
            <a:endParaRPr lang="en-US" dirty="0">
              <a:latin typeface="Gill Sans MT" charset="0"/>
            </a:endParaRPr>
          </a:p>
          <a:p>
            <a:pPr>
              <a:buFont typeface="Wingdings" charset="0"/>
              <a:buNone/>
            </a:pPr>
            <a:r>
              <a:rPr lang="en-US" dirty="0">
                <a:latin typeface="Gill Sans MT" charset="0"/>
              </a:rPr>
              <a:t>(m</a:t>
            </a:r>
            <a:r>
              <a:rPr lang="en-US" baseline="30000" dirty="0">
                <a:latin typeface="Gill Sans MT" charset="0"/>
              </a:rPr>
              <a:t>e</a:t>
            </a:r>
            <a:r>
              <a:rPr lang="en-US" dirty="0">
                <a:latin typeface="Gill Sans MT" charset="0"/>
              </a:rPr>
              <a:t> mod n)</a:t>
            </a:r>
            <a:r>
              <a:rPr lang="en-US" baseline="30000" dirty="0">
                <a:latin typeface="Gill Sans MT" charset="0"/>
              </a:rPr>
              <a:t>d</a:t>
            </a:r>
            <a:r>
              <a:rPr lang="en-US" dirty="0">
                <a:latin typeface="Gill Sans MT" charset="0"/>
              </a:rPr>
              <a:t> mod n = m</a:t>
            </a:r>
            <a:r>
              <a:rPr lang="en-US" baseline="30000" dirty="0">
                <a:latin typeface="Gill Sans MT" charset="0"/>
              </a:rPr>
              <a:t>ed</a:t>
            </a:r>
            <a:r>
              <a:rPr lang="en-US" dirty="0">
                <a:latin typeface="Gill Sans MT" charset="0"/>
              </a:rPr>
              <a:t> mod n</a:t>
            </a:r>
          </a:p>
          <a:p>
            <a:pPr>
              <a:buFont typeface="Wingdings" charset="0"/>
              <a:buNone/>
            </a:pPr>
            <a:r>
              <a:rPr lang="en-US" dirty="0">
                <a:latin typeface="Gill Sans MT" charset="0"/>
              </a:rPr>
              <a:t>                             = m</a:t>
            </a:r>
            <a:r>
              <a:rPr lang="en-US" baseline="30000" dirty="0">
                <a:latin typeface="Gill Sans MT" charset="0"/>
              </a:rPr>
              <a:t>de</a:t>
            </a:r>
            <a:r>
              <a:rPr lang="en-US" dirty="0">
                <a:latin typeface="Gill Sans MT" charset="0"/>
              </a:rPr>
              <a:t> mod n</a:t>
            </a:r>
          </a:p>
          <a:p>
            <a:pPr>
              <a:buFont typeface="Wingdings" charset="0"/>
              <a:buNone/>
            </a:pPr>
            <a:r>
              <a:rPr lang="en-US" dirty="0">
                <a:latin typeface="Gill Sans MT" charset="0"/>
              </a:rPr>
              <a:t>                             = (m</a:t>
            </a:r>
            <a:r>
              <a:rPr lang="en-US" baseline="30000" dirty="0">
                <a:latin typeface="Gill Sans MT" charset="0"/>
              </a:rPr>
              <a:t>d</a:t>
            </a:r>
            <a:r>
              <a:rPr lang="en-US" dirty="0">
                <a:latin typeface="Gill Sans MT" charset="0"/>
              </a:rPr>
              <a:t> mod n)</a:t>
            </a:r>
            <a:r>
              <a:rPr lang="en-US" baseline="30000" dirty="0">
                <a:latin typeface="Gill Sans MT" charset="0"/>
              </a:rPr>
              <a:t>e</a:t>
            </a:r>
            <a:r>
              <a:rPr lang="en-US" dirty="0">
                <a:latin typeface="Gill Sans MT" charset="0"/>
              </a:rPr>
              <a:t> mod n </a:t>
            </a:r>
          </a:p>
          <a:p>
            <a:pPr>
              <a:buFont typeface="Wingdings" charset="0"/>
              <a:buNone/>
            </a:pPr>
            <a:endParaRPr lang="en-US" dirty="0">
              <a:latin typeface="Gill Sans MT" charset="0"/>
            </a:endParaRPr>
          </a:p>
        </p:txBody>
      </p:sp>
      <p:grpSp>
        <p:nvGrpSpPr>
          <p:cNvPr id="55299" name="Group 1"/>
          <p:cNvGrpSpPr>
            <a:grpSpLocks/>
          </p:cNvGrpSpPr>
          <p:nvPr/>
        </p:nvGrpSpPr>
        <p:grpSpPr bwMode="auto">
          <a:xfrm>
            <a:off x="423863" y="457200"/>
            <a:ext cx="6591300" cy="946150"/>
            <a:chOff x="478971" y="838200"/>
            <a:chExt cx="6590389" cy="946150"/>
          </a:xfrm>
        </p:grpSpPr>
        <p:grpSp>
          <p:nvGrpSpPr>
            <p:cNvPr id="55301" name="Group 5"/>
            <p:cNvGrpSpPr>
              <a:grpSpLocks/>
            </p:cNvGrpSpPr>
            <p:nvPr/>
          </p:nvGrpSpPr>
          <p:grpSpPr bwMode="auto">
            <a:xfrm>
              <a:off x="1676400" y="838200"/>
              <a:ext cx="5259388" cy="946150"/>
              <a:chOff x="501" y="1586"/>
              <a:chExt cx="3313" cy="596"/>
            </a:xfrm>
          </p:grpSpPr>
          <p:grpSp>
            <p:nvGrpSpPr>
              <p:cNvPr id="55304" name="Group 6"/>
              <p:cNvGrpSpPr>
                <a:grpSpLocks/>
              </p:cNvGrpSpPr>
              <p:nvPr/>
            </p:nvGrpSpPr>
            <p:grpSpPr bwMode="auto">
              <a:xfrm>
                <a:off x="501" y="1586"/>
                <a:ext cx="1807" cy="591"/>
                <a:chOff x="1328" y="1706"/>
                <a:chExt cx="1807" cy="591"/>
              </a:xfrm>
            </p:grpSpPr>
            <p:grpSp>
              <p:nvGrpSpPr>
                <p:cNvPr id="55311" name="Group 7"/>
                <p:cNvGrpSpPr>
                  <a:grpSpLocks/>
                </p:cNvGrpSpPr>
                <p:nvPr/>
              </p:nvGrpSpPr>
              <p:grpSpPr bwMode="auto">
                <a:xfrm>
                  <a:off x="1328" y="1811"/>
                  <a:ext cx="1807" cy="486"/>
                  <a:chOff x="1699" y="1433"/>
                  <a:chExt cx="1807" cy="486"/>
                </a:xfrm>
              </p:grpSpPr>
              <p:sp>
                <p:nvSpPr>
                  <p:cNvPr id="55314" name="Text Box 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699" y="1433"/>
                    <a:ext cx="1807" cy="36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  <a:cs typeface="ＭＳ Ｐゴシック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algn="ctr"/>
                    <a:r>
                      <a:rPr lang="en-US" sz="2800" dirty="0">
                        <a:solidFill>
                          <a:srgbClr val="C00000"/>
                        </a:solidFill>
                        <a:latin typeface="Arial" charset="0"/>
                        <a:cs typeface="Arial" charset="0"/>
                      </a:rPr>
                      <a:t>K  </a:t>
                    </a:r>
                    <a:r>
                      <a:rPr lang="en-US" sz="3200" dirty="0">
                        <a:solidFill>
                          <a:srgbClr val="C00000"/>
                        </a:solidFill>
                        <a:latin typeface="Arial" charset="0"/>
                        <a:cs typeface="Arial" charset="0"/>
                      </a:rPr>
                      <a:t>(</a:t>
                    </a:r>
                    <a:r>
                      <a:rPr lang="en-US" sz="2800" dirty="0">
                        <a:solidFill>
                          <a:srgbClr val="C00000"/>
                        </a:solidFill>
                        <a:latin typeface="Arial" charset="0"/>
                        <a:cs typeface="Arial" charset="0"/>
                      </a:rPr>
                      <a:t>K  (m)</a:t>
                    </a:r>
                    <a:r>
                      <a:rPr lang="en-US" sz="3200" dirty="0">
                        <a:solidFill>
                          <a:srgbClr val="C00000"/>
                        </a:solidFill>
                        <a:latin typeface="Arial" charset="0"/>
                        <a:cs typeface="Arial" charset="0"/>
                      </a:rPr>
                      <a:t>)</a:t>
                    </a:r>
                    <a:r>
                      <a:rPr lang="en-US" sz="2800" dirty="0">
                        <a:solidFill>
                          <a:srgbClr val="C00000"/>
                        </a:solidFill>
                        <a:latin typeface="Arial" charset="0"/>
                        <a:cs typeface="Arial" charset="0"/>
                      </a:rPr>
                      <a:t>  =  m </a:t>
                    </a:r>
                  </a:p>
                </p:txBody>
              </p:sp>
              <p:sp>
                <p:nvSpPr>
                  <p:cNvPr id="55315" name="Text Box 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241" y="1628"/>
                    <a:ext cx="246" cy="29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  <a:cs typeface="ＭＳ Ｐゴシック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algn="ctr"/>
                    <a:r>
                      <a:rPr lang="en-US" sz="2400" dirty="0">
                        <a:solidFill>
                          <a:srgbClr val="C00000"/>
                        </a:solidFill>
                        <a:latin typeface="Arial" charset="0"/>
                        <a:cs typeface="Arial" charset="0"/>
                      </a:rPr>
                      <a:t>B</a:t>
                    </a:r>
                    <a:endParaRPr lang="en-US" sz="2800" dirty="0">
                      <a:solidFill>
                        <a:srgbClr val="C00000"/>
                      </a:solidFill>
                      <a:latin typeface="Arial" charset="0"/>
                      <a:cs typeface="Arial" charset="0"/>
                    </a:endParaRPr>
                  </a:p>
                </p:txBody>
              </p:sp>
              <p:sp>
                <p:nvSpPr>
                  <p:cNvPr id="55316" name="Text Box 1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881" y="1620"/>
                    <a:ext cx="246" cy="29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  <a:cs typeface="ＭＳ Ｐゴシック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algn="ctr"/>
                    <a:r>
                      <a:rPr lang="en-US" sz="2400" dirty="0">
                        <a:solidFill>
                          <a:srgbClr val="C00000"/>
                        </a:solidFill>
                        <a:latin typeface="Arial" charset="0"/>
                        <a:cs typeface="Arial" charset="0"/>
                      </a:rPr>
                      <a:t>B</a:t>
                    </a:r>
                    <a:endParaRPr lang="en-US" sz="2800" dirty="0">
                      <a:solidFill>
                        <a:srgbClr val="C00000"/>
                      </a:solidFill>
                      <a:latin typeface="Arial" charset="0"/>
                      <a:cs typeface="Arial" charset="0"/>
                    </a:endParaRPr>
                  </a:p>
                </p:txBody>
              </p:sp>
            </p:grpSp>
            <p:sp>
              <p:nvSpPr>
                <p:cNvPr id="55312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1505" y="1706"/>
                  <a:ext cx="181" cy="2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/>
                  <a:r>
                    <a:rPr lang="en-US" sz="2400" dirty="0">
                      <a:solidFill>
                        <a:srgbClr val="C00000"/>
                      </a:solidFill>
                      <a:latin typeface="Arial" charset="0"/>
                      <a:cs typeface="Arial" charset="0"/>
                    </a:rPr>
                    <a:t>-</a:t>
                  </a:r>
                </a:p>
              </p:txBody>
            </p:sp>
            <p:sp>
              <p:nvSpPr>
                <p:cNvPr id="55313" name="Text Box 12"/>
                <p:cNvSpPr txBox="1">
                  <a:spLocks noChangeArrowheads="1"/>
                </p:cNvSpPr>
                <p:nvPr/>
              </p:nvSpPr>
              <p:spPr bwMode="auto">
                <a:xfrm>
                  <a:off x="1857" y="1725"/>
                  <a:ext cx="229" cy="2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/>
                  <a:r>
                    <a:rPr lang="en-US" sz="2400" dirty="0">
                      <a:solidFill>
                        <a:srgbClr val="C00000"/>
                      </a:solidFill>
                      <a:latin typeface="Arial" charset="0"/>
                      <a:cs typeface="Arial" charset="0"/>
                    </a:rPr>
                    <a:t>+</a:t>
                  </a:r>
                </a:p>
              </p:txBody>
            </p:sp>
          </p:grpSp>
          <p:sp>
            <p:nvSpPr>
              <p:cNvPr id="55305" name="Text Box 13"/>
              <p:cNvSpPr txBox="1">
                <a:spLocks noChangeArrowheads="1"/>
              </p:cNvSpPr>
              <p:nvPr/>
            </p:nvSpPr>
            <p:spPr bwMode="auto">
              <a:xfrm>
                <a:off x="2496" y="1704"/>
                <a:ext cx="1318" cy="3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800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K  </a:t>
                </a:r>
                <a:r>
                  <a:rPr lang="en-US" sz="3200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(</a:t>
                </a:r>
                <a:r>
                  <a:rPr lang="en-US" sz="2800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K  (m)</a:t>
                </a:r>
                <a:r>
                  <a:rPr lang="en-US" sz="3200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)</a:t>
                </a:r>
                <a:r>
                  <a:rPr lang="en-US" sz="2800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  </a:t>
                </a:r>
              </a:p>
            </p:txBody>
          </p:sp>
          <p:sp>
            <p:nvSpPr>
              <p:cNvPr id="55306" name="Text Box 14"/>
              <p:cNvSpPr txBox="1">
                <a:spLocks noChangeArrowheads="1"/>
              </p:cNvSpPr>
              <p:nvPr/>
            </p:nvSpPr>
            <p:spPr bwMode="auto">
              <a:xfrm>
                <a:off x="3077" y="1887"/>
                <a:ext cx="246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400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B</a:t>
                </a:r>
                <a:endParaRPr lang="en-US" sz="2800" dirty="0">
                  <a:solidFill>
                    <a:srgbClr val="C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55307" name="Text Box 15"/>
              <p:cNvSpPr txBox="1">
                <a:spLocks noChangeArrowheads="1"/>
              </p:cNvSpPr>
              <p:nvPr/>
            </p:nvSpPr>
            <p:spPr bwMode="auto">
              <a:xfrm>
                <a:off x="2716" y="1891"/>
                <a:ext cx="246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400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B</a:t>
                </a:r>
                <a:endParaRPr lang="en-US" sz="2800" dirty="0">
                  <a:solidFill>
                    <a:srgbClr val="C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55308" name="Text Box 16"/>
              <p:cNvSpPr txBox="1">
                <a:spLocks noChangeArrowheads="1"/>
              </p:cNvSpPr>
              <p:nvPr/>
            </p:nvSpPr>
            <p:spPr bwMode="auto">
              <a:xfrm>
                <a:off x="2694" y="1636"/>
                <a:ext cx="229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400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+</a:t>
                </a:r>
              </a:p>
            </p:txBody>
          </p:sp>
          <p:sp>
            <p:nvSpPr>
              <p:cNvPr id="55309" name="Text Box 17"/>
              <p:cNvSpPr txBox="1">
                <a:spLocks noChangeArrowheads="1"/>
              </p:cNvSpPr>
              <p:nvPr/>
            </p:nvSpPr>
            <p:spPr bwMode="auto">
              <a:xfrm>
                <a:off x="3079" y="1606"/>
                <a:ext cx="181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400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-</a:t>
                </a:r>
              </a:p>
            </p:txBody>
          </p:sp>
          <p:sp>
            <p:nvSpPr>
              <p:cNvPr id="55310" name="Text Box 18"/>
              <p:cNvSpPr txBox="1">
                <a:spLocks noChangeArrowheads="1"/>
              </p:cNvSpPr>
              <p:nvPr/>
            </p:nvSpPr>
            <p:spPr bwMode="auto">
              <a:xfrm>
                <a:off x="2253" y="1755"/>
                <a:ext cx="229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400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=</a:t>
                </a:r>
              </a:p>
            </p:txBody>
          </p:sp>
        </p:grpSp>
        <p:sp>
          <p:nvSpPr>
            <p:cNvPr id="55302" name="Text Box 33"/>
            <p:cNvSpPr txBox="1">
              <a:spLocks noChangeArrowheads="1"/>
            </p:cNvSpPr>
            <p:nvPr/>
          </p:nvSpPr>
          <p:spPr bwMode="auto">
            <a:xfrm>
              <a:off x="478971" y="881742"/>
              <a:ext cx="1282146" cy="7694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4400" dirty="0">
                  <a:solidFill>
                    <a:srgbClr val="000099"/>
                  </a:solidFill>
                  <a:latin typeface="Gill Sans MT" charset="0"/>
                </a:rPr>
                <a:t>Why</a:t>
              </a:r>
            </a:p>
          </p:txBody>
        </p:sp>
        <p:sp>
          <p:nvSpPr>
            <p:cNvPr id="55303" name="Text Box 34"/>
            <p:cNvSpPr txBox="1">
              <a:spLocks noChangeArrowheads="1"/>
            </p:cNvSpPr>
            <p:nvPr/>
          </p:nvSpPr>
          <p:spPr bwMode="auto">
            <a:xfrm>
              <a:off x="6657068" y="1005114"/>
              <a:ext cx="412292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32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?</a:t>
              </a:r>
            </a:p>
          </p:txBody>
        </p:sp>
      </p:grpSp>
      <p:pic>
        <p:nvPicPr>
          <p:cNvPr id="55300" name="Picture 18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688" y="1325563"/>
            <a:ext cx="63992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24</a:t>
            </a:fld>
            <a:endParaRPr lang="en-US" sz="1200" dirty="0">
              <a:latin typeface="Tahoma" charset="0"/>
            </a:endParaRPr>
          </a:p>
        </p:txBody>
      </p:sp>
      <p:sp>
        <p:nvSpPr>
          <p:cNvPr id="23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19283321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ill Sans MT" charset="0"/>
              </a:rPr>
              <a:t>Why is RSA secure?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7772400" cy="2438400"/>
          </a:xfrm>
        </p:spPr>
        <p:txBody>
          <a:bodyPr/>
          <a:lstStyle/>
          <a:p>
            <a:r>
              <a:rPr lang="en-US" dirty="0">
                <a:latin typeface="Gill Sans MT" charset="0"/>
              </a:rPr>
              <a:t>suppose you know Brajesh</a:t>
            </a:r>
            <a:r>
              <a:rPr lang="ja-JP" altLang="en-US" dirty="0">
                <a:latin typeface="Gill Sans MT" charset="0"/>
              </a:rPr>
              <a:t>’</a:t>
            </a:r>
            <a:r>
              <a:rPr lang="en-US" altLang="ja-JP" dirty="0">
                <a:latin typeface="Gill Sans MT" charset="0"/>
              </a:rPr>
              <a:t>s public key (n,e). How hard is it to determine d?</a:t>
            </a:r>
          </a:p>
          <a:p>
            <a:r>
              <a:rPr lang="en-US" dirty="0">
                <a:latin typeface="Gill Sans MT" charset="0"/>
              </a:rPr>
              <a:t>essentially need to find factors of n without knowing the two factors p and q </a:t>
            </a:r>
          </a:p>
          <a:p>
            <a:pPr lvl="1"/>
            <a:r>
              <a:rPr lang="en-US" sz="2800" dirty="0">
                <a:latin typeface="Gill Sans MT" charset="0"/>
              </a:rPr>
              <a:t>fact: factoring a big number is hard</a:t>
            </a:r>
          </a:p>
          <a:p>
            <a:pPr>
              <a:buFont typeface="Wingdings" charset="0"/>
              <a:buNone/>
            </a:pPr>
            <a:endParaRPr lang="en-US" dirty="0">
              <a:latin typeface="Gill Sans MT" charset="0"/>
            </a:endParaRPr>
          </a:p>
        </p:txBody>
      </p:sp>
      <p:pic>
        <p:nvPicPr>
          <p:cNvPr id="56324" name="Picture 22" descr="underline_base"/>
          <p:cNvPicPr>
            <a:picLocks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350" y="1044575"/>
            <a:ext cx="45704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25</a:t>
            </a:fld>
            <a:endParaRPr lang="en-US" sz="1200" dirty="0">
              <a:latin typeface="Tahoma" charset="0"/>
            </a:endParaRPr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14460168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ill Sans MT" charset="0"/>
              </a:rPr>
              <a:t>RSA in practice: session keys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22288" y="1393825"/>
            <a:ext cx="7772400" cy="4648200"/>
          </a:xfrm>
        </p:spPr>
        <p:txBody>
          <a:bodyPr/>
          <a:lstStyle/>
          <a:p>
            <a:r>
              <a:rPr lang="en-US" dirty="0">
                <a:latin typeface="Gill Sans MT" charset="0"/>
              </a:rPr>
              <a:t>exponentiation in RSA is computationally intensive</a:t>
            </a:r>
          </a:p>
          <a:p>
            <a:r>
              <a:rPr lang="en-US" dirty="0">
                <a:latin typeface="Gill Sans MT" charset="0"/>
              </a:rPr>
              <a:t>DES is at least 100 times faster than RSA</a:t>
            </a:r>
          </a:p>
          <a:p>
            <a:r>
              <a:rPr lang="en-US" dirty="0">
                <a:latin typeface="Gill Sans MT" charset="0"/>
              </a:rPr>
              <a:t>use public key crypto to establish secure connection, then establish second key – symmetric session key – for encrypting data</a:t>
            </a:r>
          </a:p>
          <a:p>
            <a:pPr>
              <a:spcBef>
                <a:spcPct val="60000"/>
              </a:spcBef>
              <a:buFont typeface="Wingdings" charset="0"/>
              <a:buNone/>
            </a:pPr>
            <a:r>
              <a:rPr lang="en-US" i="1" dirty="0">
                <a:solidFill>
                  <a:srgbClr val="C00000"/>
                </a:solidFill>
                <a:latin typeface="Gill Sans MT" charset="0"/>
              </a:rPr>
              <a:t>session key, K</a:t>
            </a:r>
            <a:r>
              <a:rPr lang="en-US" i="1" baseline="-25000" dirty="0">
                <a:solidFill>
                  <a:srgbClr val="C00000"/>
                </a:solidFill>
                <a:latin typeface="Gill Sans MT" charset="0"/>
              </a:rPr>
              <a:t>S</a:t>
            </a:r>
          </a:p>
          <a:p>
            <a:r>
              <a:rPr lang="en-US" sz="2400" dirty="0">
                <a:latin typeface="Gill Sans MT" charset="0"/>
              </a:rPr>
              <a:t>Brajesh and Aman use RSA to exchange a symmetric key K</a:t>
            </a:r>
            <a:r>
              <a:rPr lang="en-US" sz="2400" baseline="-25000" dirty="0">
                <a:latin typeface="Gill Sans MT" charset="0"/>
              </a:rPr>
              <a:t>S</a:t>
            </a:r>
          </a:p>
          <a:p>
            <a:r>
              <a:rPr lang="en-US" sz="2400" dirty="0">
                <a:latin typeface="Gill Sans MT" charset="0"/>
              </a:rPr>
              <a:t>once both have K</a:t>
            </a:r>
            <a:r>
              <a:rPr lang="en-US" sz="2400" baseline="-25000" dirty="0">
                <a:latin typeface="Gill Sans MT" charset="0"/>
              </a:rPr>
              <a:t>S</a:t>
            </a:r>
            <a:r>
              <a:rPr lang="en-US" sz="2400" dirty="0">
                <a:latin typeface="Gill Sans MT" charset="0"/>
              </a:rPr>
              <a:t>, they use symmetric key cryptography</a:t>
            </a:r>
          </a:p>
          <a:p>
            <a:endParaRPr lang="en-US" dirty="0">
              <a:latin typeface="Gill Sans MT" charset="0"/>
            </a:endParaRPr>
          </a:p>
        </p:txBody>
      </p:sp>
      <p:pic>
        <p:nvPicPr>
          <p:cNvPr id="57348" name="Picture 17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1079500"/>
            <a:ext cx="68564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26</a:t>
            </a:fld>
            <a:endParaRPr lang="en-US" sz="1200" dirty="0">
              <a:latin typeface="Tahoma" charset="0"/>
            </a:endParaRPr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9709265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ill Sans MT" charset="0"/>
              </a:rPr>
              <a:t>Chapter 8 roadmap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50875" y="1668463"/>
            <a:ext cx="7772400" cy="4648200"/>
          </a:xfrm>
        </p:spPr>
        <p:txBody>
          <a:bodyPr/>
          <a:lstStyle/>
          <a:p>
            <a:pPr>
              <a:buFont typeface="Wingdings" charset="0"/>
              <a:buNone/>
            </a:pPr>
            <a:r>
              <a:rPr lang="en-US" dirty="0">
                <a:solidFill>
                  <a:srgbClr val="000099"/>
                </a:solidFill>
                <a:latin typeface="Gill Sans MT" charset="0"/>
              </a:rPr>
              <a:t>8.1</a:t>
            </a:r>
            <a:r>
              <a:rPr lang="en-US" dirty="0">
                <a:latin typeface="Gill Sans MT" charset="0"/>
              </a:rPr>
              <a:t> What is network security?</a:t>
            </a:r>
          </a:p>
          <a:p>
            <a:pPr>
              <a:buFont typeface="Wingdings" charset="0"/>
              <a:buNone/>
            </a:pPr>
            <a:r>
              <a:rPr lang="en-US" dirty="0">
                <a:solidFill>
                  <a:srgbClr val="000099"/>
                </a:solidFill>
                <a:latin typeface="Gill Sans MT" charset="0"/>
              </a:rPr>
              <a:t>8.2</a:t>
            </a:r>
            <a:r>
              <a:rPr lang="en-US" dirty="0">
                <a:latin typeface="Gill Sans MT" charset="0"/>
              </a:rPr>
              <a:t> Principles of cryptography</a:t>
            </a:r>
          </a:p>
          <a:p>
            <a:pPr>
              <a:buFont typeface="Wingdings" charset="0"/>
              <a:buNone/>
            </a:pPr>
            <a:r>
              <a:rPr lang="en-US" i="1" dirty="0">
                <a:solidFill>
                  <a:srgbClr val="C00000"/>
                </a:solidFill>
                <a:latin typeface="Gill Sans MT" charset="0"/>
              </a:rPr>
              <a:t>8.3 </a:t>
            </a:r>
            <a:r>
              <a:rPr lang="en-US" dirty="0">
                <a:latin typeface="Gill Sans MT" charset="0"/>
              </a:rPr>
              <a:t>Message integrity</a:t>
            </a:r>
            <a:r>
              <a:rPr lang="en-US" i="1" dirty="0">
                <a:solidFill>
                  <a:srgbClr val="C00000"/>
                </a:solidFill>
                <a:latin typeface="Gill Sans MT" charset="0"/>
              </a:rPr>
              <a:t>, authentication</a:t>
            </a:r>
          </a:p>
          <a:p>
            <a:pPr>
              <a:buFont typeface="Wingdings" charset="0"/>
              <a:buNone/>
            </a:pPr>
            <a:r>
              <a:rPr lang="en-US" dirty="0">
                <a:solidFill>
                  <a:srgbClr val="000099"/>
                </a:solidFill>
                <a:latin typeface="Gill Sans MT" charset="0"/>
              </a:rPr>
              <a:t>8.4 </a:t>
            </a:r>
            <a:r>
              <a:rPr lang="en-US" dirty="0">
                <a:latin typeface="Gill Sans MT" charset="0"/>
              </a:rPr>
              <a:t>Securing e-mail</a:t>
            </a:r>
          </a:p>
          <a:p>
            <a:pPr>
              <a:buFont typeface="Wingdings" charset="0"/>
              <a:buNone/>
            </a:pPr>
            <a:r>
              <a:rPr lang="en-US" dirty="0">
                <a:solidFill>
                  <a:srgbClr val="000099"/>
                </a:solidFill>
                <a:latin typeface="Gill Sans MT" charset="0"/>
              </a:rPr>
              <a:t>8.5</a:t>
            </a:r>
            <a:r>
              <a:rPr lang="en-US" dirty="0">
                <a:latin typeface="Gill Sans MT" charset="0"/>
              </a:rPr>
              <a:t> Securing TCP connections: SSL</a:t>
            </a:r>
          </a:p>
          <a:p>
            <a:pPr>
              <a:buFont typeface="Wingdings" charset="0"/>
              <a:buNone/>
            </a:pPr>
            <a:r>
              <a:rPr lang="en-US" dirty="0">
                <a:solidFill>
                  <a:srgbClr val="000099"/>
                </a:solidFill>
                <a:latin typeface="Gill Sans MT" charset="0"/>
              </a:rPr>
              <a:t>8.6</a:t>
            </a:r>
            <a:r>
              <a:rPr lang="en-US" dirty="0">
                <a:latin typeface="Gill Sans MT" charset="0"/>
              </a:rPr>
              <a:t> Network layer security: IPsec</a:t>
            </a:r>
          </a:p>
          <a:p>
            <a:pPr>
              <a:buFont typeface="Wingdings" charset="0"/>
              <a:buNone/>
            </a:pPr>
            <a:r>
              <a:rPr lang="en-US" dirty="0">
                <a:solidFill>
                  <a:srgbClr val="000099"/>
                </a:solidFill>
                <a:latin typeface="Gill Sans MT" charset="0"/>
              </a:rPr>
              <a:t>8.7</a:t>
            </a:r>
            <a:r>
              <a:rPr lang="en-US" dirty="0">
                <a:latin typeface="Gill Sans MT" charset="0"/>
              </a:rPr>
              <a:t> Securing wireless LANs</a:t>
            </a:r>
          </a:p>
          <a:p>
            <a:pPr>
              <a:buFont typeface="Wingdings" charset="0"/>
              <a:buNone/>
            </a:pPr>
            <a:r>
              <a:rPr lang="en-US" dirty="0">
                <a:solidFill>
                  <a:srgbClr val="000099"/>
                </a:solidFill>
                <a:latin typeface="Gill Sans MT" charset="0"/>
              </a:rPr>
              <a:t>8.8</a:t>
            </a:r>
            <a:r>
              <a:rPr lang="en-US" dirty="0">
                <a:latin typeface="Gill Sans MT" charset="0"/>
              </a:rPr>
              <a:t> Operational security: firewalls and IDS</a:t>
            </a:r>
          </a:p>
        </p:txBody>
      </p:sp>
      <p:pic>
        <p:nvPicPr>
          <p:cNvPr id="58372" name="Picture 22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238" y="1066800"/>
            <a:ext cx="45704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27</a:t>
            </a:fld>
            <a:endParaRPr lang="en-US" sz="1200" dirty="0">
              <a:latin typeface="Tahoma" charset="0"/>
            </a:endParaRPr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14064820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490538" y="312738"/>
            <a:ext cx="4276725" cy="1143000"/>
          </a:xfrm>
        </p:spPr>
        <p:txBody>
          <a:bodyPr/>
          <a:lstStyle/>
          <a:p>
            <a:r>
              <a:rPr lang="en-US" dirty="0">
                <a:latin typeface="Gill Sans MT" charset="0"/>
              </a:rPr>
              <a:t>Authentication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7978775" cy="966788"/>
          </a:xfrm>
        </p:spPr>
        <p:txBody>
          <a:bodyPr/>
          <a:lstStyle/>
          <a:p>
            <a:pPr>
              <a:buFont typeface="Wingdings" charset="0"/>
              <a:buNone/>
            </a:pPr>
            <a:r>
              <a:rPr lang="en-US" i="1" dirty="0">
                <a:solidFill>
                  <a:srgbClr val="C00000"/>
                </a:solidFill>
                <a:latin typeface="Gill Sans MT" charset="0"/>
              </a:rPr>
              <a:t>Goal: </a:t>
            </a:r>
            <a:r>
              <a:rPr lang="en-US" dirty="0">
                <a:latin typeface="Gill Sans MT" charset="0"/>
              </a:rPr>
              <a:t>Brajesh wants Aman to </a:t>
            </a:r>
            <a:r>
              <a:rPr lang="ja-JP" altLang="en-US" dirty="0">
                <a:latin typeface="Gill Sans MT" charset="0"/>
              </a:rPr>
              <a:t>“</a:t>
            </a:r>
            <a:r>
              <a:rPr lang="en-US" altLang="ja-JP" dirty="0">
                <a:latin typeface="Gill Sans MT" charset="0"/>
              </a:rPr>
              <a:t>prove</a:t>
            </a:r>
            <a:r>
              <a:rPr lang="ja-JP" altLang="en-US" dirty="0">
                <a:latin typeface="Gill Sans MT" charset="0"/>
              </a:rPr>
              <a:t>”</a:t>
            </a:r>
            <a:r>
              <a:rPr lang="en-US" altLang="ja-JP" dirty="0">
                <a:latin typeface="Gill Sans MT" charset="0"/>
              </a:rPr>
              <a:t> her identity to him</a:t>
            </a:r>
            <a:endParaRPr lang="en-US" dirty="0">
              <a:latin typeface="Gill Sans MT" charset="0"/>
            </a:endParaRPr>
          </a:p>
        </p:txBody>
      </p:sp>
      <p:sp>
        <p:nvSpPr>
          <p:cNvPr id="31749" name="Text Box 4"/>
          <p:cNvSpPr txBox="1">
            <a:spLocks noChangeArrowheads="1"/>
          </p:cNvSpPr>
          <p:nvPr/>
        </p:nvSpPr>
        <p:spPr bwMode="auto">
          <a:xfrm>
            <a:off x="342376" y="2262188"/>
            <a:ext cx="587321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2800" i="1" u="sng" dirty="0">
                <a:solidFill>
                  <a:srgbClr val="C00000"/>
                </a:solidFill>
                <a:latin typeface="Gill Sans MT" charset="0"/>
                <a:cs typeface="+mn-cs"/>
              </a:rPr>
              <a:t>Protocol ap1.0:</a:t>
            </a:r>
            <a:r>
              <a:rPr lang="en-US" sz="2800" i="1" dirty="0">
                <a:solidFill>
                  <a:srgbClr val="C00000"/>
                </a:solidFill>
                <a:latin typeface="Gill Sans MT" charset="0"/>
                <a:cs typeface="+mn-cs"/>
              </a:rPr>
              <a:t>  </a:t>
            </a:r>
            <a:r>
              <a:rPr lang="en-US" sz="2800" dirty="0">
                <a:latin typeface="Gill Sans MT" charset="0"/>
                <a:cs typeface="+mn-cs"/>
              </a:rPr>
              <a:t>Aman says </a:t>
            </a:r>
            <a:r>
              <a:rPr lang="ja-JP" altLang="en-US" sz="2800" dirty="0">
                <a:latin typeface="Gill Sans MT" charset="0"/>
                <a:cs typeface="+mn-cs"/>
              </a:rPr>
              <a:t>“</a:t>
            </a:r>
            <a:r>
              <a:rPr lang="en-US" sz="2800" dirty="0">
                <a:latin typeface="Gill Sans MT" charset="0"/>
                <a:cs typeface="+mn-cs"/>
              </a:rPr>
              <a:t>I am Aman</a:t>
            </a:r>
            <a:r>
              <a:rPr lang="ja-JP" altLang="en-US" sz="2800" dirty="0">
                <a:latin typeface="Gill Sans MT" charset="0"/>
                <a:cs typeface="+mn-cs"/>
              </a:rPr>
              <a:t>”</a:t>
            </a:r>
            <a:endParaRPr lang="en-US" sz="2800" dirty="0">
              <a:latin typeface="Gill Sans MT" charset="0"/>
              <a:cs typeface="+mn-cs"/>
            </a:endParaRPr>
          </a:p>
        </p:txBody>
      </p:sp>
      <p:sp>
        <p:nvSpPr>
          <p:cNvPr id="31750" name="Text Box 5"/>
          <p:cNvSpPr txBox="1">
            <a:spLocks noChangeArrowheads="1"/>
          </p:cNvSpPr>
          <p:nvPr/>
        </p:nvSpPr>
        <p:spPr bwMode="auto">
          <a:xfrm>
            <a:off x="5281613" y="4135438"/>
            <a:ext cx="27574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2400" dirty="0">
                <a:latin typeface="Arial" charset="0"/>
                <a:cs typeface="Arial" charset="0"/>
              </a:rPr>
              <a:t>Failure scenario??</a:t>
            </a:r>
          </a:p>
        </p:txBody>
      </p:sp>
      <p:pic>
        <p:nvPicPr>
          <p:cNvPr id="60422" name="Picture 6" descr="Alic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388" y="3721100"/>
            <a:ext cx="698500" cy="86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423" name="Picture 7" descr="Eve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3413" y="4983163"/>
            <a:ext cx="1082675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424" name="Picture 8" descr="Bob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8363" y="3811588"/>
            <a:ext cx="81280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54" name="Line 9"/>
          <p:cNvSpPr>
            <a:spLocks noChangeShapeType="1"/>
          </p:cNvSpPr>
          <p:nvPr/>
        </p:nvSpPr>
        <p:spPr bwMode="auto">
          <a:xfrm>
            <a:off x="1490663" y="4248150"/>
            <a:ext cx="1870075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1755" name="Text Box 10"/>
          <p:cNvSpPr txBox="1">
            <a:spLocks noChangeArrowheads="1"/>
          </p:cNvSpPr>
          <p:nvPr/>
        </p:nvSpPr>
        <p:spPr bwMode="auto">
          <a:xfrm>
            <a:off x="1416401" y="3749675"/>
            <a:ext cx="196303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ja-JP" altLang="en-US" sz="2400" dirty="0">
                <a:latin typeface="Arial" charset="0"/>
                <a:cs typeface="Arial" charset="0"/>
              </a:rPr>
              <a:t>“</a:t>
            </a:r>
            <a:r>
              <a:rPr lang="en-US" sz="2400" dirty="0">
                <a:latin typeface="Arial" charset="0"/>
                <a:cs typeface="Arial" charset="0"/>
              </a:rPr>
              <a:t>I am Aman</a:t>
            </a:r>
            <a:r>
              <a:rPr lang="ja-JP" altLang="en-US" sz="2400" dirty="0">
                <a:latin typeface="Arial" charset="0"/>
                <a:cs typeface="Arial" charset="0"/>
              </a:rPr>
              <a:t>”</a:t>
            </a:r>
            <a:endParaRPr lang="en-US" sz="2400" dirty="0">
              <a:latin typeface="Arial" charset="0"/>
              <a:cs typeface="Arial" charset="0"/>
            </a:endParaRPr>
          </a:p>
        </p:txBody>
      </p:sp>
      <p:pic>
        <p:nvPicPr>
          <p:cNvPr id="60427" name="Picture 24" descr="underline_base"/>
          <p:cNvPicPr>
            <a:picLocks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175" y="1109663"/>
            <a:ext cx="36560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28</a:t>
            </a:fld>
            <a:endParaRPr lang="en-US" sz="1200" dirty="0">
              <a:latin typeface="Tahoma" charset="0"/>
            </a:endParaRPr>
          </a:p>
        </p:txBody>
      </p:sp>
      <p:sp>
        <p:nvSpPr>
          <p:cNvPr id="14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37382975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Text Box 5"/>
          <p:cNvSpPr txBox="1">
            <a:spLocks noChangeArrowheads="1"/>
          </p:cNvSpPr>
          <p:nvPr/>
        </p:nvSpPr>
        <p:spPr bwMode="auto">
          <a:xfrm>
            <a:off x="5094288" y="3840163"/>
            <a:ext cx="3586162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2400" dirty="0">
                <a:latin typeface="Arial" charset="0"/>
                <a:cs typeface="Arial" charset="0"/>
              </a:rPr>
              <a:t>in a network,</a:t>
            </a:r>
          </a:p>
          <a:p>
            <a:pPr algn="ctr">
              <a:defRPr/>
            </a:pPr>
            <a:r>
              <a:rPr lang="en-US" sz="2400" dirty="0">
                <a:latin typeface="Arial" charset="0"/>
                <a:cs typeface="Arial" charset="0"/>
              </a:rPr>
              <a:t>Brajesh can not </a:t>
            </a:r>
            <a:r>
              <a:rPr lang="ja-JP" altLang="en-US" sz="2400" dirty="0">
                <a:latin typeface="Arial" charset="0"/>
                <a:cs typeface="Arial" charset="0"/>
              </a:rPr>
              <a:t>“</a:t>
            </a:r>
            <a:r>
              <a:rPr lang="en-US" sz="2400" dirty="0">
                <a:latin typeface="Arial" charset="0"/>
                <a:cs typeface="Arial" charset="0"/>
              </a:rPr>
              <a:t>see</a:t>
            </a:r>
            <a:r>
              <a:rPr lang="ja-JP" altLang="en-US" sz="2400" dirty="0">
                <a:latin typeface="Arial" charset="0"/>
                <a:cs typeface="Arial" charset="0"/>
              </a:rPr>
              <a:t>”</a:t>
            </a:r>
            <a:r>
              <a:rPr lang="en-US" sz="2400" dirty="0">
                <a:latin typeface="Arial" charset="0"/>
                <a:cs typeface="Arial" charset="0"/>
              </a:rPr>
              <a:t> Aman, so Manish simply declares</a:t>
            </a:r>
          </a:p>
          <a:p>
            <a:pPr algn="ctr">
              <a:defRPr/>
            </a:pPr>
            <a:r>
              <a:rPr lang="en-US" sz="2400" dirty="0">
                <a:latin typeface="Arial" charset="0"/>
                <a:cs typeface="Arial" charset="0"/>
              </a:rPr>
              <a:t>herself to be Aman</a:t>
            </a:r>
          </a:p>
        </p:txBody>
      </p:sp>
      <p:pic>
        <p:nvPicPr>
          <p:cNvPr id="61443" name="Picture 6" descr="Alic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388" y="3721100"/>
            <a:ext cx="698500" cy="86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44" name="Picture 7" descr="Eve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3413" y="4983163"/>
            <a:ext cx="1082675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45" name="Picture 8" descr="Bob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1063" y="3813175"/>
            <a:ext cx="8128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5" name="Line 9"/>
          <p:cNvSpPr>
            <a:spLocks noChangeShapeType="1"/>
          </p:cNvSpPr>
          <p:nvPr/>
        </p:nvSpPr>
        <p:spPr bwMode="auto">
          <a:xfrm flipV="1">
            <a:off x="2784475" y="4473575"/>
            <a:ext cx="773113" cy="1027113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2776" name="Text Box 10"/>
          <p:cNvSpPr txBox="1">
            <a:spLocks noChangeArrowheads="1"/>
          </p:cNvSpPr>
          <p:nvPr/>
        </p:nvSpPr>
        <p:spPr bwMode="auto">
          <a:xfrm>
            <a:off x="2991201" y="5002213"/>
            <a:ext cx="196303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ja-JP" altLang="en-US" sz="2400" dirty="0">
                <a:latin typeface="Arial" charset="0"/>
                <a:cs typeface="Arial" charset="0"/>
              </a:rPr>
              <a:t>“</a:t>
            </a:r>
            <a:r>
              <a:rPr lang="en-US" sz="2400" dirty="0">
                <a:latin typeface="Arial" charset="0"/>
                <a:cs typeface="Arial" charset="0"/>
              </a:rPr>
              <a:t>I am Aman</a:t>
            </a:r>
            <a:r>
              <a:rPr lang="ja-JP" altLang="en-US" sz="2400" dirty="0">
                <a:latin typeface="Arial" charset="0"/>
                <a:cs typeface="Arial" charset="0"/>
              </a:rPr>
              <a:t>”</a:t>
            </a:r>
            <a:endParaRPr lang="en-US" sz="2400" dirty="0">
              <a:latin typeface="Arial" charset="0"/>
              <a:cs typeface="Arial" charset="0"/>
            </a:endParaRPr>
          </a:p>
        </p:txBody>
      </p:sp>
      <p:sp>
        <p:nvSpPr>
          <p:cNvPr id="61448" name="Rectangle 2"/>
          <p:cNvSpPr>
            <a:spLocks noGrp="1" noChangeArrowheads="1"/>
          </p:cNvSpPr>
          <p:nvPr>
            <p:ph type="title"/>
          </p:nvPr>
        </p:nvSpPr>
        <p:spPr>
          <a:xfrm>
            <a:off x="490538" y="312738"/>
            <a:ext cx="4276725" cy="1143000"/>
          </a:xfrm>
        </p:spPr>
        <p:txBody>
          <a:bodyPr/>
          <a:lstStyle/>
          <a:p>
            <a:r>
              <a:rPr lang="en-US" dirty="0">
                <a:latin typeface="Gill Sans MT" charset="0"/>
              </a:rPr>
              <a:t>Authentication</a:t>
            </a:r>
          </a:p>
        </p:txBody>
      </p:sp>
      <p:pic>
        <p:nvPicPr>
          <p:cNvPr id="61449" name="Picture 24" descr="underline_base"/>
          <p:cNvPicPr>
            <a:picLocks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175" y="1109663"/>
            <a:ext cx="36560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50" name="Rectangle 3"/>
          <p:cNvSpPr txBox="1">
            <a:spLocks noChangeArrowheads="1"/>
          </p:cNvSpPr>
          <p:nvPr/>
        </p:nvSpPr>
        <p:spPr bwMode="auto">
          <a:xfrm>
            <a:off x="533400" y="1600200"/>
            <a:ext cx="7978775" cy="966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spcBef>
                <a:spcPct val="20000"/>
              </a:spcBef>
              <a:buClr>
                <a:srgbClr val="000099"/>
              </a:buClr>
              <a:buSzPct val="70000"/>
              <a:buFont typeface="Wingdings" charset="0"/>
              <a:buNone/>
            </a:pPr>
            <a:r>
              <a:rPr lang="en-US" sz="2800" i="1" dirty="0">
                <a:solidFill>
                  <a:srgbClr val="C00000"/>
                </a:solidFill>
                <a:latin typeface="Gill Sans MT" charset="0"/>
              </a:rPr>
              <a:t>Goal:  </a:t>
            </a:r>
            <a:r>
              <a:rPr lang="en-US" sz="2800" dirty="0">
                <a:latin typeface="Gill Sans MT" charset="0"/>
              </a:rPr>
              <a:t>Brajesh wants Aman to </a:t>
            </a:r>
            <a:r>
              <a:rPr lang="ja-JP" altLang="en-US" sz="2800" dirty="0">
                <a:latin typeface="Gill Sans MT" charset="0"/>
              </a:rPr>
              <a:t>“</a:t>
            </a:r>
            <a:r>
              <a:rPr lang="en-US" altLang="ja-JP" sz="2800" dirty="0">
                <a:latin typeface="Gill Sans MT" charset="0"/>
              </a:rPr>
              <a:t>prove</a:t>
            </a:r>
            <a:r>
              <a:rPr lang="ja-JP" altLang="en-US" sz="2800" dirty="0">
                <a:latin typeface="Gill Sans MT" charset="0"/>
              </a:rPr>
              <a:t>”</a:t>
            </a:r>
            <a:r>
              <a:rPr lang="en-US" altLang="ja-JP" sz="2800" dirty="0">
                <a:latin typeface="Gill Sans MT" charset="0"/>
              </a:rPr>
              <a:t> her identity to him</a:t>
            </a:r>
            <a:endParaRPr lang="en-US" sz="2800" dirty="0">
              <a:latin typeface="Gill Sans MT" charset="0"/>
            </a:endParaRPr>
          </a:p>
        </p:txBody>
      </p:sp>
      <p:sp>
        <p:nvSpPr>
          <p:cNvPr id="32780" name="Text Box 4"/>
          <p:cNvSpPr txBox="1">
            <a:spLocks noChangeArrowheads="1"/>
          </p:cNvSpPr>
          <p:nvPr/>
        </p:nvSpPr>
        <p:spPr bwMode="auto">
          <a:xfrm>
            <a:off x="342376" y="2262188"/>
            <a:ext cx="587321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2800" i="1" u="sng" dirty="0">
                <a:solidFill>
                  <a:srgbClr val="C00000"/>
                </a:solidFill>
                <a:latin typeface="Gill Sans MT" charset="0"/>
                <a:cs typeface="+mn-cs"/>
              </a:rPr>
              <a:t>Protocol ap1.0:</a:t>
            </a:r>
            <a:r>
              <a:rPr lang="en-US" sz="2800" i="1" dirty="0">
                <a:solidFill>
                  <a:srgbClr val="C00000"/>
                </a:solidFill>
                <a:latin typeface="Gill Sans MT" charset="0"/>
                <a:cs typeface="+mn-cs"/>
              </a:rPr>
              <a:t>  </a:t>
            </a:r>
            <a:r>
              <a:rPr lang="en-US" sz="2800" dirty="0">
                <a:latin typeface="Gill Sans MT" charset="0"/>
                <a:cs typeface="+mn-cs"/>
              </a:rPr>
              <a:t>Aman says </a:t>
            </a:r>
            <a:r>
              <a:rPr lang="ja-JP" altLang="en-US" sz="2800" dirty="0">
                <a:latin typeface="Gill Sans MT" charset="0"/>
                <a:cs typeface="+mn-cs"/>
              </a:rPr>
              <a:t>“</a:t>
            </a:r>
            <a:r>
              <a:rPr lang="en-US" sz="2800" dirty="0">
                <a:latin typeface="Gill Sans MT" charset="0"/>
                <a:cs typeface="+mn-cs"/>
              </a:rPr>
              <a:t>I am Aman</a:t>
            </a:r>
            <a:r>
              <a:rPr lang="ja-JP" altLang="en-US" sz="2800" dirty="0">
                <a:latin typeface="Gill Sans MT" charset="0"/>
                <a:cs typeface="+mn-cs"/>
              </a:rPr>
              <a:t>”</a:t>
            </a:r>
            <a:endParaRPr lang="en-US" sz="2800" dirty="0">
              <a:latin typeface="Gill Sans MT" charset="0"/>
              <a:cs typeface="+mn-cs"/>
            </a:endParaRPr>
          </a:p>
        </p:txBody>
      </p:sp>
      <p:sp>
        <p:nvSpPr>
          <p:cNvPr id="13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29</a:t>
            </a:fld>
            <a:endParaRPr lang="en-US" sz="1200" dirty="0">
              <a:latin typeface="Tahoma" charset="0"/>
            </a:endParaRPr>
          </a:p>
        </p:txBody>
      </p:sp>
      <p:sp>
        <p:nvSpPr>
          <p:cNvPr id="14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21523076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>
          <a:xfrm>
            <a:off x="358775" y="130175"/>
            <a:ext cx="7772400" cy="1143000"/>
          </a:xfrm>
        </p:spPr>
        <p:txBody>
          <a:bodyPr/>
          <a:lstStyle/>
          <a:p>
            <a:r>
              <a:rPr lang="en-US" dirty="0">
                <a:latin typeface="Gill Sans MT" charset="0"/>
              </a:rPr>
              <a:t>Authentication: another try</a:t>
            </a:r>
          </a:p>
        </p:txBody>
      </p:sp>
      <p:sp>
        <p:nvSpPr>
          <p:cNvPr id="33796" name="Text Box 3"/>
          <p:cNvSpPr txBox="1">
            <a:spLocks noChangeArrowheads="1"/>
          </p:cNvSpPr>
          <p:nvPr/>
        </p:nvSpPr>
        <p:spPr bwMode="auto">
          <a:xfrm>
            <a:off x="350676" y="1452563"/>
            <a:ext cx="8204362" cy="892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r">
              <a:defRPr/>
            </a:pPr>
            <a:r>
              <a:rPr lang="en-US" sz="2800" i="1" dirty="0">
                <a:solidFill>
                  <a:srgbClr val="C00000"/>
                </a:solidFill>
                <a:latin typeface="Arial" charset="0"/>
                <a:cs typeface="Arial" charset="0"/>
              </a:rPr>
              <a:t>Protocol ap2.0: </a:t>
            </a:r>
            <a:r>
              <a:rPr lang="en-US" sz="2400" dirty="0">
                <a:latin typeface="Arial" charset="0"/>
                <a:cs typeface="Arial" charset="0"/>
              </a:rPr>
              <a:t>Aman says </a:t>
            </a:r>
            <a:r>
              <a:rPr lang="ja-JP" altLang="en-US" sz="2400" dirty="0">
                <a:latin typeface="Arial" charset="0"/>
                <a:cs typeface="Arial" charset="0"/>
              </a:rPr>
              <a:t>“</a:t>
            </a:r>
            <a:r>
              <a:rPr lang="en-US" sz="2400" dirty="0">
                <a:latin typeface="Arial" charset="0"/>
                <a:cs typeface="Arial" charset="0"/>
              </a:rPr>
              <a:t>I am Aman</a:t>
            </a:r>
            <a:r>
              <a:rPr lang="ja-JP" altLang="en-US" sz="2400" dirty="0">
                <a:latin typeface="Arial" charset="0"/>
                <a:cs typeface="Arial" charset="0"/>
              </a:rPr>
              <a:t>”</a:t>
            </a:r>
            <a:r>
              <a:rPr lang="en-US" sz="2400" dirty="0">
                <a:latin typeface="Arial" charset="0"/>
                <a:cs typeface="Arial" charset="0"/>
              </a:rPr>
              <a:t> in an IP packet</a:t>
            </a:r>
          </a:p>
          <a:p>
            <a:pPr algn="r">
              <a:defRPr/>
            </a:pPr>
            <a:r>
              <a:rPr lang="en-US" sz="2400" dirty="0">
                <a:latin typeface="Arial" charset="0"/>
                <a:cs typeface="Arial" charset="0"/>
              </a:rPr>
              <a:t>containing her source IP address </a:t>
            </a:r>
          </a:p>
        </p:txBody>
      </p:sp>
      <p:sp>
        <p:nvSpPr>
          <p:cNvPr id="33797" name="Text Box 4"/>
          <p:cNvSpPr txBox="1">
            <a:spLocks noChangeArrowheads="1"/>
          </p:cNvSpPr>
          <p:nvPr/>
        </p:nvSpPr>
        <p:spPr bwMode="auto">
          <a:xfrm>
            <a:off x="6030913" y="4113213"/>
            <a:ext cx="27574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2400" dirty="0">
                <a:latin typeface="Arial" charset="0"/>
                <a:cs typeface="Arial" charset="0"/>
              </a:rPr>
              <a:t>Failure scenario??</a:t>
            </a:r>
          </a:p>
        </p:txBody>
      </p:sp>
      <p:pic>
        <p:nvPicPr>
          <p:cNvPr id="62469" name="Picture 5" descr="Alic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538" y="3721100"/>
            <a:ext cx="698500" cy="86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470" name="Picture 6" descr="Eve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3413" y="4983163"/>
            <a:ext cx="1082675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471" name="Picture 7" descr="Bob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7750" y="3684588"/>
            <a:ext cx="81280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801" name="Line 8"/>
          <p:cNvSpPr>
            <a:spLocks noChangeShapeType="1"/>
          </p:cNvSpPr>
          <p:nvPr/>
        </p:nvSpPr>
        <p:spPr bwMode="auto">
          <a:xfrm>
            <a:off x="1238250" y="4262438"/>
            <a:ext cx="3798888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62473" name="Group 9"/>
          <p:cNvGrpSpPr>
            <a:grpSpLocks/>
          </p:cNvGrpSpPr>
          <p:nvPr/>
        </p:nvGrpSpPr>
        <p:grpSpPr bwMode="auto">
          <a:xfrm>
            <a:off x="1574800" y="3433763"/>
            <a:ext cx="2897188" cy="649287"/>
            <a:chOff x="531" y="1791"/>
            <a:chExt cx="1825" cy="409"/>
          </a:xfrm>
        </p:grpSpPr>
        <p:sp>
          <p:nvSpPr>
            <p:cNvPr id="33804" name="Rectangle 10"/>
            <p:cNvSpPr>
              <a:spLocks noChangeArrowheads="1"/>
            </p:cNvSpPr>
            <p:nvPr/>
          </p:nvSpPr>
          <p:spPr bwMode="auto">
            <a:xfrm>
              <a:off x="540" y="1791"/>
              <a:ext cx="1799" cy="39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33805" name="Text Box 11"/>
            <p:cNvSpPr txBox="1">
              <a:spLocks noChangeArrowheads="1"/>
            </p:cNvSpPr>
            <p:nvPr/>
          </p:nvSpPr>
          <p:spPr bwMode="auto">
            <a:xfrm>
              <a:off x="1307" y="1877"/>
              <a:ext cx="1049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ja-JP" altLang="en-US" dirty="0">
                  <a:latin typeface="Arial" charset="0"/>
                  <a:cs typeface="Arial" charset="0"/>
                </a:rPr>
                <a:t>“</a:t>
              </a:r>
              <a:r>
                <a:rPr lang="en-US" dirty="0">
                  <a:latin typeface="Arial" charset="0"/>
                  <a:cs typeface="Arial" charset="0"/>
                </a:rPr>
                <a:t>I am Aman</a:t>
              </a:r>
              <a:r>
                <a:rPr lang="ja-JP" altLang="en-US" dirty="0">
                  <a:latin typeface="Arial" charset="0"/>
                  <a:cs typeface="Arial" charset="0"/>
                </a:rPr>
                <a:t>”</a:t>
              </a:r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33806" name="Text Box 12"/>
            <p:cNvSpPr txBox="1">
              <a:spLocks noChangeArrowheads="1"/>
            </p:cNvSpPr>
            <p:nvPr/>
          </p:nvSpPr>
          <p:spPr bwMode="auto">
            <a:xfrm>
              <a:off x="531" y="1793"/>
              <a:ext cx="808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800" dirty="0">
                  <a:latin typeface="Arial" charset="0"/>
                  <a:cs typeface="Arial" charset="0"/>
                </a:rPr>
                <a:t>Aman</a:t>
              </a:r>
              <a:r>
                <a:rPr lang="ja-JP" altLang="en-US" sz="1800" dirty="0">
                  <a:latin typeface="Arial" charset="0"/>
                  <a:cs typeface="Arial" charset="0"/>
                </a:rPr>
                <a:t>’</a:t>
              </a:r>
              <a:r>
                <a:rPr lang="en-US" sz="1800" dirty="0">
                  <a:latin typeface="Arial" charset="0"/>
                  <a:cs typeface="Arial" charset="0"/>
                </a:rPr>
                <a:t>s </a:t>
              </a:r>
            </a:p>
            <a:p>
              <a:pPr algn="ctr">
                <a:defRPr/>
              </a:pPr>
              <a:r>
                <a:rPr lang="en-US" sz="1800" dirty="0">
                  <a:latin typeface="Arial" charset="0"/>
                  <a:cs typeface="Arial" charset="0"/>
                </a:rPr>
                <a:t>IP address</a:t>
              </a:r>
            </a:p>
          </p:txBody>
        </p:sp>
        <p:sp>
          <p:nvSpPr>
            <p:cNvPr id="33807" name="Line 13"/>
            <p:cNvSpPr>
              <a:spLocks noChangeShapeType="1"/>
            </p:cNvSpPr>
            <p:nvPr/>
          </p:nvSpPr>
          <p:spPr bwMode="auto">
            <a:xfrm flipH="1">
              <a:off x="1338" y="1797"/>
              <a:ext cx="0" cy="39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pic>
        <p:nvPicPr>
          <p:cNvPr id="62474" name="Picture 18" descr="underline_base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063" y="965200"/>
            <a:ext cx="63992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30</a:t>
            </a:fld>
            <a:endParaRPr lang="en-US" sz="1200" dirty="0">
              <a:latin typeface="Tahoma" charset="0"/>
            </a:endParaRPr>
          </a:p>
        </p:txBody>
      </p:sp>
      <p:sp>
        <p:nvSpPr>
          <p:cNvPr id="17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11323077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Text Box 4"/>
          <p:cNvSpPr txBox="1">
            <a:spLocks noChangeArrowheads="1"/>
          </p:cNvSpPr>
          <p:nvPr/>
        </p:nvSpPr>
        <p:spPr bwMode="auto">
          <a:xfrm>
            <a:off x="6351588" y="3986213"/>
            <a:ext cx="2792412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2400" dirty="0">
                <a:latin typeface="Arial" charset="0"/>
                <a:cs typeface="Arial" charset="0"/>
              </a:rPr>
              <a:t>Manish can create</a:t>
            </a:r>
          </a:p>
          <a:p>
            <a:pPr algn="ctr">
              <a:defRPr/>
            </a:pPr>
            <a:r>
              <a:rPr lang="en-US" sz="2400" dirty="0">
                <a:latin typeface="Arial" charset="0"/>
                <a:cs typeface="Arial" charset="0"/>
              </a:rPr>
              <a:t>a packet </a:t>
            </a:r>
            <a:r>
              <a:rPr lang="ja-JP" altLang="en-US" sz="2400" dirty="0">
                <a:latin typeface="Arial" charset="0"/>
                <a:cs typeface="Arial" charset="0"/>
              </a:rPr>
              <a:t>“</a:t>
            </a:r>
            <a:r>
              <a:rPr lang="en-US" sz="2400" dirty="0">
                <a:latin typeface="Arial" charset="0"/>
                <a:cs typeface="Arial" charset="0"/>
              </a:rPr>
              <a:t>spoofing</a:t>
            </a:r>
            <a:r>
              <a:rPr lang="ja-JP" altLang="en-US" sz="2400" dirty="0">
                <a:latin typeface="Arial" charset="0"/>
                <a:cs typeface="Arial" charset="0"/>
              </a:rPr>
              <a:t>”</a:t>
            </a:r>
            <a:endParaRPr lang="en-US" sz="2400" dirty="0">
              <a:latin typeface="Arial" charset="0"/>
              <a:cs typeface="Arial" charset="0"/>
            </a:endParaRPr>
          </a:p>
          <a:p>
            <a:pPr algn="ctr">
              <a:defRPr/>
            </a:pPr>
            <a:r>
              <a:rPr lang="en-US" sz="2400" dirty="0">
                <a:latin typeface="Arial" charset="0"/>
                <a:cs typeface="Arial" charset="0"/>
              </a:rPr>
              <a:t>Aman</a:t>
            </a:r>
            <a:r>
              <a:rPr lang="ja-JP" altLang="en-US" sz="2400" dirty="0">
                <a:latin typeface="Arial" charset="0"/>
                <a:cs typeface="Arial" charset="0"/>
              </a:rPr>
              <a:t>’</a:t>
            </a:r>
            <a:r>
              <a:rPr lang="en-US" sz="2400" dirty="0">
                <a:latin typeface="Arial" charset="0"/>
                <a:cs typeface="Arial" charset="0"/>
              </a:rPr>
              <a:t>s address</a:t>
            </a:r>
          </a:p>
        </p:txBody>
      </p:sp>
      <p:pic>
        <p:nvPicPr>
          <p:cNvPr id="63491" name="Picture 5" descr="Alic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538" y="3721100"/>
            <a:ext cx="698500" cy="86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3492" name="Picture 6" descr="Eve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3413" y="4983163"/>
            <a:ext cx="1082675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3493" name="Picture 7" descr="Bob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7750" y="3684588"/>
            <a:ext cx="81280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23" name="Line 8"/>
          <p:cNvSpPr>
            <a:spLocks noChangeShapeType="1"/>
          </p:cNvSpPr>
          <p:nvPr/>
        </p:nvSpPr>
        <p:spPr bwMode="auto">
          <a:xfrm flipV="1">
            <a:off x="2925763" y="4262438"/>
            <a:ext cx="2111375" cy="123825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63495" name="Group 9"/>
          <p:cNvGrpSpPr>
            <a:grpSpLocks/>
          </p:cNvGrpSpPr>
          <p:nvPr/>
        </p:nvGrpSpPr>
        <p:grpSpPr bwMode="auto">
          <a:xfrm>
            <a:off x="3460750" y="4938713"/>
            <a:ext cx="2897188" cy="649287"/>
            <a:chOff x="531" y="1791"/>
            <a:chExt cx="1825" cy="409"/>
          </a:xfrm>
        </p:grpSpPr>
        <p:sp>
          <p:nvSpPr>
            <p:cNvPr id="34828" name="Rectangle 10"/>
            <p:cNvSpPr>
              <a:spLocks noChangeArrowheads="1"/>
            </p:cNvSpPr>
            <p:nvPr/>
          </p:nvSpPr>
          <p:spPr bwMode="auto">
            <a:xfrm>
              <a:off x="540" y="1791"/>
              <a:ext cx="1799" cy="39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34829" name="Text Box 11"/>
            <p:cNvSpPr txBox="1">
              <a:spLocks noChangeArrowheads="1"/>
            </p:cNvSpPr>
            <p:nvPr/>
          </p:nvSpPr>
          <p:spPr bwMode="auto">
            <a:xfrm>
              <a:off x="1307" y="1877"/>
              <a:ext cx="1049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ja-JP" altLang="en-US" dirty="0">
                  <a:latin typeface="Arial" charset="0"/>
                  <a:cs typeface="Arial" charset="0"/>
                </a:rPr>
                <a:t>“</a:t>
              </a:r>
              <a:r>
                <a:rPr lang="en-US" dirty="0">
                  <a:latin typeface="Arial" charset="0"/>
                  <a:cs typeface="Arial" charset="0"/>
                </a:rPr>
                <a:t>I am Aman</a:t>
              </a:r>
              <a:r>
                <a:rPr lang="ja-JP" altLang="en-US" dirty="0">
                  <a:latin typeface="Arial" charset="0"/>
                  <a:cs typeface="Arial" charset="0"/>
                </a:rPr>
                <a:t>”</a:t>
              </a:r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34830" name="Text Box 12"/>
            <p:cNvSpPr txBox="1">
              <a:spLocks noChangeArrowheads="1"/>
            </p:cNvSpPr>
            <p:nvPr/>
          </p:nvSpPr>
          <p:spPr bwMode="auto">
            <a:xfrm>
              <a:off x="531" y="1793"/>
              <a:ext cx="808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800" dirty="0">
                  <a:latin typeface="Arial" charset="0"/>
                  <a:cs typeface="Arial" charset="0"/>
                </a:rPr>
                <a:t>Aman</a:t>
              </a:r>
              <a:r>
                <a:rPr lang="ja-JP" altLang="en-US" sz="1800" dirty="0">
                  <a:latin typeface="Arial" charset="0"/>
                  <a:cs typeface="Arial" charset="0"/>
                </a:rPr>
                <a:t>’</a:t>
              </a:r>
              <a:r>
                <a:rPr lang="en-US" sz="1800" dirty="0">
                  <a:latin typeface="Arial" charset="0"/>
                  <a:cs typeface="Arial" charset="0"/>
                </a:rPr>
                <a:t>s </a:t>
              </a:r>
            </a:p>
            <a:p>
              <a:pPr algn="ctr">
                <a:defRPr/>
              </a:pPr>
              <a:r>
                <a:rPr lang="en-US" sz="1800" dirty="0">
                  <a:latin typeface="Arial" charset="0"/>
                  <a:cs typeface="Arial" charset="0"/>
                </a:rPr>
                <a:t>IP address</a:t>
              </a:r>
            </a:p>
          </p:txBody>
        </p:sp>
        <p:sp>
          <p:nvSpPr>
            <p:cNvPr id="34831" name="Line 13"/>
            <p:cNvSpPr>
              <a:spLocks noChangeShapeType="1"/>
            </p:cNvSpPr>
            <p:nvPr/>
          </p:nvSpPr>
          <p:spPr bwMode="auto">
            <a:xfrm flipH="1">
              <a:off x="1338" y="1797"/>
              <a:ext cx="0" cy="39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sp>
        <p:nvSpPr>
          <p:cNvPr id="63496" name="Rectangle 2"/>
          <p:cNvSpPr>
            <a:spLocks noGrp="1" noChangeArrowheads="1"/>
          </p:cNvSpPr>
          <p:nvPr>
            <p:ph type="title"/>
          </p:nvPr>
        </p:nvSpPr>
        <p:spPr>
          <a:xfrm>
            <a:off x="358775" y="130175"/>
            <a:ext cx="7772400" cy="1143000"/>
          </a:xfrm>
        </p:spPr>
        <p:txBody>
          <a:bodyPr/>
          <a:lstStyle/>
          <a:p>
            <a:r>
              <a:rPr lang="en-US" dirty="0">
                <a:latin typeface="Gill Sans MT" charset="0"/>
              </a:rPr>
              <a:t>Authentication: another try</a:t>
            </a:r>
          </a:p>
        </p:txBody>
      </p:sp>
      <p:sp>
        <p:nvSpPr>
          <p:cNvPr id="34826" name="Text Box 3"/>
          <p:cNvSpPr txBox="1">
            <a:spLocks noChangeArrowheads="1"/>
          </p:cNvSpPr>
          <p:nvPr/>
        </p:nvSpPr>
        <p:spPr bwMode="auto">
          <a:xfrm>
            <a:off x="350676" y="1452563"/>
            <a:ext cx="8204362" cy="892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r">
              <a:defRPr/>
            </a:pPr>
            <a:r>
              <a:rPr lang="en-US" sz="2800" i="1" dirty="0">
                <a:solidFill>
                  <a:srgbClr val="C00000"/>
                </a:solidFill>
                <a:latin typeface="Arial" charset="0"/>
                <a:cs typeface="Arial" charset="0"/>
              </a:rPr>
              <a:t>Protocol ap2.0: </a:t>
            </a:r>
            <a:r>
              <a:rPr lang="en-US" sz="2400" dirty="0">
                <a:latin typeface="Arial" charset="0"/>
                <a:cs typeface="Arial" charset="0"/>
              </a:rPr>
              <a:t>Aman says </a:t>
            </a:r>
            <a:r>
              <a:rPr lang="ja-JP" altLang="en-US" sz="2400" dirty="0">
                <a:latin typeface="Arial" charset="0"/>
                <a:cs typeface="Arial" charset="0"/>
              </a:rPr>
              <a:t>“</a:t>
            </a:r>
            <a:r>
              <a:rPr lang="en-US" sz="2400" dirty="0">
                <a:latin typeface="Arial" charset="0"/>
                <a:cs typeface="Arial" charset="0"/>
              </a:rPr>
              <a:t>I am Aman</a:t>
            </a:r>
            <a:r>
              <a:rPr lang="ja-JP" altLang="en-US" sz="2400" dirty="0">
                <a:latin typeface="Arial" charset="0"/>
                <a:cs typeface="Arial" charset="0"/>
              </a:rPr>
              <a:t>”</a:t>
            </a:r>
            <a:r>
              <a:rPr lang="en-US" sz="2400" dirty="0">
                <a:latin typeface="Arial" charset="0"/>
                <a:cs typeface="Arial" charset="0"/>
              </a:rPr>
              <a:t> in an IP packet</a:t>
            </a:r>
          </a:p>
          <a:p>
            <a:pPr algn="r">
              <a:defRPr/>
            </a:pPr>
            <a:r>
              <a:rPr lang="en-US" sz="2400" dirty="0">
                <a:latin typeface="Arial" charset="0"/>
                <a:cs typeface="Arial" charset="0"/>
              </a:rPr>
              <a:t>containing her source IP address </a:t>
            </a:r>
          </a:p>
        </p:txBody>
      </p:sp>
      <p:pic>
        <p:nvPicPr>
          <p:cNvPr id="63498" name="Picture 18" descr="underline_base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063" y="965200"/>
            <a:ext cx="63992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31</a:t>
            </a:fld>
            <a:endParaRPr lang="en-US" sz="1200" dirty="0">
              <a:latin typeface="Tahoma" charset="0"/>
            </a:endParaRPr>
          </a:p>
        </p:txBody>
      </p:sp>
      <p:sp>
        <p:nvSpPr>
          <p:cNvPr id="17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24850718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Text Box 3"/>
          <p:cNvSpPr txBox="1">
            <a:spLocks noChangeArrowheads="1"/>
          </p:cNvSpPr>
          <p:nvPr/>
        </p:nvSpPr>
        <p:spPr bwMode="auto">
          <a:xfrm>
            <a:off x="564260" y="1452563"/>
            <a:ext cx="7990778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r">
              <a:defRPr/>
            </a:pPr>
            <a:r>
              <a:rPr lang="en-US" sz="2800" i="1" dirty="0">
                <a:solidFill>
                  <a:srgbClr val="C00000"/>
                </a:solidFill>
                <a:latin typeface="Gill Sans MT" charset="0"/>
                <a:cs typeface="+mn-cs"/>
              </a:rPr>
              <a:t>Protocol ap3.0:  </a:t>
            </a:r>
            <a:r>
              <a:rPr lang="en-US" sz="2800" dirty="0">
                <a:latin typeface="Gill Sans MT" charset="0"/>
                <a:cs typeface="+mn-cs"/>
              </a:rPr>
              <a:t>Aman says </a:t>
            </a:r>
            <a:r>
              <a:rPr lang="ja-JP" altLang="en-US" sz="2800" dirty="0">
                <a:latin typeface="Gill Sans MT" charset="0"/>
                <a:cs typeface="+mn-cs"/>
              </a:rPr>
              <a:t>“</a:t>
            </a:r>
            <a:r>
              <a:rPr lang="en-US" sz="2800" dirty="0">
                <a:latin typeface="Gill Sans MT" charset="0"/>
                <a:cs typeface="+mn-cs"/>
              </a:rPr>
              <a:t>I am Aman</a:t>
            </a:r>
            <a:r>
              <a:rPr lang="ja-JP" altLang="en-US" sz="2800" dirty="0">
                <a:latin typeface="Gill Sans MT" charset="0"/>
                <a:cs typeface="+mn-cs"/>
              </a:rPr>
              <a:t>”</a:t>
            </a:r>
            <a:r>
              <a:rPr lang="en-US" sz="2800" dirty="0">
                <a:latin typeface="Gill Sans MT" charset="0"/>
                <a:cs typeface="+mn-cs"/>
              </a:rPr>
              <a:t> and sends her</a:t>
            </a:r>
          </a:p>
          <a:p>
            <a:pPr algn="r">
              <a:defRPr/>
            </a:pPr>
            <a:r>
              <a:rPr lang="en-US" sz="2800" dirty="0">
                <a:latin typeface="Gill Sans MT" charset="0"/>
                <a:cs typeface="+mn-cs"/>
              </a:rPr>
              <a:t> secret password to </a:t>
            </a:r>
            <a:r>
              <a:rPr lang="ja-JP" altLang="en-US" sz="2800" dirty="0">
                <a:latin typeface="Gill Sans MT" charset="0"/>
                <a:cs typeface="+mn-cs"/>
              </a:rPr>
              <a:t>“</a:t>
            </a:r>
            <a:r>
              <a:rPr lang="en-US" sz="2800" dirty="0">
                <a:latin typeface="Gill Sans MT" charset="0"/>
                <a:cs typeface="+mn-cs"/>
              </a:rPr>
              <a:t>prove</a:t>
            </a:r>
            <a:r>
              <a:rPr lang="ja-JP" altLang="en-US" sz="2800" dirty="0">
                <a:latin typeface="Gill Sans MT" charset="0"/>
                <a:cs typeface="+mn-cs"/>
              </a:rPr>
              <a:t>”</a:t>
            </a:r>
            <a:r>
              <a:rPr lang="en-US" sz="2800" dirty="0">
                <a:latin typeface="Gill Sans MT" charset="0"/>
                <a:cs typeface="+mn-cs"/>
              </a:rPr>
              <a:t> it.</a:t>
            </a:r>
          </a:p>
        </p:txBody>
      </p:sp>
      <p:sp>
        <p:nvSpPr>
          <p:cNvPr id="35844" name="Text Box 4"/>
          <p:cNvSpPr txBox="1">
            <a:spLocks noChangeArrowheads="1"/>
          </p:cNvSpPr>
          <p:nvPr/>
        </p:nvSpPr>
        <p:spPr bwMode="auto">
          <a:xfrm>
            <a:off x="6030913" y="4113213"/>
            <a:ext cx="27574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2400" dirty="0">
                <a:latin typeface="Arial" charset="0"/>
                <a:cs typeface="Arial" charset="0"/>
              </a:rPr>
              <a:t>Failure scenario??</a:t>
            </a:r>
          </a:p>
        </p:txBody>
      </p:sp>
      <p:pic>
        <p:nvPicPr>
          <p:cNvPr id="64516" name="Picture 5" descr="Alic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538" y="3721100"/>
            <a:ext cx="698500" cy="86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4517" name="Picture 6" descr="Eve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5194300"/>
            <a:ext cx="1082675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4518" name="Picture 7" descr="Bob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1900" y="3670300"/>
            <a:ext cx="8128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8" name="Line 8"/>
          <p:cNvSpPr>
            <a:spLocks noChangeShapeType="1"/>
          </p:cNvSpPr>
          <p:nvPr/>
        </p:nvSpPr>
        <p:spPr bwMode="auto">
          <a:xfrm>
            <a:off x="1209675" y="4065588"/>
            <a:ext cx="3798888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64520" name="Group 9"/>
          <p:cNvGrpSpPr>
            <a:grpSpLocks/>
          </p:cNvGrpSpPr>
          <p:nvPr/>
        </p:nvGrpSpPr>
        <p:grpSpPr bwMode="auto">
          <a:xfrm>
            <a:off x="1439863" y="3306763"/>
            <a:ext cx="3222626" cy="633412"/>
            <a:chOff x="765" y="1799"/>
            <a:chExt cx="2030" cy="399"/>
          </a:xfrm>
        </p:grpSpPr>
        <p:sp>
          <p:nvSpPr>
            <p:cNvPr id="35859" name="Rectangle 10"/>
            <p:cNvSpPr>
              <a:spLocks noChangeArrowheads="1"/>
            </p:cNvSpPr>
            <p:nvPr/>
          </p:nvSpPr>
          <p:spPr bwMode="auto">
            <a:xfrm>
              <a:off x="806" y="1799"/>
              <a:ext cx="1919" cy="39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35860" name="Text Box 11"/>
            <p:cNvSpPr txBox="1">
              <a:spLocks noChangeArrowheads="1"/>
            </p:cNvSpPr>
            <p:nvPr/>
          </p:nvSpPr>
          <p:spPr bwMode="auto">
            <a:xfrm>
              <a:off x="1887" y="1876"/>
              <a:ext cx="90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ja-JP" altLang="en-US" sz="1800" dirty="0">
                  <a:latin typeface="Arial" charset="0"/>
                  <a:cs typeface="Arial" charset="0"/>
                </a:rPr>
                <a:t>“</a:t>
              </a:r>
              <a:r>
                <a:rPr lang="en-US" sz="1800" dirty="0">
                  <a:latin typeface="Arial" charset="0"/>
                  <a:cs typeface="Arial" charset="0"/>
                </a:rPr>
                <a:t>I</a:t>
              </a:r>
              <a:r>
                <a:rPr lang="ja-JP" altLang="en-US" sz="1800" dirty="0">
                  <a:latin typeface="Arial" charset="0"/>
                  <a:cs typeface="Arial" charset="0"/>
                </a:rPr>
                <a:t>’</a:t>
              </a:r>
              <a:r>
                <a:rPr lang="en-US" sz="1800" dirty="0">
                  <a:latin typeface="Arial" charset="0"/>
                  <a:cs typeface="Arial" charset="0"/>
                </a:rPr>
                <a:t>m Aman</a:t>
              </a:r>
              <a:r>
                <a:rPr lang="ja-JP" altLang="en-US" sz="1800" dirty="0">
                  <a:latin typeface="Arial" charset="0"/>
                  <a:cs typeface="Arial" charset="0"/>
                </a:rPr>
                <a:t>”</a:t>
              </a:r>
              <a:endParaRPr lang="en-US" sz="1800" dirty="0">
                <a:latin typeface="Arial" charset="0"/>
                <a:cs typeface="Arial" charset="0"/>
              </a:endParaRPr>
            </a:p>
          </p:txBody>
        </p:sp>
        <p:sp>
          <p:nvSpPr>
            <p:cNvPr id="35861" name="Text Box 12"/>
            <p:cNvSpPr txBox="1">
              <a:spLocks noChangeArrowheads="1"/>
            </p:cNvSpPr>
            <p:nvPr/>
          </p:nvSpPr>
          <p:spPr bwMode="auto">
            <a:xfrm>
              <a:off x="765" y="1822"/>
              <a:ext cx="619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600" dirty="0">
                  <a:latin typeface="Arial" charset="0"/>
                  <a:cs typeface="Arial" charset="0"/>
                </a:rPr>
                <a:t>Aman</a:t>
              </a:r>
              <a:r>
                <a:rPr lang="ja-JP" altLang="en-US" sz="1600" dirty="0">
                  <a:latin typeface="Arial" charset="0"/>
                  <a:cs typeface="Arial" charset="0"/>
                </a:rPr>
                <a:t>’</a:t>
              </a:r>
              <a:r>
                <a:rPr lang="en-US" sz="1600" dirty="0">
                  <a:latin typeface="Arial" charset="0"/>
                  <a:cs typeface="Arial" charset="0"/>
                </a:rPr>
                <a:t>s </a:t>
              </a:r>
            </a:p>
            <a:p>
              <a:pPr algn="ctr">
                <a:defRPr/>
              </a:pPr>
              <a:r>
                <a:rPr lang="en-US" sz="1600" dirty="0">
                  <a:latin typeface="Arial" charset="0"/>
                  <a:cs typeface="Arial" charset="0"/>
                </a:rPr>
                <a:t>IP addr</a:t>
              </a:r>
            </a:p>
          </p:txBody>
        </p:sp>
        <p:sp>
          <p:nvSpPr>
            <p:cNvPr id="35862" name="Line 13"/>
            <p:cNvSpPr>
              <a:spLocks noChangeShapeType="1"/>
            </p:cNvSpPr>
            <p:nvPr/>
          </p:nvSpPr>
          <p:spPr bwMode="auto">
            <a:xfrm flipH="1">
              <a:off x="1337" y="1805"/>
              <a:ext cx="0" cy="39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5863" name="Text Box 14"/>
            <p:cNvSpPr txBox="1">
              <a:spLocks noChangeArrowheads="1"/>
            </p:cNvSpPr>
            <p:nvPr/>
          </p:nvSpPr>
          <p:spPr bwMode="auto">
            <a:xfrm>
              <a:off x="1331" y="1813"/>
              <a:ext cx="666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600" dirty="0">
                  <a:latin typeface="Arial" charset="0"/>
                  <a:cs typeface="Arial" charset="0"/>
                </a:rPr>
                <a:t>Aman</a:t>
              </a:r>
              <a:r>
                <a:rPr lang="ja-JP" altLang="en-US" sz="1600" dirty="0">
                  <a:latin typeface="Arial" charset="0"/>
                  <a:cs typeface="Arial" charset="0"/>
                </a:rPr>
                <a:t>’</a:t>
              </a:r>
              <a:r>
                <a:rPr lang="en-US" sz="1600" dirty="0">
                  <a:latin typeface="Arial" charset="0"/>
                  <a:cs typeface="Arial" charset="0"/>
                </a:rPr>
                <a:t>s </a:t>
              </a:r>
            </a:p>
            <a:p>
              <a:pPr algn="ctr">
                <a:defRPr/>
              </a:pPr>
              <a:r>
                <a:rPr lang="en-US" sz="1600" dirty="0">
                  <a:latin typeface="Arial" charset="0"/>
                  <a:cs typeface="Arial" charset="0"/>
                </a:rPr>
                <a:t>password</a:t>
              </a:r>
            </a:p>
          </p:txBody>
        </p:sp>
        <p:sp>
          <p:nvSpPr>
            <p:cNvPr id="35864" name="Line 15"/>
            <p:cNvSpPr>
              <a:spLocks noChangeShapeType="1"/>
            </p:cNvSpPr>
            <p:nvPr/>
          </p:nvSpPr>
          <p:spPr bwMode="auto">
            <a:xfrm flipH="1">
              <a:off x="1973" y="1805"/>
              <a:ext cx="0" cy="39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grpSp>
        <p:nvGrpSpPr>
          <p:cNvPr id="64521" name="Group 16"/>
          <p:cNvGrpSpPr>
            <a:grpSpLocks/>
          </p:cNvGrpSpPr>
          <p:nvPr/>
        </p:nvGrpSpPr>
        <p:grpSpPr bwMode="auto">
          <a:xfrm>
            <a:off x="2998788" y="4235450"/>
            <a:ext cx="1554163" cy="633413"/>
            <a:chOff x="959" y="2719"/>
            <a:chExt cx="979" cy="399"/>
          </a:xfrm>
        </p:grpSpPr>
        <p:sp>
          <p:nvSpPr>
            <p:cNvPr id="35855" name="Rectangle 17"/>
            <p:cNvSpPr>
              <a:spLocks noChangeArrowheads="1"/>
            </p:cNvSpPr>
            <p:nvPr/>
          </p:nvSpPr>
          <p:spPr bwMode="auto">
            <a:xfrm>
              <a:off x="1000" y="2719"/>
              <a:ext cx="938" cy="39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35856" name="Text Box 18"/>
            <p:cNvSpPr txBox="1">
              <a:spLocks noChangeArrowheads="1"/>
            </p:cNvSpPr>
            <p:nvPr/>
          </p:nvSpPr>
          <p:spPr bwMode="auto">
            <a:xfrm>
              <a:off x="1574" y="2793"/>
              <a:ext cx="32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800" dirty="0">
                  <a:latin typeface="Arial" charset="0"/>
                  <a:cs typeface="Arial" charset="0"/>
                </a:rPr>
                <a:t>OK</a:t>
              </a:r>
            </a:p>
          </p:txBody>
        </p:sp>
        <p:sp>
          <p:nvSpPr>
            <p:cNvPr id="35857" name="Text Box 19"/>
            <p:cNvSpPr txBox="1">
              <a:spLocks noChangeArrowheads="1"/>
            </p:cNvSpPr>
            <p:nvPr/>
          </p:nvSpPr>
          <p:spPr bwMode="auto">
            <a:xfrm>
              <a:off x="959" y="2742"/>
              <a:ext cx="619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600" dirty="0">
                  <a:latin typeface="Arial" charset="0"/>
                  <a:cs typeface="Arial" charset="0"/>
                </a:rPr>
                <a:t>Aman</a:t>
              </a:r>
              <a:r>
                <a:rPr lang="ja-JP" altLang="en-US" sz="1600" dirty="0">
                  <a:latin typeface="Arial" charset="0"/>
                  <a:cs typeface="Arial" charset="0"/>
                </a:rPr>
                <a:t>’</a:t>
              </a:r>
              <a:r>
                <a:rPr lang="en-US" sz="1600" dirty="0">
                  <a:latin typeface="Arial" charset="0"/>
                  <a:cs typeface="Arial" charset="0"/>
                </a:rPr>
                <a:t>s </a:t>
              </a:r>
            </a:p>
            <a:p>
              <a:pPr algn="ctr">
                <a:defRPr/>
              </a:pPr>
              <a:r>
                <a:rPr lang="en-US" sz="1600" dirty="0">
                  <a:latin typeface="Arial" charset="0"/>
                  <a:cs typeface="Arial" charset="0"/>
                </a:rPr>
                <a:t>IP addr</a:t>
              </a:r>
            </a:p>
          </p:txBody>
        </p:sp>
        <p:sp>
          <p:nvSpPr>
            <p:cNvPr id="35858" name="Line 20"/>
            <p:cNvSpPr>
              <a:spLocks noChangeShapeType="1"/>
            </p:cNvSpPr>
            <p:nvPr/>
          </p:nvSpPr>
          <p:spPr bwMode="auto">
            <a:xfrm flipH="1">
              <a:off x="1531" y="2725"/>
              <a:ext cx="0" cy="39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sp>
        <p:nvSpPr>
          <p:cNvPr id="35851" name="Line 21"/>
          <p:cNvSpPr>
            <a:spLocks noChangeShapeType="1"/>
          </p:cNvSpPr>
          <p:nvPr/>
        </p:nvSpPr>
        <p:spPr bwMode="auto">
          <a:xfrm>
            <a:off x="4627563" y="3600450"/>
            <a:ext cx="561975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5852" name="Line 22"/>
          <p:cNvSpPr>
            <a:spLocks noChangeShapeType="1"/>
          </p:cNvSpPr>
          <p:nvPr/>
        </p:nvSpPr>
        <p:spPr bwMode="auto">
          <a:xfrm flipH="1">
            <a:off x="2541588" y="4551363"/>
            <a:ext cx="452437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64524" name="Rectangle 2"/>
          <p:cNvSpPr>
            <a:spLocks noGrp="1" noChangeArrowheads="1"/>
          </p:cNvSpPr>
          <p:nvPr>
            <p:ph type="title"/>
          </p:nvPr>
        </p:nvSpPr>
        <p:spPr>
          <a:xfrm>
            <a:off x="358775" y="130175"/>
            <a:ext cx="7772400" cy="1143000"/>
          </a:xfrm>
        </p:spPr>
        <p:txBody>
          <a:bodyPr/>
          <a:lstStyle/>
          <a:p>
            <a:r>
              <a:rPr lang="en-US" dirty="0">
                <a:latin typeface="Gill Sans MT" charset="0"/>
              </a:rPr>
              <a:t>Authentication: another try</a:t>
            </a:r>
          </a:p>
        </p:txBody>
      </p:sp>
      <p:pic>
        <p:nvPicPr>
          <p:cNvPr id="64525" name="Picture 18" descr="underline_base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063" y="965200"/>
            <a:ext cx="63992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32</a:t>
            </a:fld>
            <a:endParaRPr lang="en-US" sz="1200" dirty="0">
              <a:latin typeface="Tahoma" charset="0"/>
            </a:endParaRPr>
          </a:p>
        </p:txBody>
      </p:sp>
      <p:sp>
        <p:nvSpPr>
          <p:cNvPr id="26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26989321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Text Box 4"/>
          <p:cNvSpPr txBox="1">
            <a:spLocks noChangeArrowheads="1"/>
          </p:cNvSpPr>
          <p:nvPr/>
        </p:nvSpPr>
        <p:spPr bwMode="auto">
          <a:xfrm>
            <a:off x="5903913" y="3865563"/>
            <a:ext cx="3001962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i="1" dirty="0">
                <a:solidFill>
                  <a:srgbClr val="C00000"/>
                </a:solidFill>
                <a:latin typeface="Arial" charset="0"/>
                <a:cs typeface="Arial" charset="0"/>
              </a:rPr>
              <a:t>playback attack:</a:t>
            </a:r>
            <a:r>
              <a:rPr lang="en-US" dirty="0">
                <a:solidFill>
                  <a:srgbClr val="C00000"/>
                </a:solidFill>
                <a:latin typeface="Arial" charset="0"/>
                <a:cs typeface="Arial" charset="0"/>
              </a:rPr>
              <a:t> </a:t>
            </a:r>
            <a:r>
              <a:rPr lang="en-US" dirty="0">
                <a:latin typeface="Arial" charset="0"/>
                <a:cs typeface="Arial" charset="0"/>
              </a:rPr>
              <a:t>Manish records Aman</a:t>
            </a:r>
            <a:r>
              <a:rPr lang="ja-JP" altLang="en-US" dirty="0">
                <a:latin typeface="Arial" charset="0"/>
                <a:cs typeface="Arial" charset="0"/>
              </a:rPr>
              <a:t>’</a:t>
            </a:r>
            <a:r>
              <a:rPr lang="en-US" dirty="0">
                <a:latin typeface="Arial" charset="0"/>
                <a:cs typeface="Arial" charset="0"/>
              </a:rPr>
              <a:t>s packet</a:t>
            </a:r>
          </a:p>
          <a:p>
            <a:pPr algn="ctr">
              <a:defRPr/>
            </a:pPr>
            <a:r>
              <a:rPr lang="en-US" dirty="0">
                <a:latin typeface="Arial" charset="0"/>
                <a:cs typeface="Arial" charset="0"/>
              </a:rPr>
              <a:t>and later</a:t>
            </a:r>
          </a:p>
          <a:p>
            <a:pPr algn="ctr">
              <a:defRPr/>
            </a:pPr>
            <a:r>
              <a:rPr lang="en-US" dirty="0">
                <a:latin typeface="Arial" charset="0"/>
                <a:cs typeface="Arial" charset="0"/>
              </a:rPr>
              <a:t>plays it back to Brajesh </a:t>
            </a:r>
          </a:p>
        </p:txBody>
      </p:sp>
      <p:pic>
        <p:nvPicPr>
          <p:cNvPr id="65539" name="Picture 5" descr="Alic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538" y="3721100"/>
            <a:ext cx="698500" cy="86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5540" name="Picture 6" descr="Eve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5194300"/>
            <a:ext cx="1082675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5541" name="Picture 7" descr="Bob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1900" y="3670300"/>
            <a:ext cx="8128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71" name="Line 8"/>
          <p:cNvSpPr>
            <a:spLocks noChangeShapeType="1"/>
          </p:cNvSpPr>
          <p:nvPr/>
        </p:nvSpPr>
        <p:spPr bwMode="auto">
          <a:xfrm>
            <a:off x="1209675" y="4065588"/>
            <a:ext cx="3798888" cy="0"/>
          </a:xfrm>
          <a:prstGeom prst="line">
            <a:avLst/>
          </a:prstGeom>
          <a:noFill/>
          <a:ln w="57150">
            <a:solidFill>
              <a:schemeClr val="bg2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6872" name="Rectangle 9"/>
          <p:cNvSpPr>
            <a:spLocks noChangeArrowheads="1"/>
          </p:cNvSpPr>
          <p:nvPr/>
        </p:nvSpPr>
        <p:spPr bwMode="auto">
          <a:xfrm>
            <a:off x="1504950" y="3306763"/>
            <a:ext cx="3046413" cy="633412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36873" name="Text Box 10"/>
          <p:cNvSpPr txBox="1">
            <a:spLocks noChangeArrowheads="1"/>
          </p:cNvSpPr>
          <p:nvPr/>
        </p:nvSpPr>
        <p:spPr bwMode="auto">
          <a:xfrm>
            <a:off x="3221814" y="3429000"/>
            <a:ext cx="144148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ja-JP" altLang="en-US" sz="1800" dirty="0">
                <a:solidFill>
                  <a:schemeClr val="bg2"/>
                </a:solidFill>
                <a:latin typeface="Arial" charset="0"/>
                <a:cs typeface="Arial" charset="0"/>
              </a:rPr>
              <a:t>“</a:t>
            </a:r>
            <a:r>
              <a:rPr lang="en-US" sz="1800" dirty="0">
                <a:solidFill>
                  <a:schemeClr val="bg2"/>
                </a:solidFill>
                <a:latin typeface="Arial" charset="0"/>
                <a:cs typeface="Arial" charset="0"/>
              </a:rPr>
              <a:t>I</a:t>
            </a:r>
            <a:r>
              <a:rPr lang="ja-JP" altLang="en-US" sz="1800" dirty="0">
                <a:solidFill>
                  <a:schemeClr val="bg2"/>
                </a:solidFill>
                <a:latin typeface="Arial" charset="0"/>
                <a:cs typeface="Arial" charset="0"/>
              </a:rPr>
              <a:t>’</a:t>
            </a:r>
            <a:r>
              <a:rPr lang="en-US" sz="1800" dirty="0">
                <a:solidFill>
                  <a:schemeClr val="bg2"/>
                </a:solidFill>
                <a:latin typeface="Arial" charset="0"/>
                <a:cs typeface="Arial" charset="0"/>
              </a:rPr>
              <a:t>m Aman</a:t>
            </a:r>
            <a:r>
              <a:rPr lang="ja-JP" altLang="en-US" sz="1800" dirty="0">
                <a:solidFill>
                  <a:schemeClr val="bg2"/>
                </a:solidFill>
                <a:latin typeface="Arial" charset="0"/>
                <a:cs typeface="Arial" charset="0"/>
              </a:rPr>
              <a:t>”</a:t>
            </a:r>
            <a:endParaRPr lang="en-US" sz="1800" dirty="0">
              <a:solidFill>
                <a:schemeClr val="bg2"/>
              </a:solidFill>
              <a:latin typeface="Arial" charset="0"/>
              <a:cs typeface="Arial" charset="0"/>
            </a:endParaRPr>
          </a:p>
        </p:txBody>
      </p:sp>
      <p:sp>
        <p:nvSpPr>
          <p:cNvPr id="36874" name="Text Box 11"/>
          <p:cNvSpPr txBox="1">
            <a:spLocks noChangeArrowheads="1"/>
          </p:cNvSpPr>
          <p:nvPr/>
        </p:nvSpPr>
        <p:spPr bwMode="auto">
          <a:xfrm>
            <a:off x="1439714" y="3343275"/>
            <a:ext cx="98296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1600" dirty="0">
                <a:solidFill>
                  <a:schemeClr val="bg2"/>
                </a:solidFill>
                <a:latin typeface="Arial" charset="0"/>
                <a:cs typeface="Arial" charset="0"/>
              </a:rPr>
              <a:t>Aman</a:t>
            </a:r>
            <a:r>
              <a:rPr lang="ja-JP" altLang="en-US" sz="1600" dirty="0">
                <a:solidFill>
                  <a:schemeClr val="bg2"/>
                </a:solidFill>
                <a:latin typeface="Arial" charset="0"/>
                <a:cs typeface="Arial" charset="0"/>
              </a:rPr>
              <a:t>’</a:t>
            </a:r>
            <a:r>
              <a:rPr lang="en-US" sz="1600" dirty="0">
                <a:solidFill>
                  <a:schemeClr val="bg2"/>
                </a:solidFill>
                <a:latin typeface="Arial" charset="0"/>
                <a:cs typeface="Arial" charset="0"/>
              </a:rPr>
              <a:t>s </a:t>
            </a:r>
          </a:p>
          <a:p>
            <a:pPr algn="ctr">
              <a:defRPr/>
            </a:pPr>
            <a:r>
              <a:rPr lang="en-US" sz="1600" dirty="0">
                <a:solidFill>
                  <a:schemeClr val="bg2"/>
                </a:solidFill>
                <a:latin typeface="Arial" charset="0"/>
                <a:cs typeface="Arial" charset="0"/>
              </a:rPr>
              <a:t>IP addr</a:t>
            </a:r>
          </a:p>
        </p:txBody>
      </p:sp>
      <p:sp>
        <p:nvSpPr>
          <p:cNvPr id="36875" name="Line 12"/>
          <p:cNvSpPr>
            <a:spLocks noChangeShapeType="1"/>
          </p:cNvSpPr>
          <p:nvPr/>
        </p:nvSpPr>
        <p:spPr bwMode="auto">
          <a:xfrm flipH="1">
            <a:off x="2347913" y="3316288"/>
            <a:ext cx="0" cy="6238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6876" name="Text Box 13"/>
          <p:cNvSpPr txBox="1">
            <a:spLocks noChangeArrowheads="1"/>
          </p:cNvSpPr>
          <p:nvPr/>
        </p:nvSpPr>
        <p:spPr bwMode="auto">
          <a:xfrm>
            <a:off x="2338388" y="3328988"/>
            <a:ext cx="1057275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1600" dirty="0">
                <a:solidFill>
                  <a:schemeClr val="bg2"/>
                </a:solidFill>
                <a:latin typeface="Arial" charset="0"/>
                <a:cs typeface="Arial" charset="0"/>
              </a:rPr>
              <a:t>Aman</a:t>
            </a:r>
            <a:r>
              <a:rPr lang="ja-JP" altLang="en-US" sz="1600" dirty="0">
                <a:solidFill>
                  <a:schemeClr val="bg2"/>
                </a:solidFill>
                <a:latin typeface="Arial" charset="0"/>
                <a:cs typeface="Arial" charset="0"/>
              </a:rPr>
              <a:t>’</a:t>
            </a:r>
            <a:r>
              <a:rPr lang="en-US" sz="1600" dirty="0">
                <a:solidFill>
                  <a:schemeClr val="bg2"/>
                </a:solidFill>
                <a:latin typeface="Arial" charset="0"/>
                <a:cs typeface="Arial" charset="0"/>
              </a:rPr>
              <a:t>s </a:t>
            </a:r>
          </a:p>
          <a:p>
            <a:pPr algn="ctr">
              <a:defRPr/>
            </a:pPr>
            <a:r>
              <a:rPr lang="en-US" sz="1600" dirty="0">
                <a:solidFill>
                  <a:schemeClr val="bg2"/>
                </a:solidFill>
                <a:latin typeface="Arial" charset="0"/>
                <a:cs typeface="Arial" charset="0"/>
              </a:rPr>
              <a:t>password</a:t>
            </a:r>
          </a:p>
        </p:txBody>
      </p:sp>
      <p:sp>
        <p:nvSpPr>
          <p:cNvPr id="36877" name="Line 14"/>
          <p:cNvSpPr>
            <a:spLocks noChangeShapeType="1"/>
          </p:cNvSpPr>
          <p:nvPr/>
        </p:nvSpPr>
        <p:spPr bwMode="auto">
          <a:xfrm flipH="1">
            <a:off x="3357563" y="3316288"/>
            <a:ext cx="0" cy="6238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65549" name="Group 15"/>
          <p:cNvGrpSpPr>
            <a:grpSpLocks/>
          </p:cNvGrpSpPr>
          <p:nvPr/>
        </p:nvGrpSpPr>
        <p:grpSpPr bwMode="auto">
          <a:xfrm>
            <a:off x="3262313" y="4224338"/>
            <a:ext cx="1554163" cy="633412"/>
            <a:chOff x="959" y="2719"/>
            <a:chExt cx="979" cy="399"/>
          </a:xfrm>
        </p:grpSpPr>
        <p:sp>
          <p:nvSpPr>
            <p:cNvPr id="36895" name="Rectangle 16"/>
            <p:cNvSpPr>
              <a:spLocks noChangeArrowheads="1"/>
            </p:cNvSpPr>
            <p:nvPr/>
          </p:nvSpPr>
          <p:spPr bwMode="auto">
            <a:xfrm>
              <a:off x="1000" y="2719"/>
              <a:ext cx="938" cy="39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36896" name="Text Box 17"/>
            <p:cNvSpPr txBox="1">
              <a:spLocks noChangeArrowheads="1"/>
            </p:cNvSpPr>
            <p:nvPr/>
          </p:nvSpPr>
          <p:spPr bwMode="auto">
            <a:xfrm>
              <a:off x="1574" y="2793"/>
              <a:ext cx="32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800" dirty="0">
                  <a:latin typeface="Arial" charset="0"/>
                  <a:cs typeface="Arial" charset="0"/>
                </a:rPr>
                <a:t>OK</a:t>
              </a:r>
            </a:p>
          </p:txBody>
        </p:sp>
        <p:sp>
          <p:nvSpPr>
            <p:cNvPr id="36897" name="Text Box 18"/>
            <p:cNvSpPr txBox="1">
              <a:spLocks noChangeArrowheads="1"/>
            </p:cNvSpPr>
            <p:nvPr/>
          </p:nvSpPr>
          <p:spPr bwMode="auto">
            <a:xfrm>
              <a:off x="959" y="2742"/>
              <a:ext cx="619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600" dirty="0">
                  <a:latin typeface="Arial" charset="0"/>
                  <a:cs typeface="Arial" charset="0"/>
                </a:rPr>
                <a:t>Aman</a:t>
              </a:r>
              <a:r>
                <a:rPr lang="ja-JP" altLang="en-US" sz="1600" dirty="0">
                  <a:latin typeface="Arial" charset="0"/>
                  <a:cs typeface="Arial" charset="0"/>
                </a:rPr>
                <a:t>’</a:t>
              </a:r>
              <a:r>
                <a:rPr lang="en-US" sz="1600" dirty="0">
                  <a:latin typeface="Arial" charset="0"/>
                  <a:cs typeface="Arial" charset="0"/>
                </a:rPr>
                <a:t>s </a:t>
              </a:r>
            </a:p>
            <a:p>
              <a:pPr algn="ctr">
                <a:defRPr/>
              </a:pPr>
              <a:r>
                <a:rPr lang="en-US" sz="1600" dirty="0">
                  <a:latin typeface="Arial" charset="0"/>
                  <a:cs typeface="Arial" charset="0"/>
                </a:rPr>
                <a:t>IP addr</a:t>
              </a:r>
            </a:p>
          </p:txBody>
        </p:sp>
        <p:sp>
          <p:nvSpPr>
            <p:cNvPr id="36898" name="Line 19"/>
            <p:cNvSpPr>
              <a:spLocks noChangeShapeType="1"/>
            </p:cNvSpPr>
            <p:nvPr/>
          </p:nvSpPr>
          <p:spPr bwMode="auto">
            <a:xfrm flipH="1">
              <a:off x="1531" y="2725"/>
              <a:ext cx="0" cy="39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sp>
        <p:nvSpPr>
          <p:cNvPr id="36879" name="Line 20"/>
          <p:cNvSpPr>
            <a:spLocks noChangeShapeType="1"/>
          </p:cNvSpPr>
          <p:nvPr/>
        </p:nvSpPr>
        <p:spPr bwMode="auto">
          <a:xfrm>
            <a:off x="4627563" y="3600450"/>
            <a:ext cx="561975" cy="1588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pic>
        <p:nvPicPr>
          <p:cNvPr id="65551" name="Picture 21" descr="EN00179_[1]"/>
          <p:cNvPicPr>
            <a:picLocks noGrp="1" noChangeAspect="1" noChangeArrowheads="1"/>
          </p:cNvPicPr>
          <p:nvPr>
            <p:ph idx="1"/>
          </p:nvPr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49450" y="5337175"/>
            <a:ext cx="862013" cy="668338"/>
          </a:xfrm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6881" name="Line 22"/>
          <p:cNvSpPr>
            <a:spLocks noChangeShapeType="1"/>
          </p:cNvSpPr>
          <p:nvPr/>
        </p:nvSpPr>
        <p:spPr bwMode="auto">
          <a:xfrm>
            <a:off x="1857375" y="4106863"/>
            <a:ext cx="623888" cy="1292225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6882" name="Line 23"/>
          <p:cNvSpPr>
            <a:spLocks noChangeShapeType="1"/>
          </p:cNvSpPr>
          <p:nvPr/>
        </p:nvSpPr>
        <p:spPr bwMode="auto">
          <a:xfrm flipH="1">
            <a:off x="3344863" y="4214813"/>
            <a:ext cx="1857375" cy="1554162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65554" name="Group 24"/>
          <p:cNvGrpSpPr>
            <a:grpSpLocks/>
          </p:cNvGrpSpPr>
          <p:nvPr/>
        </p:nvGrpSpPr>
        <p:grpSpPr bwMode="auto">
          <a:xfrm>
            <a:off x="3486150" y="5368925"/>
            <a:ext cx="3222624" cy="633413"/>
            <a:chOff x="765" y="1799"/>
            <a:chExt cx="2030" cy="399"/>
          </a:xfrm>
        </p:grpSpPr>
        <p:sp>
          <p:nvSpPr>
            <p:cNvPr id="36889" name="Rectangle 25"/>
            <p:cNvSpPr>
              <a:spLocks noChangeArrowheads="1"/>
            </p:cNvSpPr>
            <p:nvPr/>
          </p:nvSpPr>
          <p:spPr bwMode="auto">
            <a:xfrm>
              <a:off x="806" y="1799"/>
              <a:ext cx="1919" cy="39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36890" name="Text Box 26"/>
            <p:cNvSpPr txBox="1">
              <a:spLocks noChangeArrowheads="1"/>
            </p:cNvSpPr>
            <p:nvPr/>
          </p:nvSpPr>
          <p:spPr bwMode="auto">
            <a:xfrm>
              <a:off x="1887" y="1876"/>
              <a:ext cx="90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ja-JP" altLang="en-US" sz="1800" dirty="0">
                  <a:latin typeface="Arial" charset="0"/>
                  <a:cs typeface="Arial" charset="0"/>
                </a:rPr>
                <a:t>“</a:t>
              </a:r>
              <a:r>
                <a:rPr lang="en-US" sz="1800" dirty="0">
                  <a:latin typeface="Arial" charset="0"/>
                  <a:cs typeface="Arial" charset="0"/>
                </a:rPr>
                <a:t>I</a:t>
              </a:r>
              <a:r>
                <a:rPr lang="ja-JP" altLang="en-US" sz="1800" dirty="0">
                  <a:latin typeface="Arial" charset="0"/>
                  <a:cs typeface="Arial" charset="0"/>
                </a:rPr>
                <a:t>’</a:t>
              </a:r>
              <a:r>
                <a:rPr lang="en-US" sz="1800" dirty="0">
                  <a:latin typeface="Arial" charset="0"/>
                  <a:cs typeface="Arial" charset="0"/>
                </a:rPr>
                <a:t>m Aman</a:t>
              </a:r>
              <a:r>
                <a:rPr lang="ja-JP" altLang="en-US" sz="1800" dirty="0">
                  <a:latin typeface="Arial" charset="0"/>
                  <a:cs typeface="Arial" charset="0"/>
                </a:rPr>
                <a:t>”</a:t>
              </a:r>
              <a:endParaRPr lang="en-US" sz="1800" dirty="0">
                <a:latin typeface="Arial" charset="0"/>
                <a:cs typeface="Arial" charset="0"/>
              </a:endParaRPr>
            </a:p>
          </p:txBody>
        </p:sp>
        <p:sp>
          <p:nvSpPr>
            <p:cNvPr id="36891" name="Text Box 27"/>
            <p:cNvSpPr txBox="1">
              <a:spLocks noChangeArrowheads="1"/>
            </p:cNvSpPr>
            <p:nvPr/>
          </p:nvSpPr>
          <p:spPr bwMode="auto">
            <a:xfrm>
              <a:off x="765" y="1822"/>
              <a:ext cx="619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600" dirty="0">
                  <a:latin typeface="Arial" charset="0"/>
                  <a:cs typeface="Arial" charset="0"/>
                </a:rPr>
                <a:t>Aman</a:t>
              </a:r>
              <a:r>
                <a:rPr lang="ja-JP" altLang="en-US" sz="1600" dirty="0">
                  <a:latin typeface="Arial" charset="0"/>
                  <a:cs typeface="Arial" charset="0"/>
                </a:rPr>
                <a:t>’</a:t>
              </a:r>
              <a:r>
                <a:rPr lang="en-US" sz="1600" dirty="0">
                  <a:latin typeface="Arial" charset="0"/>
                  <a:cs typeface="Arial" charset="0"/>
                </a:rPr>
                <a:t>s </a:t>
              </a:r>
            </a:p>
            <a:p>
              <a:pPr algn="ctr">
                <a:defRPr/>
              </a:pPr>
              <a:r>
                <a:rPr lang="en-US" sz="1600" dirty="0">
                  <a:latin typeface="Arial" charset="0"/>
                  <a:cs typeface="Arial" charset="0"/>
                </a:rPr>
                <a:t>IP addr</a:t>
              </a:r>
            </a:p>
          </p:txBody>
        </p:sp>
        <p:sp>
          <p:nvSpPr>
            <p:cNvPr id="36892" name="Line 28"/>
            <p:cNvSpPr>
              <a:spLocks noChangeShapeType="1"/>
            </p:cNvSpPr>
            <p:nvPr/>
          </p:nvSpPr>
          <p:spPr bwMode="auto">
            <a:xfrm flipH="1">
              <a:off x="1337" y="1805"/>
              <a:ext cx="0" cy="39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6893" name="Text Box 29"/>
            <p:cNvSpPr txBox="1">
              <a:spLocks noChangeArrowheads="1"/>
            </p:cNvSpPr>
            <p:nvPr/>
          </p:nvSpPr>
          <p:spPr bwMode="auto">
            <a:xfrm>
              <a:off x="1331" y="1813"/>
              <a:ext cx="666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600" dirty="0">
                  <a:latin typeface="Arial" charset="0"/>
                  <a:cs typeface="Arial" charset="0"/>
                </a:rPr>
                <a:t>Aman</a:t>
              </a:r>
              <a:r>
                <a:rPr lang="ja-JP" altLang="en-US" sz="1600" dirty="0">
                  <a:latin typeface="Arial" charset="0"/>
                  <a:cs typeface="Arial" charset="0"/>
                </a:rPr>
                <a:t>’</a:t>
              </a:r>
              <a:r>
                <a:rPr lang="en-US" sz="1600" dirty="0">
                  <a:latin typeface="Arial" charset="0"/>
                  <a:cs typeface="Arial" charset="0"/>
                </a:rPr>
                <a:t>s </a:t>
              </a:r>
            </a:p>
            <a:p>
              <a:pPr algn="ctr">
                <a:defRPr/>
              </a:pPr>
              <a:r>
                <a:rPr lang="en-US" sz="1600" dirty="0">
                  <a:latin typeface="Arial" charset="0"/>
                  <a:cs typeface="Arial" charset="0"/>
                </a:rPr>
                <a:t>password</a:t>
              </a:r>
            </a:p>
          </p:txBody>
        </p:sp>
        <p:sp>
          <p:nvSpPr>
            <p:cNvPr id="36894" name="Line 30"/>
            <p:cNvSpPr>
              <a:spLocks noChangeShapeType="1"/>
            </p:cNvSpPr>
            <p:nvPr/>
          </p:nvSpPr>
          <p:spPr bwMode="auto">
            <a:xfrm flipH="1">
              <a:off x="1973" y="1805"/>
              <a:ext cx="0" cy="39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sp>
        <p:nvSpPr>
          <p:cNvPr id="36884" name="Line 31"/>
          <p:cNvSpPr>
            <a:spLocks noChangeShapeType="1"/>
          </p:cNvSpPr>
          <p:nvPr/>
        </p:nvSpPr>
        <p:spPr bwMode="auto">
          <a:xfrm flipV="1">
            <a:off x="4548188" y="4741863"/>
            <a:ext cx="679450" cy="5794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6885" name="Line 32"/>
          <p:cNvSpPr>
            <a:spLocks noChangeShapeType="1"/>
          </p:cNvSpPr>
          <p:nvPr/>
        </p:nvSpPr>
        <p:spPr bwMode="auto">
          <a:xfrm flipH="1">
            <a:off x="3697288" y="4878388"/>
            <a:ext cx="365125" cy="292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6886" name="Text Box 3"/>
          <p:cNvSpPr txBox="1">
            <a:spLocks noChangeArrowheads="1"/>
          </p:cNvSpPr>
          <p:nvPr/>
        </p:nvSpPr>
        <p:spPr bwMode="auto">
          <a:xfrm>
            <a:off x="564260" y="1452563"/>
            <a:ext cx="7990778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r">
              <a:defRPr/>
            </a:pPr>
            <a:r>
              <a:rPr lang="en-US" sz="2800" i="1" dirty="0">
                <a:solidFill>
                  <a:srgbClr val="C00000"/>
                </a:solidFill>
                <a:latin typeface="Gill Sans MT" charset="0"/>
                <a:cs typeface="+mn-cs"/>
              </a:rPr>
              <a:t>Protocol ap3.0:  </a:t>
            </a:r>
            <a:r>
              <a:rPr lang="en-US" sz="2800" dirty="0">
                <a:latin typeface="Gill Sans MT" charset="0"/>
                <a:cs typeface="+mn-cs"/>
              </a:rPr>
              <a:t>Aman says </a:t>
            </a:r>
            <a:r>
              <a:rPr lang="ja-JP" altLang="en-US" sz="2800" dirty="0">
                <a:latin typeface="Gill Sans MT" charset="0"/>
                <a:cs typeface="+mn-cs"/>
              </a:rPr>
              <a:t>“</a:t>
            </a:r>
            <a:r>
              <a:rPr lang="en-US" sz="2800" dirty="0">
                <a:latin typeface="Gill Sans MT" charset="0"/>
                <a:cs typeface="+mn-cs"/>
              </a:rPr>
              <a:t>I am Aman</a:t>
            </a:r>
            <a:r>
              <a:rPr lang="ja-JP" altLang="en-US" sz="2800" dirty="0">
                <a:latin typeface="Gill Sans MT" charset="0"/>
                <a:cs typeface="+mn-cs"/>
              </a:rPr>
              <a:t>”</a:t>
            </a:r>
            <a:r>
              <a:rPr lang="en-US" sz="2800" dirty="0">
                <a:latin typeface="Gill Sans MT" charset="0"/>
                <a:cs typeface="+mn-cs"/>
              </a:rPr>
              <a:t> and sends her</a:t>
            </a:r>
          </a:p>
          <a:p>
            <a:pPr algn="r">
              <a:defRPr/>
            </a:pPr>
            <a:r>
              <a:rPr lang="en-US" sz="2800" dirty="0">
                <a:latin typeface="Gill Sans MT" charset="0"/>
                <a:cs typeface="+mn-cs"/>
              </a:rPr>
              <a:t> secret password to </a:t>
            </a:r>
            <a:r>
              <a:rPr lang="ja-JP" altLang="en-US" sz="2800" dirty="0">
                <a:latin typeface="Gill Sans MT" charset="0"/>
                <a:cs typeface="+mn-cs"/>
              </a:rPr>
              <a:t>“</a:t>
            </a:r>
            <a:r>
              <a:rPr lang="en-US" sz="2800" dirty="0">
                <a:latin typeface="Gill Sans MT" charset="0"/>
                <a:cs typeface="+mn-cs"/>
              </a:rPr>
              <a:t>prove</a:t>
            </a:r>
            <a:r>
              <a:rPr lang="ja-JP" altLang="en-US" sz="2800" dirty="0">
                <a:latin typeface="Gill Sans MT" charset="0"/>
                <a:cs typeface="+mn-cs"/>
              </a:rPr>
              <a:t>”</a:t>
            </a:r>
            <a:r>
              <a:rPr lang="en-US" sz="2800" dirty="0">
                <a:latin typeface="Gill Sans MT" charset="0"/>
                <a:cs typeface="+mn-cs"/>
              </a:rPr>
              <a:t> it.</a:t>
            </a:r>
          </a:p>
        </p:txBody>
      </p:sp>
      <p:sp>
        <p:nvSpPr>
          <p:cNvPr id="65558" name="Rectangle 2"/>
          <p:cNvSpPr>
            <a:spLocks noGrp="1" noChangeArrowheads="1"/>
          </p:cNvSpPr>
          <p:nvPr>
            <p:ph type="title"/>
          </p:nvPr>
        </p:nvSpPr>
        <p:spPr>
          <a:xfrm>
            <a:off x="358775" y="130175"/>
            <a:ext cx="7772400" cy="1143000"/>
          </a:xfrm>
        </p:spPr>
        <p:txBody>
          <a:bodyPr/>
          <a:lstStyle/>
          <a:p>
            <a:r>
              <a:rPr lang="en-US" dirty="0">
                <a:latin typeface="Gill Sans MT" charset="0"/>
              </a:rPr>
              <a:t>Authentication: another try</a:t>
            </a:r>
          </a:p>
        </p:txBody>
      </p:sp>
      <p:pic>
        <p:nvPicPr>
          <p:cNvPr id="65559" name="Picture 18" descr="underline_base"/>
          <p:cNvPicPr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063" y="965200"/>
            <a:ext cx="63992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33</a:t>
            </a:fld>
            <a:endParaRPr lang="en-US" sz="1200" dirty="0">
              <a:latin typeface="Tahoma" charset="0"/>
            </a:endParaRPr>
          </a:p>
        </p:txBody>
      </p:sp>
      <p:sp>
        <p:nvSpPr>
          <p:cNvPr id="36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14293020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ill Sans MT" charset="0"/>
              </a:rPr>
              <a:t>Authentication: yet another try</a:t>
            </a:r>
          </a:p>
        </p:txBody>
      </p:sp>
      <p:sp>
        <p:nvSpPr>
          <p:cNvPr id="37892" name="Text Box 3"/>
          <p:cNvSpPr txBox="1">
            <a:spLocks noChangeArrowheads="1"/>
          </p:cNvSpPr>
          <p:nvPr/>
        </p:nvSpPr>
        <p:spPr bwMode="auto">
          <a:xfrm>
            <a:off x="564260" y="1452563"/>
            <a:ext cx="7990778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r">
              <a:defRPr/>
            </a:pPr>
            <a:r>
              <a:rPr lang="en-US" sz="2800" i="1" dirty="0">
                <a:solidFill>
                  <a:srgbClr val="C00000"/>
                </a:solidFill>
                <a:latin typeface="Gill Sans MT" charset="0"/>
                <a:cs typeface="+mn-cs"/>
              </a:rPr>
              <a:t>Protocol ap3.1:  </a:t>
            </a:r>
            <a:r>
              <a:rPr lang="en-US" sz="2800" dirty="0">
                <a:latin typeface="Gill Sans MT" charset="0"/>
                <a:cs typeface="+mn-cs"/>
              </a:rPr>
              <a:t>Aman says </a:t>
            </a:r>
            <a:r>
              <a:rPr lang="ja-JP" altLang="en-US" sz="2800" dirty="0">
                <a:latin typeface="Gill Sans MT" charset="0"/>
                <a:cs typeface="+mn-cs"/>
              </a:rPr>
              <a:t>“</a:t>
            </a:r>
            <a:r>
              <a:rPr lang="en-US" sz="2800" dirty="0">
                <a:latin typeface="Gill Sans MT" charset="0"/>
                <a:cs typeface="+mn-cs"/>
              </a:rPr>
              <a:t>I am Aman</a:t>
            </a:r>
            <a:r>
              <a:rPr lang="ja-JP" altLang="en-US" sz="2800" dirty="0">
                <a:latin typeface="Gill Sans MT" charset="0"/>
                <a:cs typeface="+mn-cs"/>
              </a:rPr>
              <a:t>”</a:t>
            </a:r>
            <a:r>
              <a:rPr lang="en-US" sz="2800" dirty="0">
                <a:latin typeface="Gill Sans MT" charset="0"/>
                <a:cs typeface="+mn-cs"/>
              </a:rPr>
              <a:t> and sends her</a:t>
            </a:r>
          </a:p>
          <a:p>
            <a:pPr algn="r">
              <a:defRPr/>
            </a:pPr>
            <a:r>
              <a:rPr lang="en-US" sz="2800" i="1" dirty="0">
                <a:solidFill>
                  <a:srgbClr val="FF0000"/>
                </a:solidFill>
                <a:latin typeface="Gill Sans MT" charset="0"/>
                <a:cs typeface="+mn-cs"/>
              </a:rPr>
              <a:t> </a:t>
            </a:r>
            <a:r>
              <a:rPr lang="en-US" sz="2800" i="1" dirty="0">
                <a:solidFill>
                  <a:srgbClr val="C00000"/>
                </a:solidFill>
                <a:latin typeface="Gill Sans MT" charset="0"/>
                <a:cs typeface="+mn-cs"/>
              </a:rPr>
              <a:t>encrypted</a:t>
            </a:r>
            <a:r>
              <a:rPr lang="en-US" sz="2800" dirty="0">
                <a:solidFill>
                  <a:srgbClr val="C00000"/>
                </a:solidFill>
                <a:latin typeface="Gill Sans MT" charset="0"/>
                <a:cs typeface="+mn-cs"/>
              </a:rPr>
              <a:t> </a:t>
            </a:r>
            <a:r>
              <a:rPr lang="en-US" sz="2800" dirty="0">
                <a:latin typeface="Gill Sans MT" charset="0"/>
                <a:cs typeface="+mn-cs"/>
              </a:rPr>
              <a:t>secret password to </a:t>
            </a:r>
            <a:r>
              <a:rPr lang="ja-JP" altLang="en-US" sz="2800" dirty="0">
                <a:latin typeface="Gill Sans MT" charset="0"/>
                <a:cs typeface="+mn-cs"/>
              </a:rPr>
              <a:t>“</a:t>
            </a:r>
            <a:r>
              <a:rPr lang="en-US" sz="2800" dirty="0">
                <a:latin typeface="Gill Sans MT" charset="0"/>
                <a:cs typeface="+mn-cs"/>
              </a:rPr>
              <a:t>prove</a:t>
            </a:r>
            <a:r>
              <a:rPr lang="ja-JP" altLang="en-US" sz="2800" dirty="0">
                <a:latin typeface="Gill Sans MT" charset="0"/>
                <a:cs typeface="+mn-cs"/>
              </a:rPr>
              <a:t>”</a:t>
            </a:r>
            <a:r>
              <a:rPr lang="en-US" sz="2800" dirty="0">
                <a:latin typeface="Gill Sans MT" charset="0"/>
                <a:cs typeface="+mn-cs"/>
              </a:rPr>
              <a:t> it.</a:t>
            </a:r>
          </a:p>
        </p:txBody>
      </p:sp>
      <p:sp>
        <p:nvSpPr>
          <p:cNvPr id="37893" name="Text Box 4"/>
          <p:cNvSpPr txBox="1">
            <a:spLocks noChangeArrowheads="1"/>
          </p:cNvSpPr>
          <p:nvPr/>
        </p:nvSpPr>
        <p:spPr bwMode="auto">
          <a:xfrm>
            <a:off x="6030913" y="4113213"/>
            <a:ext cx="27574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2400" dirty="0">
                <a:latin typeface="Arial" charset="0"/>
                <a:cs typeface="Arial" charset="0"/>
              </a:rPr>
              <a:t>Failure scenario??</a:t>
            </a:r>
          </a:p>
        </p:txBody>
      </p:sp>
      <p:pic>
        <p:nvPicPr>
          <p:cNvPr id="66565" name="Picture 5" descr="Alic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538" y="3721100"/>
            <a:ext cx="698500" cy="86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6566" name="Picture 6" descr="Eve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5194300"/>
            <a:ext cx="1082675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6567" name="Picture 7" descr="Bob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1900" y="3670300"/>
            <a:ext cx="8128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7" name="Line 8"/>
          <p:cNvSpPr>
            <a:spLocks noChangeShapeType="1"/>
          </p:cNvSpPr>
          <p:nvPr/>
        </p:nvSpPr>
        <p:spPr bwMode="auto">
          <a:xfrm>
            <a:off x="1209675" y="4065588"/>
            <a:ext cx="3798888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66569" name="Group 9"/>
          <p:cNvGrpSpPr>
            <a:grpSpLocks/>
          </p:cNvGrpSpPr>
          <p:nvPr/>
        </p:nvGrpSpPr>
        <p:grpSpPr bwMode="auto">
          <a:xfrm>
            <a:off x="1439863" y="3306763"/>
            <a:ext cx="3222626" cy="633412"/>
            <a:chOff x="765" y="1799"/>
            <a:chExt cx="2030" cy="399"/>
          </a:xfrm>
        </p:grpSpPr>
        <p:sp>
          <p:nvSpPr>
            <p:cNvPr id="37907" name="Rectangle 10"/>
            <p:cNvSpPr>
              <a:spLocks noChangeArrowheads="1"/>
            </p:cNvSpPr>
            <p:nvPr/>
          </p:nvSpPr>
          <p:spPr bwMode="auto">
            <a:xfrm>
              <a:off x="806" y="1799"/>
              <a:ext cx="1919" cy="39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37908" name="Text Box 11"/>
            <p:cNvSpPr txBox="1">
              <a:spLocks noChangeArrowheads="1"/>
            </p:cNvSpPr>
            <p:nvPr/>
          </p:nvSpPr>
          <p:spPr bwMode="auto">
            <a:xfrm>
              <a:off x="1887" y="1876"/>
              <a:ext cx="90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ja-JP" altLang="en-US" sz="1800" dirty="0">
                  <a:latin typeface="Arial" charset="0"/>
                  <a:cs typeface="Arial" charset="0"/>
                </a:rPr>
                <a:t>“</a:t>
              </a:r>
              <a:r>
                <a:rPr lang="en-US" sz="1800" dirty="0">
                  <a:latin typeface="Arial" charset="0"/>
                  <a:cs typeface="Arial" charset="0"/>
                </a:rPr>
                <a:t>I</a:t>
              </a:r>
              <a:r>
                <a:rPr lang="ja-JP" altLang="en-US" sz="1800" dirty="0">
                  <a:latin typeface="Arial" charset="0"/>
                  <a:cs typeface="Arial" charset="0"/>
                </a:rPr>
                <a:t>’</a:t>
              </a:r>
              <a:r>
                <a:rPr lang="en-US" sz="1800" dirty="0">
                  <a:latin typeface="Arial" charset="0"/>
                  <a:cs typeface="Arial" charset="0"/>
                </a:rPr>
                <a:t>m Aman</a:t>
              </a:r>
              <a:r>
                <a:rPr lang="ja-JP" altLang="en-US" sz="1800" dirty="0">
                  <a:latin typeface="Arial" charset="0"/>
                  <a:cs typeface="Arial" charset="0"/>
                </a:rPr>
                <a:t>”</a:t>
              </a:r>
              <a:endParaRPr lang="en-US" sz="1800" dirty="0">
                <a:latin typeface="Arial" charset="0"/>
                <a:cs typeface="Arial" charset="0"/>
              </a:endParaRPr>
            </a:p>
          </p:txBody>
        </p:sp>
        <p:sp>
          <p:nvSpPr>
            <p:cNvPr id="37909" name="Text Box 12"/>
            <p:cNvSpPr txBox="1">
              <a:spLocks noChangeArrowheads="1"/>
            </p:cNvSpPr>
            <p:nvPr/>
          </p:nvSpPr>
          <p:spPr bwMode="auto">
            <a:xfrm>
              <a:off x="765" y="1822"/>
              <a:ext cx="619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600" dirty="0">
                  <a:latin typeface="Arial" charset="0"/>
                  <a:cs typeface="Arial" charset="0"/>
                </a:rPr>
                <a:t>Aman</a:t>
              </a:r>
              <a:r>
                <a:rPr lang="ja-JP" altLang="en-US" sz="1600" dirty="0">
                  <a:latin typeface="Arial" charset="0"/>
                  <a:cs typeface="Arial" charset="0"/>
                </a:rPr>
                <a:t>’</a:t>
              </a:r>
              <a:r>
                <a:rPr lang="en-US" sz="1600" dirty="0">
                  <a:latin typeface="Arial" charset="0"/>
                  <a:cs typeface="Arial" charset="0"/>
                </a:rPr>
                <a:t>s </a:t>
              </a:r>
            </a:p>
            <a:p>
              <a:pPr algn="ctr">
                <a:defRPr/>
              </a:pPr>
              <a:r>
                <a:rPr lang="en-US" sz="1600" dirty="0">
                  <a:latin typeface="Arial" charset="0"/>
                  <a:cs typeface="Arial" charset="0"/>
                </a:rPr>
                <a:t>IP addr</a:t>
              </a:r>
            </a:p>
          </p:txBody>
        </p:sp>
        <p:sp>
          <p:nvSpPr>
            <p:cNvPr id="37910" name="Line 13"/>
            <p:cNvSpPr>
              <a:spLocks noChangeShapeType="1"/>
            </p:cNvSpPr>
            <p:nvPr/>
          </p:nvSpPr>
          <p:spPr bwMode="auto">
            <a:xfrm flipH="1">
              <a:off x="1337" y="1805"/>
              <a:ext cx="0" cy="39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7911" name="Text Box 14"/>
            <p:cNvSpPr txBox="1">
              <a:spLocks noChangeArrowheads="1"/>
            </p:cNvSpPr>
            <p:nvPr/>
          </p:nvSpPr>
          <p:spPr bwMode="auto">
            <a:xfrm>
              <a:off x="1304" y="1813"/>
              <a:ext cx="720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600" dirty="0">
                  <a:latin typeface="Arial" charset="0"/>
                  <a:cs typeface="Arial" charset="0"/>
                </a:rPr>
                <a:t>encrypted </a:t>
              </a:r>
            </a:p>
            <a:p>
              <a:pPr algn="ctr">
                <a:defRPr/>
              </a:pPr>
              <a:r>
                <a:rPr lang="en-US" sz="1600" dirty="0">
                  <a:latin typeface="Arial" charset="0"/>
                  <a:cs typeface="Arial" charset="0"/>
                </a:rPr>
                <a:t>password</a:t>
              </a:r>
            </a:p>
          </p:txBody>
        </p:sp>
        <p:sp>
          <p:nvSpPr>
            <p:cNvPr id="37912" name="Line 15"/>
            <p:cNvSpPr>
              <a:spLocks noChangeShapeType="1"/>
            </p:cNvSpPr>
            <p:nvPr/>
          </p:nvSpPr>
          <p:spPr bwMode="auto">
            <a:xfrm flipH="1">
              <a:off x="1973" y="1805"/>
              <a:ext cx="0" cy="39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grpSp>
        <p:nvGrpSpPr>
          <p:cNvPr id="66570" name="Group 16"/>
          <p:cNvGrpSpPr>
            <a:grpSpLocks/>
          </p:cNvGrpSpPr>
          <p:nvPr/>
        </p:nvGrpSpPr>
        <p:grpSpPr bwMode="auto">
          <a:xfrm>
            <a:off x="2998788" y="4235450"/>
            <a:ext cx="1554163" cy="633413"/>
            <a:chOff x="959" y="2719"/>
            <a:chExt cx="979" cy="399"/>
          </a:xfrm>
        </p:grpSpPr>
        <p:sp>
          <p:nvSpPr>
            <p:cNvPr id="37903" name="Rectangle 17"/>
            <p:cNvSpPr>
              <a:spLocks noChangeArrowheads="1"/>
            </p:cNvSpPr>
            <p:nvPr/>
          </p:nvSpPr>
          <p:spPr bwMode="auto">
            <a:xfrm>
              <a:off x="1000" y="2719"/>
              <a:ext cx="938" cy="39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37904" name="Text Box 18"/>
            <p:cNvSpPr txBox="1">
              <a:spLocks noChangeArrowheads="1"/>
            </p:cNvSpPr>
            <p:nvPr/>
          </p:nvSpPr>
          <p:spPr bwMode="auto">
            <a:xfrm>
              <a:off x="1574" y="2793"/>
              <a:ext cx="32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800" dirty="0">
                  <a:latin typeface="Arial" charset="0"/>
                  <a:cs typeface="Arial" charset="0"/>
                </a:rPr>
                <a:t>OK</a:t>
              </a:r>
            </a:p>
          </p:txBody>
        </p:sp>
        <p:sp>
          <p:nvSpPr>
            <p:cNvPr id="37905" name="Text Box 19"/>
            <p:cNvSpPr txBox="1">
              <a:spLocks noChangeArrowheads="1"/>
            </p:cNvSpPr>
            <p:nvPr/>
          </p:nvSpPr>
          <p:spPr bwMode="auto">
            <a:xfrm>
              <a:off x="959" y="2742"/>
              <a:ext cx="619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600" dirty="0">
                  <a:latin typeface="Arial" charset="0"/>
                  <a:cs typeface="Arial" charset="0"/>
                </a:rPr>
                <a:t>Aman</a:t>
              </a:r>
              <a:r>
                <a:rPr lang="ja-JP" altLang="en-US" sz="1600" dirty="0">
                  <a:latin typeface="Arial" charset="0"/>
                  <a:cs typeface="Arial" charset="0"/>
                </a:rPr>
                <a:t>’</a:t>
              </a:r>
              <a:r>
                <a:rPr lang="en-US" sz="1600" dirty="0">
                  <a:latin typeface="Arial" charset="0"/>
                  <a:cs typeface="Arial" charset="0"/>
                </a:rPr>
                <a:t>s </a:t>
              </a:r>
            </a:p>
            <a:p>
              <a:pPr algn="ctr">
                <a:defRPr/>
              </a:pPr>
              <a:r>
                <a:rPr lang="en-US" sz="1600" dirty="0">
                  <a:latin typeface="Arial" charset="0"/>
                  <a:cs typeface="Arial" charset="0"/>
                </a:rPr>
                <a:t>IP addr</a:t>
              </a:r>
            </a:p>
          </p:txBody>
        </p:sp>
        <p:sp>
          <p:nvSpPr>
            <p:cNvPr id="37906" name="Line 20"/>
            <p:cNvSpPr>
              <a:spLocks noChangeShapeType="1"/>
            </p:cNvSpPr>
            <p:nvPr/>
          </p:nvSpPr>
          <p:spPr bwMode="auto">
            <a:xfrm flipH="1">
              <a:off x="1531" y="2725"/>
              <a:ext cx="0" cy="39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sp>
        <p:nvSpPr>
          <p:cNvPr id="37900" name="Line 21"/>
          <p:cNvSpPr>
            <a:spLocks noChangeShapeType="1"/>
          </p:cNvSpPr>
          <p:nvPr/>
        </p:nvSpPr>
        <p:spPr bwMode="auto">
          <a:xfrm>
            <a:off x="4627563" y="3600450"/>
            <a:ext cx="561975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7901" name="Line 22"/>
          <p:cNvSpPr>
            <a:spLocks noChangeShapeType="1"/>
          </p:cNvSpPr>
          <p:nvPr/>
        </p:nvSpPr>
        <p:spPr bwMode="auto">
          <a:xfrm flipH="1" flipV="1">
            <a:off x="2424113" y="4537075"/>
            <a:ext cx="5413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pic>
        <p:nvPicPr>
          <p:cNvPr id="66573" name="Picture 16" descr="underline_base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375" y="1031875"/>
            <a:ext cx="73136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34</a:t>
            </a:fld>
            <a:endParaRPr lang="en-US" sz="1200" dirty="0">
              <a:latin typeface="Tahoma" charset="0"/>
            </a:endParaRPr>
          </a:p>
        </p:txBody>
      </p:sp>
      <p:sp>
        <p:nvSpPr>
          <p:cNvPr id="26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372808443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Text Box 4"/>
          <p:cNvSpPr txBox="1">
            <a:spLocks noChangeArrowheads="1"/>
          </p:cNvSpPr>
          <p:nvPr/>
        </p:nvSpPr>
        <p:spPr bwMode="auto">
          <a:xfrm>
            <a:off x="6765925" y="3436938"/>
            <a:ext cx="1604963" cy="1570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2400" dirty="0">
                <a:latin typeface="Arial" charset="0"/>
                <a:cs typeface="Arial" charset="0"/>
              </a:rPr>
              <a:t>record</a:t>
            </a:r>
          </a:p>
          <a:p>
            <a:pPr algn="ctr">
              <a:defRPr/>
            </a:pPr>
            <a:r>
              <a:rPr lang="en-US" sz="2400" dirty="0">
                <a:latin typeface="Arial" charset="0"/>
                <a:cs typeface="Arial" charset="0"/>
              </a:rPr>
              <a:t>and</a:t>
            </a:r>
          </a:p>
          <a:p>
            <a:pPr algn="ctr">
              <a:defRPr/>
            </a:pPr>
            <a:r>
              <a:rPr lang="en-US" sz="2400" dirty="0">
                <a:latin typeface="Arial" charset="0"/>
                <a:cs typeface="Arial" charset="0"/>
              </a:rPr>
              <a:t>playback</a:t>
            </a:r>
          </a:p>
          <a:p>
            <a:pPr algn="ctr">
              <a:defRPr/>
            </a:pPr>
            <a:r>
              <a:rPr lang="en-US" sz="2400" i="1" dirty="0">
                <a:solidFill>
                  <a:srgbClr val="C00000"/>
                </a:solidFill>
                <a:latin typeface="Arial" charset="0"/>
                <a:cs typeface="Arial" charset="0"/>
              </a:rPr>
              <a:t>still</a:t>
            </a:r>
            <a:r>
              <a:rPr lang="en-US" sz="2400" dirty="0">
                <a:solidFill>
                  <a:srgbClr val="FF0000"/>
                </a:solidFill>
                <a:latin typeface="Arial" charset="0"/>
                <a:cs typeface="Arial" charset="0"/>
              </a:rPr>
              <a:t> </a:t>
            </a:r>
            <a:r>
              <a:rPr lang="en-US" sz="2400" dirty="0">
                <a:latin typeface="Arial" charset="0"/>
                <a:cs typeface="Arial" charset="0"/>
              </a:rPr>
              <a:t>works!</a:t>
            </a:r>
          </a:p>
        </p:txBody>
      </p:sp>
      <p:pic>
        <p:nvPicPr>
          <p:cNvPr id="67587" name="Picture 5" descr="Alic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538" y="3721100"/>
            <a:ext cx="698500" cy="86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7588" name="Picture 6" descr="Eve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5194300"/>
            <a:ext cx="1082675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7589" name="Picture 7" descr="Bob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1900" y="3670300"/>
            <a:ext cx="8128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19" name="Line 8"/>
          <p:cNvSpPr>
            <a:spLocks noChangeShapeType="1"/>
          </p:cNvSpPr>
          <p:nvPr/>
        </p:nvSpPr>
        <p:spPr bwMode="auto">
          <a:xfrm>
            <a:off x="1209675" y="4065588"/>
            <a:ext cx="3798888" cy="0"/>
          </a:xfrm>
          <a:prstGeom prst="line">
            <a:avLst/>
          </a:prstGeom>
          <a:noFill/>
          <a:ln w="57150">
            <a:solidFill>
              <a:schemeClr val="bg2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8920" name="Rectangle 9"/>
          <p:cNvSpPr>
            <a:spLocks noChangeArrowheads="1"/>
          </p:cNvSpPr>
          <p:nvPr/>
        </p:nvSpPr>
        <p:spPr bwMode="auto">
          <a:xfrm>
            <a:off x="1504950" y="3306763"/>
            <a:ext cx="3046413" cy="633412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38921" name="Text Box 10"/>
          <p:cNvSpPr txBox="1">
            <a:spLocks noChangeArrowheads="1"/>
          </p:cNvSpPr>
          <p:nvPr/>
        </p:nvSpPr>
        <p:spPr bwMode="auto">
          <a:xfrm>
            <a:off x="3221814" y="3429000"/>
            <a:ext cx="144148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ja-JP" altLang="en-US" sz="1800" dirty="0">
                <a:solidFill>
                  <a:schemeClr val="bg2"/>
                </a:solidFill>
                <a:latin typeface="Arial" charset="0"/>
                <a:cs typeface="Arial" charset="0"/>
              </a:rPr>
              <a:t>“</a:t>
            </a:r>
            <a:r>
              <a:rPr lang="en-US" sz="1800" dirty="0">
                <a:solidFill>
                  <a:schemeClr val="bg2"/>
                </a:solidFill>
                <a:latin typeface="Arial" charset="0"/>
                <a:cs typeface="Arial" charset="0"/>
              </a:rPr>
              <a:t>I</a:t>
            </a:r>
            <a:r>
              <a:rPr lang="ja-JP" altLang="en-US" sz="1800" dirty="0">
                <a:solidFill>
                  <a:schemeClr val="bg2"/>
                </a:solidFill>
                <a:latin typeface="Arial" charset="0"/>
                <a:cs typeface="Arial" charset="0"/>
              </a:rPr>
              <a:t>’</a:t>
            </a:r>
            <a:r>
              <a:rPr lang="en-US" sz="1800" dirty="0">
                <a:solidFill>
                  <a:schemeClr val="bg2"/>
                </a:solidFill>
                <a:latin typeface="Arial" charset="0"/>
                <a:cs typeface="Arial" charset="0"/>
              </a:rPr>
              <a:t>m Aman</a:t>
            </a:r>
            <a:r>
              <a:rPr lang="ja-JP" altLang="en-US" sz="1800" dirty="0">
                <a:solidFill>
                  <a:schemeClr val="bg2"/>
                </a:solidFill>
                <a:latin typeface="Arial" charset="0"/>
                <a:cs typeface="Arial" charset="0"/>
              </a:rPr>
              <a:t>”</a:t>
            </a:r>
            <a:endParaRPr lang="en-US" sz="1800" dirty="0">
              <a:solidFill>
                <a:schemeClr val="bg2"/>
              </a:solidFill>
              <a:latin typeface="Arial" charset="0"/>
              <a:cs typeface="Arial" charset="0"/>
            </a:endParaRPr>
          </a:p>
        </p:txBody>
      </p:sp>
      <p:sp>
        <p:nvSpPr>
          <p:cNvPr id="38922" name="Text Box 11"/>
          <p:cNvSpPr txBox="1">
            <a:spLocks noChangeArrowheads="1"/>
          </p:cNvSpPr>
          <p:nvPr/>
        </p:nvSpPr>
        <p:spPr bwMode="auto">
          <a:xfrm>
            <a:off x="1439714" y="3343275"/>
            <a:ext cx="98296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1600" dirty="0">
                <a:solidFill>
                  <a:schemeClr val="bg2"/>
                </a:solidFill>
                <a:latin typeface="Arial" charset="0"/>
                <a:cs typeface="Arial" charset="0"/>
              </a:rPr>
              <a:t>Aman</a:t>
            </a:r>
            <a:r>
              <a:rPr lang="ja-JP" altLang="en-US" sz="1600" dirty="0">
                <a:solidFill>
                  <a:schemeClr val="bg2"/>
                </a:solidFill>
                <a:latin typeface="Arial" charset="0"/>
                <a:cs typeface="Arial" charset="0"/>
              </a:rPr>
              <a:t>’</a:t>
            </a:r>
            <a:r>
              <a:rPr lang="en-US" sz="1600" dirty="0">
                <a:solidFill>
                  <a:schemeClr val="bg2"/>
                </a:solidFill>
                <a:latin typeface="Arial" charset="0"/>
                <a:cs typeface="Arial" charset="0"/>
              </a:rPr>
              <a:t>s </a:t>
            </a:r>
          </a:p>
          <a:p>
            <a:pPr algn="ctr">
              <a:defRPr/>
            </a:pPr>
            <a:r>
              <a:rPr lang="en-US" sz="1600" dirty="0">
                <a:solidFill>
                  <a:schemeClr val="bg2"/>
                </a:solidFill>
                <a:latin typeface="Arial" charset="0"/>
                <a:cs typeface="Arial" charset="0"/>
              </a:rPr>
              <a:t>IP addr</a:t>
            </a:r>
          </a:p>
        </p:txBody>
      </p:sp>
      <p:sp>
        <p:nvSpPr>
          <p:cNvPr id="38923" name="Line 12"/>
          <p:cNvSpPr>
            <a:spLocks noChangeShapeType="1"/>
          </p:cNvSpPr>
          <p:nvPr/>
        </p:nvSpPr>
        <p:spPr bwMode="auto">
          <a:xfrm flipH="1">
            <a:off x="2347913" y="3316288"/>
            <a:ext cx="0" cy="6238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8924" name="Text Box 13"/>
          <p:cNvSpPr txBox="1">
            <a:spLocks noChangeArrowheads="1"/>
          </p:cNvSpPr>
          <p:nvPr/>
        </p:nvSpPr>
        <p:spPr bwMode="auto">
          <a:xfrm>
            <a:off x="2325688" y="3328988"/>
            <a:ext cx="1084262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1600" dirty="0">
                <a:solidFill>
                  <a:schemeClr val="bg2"/>
                </a:solidFill>
                <a:latin typeface="Arial" charset="0"/>
                <a:cs typeface="Arial" charset="0"/>
              </a:rPr>
              <a:t>encrypted</a:t>
            </a:r>
          </a:p>
          <a:p>
            <a:pPr algn="ctr">
              <a:defRPr/>
            </a:pPr>
            <a:r>
              <a:rPr lang="en-US" sz="1600" dirty="0">
                <a:solidFill>
                  <a:schemeClr val="bg2"/>
                </a:solidFill>
                <a:latin typeface="Arial" charset="0"/>
                <a:cs typeface="Arial" charset="0"/>
              </a:rPr>
              <a:t>password</a:t>
            </a:r>
          </a:p>
        </p:txBody>
      </p:sp>
      <p:sp>
        <p:nvSpPr>
          <p:cNvPr id="38925" name="Line 14"/>
          <p:cNvSpPr>
            <a:spLocks noChangeShapeType="1"/>
          </p:cNvSpPr>
          <p:nvPr/>
        </p:nvSpPr>
        <p:spPr bwMode="auto">
          <a:xfrm flipH="1">
            <a:off x="3357563" y="3316288"/>
            <a:ext cx="0" cy="6238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67597" name="Group 15"/>
          <p:cNvGrpSpPr>
            <a:grpSpLocks/>
          </p:cNvGrpSpPr>
          <p:nvPr/>
        </p:nvGrpSpPr>
        <p:grpSpPr bwMode="auto">
          <a:xfrm>
            <a:off x="3262313" y="4224338"/>
            <a:ext cx="1554163" cy="633412"/>
            <a:chOff x="959" y="2719"/>
            <a:chExt cx="979" cy="399"/>
          </a:xfrm>
        </p:grpSpPr>
        <p:sp>
          <p:nvSpPr>
            <p:cNvPr id="38943" name="Rectangle 16"/>
            <p:cNvSpPr>
              <a:spLocks noChangeArrowheads="1"/>
            </p:cNvSpPr>
            <p:nvPr/>
          </p:nvSpPr>
          <p:spPr bwMode="auto">
            <a:xfrm>
              <a:off x="1000" y="2719"/>
              <a:ext cx="938" cy="39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38944" name="Text Box 17"/>
            <p:cNvSpPr txBox="1">
              <a:spLocks noChangeArrowheads="1"/>
            </p:cNvSpPr>
            <p:nvPr/>
          </p:nvSpPr>
          <p:spPr bwMode="auto">
            <a:xfrm>
              <a:off x="1574" y="2793"/>
              <a:ext cx="32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800" dirty="0">
                  <a:latin typeface="Arial" charset="0"/>
                  <a:cs typeface="Arial" charset="0"/>
                </a:rPr>
                <a:t>OK</a:t>
              </a:r>
            </a:p>
          </p:txBody>
        </p:sp>
        <p:sp>
          <p:nvSpPr>
            <p:cNvPr id="38945" name="Text Box 18"/>
            <p:cNvSpPr txBox="1">
              <a:spLocks noChangeArrowheads="1"/>
            </p:cNvSpPr>
            <p:nvPr/>
          </p:nvSpPr>
          <p:spPr bwMode="auto">
            <a:xfrm>
              <a:off x="959" y="2742"/>
              <a:ext cx="619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600" dirty="0">
                  <a:latin typeface="Arial" charset="0"/>
                  <a:cs typeface="Arial" charset="0"/>
                </a:rPr>
                <a:t>Aman</a:t>
              </a:r>
              <a:r>
                <a:rPr lang="ja-JP" altLang="en-US" sz="1600" dirty="0">
                  <a:latin typeface="Arial" charset="0"/>
                  <a:cs typeface="Arial" charset="0"/>
                </a:rPr>
                <a:t>’</a:t>
              </a:r>
              <a:r>
                <a:rPr lang="en-US" sz="1600" dirty="0">
                  <a:latin typeface="Arial" charset="0"/>
                  <a:cs typeface="Arial" charset="0"/>
                </a:rPr>
                <a:t>s </a:t>
              </a:r>
            </a:p>
            <a:p>
              <a:pPr algn="ctr">
                <a:defRPr/>
              </a:pPr>
              <a:r>
                <a:rPr lang="en-US" sz="1600" dirty="0">
                  <a:latin typeface="Arial" charset="0"/>
                  <a:cs typeface="Arial" charset="0"/>
                </a:rPr>
                <a:t>IP addr</a:t>
              </a:r>
            </a:p>
          </p:txBody>
        </p:sp>
        <p:sp>
          <p:nvSpPr>
            <p:cNvPr id="38946" name="Line 19"/>
            <p:cNvSpPr>
              <a:spLocks noChangeShapeType="1"/>
            </p:cNvSpPr>
            <p:nvPr/>
          </p:nvSpPr>
          <p:spPr bwMode="auto">
            <a:xfrm flipH="1">
              <a:off x="1531" y="2725"/>
              <a:ext cx="0" cy="39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sp>
        <p:nvSpPr>
          <p:cNvPr id="38927" name="Line 20"/>
          <p:cNvSpPr>
            <a:spLocks noChangeShapeType="1"/>
          </p:cNvSpPr>
          <p:nvPr/>
        </p:nvSpPr>
        <p:spPr bwMode="auto">
          <a:xfrm>
            <a:off x="4627563" y="3600450"/>
            <a:ext cx="561975" cy="1588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pic>
        <p:nvPicPr>
          <p:cNvPr id="67599" name="Picture 21" descr="EN00179_[1]"/>
          <p:cNvPicPr>
            <a:picLocks noGrp="1" noChangeAspect="1" noChangeArrowheads="1"/>
          </p:cNvPicPr>
          <p:nvPr>
            <p:ph idx="1"/>
          </p:nvPr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49450" y="5337175"/>
            <a:ext cx="862013" cy="668338"/>
          </a:xfrm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8929" name="Line 22"/>
          <p:cNvSpPr>
            <a:spLocks noChangeShapeType="1"/>
          </p:cNvSpPr>
          <p:nvPr/>
        </p:nvSpPr>
        <p:spPr bwMode="auto">
          <a:xfrm>
            <a:off x="1857375" y="4106863"/>
            <a:ext cx="623888" cy="1292225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8930" name="Line 23"/>
          <p:cNvSpPr>
            <a:spLocks noChangeShapeType="1"/>
          </p:cNvSpPr>
          <p:nvPr/>
        </p:nvSpPr>
        <p:spPr bwMode="auto">
          <a:xfrm flipH="1">
            <a:off x="3344863" y="4214813"/>
            <a:ext cx="1857375" cy="1554162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67602" name="Group 24"/>
          <p:cNvGrpSpPr>
            <a:grpSpLocks/>
          </p:cNvGrpSpPr>
          <p:nvPr/>
        </p:nvGrpSpPr>
        <p:grpSpPr bwMode="auto">
          <a:xfrm>
            <a:off x="3486150" y="5368925"/>
            <a:ext cx="3222624" cy="633413"/>
            <a:chOff x="765" y="1799"/>
            <a:chExt cx="2030" cy="399"/>
          </a:xfrm>
        </p:grpSpPr>
        <p:sp>
          <p:nvSpPr>
            <p:cNvPr id="38937" name="Rectangle 25"/>
            <p:cNvSpPr>
              <a:spLocks noChangeArrowheads="1"/>
            </p:cNvSpPr>
            <p:nvPr/>
          </p:nvSpPr>
          <p:spPr bwMode="auto">
            <a:xfrm>
              <a:off x="806" y="1799"/>
              <a:ext cx="1919" cy="39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38938" name="Text Box 26"/>
            <p:cNvSpPr txBox="1">
              <a:spLocks noChangeArrowheads="1"/>
            </p:cNvSpPr>
            <p:nvPr/>
          </p:nvSpPr>
          <p:spPr bwMode="auto">
            <a:xfrm>
              <a:off x="1887" y="1876"/>
              <a:ext cx="90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ja-JP" altLang="en-US" sz="1800" dirty="0">
                  <a:latin typeface="Arial" charset="0"/>
                  <a:cs typeface="Arial" charset="0"/>
                </a:rPr>
                <a:t>“</a:t>
              </a:r>
              <a:r>
                <a:rPr lang="en-US" sz="1800" dirty="0">
                  <a:latin typeface="Arial" charset="0"/>
                  <a:cs typeface="Arial" charset="0"/>
                </a:rPr>
                <a:t>I</a:t>
              </a:r>
              <a:r>
                <a:rPr lang="ja-JP" altLang="en-US" sz="1800" dirty="0">
                  <a:latin typeface="Arial" charset="0"/>
                  <a:cs typeface="Arial" charset="0"/>
                </a:rPr>
                <a:t>’</a:t>
              </a:r>
              <a:r>
                <a:rPr lang="en-US" sz="1800" dirty="0">
                  <a:latin typeface="Arial" charset="0"/>
                  <a:cs typeface="Arial" charset="0"/>
                </a:rPr>
                <a:t>m Aman</a:t>
              </a:r>
              <a:r>
                <a:rPr lang="ja-JP" altLang="en-US" sz="1800" dirty="0">
                  <a:latin typeface="Arial" charset="0"/>
                  <a:cs typeface="Arial" charset="0"/>
                </a:rPr>
                <a:t>”</a:t>
              </a:r>
              <a:endParaRPr lang="en-US" sz="1800" dirty="0">
                <a:latin typeface="Arial" charset="0"/>
                <a:cs typeface="Arial" charset="0"/>
              </a:endParaRPr>
            </a:p>
          </p:txBody>
        </p:sp>
        <p:sp>
          <p:nvSpPr>
            <p:cNvPr id="38939" name="Text Box 27"/>
            <p:cNvSpPr txBox="1">
              <a:spLocks noChangeArrowheads="1"/>
            </p:cNvSpPr>
            <p:nvPr/>
          </p:nvSpPr>
          <p:spPr bwMode="auto">
            <a:xfrm>
              <a:off x="765" y="1822"/>
              <a:ext cx="619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600" dirty="0">
                  <a:latin typeface="Arial" charset="0"/>
                  <a:cs typeface="Arial" charset="0"/>
                </a:rPr>
                <a:t>Aman</a:t>
              </a:r>
              <a:r>
                <a:rPr lang="ja-JP" altLang="en-US" sz="1600" dirty="0">
                  <a:latin typeface="Arial" charset="0"/>
                  <a:cs typeface="Arial" charset="0"/>
                </a:rPr>
                <a:t>’</a:t>
              </a:r>
              <a:r>
                <a:rPr lang="en-US" sz="1600" dirty="0">
                  <a:latin typeface="Arial" charset="0"/>
                  <a:cs typeface="Arial" charset="0"/>
                </a:rPr>
                <a:t>s </a:t>
              </a:r>
            </a:p>
            <a:p>
              <a:pPr algn="ctr">
                <a:defRPr/>
              </a:pPr>
              <a:r>
                <a:rPr lang="en-US" sz="1600" dirty="0">
                  <a:latin typeface="Arial" charset="0"/>
                  <a:cs typeface="Arial" charset="0"/>
                </a:rPr>
                <a:t>IP addr</a:t>
              </a:r>
            </a:p>
          </p:txBody>
        </p:sp>
        <p:sp>
          <p:nvSpPr>
            <p:cNvPr id="38940" name="Line 28"/>
            <p:cNvSpPr>
              <a:spLocks noChangeShapeType="1"/>
            </p:cNvSpPr>
            <p:nvPr/>
          </p:nvSpPr>
          <p:spPr bwMode="auto">
            <a:xfrm flipH="1">
              <a:off x="1337" y="1805"/>
              <a:ext cx="0" cy="39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8941" name="Text Box 29"/>
            <p:cNvSpPr txBox="1">
              <a:spLocks noChangeArrowheads="1"/>
            </p:cNvSpPr>
            <p:nvPr/>
          </p:nvSpPr>
          <p:spPr bwMode="auto">
            <a:xfrm>
              <a:off x="1323" y="1813"/>
              <a:ext cx="684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600" dirty="0">
                  <a:latin typeface="Arial" charset="0"/>
                  <a:cs typeface="Arial" charset="0"/>
                </a:rPr>
                <a:t>encrypted</a:t>
              </a:r>
            </a:p>
            <a:p>
              <a:pPr algn="ctr">
                <a:defRPr/>
              </a:pPr>
              <a:r>
                <a:rPr lang="en-US" sz="1600" dirty="0">
                  <a:latin typeface="Arial" charset="0"/>
                  <a:cs typeface="Arial" charset="0"/>
                </a:rPr>
                <a:t>password</a:t>
              </a:r>
            </a:p>
          </p:txBody>
        </p:sp>
        <p:sp>
          <p:nvSpPr>
            <p:cNvPr id="38942" name="Line 30"/>
            <p:cNvSpPr>
              <a:spLocks noChangeShapeType="1"/>
            </p:cNvSpPr>
            <p:nvPr/>
          </p:nvSpPr>
          <p:spPr bwMode="auto">
            <a:xfrm flipH="1">
              <a:off x="1973" y="1805"/>
              <a:ext cx="0" cy="39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sp>
        <p:nvSpPr>
          <p:cNvPr id="38932" name="Line 31"/>
          <p:cNvSpPr>
            <a:spLocks noChangeShapeType="1"/>
          </p:cNvSpPr>
          <p:nvPr/>
        </p:nvSpPr>
        <p:spPr bwMode="auto">
          <a:xfrm flipV="1">
            <a:off x="4548188" y="4741863"/>
            <a:ext cx="679450" cy="5794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8933" name="Line 32"/>
          <p:cNvSpPr>
            <a:spLocks noChangeShapeType="1"/>
          </p:cNvSpPr>
          <p:nvPr/>
        </p:nvSpPr>
        <p:spPr bwMode="auto">
          <a:xfrm flipH="1">
            <a:off x="3697288" y="4878388"/>
            <a:ext cx="365125" cy="292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676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ill Sans MT" charset="0"/>
              </a:rPr>
              <a:t>Authentication: yet another try</a:t>
            </a:r>
          </a:p>
        </p:txBody>
      </p:sp>
      <p:sp>
        <p:nvSpPr>
          <p:cNvPr id="38935" name="Text Box 3"/>
          <p:cNvSpPr txBox="1">
            <a:spLocks noChangeArrowheads="1"/>
          </p:cNvSpPr>
          <p:nvPr/>
        </p:nvSpPr>
        <p:spPr bwMode="auto">
          <a:xfrm>
            <a:off x="564260" y="1452563"/>
            <a:ext cx="7990778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r">
              <a:defRPr/>
            </a:pPr>
            <a:r>
              <a:rPr lang="en-US" sz="2800" i="1" dirty="0">
                <a:solidFill>
                  <a:srgbClr val="C00000"/>
                </a:solidFill>
                <a:latin typeface="Gill Sans MT" charset="0"/>
                <a:cs typeface="+mn-cs"/>
              </a:rPr>
              <a:t>Protocol ap3.1:  </a:t>
            </a:r>
            <a:r>
              <a:rPr lang="en-US" sz="2800" dirty="0">
                <a:latin typeface="Gill Sans MT" charset="0"/>
                <a:cs typeface="+mn-cs"/>
              </a:rPr>
              <a:t>Aman says </a:t>
            </a:r>
            <a:r>
              <a:rPr lang="ja-JP" altLang="en-US" sz="2800" dirty="0">
                <a:latin typeface="Gill Sans MT" charset="0"/>
                <a:cs typeface="+mn-cs"/>
              </a:rPr>
              <a:t>“</a:t>
            </a:r>
            <a:r>
              <a:rPr lang="en-US" sz="2800" dirty="0">
                <a:latin typeface="Gill Sans MT" charset="0"/>
                <a:cs typeface="+mn-cs"/>
              </a:rPr>
              <a:t>I am Aman</a:t>
            </a:r>
            <a:r>
              <a:rPr lang="ja-JP" altLang="en-US" sz="2800" dirty="0">
                <a:latin typeface="Gill Sans MT" charset="0"/>
                <a:cs typeface="+mn-cs"/>
              </a:rPr>
              <a:t>”</a:t>
            </a:r>
            <a:r>
              <a:rPr lang="en-US" sz="2800" dirty="0">
                <a:latin typeface="Gill Sans MT" charset="0"/>
                <a:cs typeface="+mn-cs"/>
              </a:rPr>
              <a:t> and sends her</a:t>
            </a:r>
          </a:p>
          <a:p>
            <a:pPr algn="r">
              <a:defRPr/>
            </a:pPr>
            <a:r>
              <a:rPr lang="en-US" sz="2800" i="1" dirty="0">
                <a:solidFill>
                  <a:srgbClr val="FF0000"/>
                </a:solidFill>
                <a:latin typeface="Gill Sans MT" charset="0"/>
                <a:cs typeface="+mn-cs"/>
              </a:rPr>
              <a:t> </a:t>
            </a:r>
            <a:r>
              <a:rPr lang="en-US" sz="2800" i="1" dirty="0">
                <a:solidFill>
                  <a:srgbClr val="C00000"/>
                </a:solidFill>
                <a:latin typeface="Gill Sans MT" charset="0"/>
                <a:cs typeface="+mn-cs"/>
              </a:rPr>
              <a:t>encrypted</a:t>
            </a:r>
            <a:r>
              <a:rPr lang="en-US" sz="2800" dirty="0">
                <a:solidFill>
                  <a:srgbClr val="C00000"/>
                </a:solidFill>
                <a:latin typeface="Gill Sans MT" charset="0"/>
                <a:cs typeface="+mn-cs"/>
              </a:rPr>
              <a:t> </a:t>
            </a:r>
            <a:r>
              <a:rPr lang="en-US" sz="2800" dirty="0">
                <a:latin typeface="Gill Sans MT" charset="0"/>
                <a:cs typeface="+mn-cs"/>
              </a:rPr>
              <a:t>secret password to </a:t>
            </a:r>
            <a:r>
              <a:rPr lang="ja-JP" altLang="en-US" sz="2800" dirty="0">
                <a:latin typeface="Gill Sans MT" charset="0"/>
                <a:cs typeface="+mn-cs"/>
              </a:rPr>
              <a:t>“</a:t>
            </a:r>
            <a:r>
              <a:rPr lang="en-US" sz="2800" dirty="0">
                <a:latin typeface="Gill Sans MT" charset="0"/>
                <a:cs typeface="+mn-cs"/>
              </a:rPr>
              <a:t>prove</a:t>
            </a:r>
            <a:r>
              <a:rPr lang="ja-JP" altLang="en-US" sz="2800" dirty="0">
                <a:latin typeface="Gill Sans MT" charset="0"/>
                <a:cs typeface="+mn-cs"/>
              </a:rPr>
              <a:t>”</a:t>
            </a:r>
            <a:r>
              <a:rPr lang="en-US" sz="2800" dirty="0">
                <a:latin typeface="Gill Sans MT" charset="0"/>
                <a:cs typeface="+mn-cs"/>
              </a:rPr>
              <a:t> it.</a:t>
            </a:r>
          </a:p>
        </p:txBody>
      </p:sp>
      <p:pic>
        <p:nvPicPr>
          <p:cNvPr id="67607" name="Picture 16" descr="underline_base"/>
          <p:cNvPicPr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375" y="1031875"/>
            <a:ext cx="73136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35</a:t>
            </a:fld>
            <a:endParaRPr lang="en-US" sz="1200" dirty="0">
              <a:latin typeface="Tahoma" charset="0"/>
            </a:endParaRPr>
          </a:p>
        </p:txBody>
      </p:sp>
      <p:sp>
        <p:nvSpPr>
          <p:cNvPr id="36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28317651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Text Box 3"/>
          <p:cNvSpPr txBox="1">
            <a:spLocks noChangeArrowheads="1"/>
          </p:cNvSpPr>
          <p:nvPr/>
        </p:nvSpPr>
        <p:spPr bwMode="auto">
          <a:xfrm>
            <a:off x="974725" y="1316038"/>
            <a:ext cx="3536950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r">
              <a:defRPr/>
            </a:pPr>
            <a:r>
              <a:rPr lang="en-US" sz="2800" i="1" dirty="0">
                <a:solidFill>
                  <a:srgbClr val="C00000"/>
                </a:solidFill>
                <a:latin typeface="Gill Sans MT" charset="0"/>
                <a:cs typeface="+mn-cs"/>
              </a:rPr>
              <a:t>Goal: </a:t>
            </a:r>
            <a:r>
              <a:rPr lang="en-US" sz="2400" dirty="0">
                <a:latin typeface="Gill Sans MT" charset="0"/>
                <a:cs typeface="+mn-cs"/>
              </a:rPr>
              <a:t>avoid playback attack</a:t>
            </a:r>
          </a:p>
        </p:txBody>
      </p:sp>
      <p:sp>
        <p:nvSpPr>
          <p:cNvPr id="206852" name="Text Box 4"/>
          <p:cNvSpPr txBox="1">
            <a:spLocks noChangeArrowheads="1"/>
          </p:cNvSpPr>
          <p:nvPr/>
        </p:nvSpPr>
        <p:spPr bwMode="auto">
          <a:xfrm>
            <a:off x="604838" y="5934075"/>
            <a:ext cx="31448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2400" dirty="0">
                <a:latin typeface="Arial" charset="0"/>
                <a:cs typeface="Arial" charset="0"/>
              </a:rPr>
              <a:t>Failures, drawbacks?</a:t>
            </a:r>
          </a:p>
        </p:txBody>
      </p:sp>
      <p:sp>
        <p:nvSpPr>
          <p:cNvPr id="39941" name="Text Box 5"/>
          <p:cNvSpPr txBox="1">
            <a:spLocks noChangeArrowheads="1"/>
          </p:cNvSpPr>
          <p:nvPr/>
        </p:nvSpPr>
        <p:spPr bwMode="auto">
          <a:xfrm>
            <a:off x="903288" y="1755775"/>
            <a:ext cx="59118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r">
              <a:defRPr/>
            </a:pPr>
            <a:r>
              <a:rPr lang="en-US" sz="2800" i="1" dirty="0">
                <a:solidFill>
                  <a:srgbClr val="C00000"/>
                </a:solidFill>
                <a:latin typeface="Gill Sans MT" charset="0"/>
                <a:cs typeface="+mn-cs"/>
              </a:rPr>
              <a:t>nonce: </a:t>
            </a:r>
            <a:r>
              <a:rPr lang="en-US" sz="2400" dirty="0">
                <a:latin typeface="Gill Sans MT" charset="0"/>
                <a:cs typeface="+mn-cs"/>
              </a:rPr>
              <a:t>number (R) used only </a:t>
            </a:r>
            <a:r>
              <a:rPr lang="en-US" sz="2400" i="1" dirty="0">
                <a:solidFill>
                  <a:srgbClr val="000099"/>
                </a:solidFill>
                <a:latin typeface="Gill Sans MT" charset="0"/>
                <a:cs typeface="+mn-cs"/>
              </a:rPr>
              <a:t>once-in-a-lifetime</a:t>
            </a:r>
          </a:p>
        </p:txBody>
      </p:sp>
      <p:sp>
        <p:nvSpPr>
          <p:cNvPr id="39942" name="Text Box 6"/>
          <p:cNvSpPr txBox="1">
            <a:spLocks noChangeArrowheads="1"/>
          </p:cNvSpPr>
          <p:nvPr/>
        </p:nvSpPr>
        <p:spPr bwMode="auto">
          <a:xfrm>
            <a:off x="750888" y="2162175"/>
            <a:ext cx="7564437" cy="1261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r">
              <a:defRPr/>
            </a:pPr>
            <a:r>
              <a:rPr lang="en-US" sz="2800" i="1" dirty="0">
                <a:solidFill>
                  <a:srgbClr val="C00000"/>
                </a:solidFill>
                <a:latin typeface="Gill Sans MT" charset="0"/>
                <a:cs typeface="+mn-cs"/>
              </a:rPr>
              <a:t>ap4.0: </a:t>
            </a:r>
            <a:r>
              <a:rPr lang="en-US" sz="2400" dirty="0">
                <a:latin typeface="Gill Sans MT" charset="0"/>
                <a:cs typeface="+mn-cs"/>
              </a:rPr>
              <a:t>to prove Aman </a:t>
            </a:r>
            <a:r>
              <a:rPr lang="ja-JP" altLang="en-US" sz="2400" dirty="0">
                <a:latin typeface="Gill Sans MT" charset="0"/>
                <a:cs typeface="+mn-cs"/>
              </a:rPr>
              <a:t>“</a:t>
            </a:r>
            <a:r>
              <a:rPr lang="en-US" sz="2400" dirty="0">
                <a:latin typeface="Gill Sans MT" charset="0"/>
                <a:cs typeface="+mn-cs"/>
              </a:rPr>
              <a:t>live</a:t>
            </a:r>
            <a:r>
              <a:rPr lang="ja-JP" altLang="en-US" sz="2400" dirty="0">
                <a:latin typeface="Gill Sans MT" charset="0"/>
                <a:cs typeface="+mn-cs"/>
              </a:rPr>
              <a:t>”</a:t>
            </a:r>
            <a:r>
              <a:rPr lang="en-US" sz="2400" dirty="0">
                <a:latin typeface="Gill Sans MT" charset="0"/>
                <a:cs typeface="+mn-cs"/>
              </a:rPr>
              <a:t>, Brajesh sends Aman </a:t>
            </a:r>
            <a:r>
              <a:rPr lang="en-US" sz="2400" i="1" dirty="0">
                <a:solidFill>
                  <a:srgbClr val="C00000"/>
                </a:solidFill>
                <a:latin typeface="Gill Sans MT" charset="0"/>
                <a:cs typeface="+mn-cs"/>
              </a:rPr>
              <a:t>nonce</a:t>
            </a:r>
            <a:r>
              <a:rPr lang="en-US" sz="2400" dirty="0">
                <a:latin typeface="Gill Sans MT" charset="0"/>
                <a:cs typeface="+mn-cs"/>
              </a:rPr>
              <a:t>, R.  Aman</a:t>
            </a:r>
          </a:p>
          <a:p>
            <a:pPr algn="r">
              <a:defRPr/>
            </a:pPr>
            <a:r>
              <a:rPr lang="en-US" sz="2400" dirty="0">
                <a:latin typeface="Gill Sans MT" charset="0"/>
                <a:cs typeface="+mn-cs"/>
              </a:rPr>
              <a:t>must return R, encrypted with shared secret key</a:t>
            </a:r>
          </a:p>
        </p:txBody>
      </p:sp>
      <p:pic>
        <p:nvPicPr>
          <p:cNvPr id="68614" name="Picture 7" descr="Alic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2938" y="3736975"/>
            <a:ext cx="698500" cy="86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8615" name="Picture 8" descr="Bob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4300" y="3686175"/>
            <a:ext cx="8128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oup 4"/>
          <p:cNvGrpSpPr>
            <a:grpSpLocks/>
          </p:cNvGrpSpPr>
          <p:nvPr/>
        </p:nvGrpSpPr>
        <p:grpSpPr bwMode="auto">
          <a:xfrm>
            <a:off x="2733675" y="3467100"/>
            <a:ext cx="3697288" cy="614363"/>
            <a:chOff x="2733675" y="3467100"/>
            <a:chExt cx="3697288" cy="614363"/>
          </a:xfrm>
        </p:grpSpPr>
        <p:sp>
          <p:nvSpPr>
            <p:cNvPr id="39957" name="Line 9"/>
            <p:cNvSpPr>
              <a:spLocks noChangeShapeType="1"/>
            </p:cNvSpPr>
            <p:nvPr/>
          </p:nvSpPr>
          <p:spPr bwMode="auto">
            <a:xfrm>
              <a:off x="2733675" y="3819525"/>
              <a:ext cx="3697288" cy="261938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9958" name="Text Box 10"/>
            <p:cNvSpPr txBox="1">
              <a:spLocks noChangeArrowheads="1"/>
            </p:cNvSpPr>
            <p:nvPr/>
          </p:nvSpPr>
          <p:spPr bwMode="auto">
            <a:xfrm>
              <a:off x="3621438" y="3467100"/>
              <a:ext cx="1963038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ja-JP" altLang="en-US" sz="2400" dirty="0">
                  <a:latin typeface="Arial" charset="0"/>
                  <a:cs typeface="Arial" charset="0"/>
                </a:rPr>
                <a:t>“</a:t>
              </a:r>
              <a:r>
                <a:rPr lang="en-US" sz="2400" dirty="0">
                  <a:latin typeface="Arial" charset="0"/>
                  <a:cs typeface="Arial" charset="0"/>
                </a:rPr>
                <a:t>I am Aman</a:t>
              </a:r>
              <a:r>
                <a:rPr lang="ja-JP" altLang="en-US" sz="2400" dirty="0">
                  <a:latin typeface="Arial" charset="0"/>
                  <a:cs typeface="Arial" charset="0"/>
                </a:rPr>
                <a:t>”</a:t>
              </a:r>
              <a:endParaRPr lang="en-US" sz="2400" dirty="0">
                <a:latin typeface="Arial" charset="0"/>
                <a:cs typeface="Arial" charset="0"/>
              </a:endParaRPr>
            </a:p>
          </p:txBody>
        </p:sp>
      </p:grpSp>
      <p:grpSp>
        <p:nvGrpSpPr>
          <p:cNvPr id="3" name="Group 2"/>
          <p:cNvGrpSpPr>
            <a:grpSpLocks/>
          </p:cNvGrpSpPr>
          <p:nvPr/>
        </p:nvGrpSpPr>
        <p:grpSpPr bwMode="auto">
          <a:xfrm>
            <a:off x="2727325" y="4141788"/>
            <a:ext cx="3697288" cy="557212"/>
            <a:chOff x="2727325" y="4141788"/>
            <a:chExt cx="3697288" cy="557212"/>
          </a:xfrm>
        </p:grpSpPr>
        <p:sp>
          <p:nvSpPr>
            <p:cNvPr id="39955" name="Line 11"/>
            <p:cNvSpPr>
              <a:spLocks noChangeShapeType="1"/>
            </p:cNvSpPr>
            <p:nvPr/>
          </p:nvSpPr>
          <p:spPr bwMode="auto">
            <a:xfrm flipH="1">
              <a:off x="2727325" y="4437063"/>
              <a:ext cx="3697288" cy="261937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9956" name="Text Box 13"/>
            <p:cNvSpPr txBox="1">
              <a:spLocks noChangeArrowheads="1"/>
            </p:cNvSpPr>
            <p:nvPr/>
          </p:nvSpPr>
          <p:spPr bwMode="auto">
            <a:xfrm>
              <a:off x="4276725" y="4141788"/>
              <a:ext cx="407988" cy="4619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2400" dirty="0">
                  <a:latin typeface="Arial" charset="0"/>
                  <a:cs typeface="Arial" charset="0"/>
                </a:rPr>
                <a:t>R</a:t>
              </a:r>
            </a:p>
          </p:txBody>
        </p:sp>
      </p:grpSp>
      <p:grpSp>
        <p:nvGrpSpPr>
          <p:cNvPr id="4" name="Group 3"/>
          <p:cNvGrpSpPr>
            <a:grpSpLocks/>
          </p:cNvGrpSpPr>
          <p:nvPr/>
        </p:nvGrpSpPr>
        <p:grpSpPr bwMode="auto">
          <a:xfrm>
            <a:off x="2735263" y="4700588"/>
            <a:ext cx="5965825" cy="1616075"/>
            <a:chOff x="2735263" y="4700588"/>
            <a:chExt cx="5965825" cy="1616075"/>
          </a:xfrm>
        </p:grpSpPr>
        <p:sp>
          <p:nvSpPr>
            <p:cNvPr id="39950" name="Line 12"/>
            <p:cNvSpPr>
              <a:spLocks noChangeShapeType="1"/>
            </p:cNvSpPr>
            <p:nvPr/>
          </p:nvSpPr>
          <p:spPr bwMode="auto">
            <a:xfrm>
              <a:off x="2735263" y="5097463"/>
              <a:ext cx="3697287" cy="261937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68622" name="Group 14"/>
            <p:cNvGrpSpPr>
              <a:grpSpLocks/>
            </p:cNvGrpSpPr>
            <p:nvPr/>
          </p:nvGrpSpPr>
          <p:grpSpPr bwMode="auto">
            <a:xfrm>
              <a:off x="4521202" y="4743450"/>
              <a:ext cx="1157288" cy="577850"/>
              <a:chOff x="2693" y="3555"/>
              <a:chExt cx="729" cy="364"/>
            </a:xfrm>
          </p:grpSpPr>
          <p:sp>
            <p:nvSpPr>
              <p:cNvPr id="39953" name="Text Box 15"/>
              <p:cNvSpPr txBox="1">
                <a:spLocks noChangeArrowheads="1"/>
              </p:cNvSpPr>
              <p:nvPr/>
            </p:nvSpPr>
            <p:spPr bwMode="auto">
              <a:xfrm>
                <a:off x="2693" y="3555"/>
                <a:ext cx="729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2400" dirty="0">
                    <a:latin typeface="Arial" charset="0"/>
                    <a:cs typeface="Arial" charset="0"/>
                  </a:rPr>
                  <a:t>K    (R)</a:t>
                </a:r>
              </a:p>
            </p:txBody>
          </p:sp>
          <p:sp>
            <p:nvSpPr>
              <p:cNvPr id="39954" name="Text Box 16"/>
              <p:cNvSpPr txBox="1">
                <a:spLocks noChangeArrowheads="1"/>
              </p:cNvSpPr>
              <p:nvPr/>
            </p:nvSpPr>
            <p:spPr bwMode="auto">
              <a:xfrm>
                <a:off x="2786" y="3688"/>
                <a:ext cx="37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1800" dirty="0">
                    <a:latin typeface="Arial" charset="0"/>
                    <a:cs typeface="Arial" charset="0"/>
                  </a:rPr>
                  <a:t>A-B</a:t>
                </a:r>
              </a:p>
            </p:txBody>
          </p:sp>
        </p:grpSp>
        <p:sp>
          <p:nvSpPr>
            <p:cNvPr id="39952" name="Text Box 17"/>
            <p:cNvSpPr txBox="1">
              <a:spLocks noChangeArrowheads="1"/>
            </p:cNvSpPr>
            <p:nvPr/>
          </p:nvSpPr>
          <p:spPr bwMode="auto">
            <a:xfrm>
              <a:off x="6369050" y="4700588"/>
              <a:ext cx="2332038" cy="16160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dirty="0">
                  <a:latin typeface="Arial" charset="0"/>
                  <a:cs typeface="Arial" charset="0"/>
                </a:rPr>
                <a:t>Aman is live, and only Aman knows key to encrypt nonce, so it must be Aman!</a:t>
              </a:r>
            </a:p>
          </p:txBody>
        </p:sp>
      </p:grpSp>
      <p:sp>
        <p:nvSpPr>
          <p:cNvPr id="68619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41288"/>
            <a:ext cx="7772400" cy="1143000"/>
          </a:xfrm>
        </p:spPr>
        <p:txBody>
          <a:bodyPr/>
          <a:lstStyle/>
          <a:p>
            <a:r>
              <a:rPr lang="en-US" dirty="0">
                <a:latin typeface="Gill Sans MT" charset="0"/>
              </a:rPr>
              <a:t>Authentication: yet another try</a:t>
            </a:r>
          </a:p>
        </p:txBody>
      </p:sp>
      <p:pic>
        <p:nvPicPr>
          <p:cNvPr id="68620" name="Picture 16" descr="underline_base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288" y="944563"/>
            <a:ext cx="73136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36</a:t>
            </a:fld>
            <a:endParaRPr lang="en-US" sz="1200" dirty="0">
              <a:latin typeface="Tahoma" charset="0"/>
            </a:endParaRPr>
          </a:p>
        </p:txBody>
      </p:sp>
      <p:sp>
        <p:nvSpPr>
          <p:cNvPr id="24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983158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85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633" name="Picture 21" descr="underline_base"/>
          <p:cNvPicPr>
            <a:picLocks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088" y="1062038"/>
            <a:ext cx="50276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96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ill Sans MT" charset="0"/>
              </a:rPr>
              <a:t>Authentication: ap5.0</a:t>
            </a:r>
          </a:p>
        </p:txBody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44513" y="1457325"/>
            <a:ext cx="8355012" cy="4648200"/>
          </a:xfrm>
        </p:spPr>
        <p:txBody>
          <a:bodyPr/>
          <a:lstStyle/>
          <a:p>
            <a:pPr>
              <a:lnSpc>
                <a:spcPts val="2800"/>
              </a:lnSpc>
              <a:buFont typeface="Wingdings" charset="0"/>
              <a:buNone/>
            </a:pPr>
            <a:r>
              <a:rPr lang="en-US" dirty="0">
                <a:latin typeface="Gill Sans MT" charset="0"/>
              </a:rPr>
              <a:t>ap4.0 requires shared symmetric key </a:t>
            </a:r>
          </a:p>
          <a:p>
            <a:pPr>
              <a:lnSpc>
                <a:spcPts val="2800"/>
              </a:lnSpc>
            </a:pPr>
            <a:r>
              <a:rPr lang="en-US" dirty="0">
                <a:latin typeface="Gill Sans MT" charset="0"/>
              </a:rPr>
              <a:t>can we authenticate using public key techniques?</a:t>
            </a:r>
          </a:p>
          <a:p>
            <a:pPr>
              <a:lnSpc>
                <a:spcPts val="2800"/>
              </a:lnSpc>
              <a:buFont typeface="Wingdings" charset="0"/>
              <a:buNone/>
            </a:pPr>
            <a:r>
              <a:rPr lang="en-US" i="1" dirty="0">
                <a:solidFill>
                  <a:srgbClr val="C00000"/>
                </a:solidFill>
                <a:latin typeface="Gill Sans MT" charset="0"/>
              </a:rPr>
              <a:t>ap5.0: </a:t>
            </a:r>
            <a:r>
              <a:rPr lang="en-US" dirty="0">
                <a:latin typeface="Gill Sans MT" charset="0"/>
              </a:rPr>
              <a:t>use nonce, public key cryptography</a:t>
            </a:r>
          </a:p>
        </p:txBody>
      </p:sp>
      <p:pic>
        <p:nvPicPr>
          <p:cNvPr id="69637" name="Picture 4" descr="Alic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913" y="3448050"/>
            <a:ext cx="698500" cy="86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9638" name="Picture 5" descr="Bob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5275" y="3397250"/>
            <a:ext cx="8128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7" name="Line 6"/>
          <p:cNvSpPr>
            <a:spLocks noChangeShapeType="1"/>
          </p:cNvSpPr>
          <p:nvPr/>
        </p:nvSpPr>
        <p:spPr bwMode="auto">
          <a:xfrm>
            <a:off x="1644650" y="3530600"/>
            <a:ext cx="3697288" cy="261938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0968" name="Text Box 7"/>
          <p:cNvSpPr txBox="1">
            <a:spLocks noChangeArrowheads="1"/>
          </p:cNvSpPr>
          <p:nvPr/>
        </p:nvSpPr>
        <p:spPr bwMode="auto">
          <a:xfrm>
            <a:off x="2532413" y="3178175"/>
            <a:ext cx="196303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ja-JP" altLang="en-US" sz="2400" dirty="0">
                <a:latin typeface="Arial" charset="0"/>
                <a:cs typeface="Arial" charset="0"/>
              </a:rPr>
              <a:t>“</a:t>
            </a:r>
            <a:r>
              <a:rPr lang="en-US" sz="2400" dirty="0">
                <a:latin typeface="Arial" charset="0"/>
                <a:cs typeface="Arial" charset="0"/>
              </a:rPr>
              <a:t>I am Aman</a:t>
            </a:r>
            <a:r>
              <a:rPr lang="ja-JP" altLang="en-US" sz="2400" dirty="0">
                <a:latin typeface="Arial" charset="0"/>
                <a:cs typeface="Arial" charset="0"/>
              </a:rPr>
              <a:t>”</a:t>
            </a:r>
            <a:endParaRPr lang="en-US" sz="2400" dirty="0">
              <a:latin typeface="Arial" charset="0"/>
              <a:cs typeface="Arial" charset="0"/>
            </a:endParaRPr>
          </a:p>
        </p:txBody>
      </p:sp>
      <p:sp>
        <p:nvSpPr>
          <p:cNvPr id="40969" name="Line 8"/>
          <p:cNvSpPr>
            <a:spLocks noChangeShapeType="1"/>
          </p:cNvSpPr>
          <p:nvPr/>
        </p:nvSpPr>
        <p:spPr bwMode="auto">
          <a:xfrm flipH="1">
            <a:off x="1609725" y="3917950"/>
            <a:ext cx="3697288" cy="261938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0970" name="Line 9"/>
          <p:cNvSpPr>
            <a:spLocks noChangeShapeType="1"/>
          </p:cNvSpPr>
          <p:nvPr/>
        </p:nvSpPr>
        <p:spPr bwMode="auto">
          <a:xfrm>
            <a:off x="1660525" y="4389438"/>
            <a:ext cx="3697288" cy="261937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0971" name="Text Box 10"/>
          <p:cNvSpPr txBox="1">
            <a:spLocks noChangeArrowheads="1"/>
          </p:cNvSpPr>
          <p:nvPr/>
        </p:nvSpPr>
        <p:spPr bwMode="auto">
          <a:xfrm>
            <a:off x="2374900" y="3708400"/>
            <a:ext cx="407988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2400" dirty="0">
                <a:latin typeface="Arial" charset="0"/>
                <a:cs typeface="Arial" charset="0"/>
              </a:rPr>
              <a:t>R</a:t>
            </a:r>
          </a:p>
        </p:txBody>
      </p:sp>
      <p:sp>
        <p:nvSpPr>
          <p:cNvPr id="40972" name="Text Box 11"/>
          <p:cNvSpPr txBox="1">
            <a:spLocks noChangeArrowheads="1"/>
          </p:cNvSpPr>
          <p:nvPr/>
        </p:nvSpPr>
        <p:spPr bwMode="auto">
          <a:xfrm>
            <a:off x="6332538" y="3455988"/>
            <a:ext cx="2332037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dirty="0">
                <a:latin typeface="Arial" charset="0"/>
                <a:cs typeface="Arial" charset="0"/>
              </a:rPr>
              <a:t>Brajesh computes</a:t>
            </a:r>
          </a:p>
          <a:p>
            <a:pPr algn="ctr">
              <a:defRPr/>
            </a:pPr>
            <a:endParaRPr lang="en-US" sz="2400" dirty="0">
              <a:latin typeface="Arial" charset="0"/>
              <a:cs typeface="Arial" charset="0"/>
            </a:endParaRPr>
          </a:p>
        </p:txBody>
      </p:sp>
      <p:grpSp>
        <p:nvGrpSpPr>
          <p:cNvPr id="69645" name="Group 12"/>
          <p:cNvGrpSpPr>
            <a:grpSpLocks/>
          </p:cNvGrpSpPr>
          <p:nvPr/>
        </p:nvGrpSpPr>
        <p:grpSpPr bwMode="auto">
          <a:xfrm>
            <a:off x="4068763" y="3965575"/>
            <a:ext cx="1073150" cy="673100"/>
            <a:chOff x="2838" y="2891"/>
            <a:chExt cx="676" cy="424"/>
          </a:xfrm>
        </p:grpSpPr>
        <p:sp>
          <p:nvSpPr>
            <p:cNvPr id="40998" name="Text Box 13"/>
            <p:cNvSpPr txBox="1">
              <a:spLocks noChangeArrowheads="1"/>
            </p:cNvSpPr>
            <p:nvPr/>
          </p:nvSpPr>
          <p:spPr bwMode="auto">
            <a:xfrm>
              <a:off x="2838" y="2979"/>
              <a:ext cx="67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2400" dirty="0">
                  <a:latin typeface="Arial" charset="0"/>
                  <a:cs typeface="Arial" charset="0"/>
                </a:rPr>
                <a:t>K   (R)</a:t>
              </a:r>
            </a:p>
          </p:txBody>
        </p:sp>
        <p:sp>
          <p:nvSpPr>
            <p:cNvPr id="40999" name="Text Box 14"/>
            <p:cNvSpPr txBox="1">
              <a:spLocks noChangeArrowheads="1"/>
            </p:cNvSpPr>
            <p:nvPr/>
          </p:nvSpPr>
          <p:spPr bwMode="auto">
            <a:xfrm>
              <a:off x="2979" y="3084"/>
              <a:ext cx="22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800" dirty="0">
                  <a:latin typeface="Arial" charset="0"/>
                  <a:cs typeface="Arial" charset="0"/>
                </a:rPr>
                <a:t>A</a:t>
              </a:r>
            </a:p>
          </p:txBody>
        </p:sp>
        <p:sp>
          <p:nvSpPr>
            <p:cNvPr id="41000" name="Text Box 15"/>
            <p:cNvSpPr txBox="1">
              <a:spLocks noChangeArrowheads="1"/>
            </p:cNvSpPr>
            <p:nvPr/>
          </p:nvSpPr>
          <p:spPr bwMode="auto">
            <a:xfrm>
              <a:off x="2992" y="2891"/>
              <a:ext cx="170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dirty="0">
                  <a:latin typeface="Arial" charset="0"/>
                  <a:cs typeface="Arial" charset="0"/>
                </a:rPr>
                <a:t>-</a:t>
              </a:r>
            </a:p>
          </p:txBody>
        </p:sp>
      </p:grpSp>
      <p:sp>
        <p:nvSpPr>
          <p:cNvPr id="40974" name="Line 16"/>
          <p:cNvSpPr>
            <a:spLocks noChangeShapeType="1"/>
          </p:cNvSpPr>
          <p:nvPr/>
        </p:nvSpPr>
        <p:spPr bwMode="auto">
          <a:xfrm flipH="1">
            <a:off x="1646238" y="4811713"/>
            <a:ext cx="3697287" cy="261937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0975" name="Text Box 17"/>
          <p:cNvSpPr txBox="1">
            <a:spLocks noChangeArrowheads="1"/>
          </p:cNvSpPr>
          <p:nvPr/>
        </p:nvSpPr>
        <p:spPr bwMode="auto">
          <a:xfrm>
            <a:off x="2060575" y="4722813"/>
            <a:ext cx="2887663" cy="36671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ja-JP" altLang="en-US" sz="1800">
                <a:latin typeface="Arial" charset="0"/>
                <a:cs typeface="Arial" charset="0"/>
              </a:rPr>
              <a:t>“</a:t>
            </a:r>
            <a:r>
              <a:rPr lang="en-US" sz="1800" dirty="0">
                <a:latin typeface="Arial" charset="0"/>
                <a:cs typeface="Arial" charset="0"/>
              </a:rPr>
              <a:t>send me your public key</a:t>
            </a:r>
            <a:r>
              <a:rPr lang="ja-JP" altLang="en-US" sz="1800">
                <a:latin typeface="Arial" charset="0"/>
                <a:cs typeface="Arial" charset="0"/>
              </a:rPr>
              <a:t>”</a:t>
            </a:r>
            <a:endParaRPr lang="en-US" sz="1800" dirty="0">
              <a:latin typeface="Arial" charset="0"/>
              <a:cs typeface="Arial" charset="0"/>
            </a:endParaRPr>
          </a:p>
        </p:txBody>
      </p:sp>
      <p:sp>
        <p:nvSpPr>
          <p:cNvPr id="40976" name="Line 18"/>
          <p:cNvSpPr>
            <a:spLocks noChangeShapeType="1"/>
          </p:cNvSpPr>
          <p:nvPr/>
        </p:nvSpPr>
        <p:spPr bwMode="auto">
          <a:xfrm>
            <a:off x="1697038" y="5383213"/>
            <a:ext cx="3697287" cy="261937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69649" name="Group 19"/>
          <p:cNvGrpSpPr>
            <a:grpSpLocks/>
          </p:cNvGrpSpPr>
          <p:nvPr/>
        </p:nvGrpSpPr>
        <p:grpSpPr bwMode="auto">
          <a:xfrm>
            <a:off x="4521200" y="4960938"/>
            <a:ext cx="612775" cy="701675"/>
            <a:chOff x="828" y="3234"/>
            <a:chExt cx="386" cy="442"/>
          </a:xfrm>
        </p:grpSpPr>
        <p:sp>
          <p:nvSpPr>
            <p:cNvPr id="40995" name="Text Box 20"/>
            <p:cNvSpPr txBox="1">
              <a:spLocks noChangeArrowheads="1"/>
            </p:cNvSpPr>
            <p:nvPr/>
          </p:nvSpPr>
          <p:spPr bwMode="auto">
            <a:xfrm>
              <a:off x="828" y="3330"/>
              <a:ext cx="35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2400" dirty="0">
                  <a:latin typeface="Arial" charset="0"/>
                  <a:cs typeface="Arial" charset="0"/>
                </a:rPr>
                <a:t>K  </a:t>
              </a:r>
            </a:p>
          </p:txBody>
        </p:sp>
        <p:sp>
          <p:nvSpPr>
            <p:cNvPr id="40996" name="Text Box 21"/>
            <p:cNvSpPr txBox="1">
              <a:spLocks noChangeArrowheads="1"/>
            </p:cNvSpPr>
            <p:nvPr/>
          </p:nvSpPr>
          <p:spPr bwMode="auto">
            <a:xfrm>
              <a:off x="993" y="3445"/>
              <a:ext cx="22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800" dirty="0">
                  <a:latin typeface="Arial" charset="0"/>
                  <a:cs typeface="Arial" charset="0"/>
                </a:rPr>
                <a:t>A</a:t>
              </a:r>
            </a:p>
          </p:txBody>
        </p:sp>
        <p:sp>
          <p:nvSpPr>
            <p:cNvPr id="40997" name="Text Box 22"/>
            <p:cNvSpPr txBox="1">
              <a:spLocks noChangeArrowheads="1"/>
            </p:cNvSpPr>
            <p:nvPr/>
          </p:nvSpPr>
          <p:spPr bwMode="auto">
            <a:xfrm>
              <a:off x="998" y="3234"/>
              <a:ext cx="210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dirty="0">
                  <a:latin typeface="Arial" charset="0"/>
                  <a:cs typeface="Arial" charset="0"/>
                </a:rPr>
                <a:t>+</a:t>
              </a:r>
            </a:p>
          </p:txBody>
        </p:sp>
      </p:grpSp>
      <p:grpSp>
        <p:nvGrpSpPr>
          <p:cNvPr id="69650" name="Group 23"/>
          <p:cNvGrpSpPr>
            <a:grpSpLocks/>
          </p:cNvGrpSpPr>
          <p:nvPr/>
        </p:nvGrpSpPr>
        <p:grpSpPr bwMode="auto">
          <a:xfrm>
            <a:off x="6388100" y="3703638"/>
            <a:ext cx="2070100" cy="714375"/>
            <a:chOff x="1117" y="3592"/>
            <a:chExt cx="1304" cy="450"/>
          </a:xfrm>
        </p:grpSpPr>
        <p:sp>
          <p:nvSpPr>
            <p:cNvPr id="40988" name="Text Box 24"/>
            <p:cNvSpPr txBox="1">
              <a:spLocks noChangeArrowheads="1"/>
            </p:cNvSpPr>
            <p:nvPr/>
          </p:nvSpPr>
          <p:spPr bwMode="auto">
            <a:xfrm>
              <a:off x="1309" y="3687"/>
              <a:ext cx="111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2400" dirty="0">
                  <a:latin typeface="Arial" charset="0"/>
                  <a:cs typeface="Arial" charset="0"/>
                </a:rPr>
                <a:t>(K  (R)) = R</a:t>
              </a:r>
            </a:p>
          </p:txBody>
        </p:sp>
        <p:sp>
          <p:nvSpPr>
            <p:cNvPr id="40989" name="Text Box 25"/>
            <p:cNvSpPr txBox="1">
              <a:spLocks noChangeArrowheads="1"/>
            </p:cNvSpPr>
            <p:nvPr/>
          </p:nvSpPr>
          <p:spPr bwMode="auto">
            <a:xfrm>
              <a:off x="1512" y="3811"/>
              <a:ext cx="22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800" dirty="0">
                  <a:latin typeface="Arial" charset="0"/>
                  <a:cs typeface="Arial" charset="0"/>
                </a:rPr>
                <a:t>A</a:t>
              </a:r>
            </a:p>
          </p:txBody>
        </p:sp>
        <p:sp>
          <p:nvSpPr>
            <p:cNvPr id="40990" name="Text Box 26"/>
            <p:cNvSpPr txBox="1">
              <a:spLocks noChangeArrowheads="1"/>
            </p:cNvSpPr>
            <p:nvPr/>
          </p:nvSpPr>
          <p:spPr bwMode="auto">
            <a:xfrm>
              <a:off x="1542" y="3592"/>
              <a:ext cx="170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dirty="0">
                  <a:latin typeface="Arial" charset="0"/>
                  <a:cs typeface="Arial" charset="0"/>
                </a:rPr>
                <a:t>-</a:t>
              </a:r>
            </a:p>
          </p:txBody>
        </p:sp>
        <p:grpSp>
          <p:nvGrpSpPr>
            <p:cNvPr id="69662" name="Group 27"/>
            <p:cNvGrpSpPr>
              <a:grpSpLocks/>
            </p:cNvGrpSpPr>
            <p:nvPr/>
          </p:nvGrpSpPr>
          <p:grpSpPr bwMode="auto">
            <a:xfrm>
              <a:off x="1117" y="3599"/>
              <a:ext cx="342" cy="443"/>
              <a:chOff x="821" y="3255"/>
              <a:chExt cx="342" cy="443"/>
            </a:xfrm>
          </p:grpSpPr>
          <p:sp>
            <p:nvSpPr>
              <p:cNvPr id="40992" name="Text Box 28"/>
              <p:cNvSpPr txBox="1">
                <a:spLocks noChangeArrowheads="1"/>
              </p:cNvSpPr>
              <p:nvPr/>
            </p:nvSpPr>
            <p:spPr bwMode="auto">
              <a:xfrm>
                <a:off x="821" y="3355"/>
                <a:ext cx="246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2400" dirty="0">
                    <a:latin typeface="Arial" charset="0"/>
                    <a:cs typeface="Arial" charset="0"/>
                  </a:rPr>
                  <a:t>K   </a:t>
                </a:r>
              </a:p>
            </p:txBody>
          </p:sp>
          <p:sp>
            <p:nvSpPr>
              <p:cNvPr id="40993" name="Text Box 29"/>
              <p:cNvSpPr txBox="1">
                <a:spLocks noChangeArrowheads="1"/>
              </p:cNvSpPr>
              <p:nvPr/>
            </p:nvSpPr>
            <p:spPr bwMode="auto">
              <a:xfrm>
                <a:off x="942" y="3467"/>
                <a:ext cx="221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1800" dirty="0">
                    <a:latin typeface="Arial" charset="0"/>
                    <a:cs typeface="Arial" charset="0"/>
                  </a:rPr>
                  <a:t>A</a:t>
                </a:r>
              </a:p>
            </p:txBody>
          </p:sp>
          <p:sp>
            <p:nvSpPr>
              <p:cNvPr id="40994" name="Text Box 30"/>
              <p:cNvSpPr txBox="1">
                <a:spLocks noChangeArrowheads="1"/>
              </p:cNvSpPr>
              <p:nvPr/>
            </p:nvSpPr>
            <p:spPr bwMode="auto">
              <a:xfrm>
                <a:off x="941" y="3255"/>
                <a:ext cx="210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latin typeface="Arial" charset="0"/>
                    <a:cs typeface="Arial" charset="0"/>
                  </a:rPr>
                  <a:t>+</a:t>
                </a:r>
              </a:p>
            </p:txBody>
          </p:sp>
        </p:grpSp>
      </p:grpSp>
      <p:sp>
        <p:nvSpPr>
          <p:cNvPr id="40979" name="Text Box 31"/>
          <p:cNvSpPr txBox="1">
            <a:spLocks noChangeArrowheads="1"/>
          </p:cNvSpPr>
          <p:nvPr/>
        </p:nvSpPr>
        <p:spPr bwMode="auto">
          <a:xfrm>
            <a:off x="5862638" y="4352925"/>
            <a:ext cx="3035300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dirty="0">
                <a:latin typeface="Arial" charset="0"/>
                <a:cs typeface="Arial" charset="0"/>
              </a:rPr>
              <a:t>and knows only Aman could have the private key, that encrypted R such that</a:t>
            </a:r>
          </a:p>
        </p:txBody>
      </p:sp>
      <p:grpSp>
        <p:nvGrpSpPr>
          <p:cNvPr id="69652" name="Group 32"/>
          <p:cNvGrpSpPr>
            <a:grpSpLocks/>
          </p:cNvGrpSpPr>
          <p:nvPr/>
        </p:nvGrpSpPr>
        <p:grpSpPr bwMode="auto">
          <a:xfrm>
            <a:off x="6496050" y="5453063"/>
            <a:ext cx="1893888" cy="763587"/>
            <a:chOff x="938" y="3588"/>
            <a:chExt cx="1193" cy="481"/>
          </a:xfrm>
        </p:grpSpPr>
        <p:sp>
          <p:nvSpPr>
            <p:cNvPr id="40982" name="Text Box 33"/>
            <p:cNvSpPr txBox="1">
              <a:spLocks noChangeArrowheads="1"/>
            </p:cNvSpPr>
            <p:nvPr/>
          </p:nvSpPr>
          <p:spPr bwMode="auto">
            <a:xfrm>
              <a:off x="1187" y="3731"/>
              <a:ext cx="944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dirty="0">
                  <a:latin typeface="Arial" charset="0"/>
                  <a:cs typeface="Arial" charset="0"/>
                </a:rPr>
                <a:t>(K  (R)) = R</a:t>
              </a:r>
            </a:p>
          </p:txBody>
        </p:sp>
        <p:sp>
          <p:nvSpPr>
            <p:cNvPr id="40983" name="Text Box 34"/>
            <p:cNvSpPr txBox="1">
              <a:spLocks noChangeArrowheads="1"/>
            </p:cNvSpPr>
            <p:nvPr/>
          </p:nvSpPr>
          <p:spPr bwMode="auto">
            <a:xfrm>
              <a:off x="1337" y="3819"/>
              <a:ext cx="23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dirty="0">
                  <a:latin typeface="Arial" charset="0"/>
                  <a:cs typeface="Arial" charset="0"/>
                </a:rPr>
                <a:t>A</a:t>
              </a:r>
            </a:p>
          </p:txBody>
        </p:sp>
        <p:sp>
          <p:nvSpPr>
            <p:cNvPr id="40984" name="Text Box 35"/>
            <p:cNvSpPr txBox="1">
              <a:spLocks noChangeArrowheads="1"/>
            </p:cNvSpPr>
            <p:nvPr/>
          </p:nvSpPr>
          <p:spPr bwMode="auto">
            <a:xfrm>
              <a:off x="1337" y="3588"/>
              <a:ext cx="170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dirty="0">
                  <a:latin typeface="Arial" charset="0"/>
                  <a:cs typeface="Arial" charset="0"/>
                </a:rPr>
                <a:t>-</a:t>
              </a:r>
            </a:p>
          </p:txBody>
        </p:sp>
        <p:sp>
          <p:nvSpPr>
            <p:cNvPr id="40985" name="Text Box 36"/>
            <p:cNvSpPr txBox="1">
              <a:spLocks noChangeArrowheads="1"/>
            </p:cNvSpPr>
            <p:nvPr/>
          </p:nvSpPr>
          <p:spPr bwMode="auto">
            <a:xfrm>
              <a:off x="938" y="3718"/>
              <a:ext cx="313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dirty="0">
                  <a:latin typeface="Arial" charset="0"/>
                  <a:cs typeface="Arial" charset="0"/>
                </a:rPr>
                <a:t>K  </a:t>
              </a:r>
            </a:p>
          </p:txBody>
        </p:sp>
        <p:sp>
          <p:nvSpPr>
            <p:cNvPr id="40986" name="Text Box 37"/>
            <p:cNvSpPr txBox="1">
              <a:spLocks noChangeArrowheads="1"/>
            </p:cNvSpPr>
            <p:nvPr/>
          </p:nvSpPr>
          <p:spPr bwMode="auto">
            <a:xfrm>
              <a:off x="1069" y="3805"/>
              <a:ext cx="23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dirty="0">
                  <a:latin typeface="Arial" charset="0"/>
                  <a:cs typeface="Arial" charset="0"/>
                </a:rPr>
                <a:t>A</a:t>
              </a:r>
            </a:p>
          </p:txBody>
        </p:sp>
        <p:sp>
          <p:nvSpPr>
            <p:cNvPr id="40987" name="Text Box 38"/>
            <p:cNvSpPr txBox="1">
              <a:spLocks noChangeArrowheads="1"/>
            </p:cNvSpPr>
            <p:nvPr/>
          </p:nvSpPr>
          <p:spPr bwMode="auto">
            <a:xfrm>
              <a:off x="1080" y="3620"/>
              <a:ext cx="210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dirty="0">
                  <a:latin typeface="Arial" charset="0"/>
                  <a:cs typeface="Arial" charset="0"/>
                </a:rPr>
                <a:t>+</a:t>
              </a:r>
            </a:p>
          </p:txBody>
        </p:sp>
      </p:grpSp>
      <p:sp>
        <p:nvSpPr>
          <p:cNvPr id="41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37</a:t>
            </a:fld>
            <a:endParaRPr lang="en-US" sz="1200" dirty="0">
              <a:latin typeface="Tahoma" charset="0"/>
            </a:endParaRPr>
          </a:p>
        </p:txBody>
      </p:sp>
      <p:sp>
        <p:nvSpPr>
          <p:cNvPr id="42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292570024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3825"/>
            <a:ext cx="4800600" cy="952500"/>
          </a:xfrm>
        </p:spPr>
        <p:txBody>
          <a:bodyPr/>
          <a:lstStyle/>
          <a:p>
            <a:r>
              <a:rPr lang="en-US" dirty="0">
                <a:latin typeface="Gill Sans MT" charset="0"/>
              </a:rPr>
              <a:t>ap5.0: security hole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5613" y="1084263"/>
            <a:ext cx="7593012" cy="919162"/>
          </a:xfrm>
        </p:spPr>
        <p:txBody>
          <a:bodyPr/>
          <a:lstStyle/>
          <a:p>
            <a:pPr>
              <a:buFont typeface="Wingdings" charset="0"/>
              <a:buNone/>
            </a:pPr>
            <a:r>
              <a:rPr lang="en-US" sz="2400" i="1" dirty="0">
                <a:solidFill>
                  <a:srgbClr val="C00000"/>
                </a:solidFill>
                <a:latin typeface="Gill Sans MT" charset="0"/>
              </a:rPr>
              <a:t>man (or woman) in the middle attack: </a:t>
            </a:r>
            <a:r>
              <a:rPr lang="en-US" sz="2400" dirty="0">
                <a:latin typeface="Gill Sans MT" charset="0"/>
              </a:rPr>
              <a:t>Manish poses as Aman (to Brajesh) and as Brajesh (to Aman)</a:t>
            </a:r>
          </a:p>
        </p:txBody>
      </p:sp>
      <p:pic>
        <p:nvPicPr>
          <p:cNvPr id="70660" name="Picture 4" descr="Bob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23175" y="2306638"/>
            <a:ext cx="800100" cy="817562"/>
          </a:xfrm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70661" name="Picture 5" descr="Eve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9263" y="2203450"/>
            <a:ext cx="954087" cy="1141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0662" name="Picture 6" descr="Alice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3638" y="2195513"/>
            <a:ext cx="752475" cy="927100"/>
          </a:xfrm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1992" name="Line 7"/>
          <p:cNvSpPr>
            <a:spLocks noChangeShapeType="1"/>
          </p:cNvSpPr>
          <p:nvPr/>
        </p:nvSpPr>
        <p:spPr bwMode="auto">
          <a:xfrm>
            <a:off x="1936750" y="2678113"/>
            <a:ext cx="22494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1993" name="Text Box 8"/>
          <p:cNvSpPr txBox="1">
            <a:spLocks noChangeArrowheads="1"/>
          </p:cNvSpPr>
          <p:nvPr/>
        </p:nvSpPr>
        <p:spPr bwMode="auto">
          <a:xfrm>
            <a:off x="2213702" y="2328863"/>
            <a:ext cx="128759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1800" dirty="0">
                <a:latin typeface="Arial" charset="0"/>
                <a:cs typeface="Arial" charset="0"/>
              </a:rPr>
              <a:t>I am Aman</a:t>
            </a:r>
          </a:p>
        </p:txBody>
      </p:sp>
      <p:sp>
        <p:nvSpPr>
          <p:cNvPr id="41994" name="Line 9"/>
          <p:cNvSpPr>
            <a:spLocks noChangeShapeType="1"/>
          </p:cNvSpPr>
          <p:nvPr/>
        </p:nvSpPr>
        <p:spPr bwMode="auto">
          <a:xfrm>
            <a:off x="5183188" y="2717800"/>
            <a:ext cx="22494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1995" name="Text Box 10"/>
          <p:cNvSpPr txBox="1">
            <a:spLocks noChangeArrowheads="1"/>
          </p:cNvSpPr>
          <p:nvPr/>
        </p:nvSpPr>
        <p:spPr bwMode="auto">
          <a:xfrm>
            <a:off x="5460139" y="2368550"/>
            <a:ext cx="128759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1800" dirty="0">
                <a:latin typeface="Arial" charset="0"/>
                <a:cs typeface="Arial" charset="0"/>
              </a:rPr>
              <a:t>I am Aman</a:t>
            </a:r>
          </a:p>
        </p:txBody>
      </p:sp>
      <p:sp>
        <p:nvSpPr>
          <p:cNvPr id="41996" name="Line 11"/>
          <p:cNvSpPr>
            <a:spLocks noChangeShapeType="1"/>
          </p:cNvSpPr>
          <p:nvPr/>
        </p:nvSpPr>
        <p:spPr bwMode="auto">
          <a:xfrm flipH="1">
            <a:off x="5222875" y="2786063"/>
            <a:ext cx="2165350" cy="2809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1997" name="Text Box 12"/>
          <p:cNvSpPr txBox="1">
            <a:spLocks noChangeArrowheads="1"/>
          </p:cNvSpPr>
          <p:nvPr/>
        </p:nvSpPr>
        <p:spPr bwMode="auto">
          <a:xfrm>
            <a:off x="5321300" y="2701925"/>
            <a:ext cx="352425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1800" dirty="0">
                <a:latin typeface="Arial" charset="0"/>
                <a:cs typeface="Arial" charset="0"/>
              </a:rPr>
              <a:t>R</a:t>
            </a:r>
          </a:p>
        </p:txBody>
      </p:sp>
      <p:sp>
        <p:nvSpPr>
          <p:cNvPr id="41998" name="Line 13"/>
          <p:cNvSpPr>
            <a:spLocks noChangeShapeType="1"/>
          </p:cNvSpPr>
          <p:nvPr/>
        </p:nvSpPr>
        <p:spPr bwMode="auto">
          <a:xfrm>
            <a:off x="5251450" y="3235325"/>
            <a:ext cx="22494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70670" name="Group 14"/>
          <p:cNvGrpSpPr>
            <a:grpSpLocks/>
          </p:cNvGrpSpPr>
          <p:nvPr/>
        </p:nvGrpSpPr>
        <p:grpSpPr bwMode="auto">
          <a:xfrm>
            <a:off x="6481763" y="2781300"/>
            <a:ext cx="850900" cy="681038"/>
            <a:chOff x="3732" y="350"/>
            <a:chExt cx="536" cy="429"/>
          </a:xfrm>
        </p:grpSpPr>
        <p:sp>
          <p:nvSpPr>
            <p:cNvPr id="42049" name="Text Box 15"/>
            <p:cNvSpPr txBox="1">
              <a:spLocks noChangeArrowheads="1"/>
            </p:cNvSpPr>
            <p:nvPr/>
          </p:nvSpPr>
          <p:spPr bwMode="auto">
            <a:xfrm>
              <a:off x="3843" y="546"/>
              <a:ext cx="20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80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T</a:t>
              </a:r>
            </a:p>
          </p:txBody>
        </p:sp>
        <p:grpSp>
          <p:nvGrpSpPr>
            <p:cNvPr id="70721" name="Group 16"/>
            <p:cNvGrpSpPr>
              <a:grpSpLocks/>
            </p:cNvGrpSpPr>
            <p:nvPr/>
          </p:nvGrpSpPr>
          <p:grpSpPr bwMode="auto">
            <a:xfrm>
              <a:off x="3732" y="350"/>
              <a:ext cx="536" cy="325"/>
              <a:chOff x="3732" y="350"/>
              <a:chExt cx="536" cy="325"/>
            </a:xfrm>
          </p:grpSpPr>
          <p:sp>
            <p:nvSpPr>
              <p:cNvPr id="42051" name="Text Box 17"/>
              <p:cNvSpPr txBox="1">
                <a:spLocks noChangeArrowheads="1"/>
              </p:cNvSpPr>
              <p:nvPr/>
            </p:nvSpPr>
            <p:spPr bwMode="auto">
              <a:xfrm>
                <a:off x="3732" y="442"/>
                <a:ext cx="536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1800" dirty="0">
                    <a:latin typeface="Arial" charset="0"/>
                    <a:cs typeface="Arial" charset="0"/>
                  </a:rPr>
                  <a:t>K   (R)</a:t>
                </a:r>
              </a:p>
            </p:txBody>
          </p:sp>
          <p:sp>
            <p:nvSpPr>
              <p:cNvPr id="42052" name="Text Box 18"/>
              <p:cNvSpPr txBox="1">
                <a:spLocks noChangeArrowheads="1"/>
              </p:cNvSpPr>
              <p:nvPr/>
            </p:nvSpPr>
            <p:spPr bwMode="auto">
              <a:xfrm>
                <a:off x="3853" y="350"/>
                <a:ext cx="165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1800" dirty="0">
                    <a:solidFill>
                      <a:srgbClr val="FF0000"/>
                    </a:solidFill>
                    <a:latin typeface="Arial" charset="0"/>
                    <a:cs typeface="Arial" charset="0"/>
                  </a:rPr>
                  <a:t>-</a:t>
                </a:r>
              </a:p>
            </p:txBody>
          </p:sp>
        </p:grpSp>
      </p:grpSp>
      <p:sp>
        <p:nvSpPr>
          <p:cNvPr id="42000" name="Line 19"/>
          <p:cNvSpPr>
            <a:spLocks noChangeShapeType="1"/>
          </p:cNvSpPr>
          <p:nvPr/>
        </p:nvSpPr>
        <p:spPr bwMode="auto">
          <a:xfrm flipH="1">
            <a:off x="5289550" y="3403600"/>
            <a:ext cx="2165350" cy="2809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2001" name="Text Box 20"/>
          <p:cNvSpPr txBox="1">
            <a:spLocks noChangeArrowheads="1"/>
          </p:cNvSpPr>
          <p:nvPr/>
        </p:nvSpPr>
        <p:spPr bwMode="auto">
          <a:xfrm>
            <a:off x="5135563" y="3360738"/>
            <a:ext cx="246856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1600" dirty="0">
                <a:latin typeface="Arial" charset="0"/>
                <a:cs typeface="Arial" charset="0"/>
              </a:rPr>
              <a:t>Send me your public key</a:t>
            </a:r>
          </a:p>
        </p:txBody>
      </p:sp>
      <p:sp>
        <p:nvSpPr>
          <p:cNvPr id="42002" name="Line 21"/>
          <p:cNvSpPr>
            <a:spLocks noChangeShapeType="1"/>
          </p:cNvSpPr>
          <p:nvPr/>
        </p:nvSpPr>
        <p:spPr bwMode="auto">
          <a:xfrm>
            <a:off x="5319713" y="3922713"/>
            <a:ext cx="22494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70674" name="Group 22"/>
          <p:cNvGrpSpPr>
            <a:grpSpLocks/>
          </p:cNvGrpSpPr>
          <p:nvPr/>
        </p:nvGrpSpPr>
        <p:grpSpPr bwMode="auto">
          <a:xfrm>
            <a:off x="6937375" y="3525838"/>
            <a:ext cx="584200" cy="695325"/>
            <a:chOff x="4737" y="2510"/>
            <a:chExt cx="368" cy="438"/>
          </a:xfrm>
        </p:grpSpPr>
        <p:grpSp>
          <p:nvGrpSpPr>
            <p:cNvPr id="70716" name="Group 23"/>
            <p:cNvGrpSpPr>
              <a:grpSpLocks/>
            </p:cNvGrpSpPr>
            <p:nvPr/>
          </p:nvGrpSpPr>
          <p:grpSpPr bwMode="auto">
            <a:xfrm>
              <a:off x="4737" y="2620"/>
              <a:ext cx="368" cy="328"/>
              <a:chOff x="4737" y="2620"/>
              <a:chExt cx="368" cy="328"/>
            </a:xfrm>
          </p:grpSpPr>
          <p:sp>
            <p:nvSpPr>
              <p:cNvPr id="42047" name="Text Box 24"/>
              <p:cNvSpPr txBox="1">
                <a:spLocks noChangeArrowheads="1"/>
              </p:cNvSpPr>
              <p:nvPr/>
            </p:nvSpPr>
            <p:spPr bwMode="auto">
              <a:xfrm>
                <a:off x="4900" y="2715"/>
                <a:ext cx="205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1800" dirty="0">
                    <a:solidFill>
                      <a:srgbClr val="FF0000"/>
                    </a:solidFill>
                    <a:latin typeface="Arial" charset="0"/>
                    <a:cs typeface="Arial" charset="0"/>
                  </a:rPr>
                  <a:t>T</a:t>
                </a:r>
              </a:p>
            </p:txBody>
          </p:sp>
          <p:sp>
            <p:nvSpPr>
              <p:cNvPr id="42048" name="Text Box 25"/>
              <p:cNvSpPr txBox="1">
                <a:spLocks noChangeArrowheads="1"/>
              </p:cNvSpPr>
              <p:nvPr/>
            </p:nvSpPr>
            <p:spPr bwMode="auto">
              <a:xfrm>
                <a:off x="4737" y="2620"/>
                <a:ext cx="333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1800" dirty="0">
                    <a:latin typeface="Arial" charset="0"/>
                    <a:cs typeface="Arial" charset="0"/>
                  </a:rPr>
                  <a:t>K   </a:t>
                </a:r>
              </a:p>
            </p:txBody>
          </p:sp>
        </p:grpSp>
        <p:sp>
          <p:nvSpPr>
            <p:cNvPr id="42046" name="Text Box 26"/>
            <p:cNvSpPr txBox="1">
              <a:spLocks noChangeArrowheads="1"/>
            </p:cNvSpPr>
            <p:nvPr/>
          </p:nvSpPr>
          <p:spPr bwMode="auto">
            <a:xfrm>
              <a:off x="4892" y="2510"/>
              <a:ext cx="20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80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+</a:t>
              </a:r>
            </a:p>
          </p:txBody>
        </p:sp>
      </p:grpSp>
      <p:sp>
        <p:nvSpPr>
          <p:cNvPr id="42004" name="Line 27"/>
          <p:cNvSpPr>
            <a:spLocks noChangeShapeType="1"/>
          </p:cNvSpPr>
          <p:nvPr/>
        </p:nvSpPr>
        <p:spPr bwMode="auto">
          <a:xfrm flipH="1">
            <a:off x="1900238" y="3430588"/>
            <a:ext cx="2165350" cy="2809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2005" name="Line 28"/>
          <p:cNvSpPr>
            <a:spLocks noChangeShapeType="1"/>
          </p:cNvSpPr>
          <p:nvPr/>
        </p:nvSpPr>
        <p:spPr bwMode="auto">
          <a:xfrm>
            <a:off x="1928813" y="3879850"/>
            <a:ext cx="22494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70677" name="Group 29"/>
          <p:cNvGrpSpPr>
            <a:grpSpLocks/>
          </p:cNvGrpSpPr>
          <p:nvPr/>
        </p:nvGrpSpPr>
        <p:grpSpPr bwMode="auto">
          <a:xfrm>
            <a:off x="3144838" y="3411538"/>
            <a:ext cx="850900" cy="654050"/>
            <a:chOff x="3732" y="350"/>
            <a:chExt cx="536" cy="412"/>
          </a:xfrm>
        </p:grpSpPr>
        <p:sp>
          <p:nvSpPr>
            <p:cNvPr id="42041" name="Text Box 30"/>
            <p:cNvSpPr txBox="1">
              <a:spLocks noChangeArrowheads="1"/>
            </p:cNvSpPr>
            <p:nvPr/>
          </p:nvSpPr>
          <p:spPr bwMode="auto">
            <a:xfrm>
              <a:off x="3815" y="531"/>
              <a:ext cx="22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80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A</a:t>
              </a:r>
            </a:p>
          </p:txBody>
        </p:sp>
        <p:grpSp>
          <p:nvGrpSpPr>
            <p:cNvPr id="70713" name="Group 31"/>
            <p:cNvGrpSpPr>
              <a:grpSpLocks/>
            </p:cNvGrpSpPr>
            <p:nvPr/>
          </p:nvGrpSpPr>
          <p:grpSpPr bwMode="auto">
            <a:xfrm>
              <a:off x="3732" y="350"/>
              <a:ext cx="536" cy="325"/>
              <a:chOff x="3732" y="350"/>
              <a:chExt cx="536" cy="325"/>
            </a:xfrm>
          </p:grpSpPr>
          <p:sp>
            <p:nvSpPr>
              <p:cNvPr id="42043" name="Text Box 32"/>
              <p:cNvSpPr txBox="1">
                <a:spLocks noChangeArrowheads="1"/>
              </p:cNvSpPr>
              <p:nvPr/>
            </p:nvSpPr>
            <p:spPr bwMode="auto">
              <a:xfrm>
                <a:off x="3732" y="442"/>
                <a:ext cx="536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1800" dirty="0">
                    <a:latin typeface="Arial" charset="0"/>
                    <a:cs typeface="Arial" charset="0"/>
                  </a:rPr>
                  <a:t>K   (R)</a:t>
                </a:r>
              </a:p>
            </p:txBody>
          </p:sp>
          <p:sp>
            <p:nvSpPr>
              <p:cNvPr id="42044" name="Text Box 33"/>
              <p:cNvSpPr txBox="1">
                <a:spLocks noChangeArrowheads="1"/>
              </p:cNvSpPr>
              <p:nvPr/>
            </p:nvSpPr>
            <p:spPr bwMode="auto">
              <a:xfrm>
                <a:off x="3838" y="350"/>
                <a:ext cx="165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1800" dirty="0">
                    <a:solidFill>
                      <a:srgbClr val="FF0000"/>
                    </a:solidFill>
                    <a:latin typeface="Arial" charset="0"/>
                    <a:cs typeface="Arial" charset="0"/>
                  </a:rPr>
                  <a:t>-</a:t>
                </a:r>
              </a:p>
            </p:txBody>
          </p:sp>
        </p:grpSp>
      </p:grpSp>
      <p:sp>
        <p:nvSpPr>
          <p:cNvPr id="42007" name="Line 34"/>
          <p:cNvSpPr>
            <a:spLocks noChangeShapeType="1"/>
          </p:cNvSpPr>
          <p:nvPr/>
        </p:nvSpPr>
        <p:spPr bwMode="auto">
          <a:xfrm flipH="1">
            <a:off x="1966913" y="4048125"/>
            <a:ext cx="2165350" cy="2809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2008" name="Text Box 35"/>
          <p:cNvSpPr txBox="1">
            <a:spLocks noChangeArrowheads="1"/>
          </p:cNvSpPr>
          <p:nvPr/>
        </p:nvSpPr>
        <p:spPr bwMode="auto">
          <a:xfrm>
            <a:off x="1812925" y="4005263"/>
            <a:ext cx="24685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1600" dirty="0">
                <a:latin typeface="Arial" charset="0"/>
                <a:cs typeface="Arial" charset="0"/>
              </a:rPr>
              <a:t>Send me your public key</a:t>
            </a:r>
          </a:p>
        </p:txBody>
      </p:sp>
      <p:sp>
        <p:nvSpPr>
          <p:cNvPr id="42009" name="Line 36"/>
          <p:cNvSpPr>
            <a:spLocks noChangeShapeType="1"/>
          </p:cNvSpPr>
          <p:nvPr/>
        </p:nvSpPr>
        <p:spPr bwMode="auto">
          <a:xfrm>
            <a:off x="1997075" y="4567238"/>
            <a:ext cx="22494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70681" name="Group 37"/>
          <p:cNvGrpSpPr>
            <a:grpSpLocks/>
          </p:cNvGrpSpPr>
          <p:nvPr/>
        </p:nvGrpSpPr>
        <p:grpSpPr bwMode="auto">
          <a:xfrm>
            <a:off x="3500438" y="4125913"/>
            <a:ext cx="569912" cy="654050"/>
            <a:chOff x="4737" y="2534"/>
            <a:chExt cx="359" cy="412"/>
          </a:xfrm>
        </p:grpSpPr>
        <p:grpSp>
          <p:nvGrpSpPr>
            <p:cNvPr id="70708" name="Group 38"/>
            <p:cNvGrpSpPr>
              <a:grpSpLocks/>
            </p:cNvGrpSpPr>
            <p:nvPr/>
          </p:nvGrpSpPr>
          <p:grpSpPr bwMode="auto">
            <a:xfrm>
              <a:off x="4737" y="2620"/>
              <a:ext cx="359" cy="326"/>
              <a:chOff x="4737" y="2620"/>
              <a:chExt cx="359" cy="326"/>
            </a:xfrm>
          </p:grpSpPr>
          <p:sp>
            <p:nvSpPr>
              <p:cNvPr id="42039" name="Text Box 39"/>
              <p:cNvSpPr txBox="1">
                <a:spLocks noChangeArrowheads="1"/>
              </p:cNvSpPr>
              <p:nvPr/>
            </p:nvSpPr>
            <p:spPr bwMode="auto">
              <a:xfrm>
                <a:off x="4875" y="2715"/>
                <a:ext cx="221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1800" dirty="0">
                    <a:solidFill>
                      <a:srgbClr val="FF0000"/>
                    </a:solidFill>
                    <a:latin typeface="Arial" charset="0"/>
                    <a:cs typeface="Arial" charset="0"/>
                  </a:rPr>
                  <a:t>A</a:t>
                </a:r>
              </a:p>
            </p:txBody>
          </p:sp>
          <p:sp>
            <p:nvSpPr>
              <p:cNvPr id="42040" name="Text Box 40"/>
              <p:cNvSpPr txBox="1">
                <a:spLocks noChangeArrowheads="1"/>
              </p:cNvSpPr>
              <p:nvPr/>
            </p:nvSpPr>
            <p:spPr bwMode="auto">
              <a:xfrm>
                <a:off x="4737" y="2620"/>
                <a:ext cx="333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1800" dirty="0">
                    <a:latin typeface="Arial" charset="0"/>
                    <a:cs typeface="Arial" charset="0"/>
                  </a:rPr>
                  <a:t>K   </a:t>
                </a:r>
              </a:p>
            </p:txBody>
          </p:sp>
        </p:grpSp>
        <p:sp>
          <p:nvSpPr>
            <p:cNvPr id="42038" name="Text Box 41"/>
            <p:cNvSpPr txBox="1">
              <a:spLocks noChangeArrowheads="1"/>
            </p:cNvSpPr>
            <p:nvPr/>
          </p:nvSpPr>
          <p:spPr bwMode="auto">
            <a:xfrm>
              <a:off x="4883" y="2534"/>
              <a:ext cx="20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80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+</a:t>
              </a:r>
            </a:p>
          </p:txBody>
        </p:sp>
      </p:grpSp>
      <p:sp>
        <p:nvSpPr>
          <p:cNvPr id="42011" name="Line 42"/>
          <p:cNvSpPr>
            <a:spLocks noChangeShapeType="1"/>
          </p:cNvSpPr>
          <p:nvPr/>
        </p:nvSpPr>
        <p:spPr bwMode="auto">
          <a:xfrm flipH="1" flipV="1">
            <a:off x="5364163" y="5024438"/>
            <a:ext cx="21685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70683" name="Group 43"/>
          <p:cNvGrpSpPr>
            <a:grpSpLocks/>
          </p:cNvGrpSpPr>
          <p:nvPr/>
        </p:nvGrpSpPr>
        <p:grpSpPr bwMode="auto">
          <a:xfrm>
            <a:off x="5975350" y="4506913"/>
            <a:ext cx="874713" cy="681037"/>
            <a:chOff x="3670" y="3430"/>
            <a:chExt cx="551" cy="429"/>
          </a:xfrm>
        </p:grpSpPr>
        <p:sp>
          <p:nvSpPr>
            <p:cNvPr id="42034" name="Text Box 44"/>
            <p:cNvSpPr txBox="1">
              <a:spLocks noChangeArrowheads="1"/>
            </p:cNvSpPr>
            <p:nvPr/>
          </p:nvSpPr>
          <p:spPr bwMode="auto">
            <a:xfrm>
              <a:off x="3778" y="3626"/>
              <a:ext cx="20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80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T</a:t>
              </a:r>
            </a:p>
          </p:txBody>
        </p:sp>
        <p:sp>
          <p:nvSpPr>
            <p:cNvPr id="42035" name="Text Box 45"/>
            <p:cNvSpPr txBox="1">
              <a:spLocks noChangeArrowheads="1"/>
            </p:cNvSpPr>
            <p:nvPr/>
          </p:nvSpPr>
          <p:spPr bwMode="auto">
            <a:xfrm>
              <a:off x="3670" y="3540"/>
              <a:ext cx="55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800" dirty="0">
                  <a:latin typeface="Arial" charset="0"/>
                  <a:cs typeface="Arial" charset="0"/>
                </a:rPr>
                <a:t>K   (m)</a:t>
              </a:r>
            </a:p>
          </p:txBody>
        </p:sp>
        <p:sp>
          <p:nvSpPr>
            <p:cNvPr id="42036" name="Text Box 46"/>
            <p:cNvSpPr txBox="1">
              <a:spLocks noChangeArrowheads="1"/>
            </p:cNvSpPr>
            <p:nvPr/>
          </p:nvSpPr>
          <p:spPr bwMode="auto">
            <a:xfrm>
              <a:off x="3726" y="3430"/>
              <a:ext cx="20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80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+</a:t>
              </a:r>
            </a:p>
          </p:txBody>
        </p:sp>
      </p:grpSp>
      <p:grpSp>
        <p:nvGrpSpPr>
          <p:cNvPr id="70684" name="Group 47"/>
          <p:cNvGrpSpPr>
            <a:grpSpLocks/>
          </p:cNvGrpSpPr>
          <p:nvPr/>
        </p:nvGrpSpPr>
        <p:grpSpPr bwMode="auto">
          <a:xfrm>
            <a:off x="3814763" y="5006975"/>
            <a:ext cx="1768475" cy="719138"/>
            <a:chOff x="1299" y="3314"/>
            <a:chExt cx="1114" cy="453"/>
          </a:xfrm>
        </p:grpSpPr>
        <p:sp>
          <p:nvSpPr>
            <p:cNvPr id="42029" name="Text Box 48"/>
            <p:cNvSpPr txBox="1">
              <a:spLocks noChangeArrowheads="1"/>
            </p:cNvSpPr>
            <p:nvPr/>
          </p:nvSpPr>
          <p:spPr bwMode="auto">
            <a:xfrm>
              <a:off x="1661" y="3526"/>
              <a:ext cx="20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80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T</a:t>
              </a:r>
            </a:p>
          </p:txBody>
        </p:sp>
        <p:sp>
          <p:nvSpPr>
            <p:cNvPr id="42030" name="Text Box 49"/>
            <p:cNvSpPr txBox="1">
              <a:spLocks noChangeArrowheads="1"/>
            </p:cNvSpPr>
            <p:nvPr/>
          </p:nvSpPr>
          <p:spPr bwMode="auto">
            <a:xfrm>
              <a:off x="1299" y="3414"/>
              <a:ext cx="1114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800" dirty="0">
                  <a:latin typeface="Arial" charset="0"/>
                  <a:cs typeface="Arial" charset="0"/>
                </a:rPr>
                <a:t>m = K  (K   (m))</a:t>
              </a:r>
            </a:p>
          </p:txBody>
        </p:sp>
        <p:sp>
          <p:nvSpPr>
            <p:cNvPr id="42031" name="Text Box 50"/>
            <p:cNvSpPr txBox="1">
              <a:spLocks noChangeArrowheads="1"/>
            </p:cNvSpPr>
            <p:nvPr/>
          </p:nvSpPr>
          <p:spPr bwMode="auto">
            <a:xfrm>
              <a:off x="1901" y="3332"/>
              <a:ext cx="20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80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+</a:t>
              </a:r>
            </a:p>
          </p:txBody>
        </p:sp>
        <p:sp>
          <p:nvSpPr>
            <p:cNvPr id="42032" name="Text Box 51"/>
            <p:cNvSpPr txBox="1">
              <a:spLocks noChangeArrowheads="1"/>
            </p:cNvSpPr>
            <p:nvPr/>
          </p:nvSpPr>
          <p:spPr bwMode="auto">
            <a:xfrm>
              <a:off x="1905" y="3534"/>
              <a:ext cx="20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80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T</a:t>
              </a:r>
            </a:p>
          </p:txBody>
        </p:sp>
        <p:sp>
          <p:nvSpPr>
            <p:cNvPr id="42033" name="Text Box 52"/>
            <p:cNvSpPr txBox="1">
              <a:spLocks noChangeArrowheads="1"/>
            </p:cNvSpPr>
            <p:nvPr/>
          </p:nvSpPr>
          <p:spPr bwMode="auto">
            <a:xfrm>
              <a:off x="1688" y="3314"/>
              <a:ext cx="16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80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-</a:t>
              </a:r>
            </a:p>
          </p:txBody>
        </p:sp>
      </p:grpSp>
      <p:sp>
        <p:nvSpPr>
          <p:cNvPr id="42014" name="Text Box 53"/>
          <p:cNvSpPr txBox="1">
            <a:spLocks noChangeArrowheads="1"/>
          </p:cNvSpPr>
          <p:nvPr/>
        </p:nvSpPr>
        <p:spPr bwMode="auto">
          <a:xfrm>
            <a:off x="3865639" y="4819650"/>
            <a:ext cx="142859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1800" dirty="0">
                <a:latin typeface="Arial" charset="0"/>
                <a:cs typeface="Arial" charset="0"/>
              </a:rPr>
              <a:t>Manish gets</a:t>
            </a:r>
          </a:p>
        </p:txBody>
      </p:sp>
      <p:sp>
        <p:nvSpPr>
          <p:cNvPr id="42015" name="Text Box 54"/>
          <p:cNvSpPr txBox="1">
            <a:spLocks noChangeArrowheads="1"/>
          </p:cNvSpPr>
          <p:nvPr/>
        </p:nvSpPr>
        <p:spPr bwMode="auto">
          <a:xfrm>
            <a:off x="3714750" y="5511800"/>
            <a:ext cx="200183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1800" dirty="0">
                <a:latin typeface="Arial" charset="0"/>
                <a:cs typeface="Arial" charset="0"/>
              </a:rPr>
              <a:t>sends m to Aman encrypted with Aman</a:t>
            </a:r>
            <a:r>
              <a:rPr lang="ja-JP" altLang="en-US" sz="1800" dirty="0">
                <a:latin typeface="Arial" charset="0"/>
                <a:cs typeface="Arial" charset="0"/>
              </a:rPr>
              <a:t>’</a:t>
            </a:r>
            <a:r>
              <a:rPr lang="en-US" sz="1800" dirty="0">
                <a:latin typeface="Arial" charset="0"/>
                <a:cs typeface="Arial" charset="0"/>
              </a:rPr>
              <a:t>s public key</a:t>
            </a:r>
          </a:p>
        </p:txBody>
      </p:sp>
      <p:sp>
        <p:nvSpPr>
          <p:cNvPr id="42016" name="Line 55"/>
          <p:cNvSpPr>
            <a:spLocks noChangeShapeType="1"/>
          </p:cNvSpPr>
          <p:nvPr/>
        </p:nvSpPr>
        <p:spPr bwMode="auto">
          <a:xfrm flipH="1">
            <a:off x="1782763" y="5767388"/>
            <a:ext cx="1712912" cy="6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70688" name="Group 56"/>
          <p:cNvGrpSpPr>
            <a:grpSpLocks/>
          </p:cNvGrpSpPr>
          <p:nvPr/>
        </p:nvGrpSpPr>
        <p:grpSpPr bwMode="auto">
          <a:xfrm>
            <a:off x="2566988" y="5230813"/>
            <a:ext cx="806450" cy="677862"/>
            <a:chOff x="3691" y="3430"/>
            <a:chExt cx="508" cy="427"/>
          </a:xfrm>
        </p:grpSpPr>
        <p:sp>
          <p:nvSpPr>
            <p:cNvPr id="42026" name="Text Box 57"/>
            <p:cNvSpPr txBox="1">
              <a:spLocks noChangeArrowheads="1"/>
            </p:cNvSpPr>
            <p:nvPr/>
          </p:nvSpPr>
          <p:spPr bwMode="auto">
            <a:xfrm>
              <a:off x="3771" y="3626"/>
              <a:ext cx="22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80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A</a:t>
              </a:r>
              <a:endParaRPr lang="en-US" sz="2400" dirty="0">
                <a:latin typeface="Arial" charset="0"/>
                <a:cs typeface="Arial" charset="0"/>
              </a:endParaRPr>
            </a:p>
          </p:txBody>
        </p:sp>
        <p:sp>
          <p:nvSpPr>
            <p:cNvPr id="42027" name="Text Box 58"/>
            <p:cNvSpPr txBox="1">
              <a:spLocks noChangeArrowheads="1"/>
            </p:cNvSpPr>
            <p:nvPr/>
          </p:nvSpPr>
          <p:spPr bwMode="auto">
            <a:xfrm>
              <a:off x="3691" y="3540"/>
              <a:ext cx="50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800" dirty="0">
                  <a:latin typeface="Arial" charset="0"/>
                  <a:cs typeface="Arial" charset="0"/>
                </a:rPr>
                <a:t>K  (m)</a:t>
              </a:r>
            </a:p>
          </p:txBody>
        </p:sp>
        <p:sp>
          <p:nvSpPr>
            <p:cNvPr id="42028" name="Text Box 59"/>
            <p:cNvSpPr txBox="1">
              <a:spLocks noChangeArrowheads="1"/>
            </p:cNvSpPr>
            <p:nvPr/>
          </p:nvSpPr>
          <p:spPr bwMode="auto">
            <a:xfrm>
              <a:off x="3765" y="3430"/>
              <a:ext cx="20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80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+</a:t>
              </a:r>
            </a:p>
          </p:txBody>
        </p:sp>
      </p:grpSp>
      <p:grpSp>
        <p:nvGrpSpPr>
          <p:cNvPr id="70689" name="Group 60"/>
          <p:cNvGrpSpPr>
            <a:grpSpLocks/>
          </p:cNvGrpSpPr>
          <p:nvPr/>
        </p:nvGrpSpPr>
        <p:grpSpPr bwMode="auto">
          <a:xfrm>
            <a:off x="296863" y="5646738"/>
            <a:ext cx="1768475" cy="711200"/>
            <a:chOff x="1299" y="3317"/>
            <a:chExt cx="1114" cy="448"/>
          </a:xfrm>
        </p:grpSpPr>
        <p:sp>
          <p:nvSpPr>
            <p:cNvPr id="42021" name="Text Box 61"/>
            <p:cNvSpPr txBox="1">
              <a:spLocks noChangeArrowheads="1"/>
            </p:cNvSpPr>
            <p:nvPr/>
          </p:nvSpPr>
          <p:spPr bwMode="auto">
            <a:xfrm>
              <a:off x="1654" y="3526"/>
              <a:ext cx="22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80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A</a:t>
              </a:r>
            </a:p>
          </p:txBody>
        </p:sp>
        <p:sp>
          <p:nvSpPr>
            <p:cNvPr id="42022" name="Text Box 62"/>
            <p:cNvSpPr txBox="1">
              <a:spLocks noChangeArrowheads="1"/>
            </p:cNvSpPr>
            <p:nvPr/>
          </p:nvSpPr>
          <p:spPr bwMode="auto">
            <a:xfrm>
              <a:off x="1299" y="3414"/>
              <a:ext cx="1114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800" dirty="0">
                  <a:latin typeface="Arial" charset="0"/>
                  <a:cs typeface="Arial" charset="0"/>
                </a:rPr>
                <a:t>m = K  (K   (m))</a:t>
              </a:r>
            </a:p>
          </p:txBody>
        </p:sp>
        <p:sp>
          <p:nvSpPr>
            <p:cNvPr id="42023" name="Text Box 63"/>
            <p:cNvSpPr txBox="1">
              <a:spLocks noChangeArrowheads="1"/>
            </p:cNvSpPr>
            <p:nvPr/>
          </p:nvSpPr>
          <p:spPr bwMode="auto">
            <a:xfrm>
              <a:off x="1901" y="3332"/>
              <a:ext cx="20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80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+</a:t>
              </a:r>
            </a:p>
          </p:txBody>
        </p:sp>
        <p:sp>
          <p:nvSpPr>
            <p:cNvPr id="42024" name="Text Box 64"/>
            <p:cNvSpPr txBox="1">
              <a:spLocks noChangeArrowheads="1"/>
            </p:cNvSpPr>
            <p:nvPr/>
          </p:nvSpPr>
          <p:spPr bwMode="auto">
            <a:xfrm>
              <a:off x="1898" y="3534"/>
              <a:ext cx="22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80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A</a:t>
              </a:r>
            </a:p>
          </p:txBody>
        </p:sp>
        <p:sp>
          <p:nvSpPr>
            <p:cNvPr id="42025" name="Text Box 65"/>
            <p:cNvSpPr txBox="1">
              <a:spLocks noChangeArrowheads="1"/>
            </p:cNvSpPr>
            <p:nvPr/>
          </p:nvSpPr>
          <p:spPr bwMode="auto">
            <a:xfrm>
              <a:off x="1685" y="3317"/>
              <a:ext cx="16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80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-</a:t>
              </a:r>
            </a:p>
          </p:txBody>
        </p:sp>
      </p:grpSp>
      <p:sp>
        <p:nvSpPr>
          <p:cNvPr id="42019" name="Text Box 66"/>
          <p:cNvSpPr txBox="1">
            <a:spLocks noChangeArrowheads="1"/>
          </p:cNvSpPr>
          <p:nvPr/>
        </p:nvSpPr>
        <p:spPr bwMode="auto">
          <a:xfrm>
            <a:off x="2224088" y="3305175"/>
            <a:ext cx="352425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1800" dirty="0">
                <a:latin typeface="Arial" charset="0"/>
                <a:cs typeface="Arial" charset="0"/>
              </a:rPr>
              <a:t>R</a:t>
            </a:r>
          </a:p>
        </p:txBody>
      </p:sp>
      <p:pic>
        <p:nvPicPr>
          <p:cNvPr id="70691" name="Picture 22" descr="underline_base"/>
          <p:cNvPicPr>
            <a:picLocks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950" y="827088"/>
            <a:ext cx="45704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9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38</a:t>
            </a:fld>
            <a:endParaRPr lang="en-US" sz="1200" dirty="0">
              <a:latin typeface="Tahoma" charset="0"/>
            </a:endParaRPr>
          </a:p>
        </p:txBody>
      </p:sp>
      <p:sp>
        <p:nvSpPr>
          <p:cNvPr id="70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191908504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81" name="Picture 6" descr="Alice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71613" y="2430463"/>
            <a:ext cx="409575" cy="504825"/>
          </a:xfrm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71683" name="Picture 4" descr="Bob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343900" y="2306638"/>
            <a:ext cx="800100" cy="817562"/>
          </a:xfrm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71684" name="Picture 5" descr="Eve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9263" y="2203450"/>
            <a:ext cx="954087" cy="1141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4" name="Line 7"/>
          <p:cNvSpPr>
            <a:spLocks noChangeShapeType="1"/>
          </p:cNvSpPr>
          <p:nvPr/>
        </p:nvSpPr>
        <p:spPr bwMode="auto">
          <a:xfrm>
            <a:off x="1936750" y="2678113"/>
            <a:ext cx="224948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3015" name="Line 8"/>
          <p:cNvSpPr>
            <a:spLocks noChangeShapeType="1"/>
          </p:cNvSpPr>
          <p:nvPr/>
        </p:nvSpPr>
        <p:spPr bwMode="auto">
          <a:xfrm>
            <a:off x="5183188" y="2717800"/>
            <a:ext cx="224948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6" name="Rectangle 3"/>
          <p:cNvSpPr txBox="1">
            <a:spLocks noChangeArrowheads="1"/>
          </p:cNvSpPr>
          <p:nvPr/>
        </p:nvSpPr>
        <p:spPr bwMode="auto">
          <a:xfrm>
            <a:off x="730250" y="3498850"/>
            <a:ext cx="7708900" cy="275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70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Gill Sans MT" pitchFamily="34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Gill Sans MT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indent="0">
              <a:buFont typeface="Wingdings" pitchFamily="2" charset="2"/>
              <a:buNone/>
              <a:defRPr/>
            </a:pPr>
            <a:r>
              <a:rPr lang="en-US" dirty="0"/>
              <a:t>difficult to detect:</a:t>
            </a:r>
          </a:p>
          <a:p>
            <a:pPr marL="277813" indent="-277813">
              <a:lnSpc>
                <a:spcPct val="90000"/>
              </a:lnSpc>
              <a:buClr>
                <a:srgbClr val="000090"/>
              </a:buClr>
              <a:buSzPct val="100000"/>
              <a:buFont typeface="Wingdings" charset="2"/>
              <a:buChar char="§"/>
              <a:defRPr/>
            </a:pPr>
            <a:r>
              <a:rPr lang="en-US" sz="2400" dirty="0"/>
              <a:t>Brajesh receives everything that Aman sends, and vice versa. (e.g., so Brajesh, Aman can meet one week later and recall conversation!)</a:t>
            </a:r>
          </a:p>
          <a:p>
            <a:pPr marL="277813" indent="-277813">
              <a:buClr>
                <a:srgbClr val="000090"/>
              </a:buClr>
              <a:buSzPct val="100000"/>
              <a:buFont typeface="Wingdings" charset="2"/>
              <a:buChar char="§"/>
              <a:defRPr/>
            </a:pPr>
            <a:r>
              <a:rPr lang="en-US" sz="2400" dirty="0"/>
              <a:t>problem is that Manish receives all messages as well! </a:t>
            </a:r>
          </a:p>
        </p:txBody>
      </p:sp>
      <p:sp>
        <p:nvSpPr>
          <p:cNvPr id="7168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3825"/>
            <a:ext cx="4800600" cy="952500"/>
          </a:xfrm>
        </p:spPr>
        <p:txBody>
          <a:bodyPr/>
          <a:lstStyle/>
          <a:p>
            <a:r>
              <a:rPr lang="en-US" dirty="0">
                <a:latin typeface="Gill Sans MT" charset="0"/>
              </a:rPr>
              <a:t>ap5.0: security hole</a:t>
            </a:r>
          </a:p>
        </p:txBody>
      </p:sp>
      <p:sp>
        <p:nvSpPr>
          <p:cNvPr id="71689" name="Rectangle 3"/>
          <p:cNvSpPr txBox="1">
            <a:spLocks noChangeArrowheads="1"/>
          </p:cNvSpPr>
          <p:nvPr/>
        </p:nvSpPr>
        <p:spPr bwMode="auto">
          <a:xfrm>
            <a:off x="455613" y="1084263"/>
            <a:ext cx="7593012" cy="919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spcBef>
                <a:spcPct val="20000"/>
              </a:spcBef>
              <a:buClr>
                <a:srgbClr val="000099"/>
              </a:buClr>
              <a:buSzPct val="70000"/>
              <a:buFont typeface="Wingdings" charset="0"/>
              <a:buNone/>
            </a:pPr>
            <a:r>
              <a:rPr lang="en-US" sz="2400" i="1" dirty="0">
                <a:solidFill>
                  <a:srgbClr val="C00000"/>
                </a:solidFill>
                <a:latin typeface="Gill Sans MT" charset="0"/>
              </a:rPr>
              <a:t>man (or woman) in the middle attack: </a:t>
            </a:r>
            <a:r>
              <a:rPr lang="en-US" sz="2400" dirty="0">
                <a:latin typeface="Gill Sans MT" charset="0"/>
              </a:rPr>
              <a:t>Manish poses as Aman (to Brajesh) and as Brajesh (to Aman)</a:t>
            </a:r>
          </a:p>
        </p:txBody>
      </p:sp>
      <p:pic>
        <p:nvPicPr>
          <p:cNvPr id="71690" name="Picture 22" descr="underline_base"/>
          <p:cNvPicPr>
            <a:picLocks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950" y="827088"/>
            <a:ext cx="45704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39</a:t>
            </a:fld>
            <a:endParaRPr lang="en-US" sz="1200" dirty="0">
              <a:latin typeface="Tahoma" charset="0"/>
            </a:endParaRPr>
          </a:p>
        </p:txBody>
      </p:sp>
      <p:sp>
        <p:nvSpPr>
          <p:cNvPr id="13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239402857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ill Sans MT" charset="0"/>
              </a:rPr>
              <a:t>Chapter 8 roadmap</a:t>
            </a:r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50875" y="1668463"/>
            <a:ext cx="7772400" cy="4648200"/>
          </a:xfrm>
        </p:spPr>
        <p:txBody>
          <a:bodyPr/>
          <a:lstStyle/>
          <a:p>
            <a:pPr>
              <a:buFont typeface="Wingdings" charset="0"/>
              <a:buNone/>
            </a:pPr>
            <a:r>
              <a:rPr lang="en-US" dirty="0">
                <a:solidFill>
                  <a:srgbClr val="000099"/>
                </a:solidFill>
                <a:latin typeface="Gill Sans MT" charset="0"/>
              </a:rPr>
              <a:t>8.1</a:t>
            </a:r>
            <a:r>
              <a:rPr lang="en-US" dirty="0">
                <a:latin typeface="Gill Sans MT" charset="0"/>
              </a:rPr>
              <a:t> What is network security?</a:t>
            </a:r>
          </a:p>
          <a:p>
            <a:pPr>
              <a:buFont typeface="Wingdings" charset="0"/>
              <a:buNone/>
            </a:pPr>
            <a:r>
              <a:rPr lang="en-US" dirty="0">
                <a:solidFill>
                  <a:srgbClr val="000099"/>
                </a:solidFill>
                <a:latin typeface="Gill Sans MT" charset="0"/>
              </a:rPr>
              <a:t>8.2</a:t>
            </a:r>
            <a:r>
              <a:rPr lang="en-US" dirty="0">
                <a:latin typeface="Gill Sans MT" charset="0"/>
              </a:rPr>
              <a:t> Principles of cryptography</a:t>
            </a:r>
          </a:p>
          <a:p>
            <a:pPr>
              <a:buFont typeface="Wingdings" charset="0"/>
              <a:buNone/>
            </a:pPr>
            <a:r>
              <a:rPr lang="en-US" i="1" dirty="0">
                <a:solidFill>
                  <a:srgbClr val="C00000"/>
                </a:solidFill>
                <a:latin typeface="Gill Sans MT" charset="0"/>
              </a:rPr>
              <a:t>8.3 Message integrity, </a:t>
            </a:r>
            <a:r>
              <a:rPr lang="en-US" dirty="0">
                <a:latin typeface="Gill Sans MT" charset="0"/>
              </a:rPr>
              <a:t>authentication</a:t>
            </a:r>
          </a:p>
          <a:p>
            <a:pPr>
              <a:buFont typeface="Wingdings" charset="0"/>
              <a:buNone/>
            </a:pPr>
            <a:r>
              <a:rPr lang="en-US" dirty="0">
                <a:solidFill>
                  <a:srgbClr val="000099"/>
                </a:solidFill>
                <a:latin typeface="Gill Sans MT" charset="0"/>
              </a:rPr>
              <a:t>8.4 </a:t>
            </a:r>
            <a:r>
              <a:rPr lang="en-US" dirty="0">
                <a:latin typeface="Gill Sans MT" charset="0"/>
              </a:rPr>
              <a:t>Securing e-mail</a:t>
            </a:r>
          </a:p>
          <a:p>
            <a:pPr>
              <a:buFont typeface="Wingdings" charset="0"/>
              <a:buNone/>
            </a:pPr>
            <a:r>
              <a:rPr lang="en-US" dirty="0">
                <a:solidFill>
                  <a:srgbClr val="000099"/>
                </a:solidFill>
                <a:latin typeface="Gill Sans MT" charset="0"/>
              </a:rPr>
              <a:t>8.5</a:t>
            </a:r>
            <a:r>
              <a:rPr lang="en-US" dirty="0">
                <a:latin typeface="Gill Sans MT" charset="0"/>
              </a:rPr>
              <a:t> Securing TCP connections: SSL</a:t>
            </a:r>
          </a:p>
          <a:p>
            <a:pPr>
              <a:buFont typeface="Wingdings" charset="0"/>
              <a:buNone/>
            </a:pPr>
            <a:r>
              <a:rPr lang="en-US" dirty="0">
                <a:solidFill>
                  <a:srgbClr val="000099"/>
                </a:solidFill>
                <a:latin typeface="Gill Sans MT" charset="0"/>
              </a:rPr>
              <a:t>8.6</a:t>
            </a:r>
            <a:r>
              <a:rPr lang="en-US" dirty="0">
                <a:latin typeface="Gill Sans MT" charset="0"/>
              </a:rPr>
              <a:t> Network layer security: IPsec</a:t>
            </a:r>
          </a:p>
          <a:p>
            <a:pPr>
              <a:buFont typeface="Wingdings" charset="0"/>
              <a:buNone/>
            </a:pPr>
            <a:r>
              <a:rPr lang="en-US" dirty="0">
                <a:solidFill>
                  <a:srgbClr val="000099"/>
                </a:solidFill>
                <a:latin typeface="Gill Sans MT" charset="0"/>
              </a:rPr>
              <a:t>8.7</a:t>
            </a:r>
            <a:r>
              <a:rPr lang="en-US" dirty="0">
                <a:latin typeface="Gill Sans MT" charset="0"/>
              </a:rPr>
              <a:t> Securing wireless LANs</a:t>
            </a:r>
          </a:p>
          <a:p>
            <a:pPr>
              <a:buFont typeface="Wingdings" charset="0"/>
              <a:buNone/>
            </a:pPr>
            <a:r>
              <a:rPr lang="en-US" dirty="0">
                <a:solidFill>
                  <a:srgbClr val="000099"/>
                </a:solidFill>
                <a:latin typeface="Gill Sans MT" charset="0"/>
              </a:rPr>
              <a:t>8.8</a:t>
            </a:r>
            <a:r>
              <a:rPr lang="en-US" dirty="0">
                <a:latin typeface="Gill Sans MT" charset="0"/>
              </a:rPr>
              <a:t> Operational security: firewalls and IDS</a:t>
            </a:r>
          </a:p>
        </p:txBody>
      </p:sp>
      <p:pic>
        <p:nvPicPr>
          <p:cNvPr id="72708" name="Picture 22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238" y="1066800"/>
            <a:ext cx="45704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40</a:t>
            </a:fld>
            <a:endParaRPr lang="en-US" sz="1200" dirty="0">
              <a:latin typeface="Tahoma" charset="0"/>
            </a:endParaRPr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12429934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4583113" cy="1143000"/>
          </a:xfrm>
        </p:spPr>
        <p:txBody>
          <a:bodyPr/>
          <a:lstStyle/>
          <a:p>
            <a:r>
              <a:rPr lang="en-US" dirty="0">
                <a:latin typeface="Gill Sans MT" charset="0"/>
              </a:rPr>
              <a:t>Digital signatures </a:t>
            </a:r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11200" y="1677988"/>
            <a:ext cx="7708900" cy="4648200"/>
          </a:xfrm>
        </p:spPr>
        <p:txBody>
          <a:bodyPr/>
          <a:lstStyle/>
          <a:p>
            <a:pPr>
              <a:buFont typeface="Wingdings" charset="0"/>
              <a:buNone/>
            </a:pPr>
            <a:r>
              <a:rPr lang="en-US" dirty="0">
                <a:solidFill>
                  <a:srgbClr val="C00000"/>
                </a:solidFill>
                <a:latin typeface="Gill Sans MT" charset="0"/>
              </a:rPr>
              <a:t>cryptographic technique analogous to hand-written signatures:</a:t>
            </a:r>
          </a:p>
          <a:p>
            <a:r>
              <a:rPr lang="en-US" sz="2600" dirty="0">
                <a:latin typeface="Gill Sans MT" charset="0"/>
              </a:rPr>
              <a:t>sender (Brajesh) digitally signs document,  establishing he is document owner/creator. </a:t>
            </a:r>
          </a:p>
          <a:p>
            <a:r>
              <a:rPr lang="en-US" sz="2600" i="1" dirty="0">
                <a:solidFill>
                  <a:srgbClr val="000099"/>
                </a:solidFill>
                <a:latin typeface="Gill Sans MT" charset="0"/>
              </a:rPr>
              <a:t>verifiable, nonforgeable:</a:t>
            </a:r>
            <a:r>
              <a:rPr lang="en-US" sz="2600" i="1" dirty="0">
                <a:latin typeface="Gill Sans MT" charset="0"/>
              </a:rPr>
              <a:t> </a:t>
            </a:r>
            <a:r>
              <a:rPr lang="en-US" sz="2600" dirty="0">
                <a:latin typeface="Gill Sans MT" charset="0"/>
              </a:rPr>
              <a:t>recipient (Aman) can prove to someone that Brajesh, and no one else (including Aman), must have signed document </a:t>
            </a:r>
          </a:p>
        </p:txBody>
      </p:sp>
      <p:pic>
        <p:nvPicPr>
          <p:cNvPr id="74756" name="Picture 23" descr="underline_base"/>
          <p:cNvPicPr>
            <a:picLocks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488" y="1081088"/>
            <a:ext cx="41132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41</a:t>
            </a:fld>
            <a:endParaRPr lang="en-US" sz="1200" dirty="0">
              <a:latin typeface="Tahoma" charset="0"/>
            </a:endParaRPr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332100159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Rectangle 2"/>
          <p:cNvSpPr>
            <a:spLocks noChangeArrowheads="1"/>
          </p:cNvSpPr>
          <p:nvPr/>
        </p:nvSpPr>
        <p:spPr bwMode="auto">
          <a:xfrm>
            <a:off x="6311900" y="3794125"/>
            <a:ext cx="2311400" cy="1549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46084" name="Rectangle 3"/>
          <p:cNvSpPr>
            <a:spLocks noChangeArrowheads="1"/>
          </p:cNvSpPr>
          <p:nvPr/>
        </p:nvSpPr>
        <p:spPr bwMode="auto">
          <a:xfrm>
            <a:off x="952500" y="3717925"/>
            <a:ext cx="2311400" cy="1549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75780" name="Rectangle 5"/>
          <p:cNvSpPr>
            <a:spLocks noGrp="1" noChangeArrowheads="1"/>
          </p:cNvSpPr>
          <p:nvPr>
            <p:ph type="body" sz="half" idx="2"/>
          </p:nvPr>
        </p:nvSpPr>
        <p:spPr>
          <a:xfrm>
            <a:off x="903288" y="1436688"/>
            <a:ext cx="7391400" cy="2032000"/>
          </a:xfrm>
        </p:spPr>
        <p:txBody>
          <a:bodyPr/>
          <a:lstStyle/>
          <a:p>
            <a:pPr>
              <a:buFont typeface="Wingdings" charset="0"/>
              <a:buNone/>
            </a:pPr>
            <a:r>
              <a:rPr lang="en-US" dirty="0">
                <a:solidFill>
                  <a:srgbClr val="C00000"/>
                </a:solidFill>
                <a:latin typeface="Gill Sans MT" charset="0"/>
              </a:rPr>
              <a:t>simple digital signature for message m:</a:t>
            </a:r>
          </a:p>
          <a:p>
            <a:r>
              <a:rPr lang="en-US" sz="2400" dirty="0">
                <a:latin typeface="Gill Sans MT" charset="0"/>
              </a:rPr>
              <a:t>Brajesh signs m by encrypting with his private key K</a:t>
            </a:r>
            <a:r>
              <a:rPr lang="en-US" sz="2400" baseline="-25000" dirty="0">
                <a:latin typeface="Gill Sans MT" charset="0"/>
              </a:rPr>
              <a:t>B</a:t>
            </a:r>
            <a:r>
              <a:rPr lang="en-US" sz="2400" dirty="0">
                <a:latin typeface="Gill Sans MT" charset="0"/>
              </a:rPr>
              <a:t>, creating </a:t>
            </a:r>
            <a:r>
              <a:rPr lang="ja-JP" altLang="en-US" sz="2400" dirty="0">
                <a:latin typeface="Gill Sans MT" charset="0"/>
              </a:rPr>
              <a:t>“</a:t>
            </a:r>
            <a:r>
              <a:rPr lang="en-US" altLang="ja-JP" sz="2400" dirty="0">
                <a:latin typeface="Gill Sans MT" charset="0"/>
              </a:rPr>
              <a:t>signed</a:t>
            </a:r>
            <a:r>
              <a:rPr lang="ja-JP" altLang="en-US" sz="2400" dirty="0">
                <a:latin typeface="Gill Sans MT" charset="0"/>
              </a:rPr>
              <a:t>”</a:t>
            </a:r>
            <a:r>
              <a:rPr lang="en-US" altLang="ja-JP" sz="2400" dirty="0">
                <a:latin typeface="Gill Sans MT" charset="0"/>
              </a:rPr>
              <a:t> message, K</a:t>
            </a:r>
            <a:r>
              <a:rPr lang="en-US" altLang="ja-JP" sz="2400" baseline="-25000" dirty="0">
                <a:latin typeface="Gill Sans MT" charset="0"/>
              </a:rPr>
              <a:t>B</a:t>
            </a:r>
            <a:r>
              <a:rPr lang="en-US" altLang="ja-JP" sz="2400" dirty="0">
                <a:latin typeface="Gill Sans MT" charset="0"/>
              </a:rPr>
              <a:t>(m)</a:t>
            </a:r>
            <a:endParaRPr lang="en-US" dirty="0">
              <a:latin typeface="Gill Sans MT" charset="0"/>
            </a:endParaRPr>
          </a:p>
        </p:txBody>
      </p:sp>
      <p:sp>
        <p:nvSpPr>
          <p:cNvPr id="46086" name="Text Box 6"/>
          <p:cNvSpPr txBox="1">
            <a:spLocks noChangeArrowheads="1"/>
          </p:cNvSpPr>
          <p:nvPr/>
        </p:nvSpPr>
        <p:spPr bwMode="auto">
          <a:xfrm>
            <a:off x="4638675" y="2152650"/>
            <a:ext cx="5969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dirty="0">
                <a:cs typeface="+mn-cs"/>
              </a:rPr>
              <a:t>-</a:t>
            </a:r>
          </a:p>
        </p:txBody>
      </p:sp>
      <p:sp>
        <p:nvSpPr>
          <p:cNvPr id="46087" name="Text Box 7"/>
          <p:cNvSpPr txBox="1">
            <a:spLocks noChangeArrowheads="1"/>
          </p:cNvSpPr>
          <p:nvPr/>
        </p:nvSpPr>
        <p:spPr bwMode="auto">
          <a:xfrm>
            <a:off x="7088188" y="1804988"/>
            <a:ext cx="5969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dirty="0">
                <a:cs typeface="+mn-cs"/>
              </a:rPr>
              <a:t>-</a:t>
            </a:r>
          </a:p>
        </p:txBody>
      </p:sp>
      <p:sp>
        <p:nvSpPr>
          <p:cNvPr id="46088" name="Text Box 8"/>
          <p:cNvSpPr txBox="1">
            <a:spLocks noChangeArrowheads="1"/>
          </p:cNvSpPr>
          <p:nvPr/>
        </p:nvSpPr>
        <p:spPr bwMode="auto">
          <a:xfrm>
            <a:off x="990600" y="3717925"/>
            <a:ext cx="2120900" cy="152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800" dirty="0">
                <a:latin typeface="Arial" charset="0"/>
                <a:ea typeface="Arial Unicode MS" charset="0"/>
                <a:cs typeface="Arial" charset="0"/>
              </a:rPr>
              <a:t>Dear Aman</a:t>
            </a:r>
          </a:p>
          <a:p>
            <a:pPr>
              <a:spcBef>
                <a:spcPct val="50000"/>
              </a:spcBef>
              <a:defRPr/>
            </a:pPr>
            <a:r>
              <a:rPr lang="en-US" sz="1400" dirty="0">
                <a:latin typeface="Arial" charset="0"/>
                <a:ea typeface="Arial Unicode MS" charset="0"/>
                <a:cs typeface="Arial" charset="0"/>
              </a:rPr>
              <a:t>Oh, how I have missed you. I think of you all the time! …(blah blah blah)</a:t>
            </a:r>
          </a:p>
          <a:p>
            <a:pPr>
              <a:spcBef>
                <a:spcPct val="50000"/>
              </a:spcBef>
              <a:defRPr/>
            </a:pPr>
            <a:r>
              <a:rPr lang="en-US" sz="1800" dirty="0">
                <a:latin typeface="Arial" charset="0"/>
                <a:ea typeface="Arial Unicode MS" charset="0"/>
                <a:cs typeface="Arial" charset="0"/>
              </a:rPr>
              <a:t>Brajesh</a:t>
            </a:r>
          </a:p>
        </p:txBody>
      </p:sp>
      <p:sp>
        <p:nvSpPr>
          <p:cNvPr id="46089" name="Text Box 9"/>
          <p:cNvSpPr txBox="1">
            <a:spLocks noChangeArrowheads="1"/>
          </p:cNvSpPr>
          <p:nvPr/>
        </p:nvSpPr>
        <p:spPr bwMode="auto">
          <a:xfrm>
            <a:off x="652463" y="3298825"/>
            <a:ext cx="2735262" cy="70788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dirty="0">
                <a:solidFill>
                  <a:srgbClr val="C00000"/>
                </a:solidFill>
                <a:latin typeface="Arial" charset="0"/>
                <a:cs typeface="Arial" charset="0"/>
              </a:rPr>
              <a:t>Brajesh</a:t>
            </a:r>
            <a:r>
              <a:rPr lang="ja-JP" altLang="en-US" dirty="0">
                <a:solidFill>
                  <a:srgbClr val="C00000"/>
                </a:solidFill>
                <a:latin typeface="Arial" charset="0"/>
                <a:cs typeface="Arial" charset="0"/>
              </a:rPr>
              <a:t>’</a:t>
            </a:r>
            <a:r>
              <a:rPr lang="en-US" dirty="0">
                <a:solidFill>
                  <a:srgbClr val="C00000"/>
                </a:solidFill>
                <a:latin typeface="Arial" charset="0"/>
                <a:cs typeface="Arial" charset="0"/>
              </a:rPr>
              <a:t>s message, m</a:t>
            </a:r>
          </a:p>
        </p:txBody>
      </p:sp>
      <p:sp>
        <p:nvSpPr>
          <p:cNvPr id="75785" name="Rectangle 10"/>
          <p:cNvSpPr>
            <a:spLocks noChangeArrowheads="1"/>
          </p:cNvSpPr>
          <p:nvPr/>
        </p:nvSpPr>
        <p:spPr bwMode="auto">
          <a:xfrm>
            <a:off x="4141788" y="4060825"/>
            <a:ext cx="1417637" cy="1082675"/>
          </a:xfrm>
          <a:prstGeom prst="rect">
            <a:avLst/>
          </a:prstGeom>
          <a:solidFill>
            <a:srgbClr val="008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46091" name="Text Box 11"/>
          <p:cNvSpPr txBox="1">
            <a:spLocks noChangeArrowheads="1"/>
          </p:cNvSpPr>
          <p:nvPr/>
        </p:nvSpPr>
        <p:spPr bwMode="auto">
          <a:xfrm>
            <a:off x="4181475" y="4095750"/>
            <a:ext cx="1368425" cy="101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dirty="0">
                <a:solidFill>
                  <a:schemeClr val="bg1"/>
                </a:solidFill>
                <a:latin typeface="Arial" charset="0"/>
                <a:cs typeface="Arial" charset="0"/>
              </a:rPr>
              <a:t>Public key</a:t>
            </a:r>
          </a:p>
          <a:p>
            <a:pPr algn="ctr">
              <a:defRPr/>
            </a:pPr>
            <a:r>
              <a:rPr lang="en-US" dirty="0">
                <a:solidFill>
                  <a:schemeClr val="bg1"/>
                </a:solidFill>
                <a:latin typeface="Arial" charset="0"/>
                <a:cs typeface="Arial" charset="0"/>
              </a:rPr>
              <a:t>encryption</a:t>
            </a:r>
          </a:p>
          <a:p>
            <a:pPr algn="ctr">
              <a:defRPr/>
            </a:pPr>
            <a:r>
              <a:rPr lang="en-US" dirty="0">
                <a:solidFill>
                  <a:schemeClr val="bg1"/>
                </a:solidFill>
                <a:latin typeface="Arial" charset="0"/>
                <a:cs typeface="Arial" charset="0"/>
              </a:rPr>
              <a:t>algorithm</a:t>
            </a:r>
          </a:p>
        </p:txBody>
      </p:sp>
      <p:sp>
        <p:nvSpPr>
          <p:cNvPr id="46092" name="Line 12"/>
          <p:cNvSpPr>
            <a:spLocks noChangeShapeType="1"/>
          </p:cNvSpPr>
          <p:nvPr/>
        </p:nvSpPr>
        <p:spPr bwMode="auto">
          <a:xfrm>
            <a:off x="3409950" y="4524375"/>
            <a:ext cx="67468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6093" name="Text Box 13"/>
          <p:cNvSpPr txBox="1">
            <a:spLocks noChangeArrowheads="1"/>
          </p:cNvSpPr>
          <p:nvPr/>
        </p:nvSpPr>
        <p:spPr bwMode="auto">
          <a:xfrm>
            <a:off x="4908550" y="3251200"/>
            <a:ext cx="1762125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800" dirty="0">
                <a:latin typeface="Arial" charset="0"/>
                <a:cs typeface="Arial" charset="0"/>
              </a:rPr>
              <a:t>Brajesh</a:t>
            </a:r>
            <a:r>
              <a:rPr lang="ja-JP" altLang="en-US" sz="1800" dirty="0">
                <a:latin typeface="Arial" charset="0"/>
                <a:cs typeface="Arial" charset="0"/>
              </a:rPr>
              <a:t>’</a:t>
            </a:r>
            <a:r>
              <a:rPr lang="en-US" sz="1800" dirty="0">
                <a:latin typeface="Arial" charset="0"/>
                <a:cs typeface="Arial" charset="0"/>
              </a:rPr>
              <a:t>s private</a:t>
            </a:r>
          </a:p>
          <a:p>
            <a:pPr>
              <a:defRPr/>
            </a:pPr>
            <a:r>
              <a:rPr lang="en-US" sz="1800" dirty="0">
                <a:latin typeface="Arial" charset="0"/>
                <a:cs typeface="Arial" charset="0"/>
              </a:rPr>
              <a:t>key </a:t>
            </a:r>
          </a:p>
        </p:txBody>
      </p:sp>
      <p:pic>
        <p:nvPicPr>
          <p:cNvPr id="75789" name="Picture 14" descr="BS00768_[1]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4014788" y="3432175"/>
            <a:ext cx="458787" cy="236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5790" name="Group 15"/>
          <p:cNvGrpSpPr>
            <a:grpSpLocks/>
          </p:cNvGrpSpPr>
          <p:nvPr/>
        </p:nvGrpSpPr>
        <p:grpSpPr bwMode="auto">
          <a:xfrm>
            <a:off x="4486275" y="3200400"/>
            <a:ext cx="533400" cy="628650"/>
            <a:chOff x="2994" y="2058"/>
            <a:chExt cx="336" cy="396"/>
          </a:xfrm>
        </p:grpSpPr>
        <p:grpSp>
          <p:nvGrpSpPr>
            <p:cNvPr id="75800" name="Group 16"/>
            <p:cNvGrpSpPr>
              <a:grpSpLocks/>
            </p:cNvGrpSpPr>
            <p:nvPr/>
          </p:nvGrpSpPr>
          <p:grpSpPr bwMode="auto">
            <a:xfrm>
              <a:off x="2994" y="2144"/>
              <a:ext cx="336" cy="310"/>
              <a:chOff x="2994" y="2144"/>
              <a:chExt cx="336" cy="310"/>
            </a:xfrm>
          </p:grpSpPr>
          <p:sp>
            <p:nvSpPr>
              <p:cNvPr id="46107" name="Text Box 17"/>
              <p:cNvSpPr txBox="1">
                <a:spLocks noChangeArrowheads="1"/>
              </p:cNvSpPr>
              <p:nvPr/>
            </p:nvSpPr>
            <p:spPr bwMode="auto">
              <a:xfrm>
                <a:off x="2994" y="2144"/>
                <a:ext cx="269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K </a:t>
                </a:r>
              </a:p>
            </p:txBody>
          </p:sp>
          <p:sp>
            <p:nvSpPr>
              <p:cNvPr id="46108" name="Text Box 18"/>
              <p:cNvSpPr txBox="1">
                <a:spLocks noChangeArrowheads="1"/>
              </p:cNvSpPr>
              <p:nvPr/>
            </p:nvSpPr>
            <p:spPr bwMode="auto">
              <a:xfrm>
                <a:off x="3128" y="2241"/>
                <a:ext cx="202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1600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B</a:t>
                </a:r>
              </a:p>
            </p:txBody>
          </p:sp>
        </p:grpSp>
        <p:sp>
          <p:nvSpPr>
            <p:cNvPr id="46106" name="Text Box 19"/>
            <p:cNvSpPr txBox="1">
              <a:spLocks noChangeArrowheads="1"/>
            </p:cNvSpPr>
            <p:nvPr/>
          </p:nvSpPr>
          <p:spPr bwMode="auto">
            <a:xfrm>
              <a:off x="3140" y="2058"/>
              <a:ext cx="160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6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-</a:t>
              </a:r>
            </a:p>
          </p:txBody>
        </p:sp>
      </p:grpSp>
      <p:sp>
        <p:nvSpPr>
          <p:cNvPr id="46096" name="Line 20"/>
          <p:cNvSpPr>
            <a:spLocks noChangeShapeType="1"/>
          </p:cNvSpPr>
          <p:nvPr/>
        </p:nvSpPr>
        <p:spPr bwMode="auto">
          <a:xfrm>
            <a:off x="4489450" y="3584575"/>
            <a:ext cx="1588" cy="46990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6097" name="Line 21"/>
          <p:cNvSpPr>
            <a:spLocks noChangeShapeType="1"/>
          </p:cNvSpPr>
          <p:nvPr/>
        </p:nvSpPr>
        <p:spPr bwMode="auto">
          <a:xfrm>
            <a:off x="5594350" y="4524375"/>
            <a:ext cx="67468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6098" name="Text Box 22"/>
          <p:cNvSpPr txBox="1">
            <a:spLocks noChangeArrowheads="1"/>
          </p:cNvSpPr>
          <p:nvPr/>
        </p:nvSpPr>
        <p:spPr bwMode="auto">
          <a:xfrm>
            <a:off x="6438900" y="3895725"/>
            <a:ext cx="2120900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sz="1800" dirty="0">
                <a:latin typeface="Arial" charset="0"/>
                <a:ea typeface="Arial Unicode MS" charset="0"/>
                <a:cs typeface="Arial" charset="0"/>
              </a:rPr>
              <a:t>Brajesh</a:t>
            </a:r>
            <a:r>
              <a:rPr lang="ja-JP" altLang="en-US" sz="1800" dirty="0">
                <a:latin typeface="Arial" charset="0"/>
                <a:ea typeface="Arial Unicode MS" charset="0"/>
                <a:cs typeface="Arial" charset="0"/>
              </a:rPr>
              <a:t>’</a:t>
            </a:r>
            <a:r>
              <a:rPr lang="en-US" sz="1800" dirty="0">
                <a:latin typeface="Arial" charset="0"/>
                <a:ea typeface="Arial Unicode MS" charset="0"/>
                <a:cs typeface="Arial" charset="0"/>
              </a:rPr>
              <a:t>s message, m, signed (encrypted) with his private key</a:t>
            </a:r>
          </a:p>
        </p:txBody>
      </p:sp>
      <p:sp>
        <p:nvSpPr>
          <p:cNvPr id="46099" name="Text Box 25"/>
          <p:cNvSpPr txBox="1">
            <a:spLocks noChangeArrowheads="1"/>
          </p:cNvSpPr>
          <p:nvPr/>
        </p:nvSpPr>
        <p:spPr bwMode="auto">
          <a:xfrm>
            <a:off x="6894865" y="3375025"/>
            <a:ext cx="64064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dirty="0">
                <a:solidFill>
                  <a:srgbClr val="C00000"/>
                </a:solidFill>
                <a:latin typeface="Arial" charset="0"/>
                <a:cs typeface="Arial" charset="0"/>
              </a:rPr>
              <a:t>m,K </a:t>
            </a:r>
          </a:p>
        </p:txBody>
      </p:sp>
      <p:sp>
        <p:nvSpPr>
          <p:cNvPr id="46100" name="Text Box 26"/>
          <p:cNvSpPr txBox="1">
            <a:spLocks noChangeArrowheads="1"/>
          </p:cNvSpPr>
          <p:nvPr/>
        </p:nvSpPr>
        <p:spPr bwMode="auto">
          <a:xfrm>
            <a:off x="7356475" y="3529013"/>
            <a:ext cx="320675" cy="33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1600" dirty="0">
                <a:solidFill>
                  <a:srgbClr val="C00000"/>
                </a:solidFill>
                <a:latin typeface="Arial" charset="0"/>
                <a:cs typeface="Arial" charset="0"/>
              </a:rPr>
              <a:t>B</a:t>
            </a:r>
          </a:p>
        </p:txBody>
      </p:sp>
      <p:sp>
        <p:nvSpPr>
          <p:cNvPr id="46101" name="Text Box 27"/>
          <p:cNvSpPr txBox="1">
            <a:spLocks noChangeArrowheads="1"/>
          </p:cNvSpPr>
          <p:nvPr/>
        </p:nvSpPr>
        <p:spPr bwMode="auto">
          <a:xfrm>
            <a:off x="7362825" y="3228975"/>
            <a:ext cx="254000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1600" dirty="0">
                <a:solidFill>
                  <a:srgbClr val="C00000"/>
                </a:solidFill>
                <a:latin typeface="Arial" charset="0"/>
                <a:cs typeface="Arial" charset="0"/>
              </a:rPr>
              <a:t>-</a:t>
            </a:r>
          </a:p>
        </p:txBody>
      </p:sp>
      <p:sp>
        <p:nvSpPr>
          <p:cNvPr id="46102" name="Text Box 28"/>
          <p:cNvSpPr txBox="1">
            <a:spLocks noChangeArrowheads="1"/>
          </p:cNvSpPr>
          <p:nvPr/>
        </p:nvSpPr>
        <p:spPr bwMode="auto">
          <a:xfrm>
            <a:off x="7381875" y="3344863"/>
            <a:ext cx="6778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dirty="0">
                <a:solidFill>
                  <a:srgbClr val="C00000"/>
                </a:solidFill>
                <a:latin typeface="Arial" charset="0"/>
                <a:cs typeface="Arial" charset="0"/>
              </a:rPr>
              <a:t> (m)</a:t>
            </a:r>
          </a:p>
        </p:txBody>
      </p:sp>
      <p:sp>
        <p:nvSpPr>
          <p:cNvPr id="7579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74625"/>
            <a:ext cx="4583113" cy="1143000"/>
          </a:xfrm>
        </p:spPr>
        <p:txBody>
          <a:bodyPr/>
          <a:lstStyle/>
          <a:p>
            <a:r>
              <a:rPr lang="en-US" dirty="0">
                <a:latin typeface="Gill Sans MT" charset="0"/>
              </a:rPr>
              <a:t>Digital signatures </a:t>
            </a:r>
          </a:p>
        </p:txBody>
      </p:sp>
      <p:pic>
        <p:nvPicPr>
          <p:cNvPr id="75799" name="Picture 23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488" y="1025525"/>
            <a:ext cx="41132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42</a:t>
            </a:fld>
            <a:endParaRPr lang="en-US" sz="1200" dirty="0">
              <a:latin typeface="Tahoma" charset="0"/>
            </a:endParaRPr>
          </a:p>
        </p:txBody>
      </p:sp>
      <p:sp>
        <p:nvSpPr>
          <p:cNvPr id="30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179733624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10" name="Text Box 7"/>
          <p:cNvSpPr txBox="1">
            <a:spLocks noChangeArrowheads="1"/>
          </p:cNvSpPr>
          <p:nvPr/>
        </p:nvSpPr>
        <p:spPr bwMode="auto">
          <a:xfrm>
            <a:off x="7034213" y="1116013"/>
            <a:ext cx="736600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sz="1800" dirty="0">
                <a:latin typeface="Arial Unicode MS" charset="0"/>
                <a:cs typeface="Arial Unicode MS" charset="0"/>
              </a:rPr>
              <a:t>-</a:t>
            </a:r>
          </a:p>
        </p:txBody>
      </p:sp>
      <p:sp>
        <p:nvSpPr>
          <p:cNvPr id="76803" name="Rectangle 11"/>
          <p:cNvSpPr>
            <a:spLocks noGrp="1" noChangeArrowheads="1"/>
          </p:cNvSpPr>
          <p:nvPr>
            <p:ph type="body" sz="half" idx="2"/>
          </p:nvPr>
        </p:nvSpPr>
        <p:spPr>
          <a:xfrm>
            <a:off x="990600" y="3648075"/>
            <a:ext cx="7391400" cy="2311400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81000" indent="-381000">
              <a:lnSpc>
                <a:spcPct val="90000"/>
              </a:lnSpc>
              <a:buFont typeface="Wingdings" charset="0"/>
              <a:buNone/>
            </a:pPr>
            <a:r>
              <a:rPr lang="en-US" sz="2400" dirty="0">
                <a:solidFill>
                  <a:srgbClr val="C00000"/>
                </a:solidFill>
                <a:latin typeface="Gill Sans MT" charset="0"/>
              </a:rPr>
              <a:t>Aman thus verifies that:</a:t>
            </a:r>
          </a:p>
          <a:p>
            <a:pPr lvl="1">
              <a:lnSpc>
                <a:spcPct val="90000"/>
              </a:lnSpc>
              <a:buFont typeface="Wingdings" charset="2"/>
              <a:buChar char="§"/>
            </a:pPr>
            <a:r>
              <a:rPr lang="en-US" dirty="0">
                <a:latin typeface="Gill Sans MT" charset="0"/>
              </a:rPr>
              <a:t>Brajesh signed m</a:t>
            </a:r>
          </a:p>
          <a:p>
            <a:pPr lvl="1">
              <a:lnSpc>
                <a:spcPct val="90000"/>
              </a:lnSpc>
              <a:buFont typeface="Wingdings" charset="2"/>
              <a:buChar char="§"/>
            </a:pPr>
            <a:r>
              <a:rPr lang="en-US" dirty="0">
                <a:latin typeface="Gill Sans MT" charset="0"/>
              </a:rPr>
              <a:t>no one else signed m</a:t>
            </a:r>
          </a:p>
          <a:p>
            <a:pPr lvl="1">
              <a:lnSpc>
                <a:spcPct val="90000"/>
              </a:lnSpc>
              <a:buFont typeface="Wingdings" charset="2"/>
              <a:buChar char="§"/>
            </a:pPr>
            <a:r>
              <a:rPr lang="en-US" dirty="0">
                <a:latin typeface="Gill Sans MT" charset="0"/>
              </a:rPr>
              <a:t>Brajesh signed m and not m</a:t>
            </a:r>
            <a:r>
              <a:rPr lang="ja-JP" altLang="en-US" dirty="0">
                <a:latin typeface="Gill Sans MT" charset="0"/>
              </a:rPr>
              <a:t>‘</a:t>
            </a:r>
            <a:endParaRPr lang="en-US" altLang="ja-JP" dirty="0">
              <a:latin typeface="Gill Sans MT" charset="0"/>
            </a:endParaRPr>
          </a:p>
          <a:p>
            <a:pPr marL="381000" indent="-381000">
              <a:lnSpc>
                <a:spcPct val="90000"/>
              </a:lnSpc>
              <a:buFont typeface="Wingdings" charset="0"/>
              <a:buNone/>
            </a:pPr>
            <a:r>
              <a:rPr lang="en-US" sz="2400" dirty="0">
                <a:solidFill>
                  <a:srgbClr val="C00000"/>
                </a:solidFill>
                <a:latin typeface="Gill Sans MT" charset="0"/>
              </a:rPr>
              <a:t>non-repudiation:</a:t>
            </a:r>
          </a:p>
          <a:p>
            <a:pPr marL="800100" lvl="1" indent="-342900">
              <a:lnSpc>
                <a:spcPct val="90000"/>
              </a:lnSpc>
              <a:buFont typeface="Wingdings" charset="0"/>
              <a:buChar char="ü"/>
            </a:pPr>
            <a:r>
              <a:rPr lang="en-US" dirty="0">
                <a:latin typeface="Gill Sans MT" charset="0"/>
              </a:rPr>
              <a:t>Aman can take m, and signature K</a:t>
            </a:r>
            <a:r>
              <a:rPr lang="en-US" baseline="-25000" dirty="0">
                <a:latin typeface="Gill Sans MT" charset="0"/>
              </a:rPr>
              <a:t>B</a:t>
            </a:r>
            <a:r>
              <a:rPr lang="en-US" dirty="0">
                <a:latin typeface="Gill Sans MT" charset="0"/>
              </a:rPr>
              <a:t>(m) to court and prove that Brajesh signed m</a:t>
            </a:r>
          </a:p>
          <a:p>
            <a:pPr marL="381000" indent="-381000">
              <a:lnSpc>
                <a:spcPct val="90000"/>
              </a:lnSpc>
              <a:buSzTx/>
              <a:buFont typeface="Wingdings" charset="0"/>
              <a:buChar char="ü"/>
            </a:pPr>
            <a:endParaRPr lang="en-US" sz="2400" dirty="0">
              <a:latin typeface="Gill Sans MT" charset="0"/>
            </a:endParaRPr>
          </a:p>
        </p:txBody>
      </p:sp>
      <p:sp>
        <p:nvSpPr>
          <p:cNvPr id="47115" name="Text Box 12"/>
          <p:cNvSpPr txBox="1">
            <a:spLocks noChangeArrowheads="1"/>
          </p:cNvSpPr>
          <p:nvPr/>
        </p:nvSpPr>
        <p:spPr bwMode="auto">
          <a:xfrm>
            <a:off x="5673725" y="5435600"/>
            <a:ext cx="736600" cy="422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sz="1800" dirty="0">
                <a:latin typeface="Arial Unicode MS" charset="0"/>
                <a:cs typeface="Arial Unicode MS" charset="0"/>
              </a:rPr>
              <a:t>-</a:t>
            </a:r>
          </a:p>
        </p:txBody>
      </p:sp>
      <p:sp>
        <p:nvSpPr>
          <p:cNvPr id="76805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74625"/>
            <a:ext cx="4583113" cy="1143000"/>
          </a:xfrm>
        </p:spPr>
        <p:txBody>
          <a:bodyPr/>
          <a:lstStyle/>
          <a:p>
            <a:r>
              <a:rPr lang="en-US" dirty="0">
                <a:latin typeface="Gill Sans MT" charset="0"/>
              </a:rPr>
              <a:t>Digital signatures </a:t>
            </a:r>
          </a:p>
        </p:txBody>
      </p:sp>
      <p:pic>
        <p:nvPicPr>
          <p:cNvPr id="76806" name="Picture 23" descr="underline_base"/>
          <p:cNvPicPr>
            <a:picLocks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488" y="1025525"/>
            <a:ext cx="41132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6807" name="Rectangle 3"/>
          <p:cNvSpPr txBox="1">
            <a:spLocks noChangeArrowheads="1"/>
          </p:cNvSpPr>
          <p:nvPr/>
        </p:nvSpPr>
        <p:spPr bwMode="auto">
          <a:xfrm>
            <a:off x="757238" y="1239838"/>
            <a:ext cx="814705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277813" indent="-277813">
              <a:lnSpc>
                <a:spcPct val="110000"/>
              </a:lnSpc>
              <a:spcBef>
                <a:spcPct val="20000"/>
              </a:spcBef>
              <a:buClr>
                <a:srgbClr val="000090"/>
              </a:buClr>
              <a:buSzPct val="100000"/>
              <a:buFont typeface="Wingdings" charset="2"/>
              <a:buChar char="§"/>
            </a:pPr>
            <a:r>
              <a:rPr lang="en-US" sz="2400" dirty="0">
                <a:latin typeface="Gill Sans MT" charset="0"/>
              </a:rPr>
              <a:t>suppose Aman receives msg m, with signature: m, K</a:t>
            </a:r>
            <a:r>
              <a:rPr lang="en-US" sz="2400" baseline="-25000" dirty="0">
                <a:latin typeface="Gill Sans MT" charset="0"/>
              </a:rPr>
              <a:t>B</a:t>
            </a:r>
            <a:r>
              <a:rPr lang="en-US" sz="2400" dirty="0">
                <a:latin typeface="Gill Sans MT" charset="0"/>
              </a:rPr>
              <a:t>(m)</a:t>
            </a:r>
          </a:p>
          <a:p>
            <a:pPr marL="277813" indent="-277813">
              <a:lnSpc>
                <a:spcPct val="110000"/>
              </a:lnSpc>
              <a:spcBef>
                <a:spcPct val="20000"/>
              </a:spcBef>
              <a:buClr>
                <a:srgbClr val="000090"/>
              </a:buClr>
              <a:buSzPct val="100000"/>
              <a:buFont typeface="Wingdings" charset="2"/>
              <a:buChar char="§"/>
            </a:pPr>
            <a:r>
              <a:rPr lang="en-US" sz="2400" dirty="0">
                <a:latin typeface="Gill Sans MT" charset="0"/>
              </a:rPr>
              <a:t>Aman verifies m signed by Brajesh by applying Brajesh</a:t>
            </a:r>
            <a:r>
              <a:rPr lang="ja-JP" altLang="en-US" sz="2400" dirty="0">
                <a:latin typeface="Gill Sans MT" charset="0"/>
              </a:rPr>
              <a:t>’</a:t>
            </a:r>
            <a:r>
              <a:rPr lang="en-US" altLang="ja-JP" sz="2400" dirty="0">
                <a:latin typeface="Gill Sans MT" charset="0"/>
              </a:rPr>
              <a:t>s public key K</a:t>
            </a:r>
            <a:r>
              <a:rPr lang="en-US" altLang="ja-JP" sz="2400" baseline="-25000" dirty="0">
                <a:latin typeface="Gill Sans MT" charset="0"/>
              </a:rPr>
              <a:t>B</a:t>
            </a:r>
            <a:r>
              <a:rPr lang="en-US" altLang="ja-JP" sz="2400" dirty="0">
                <a:latin typeface="Gill Sans MT" charset="0"/>
              </a:rPr>
              <a:t> to K</a:t>
            </a:r>
            <a:r>
              <a:rPr lang="en-US" altLang="ja-JP" sz="2400" baseline="-25000" dirty="0">
                <a:latin typeface="Gill Sans MT" charset="0"/>
              </a:rPr>
              <a:t>B</a:t>
            </a:r>
            <a:r>
              <a:rPr lang="en-US" altLang="ja-JP" sz="2400" dirty="0">
                <a:latin typeface="Gill Sans MT" charset="0"/>
              </a:rPr>
              <a:t>(m) then checks K</a:t>
            </a:r>
            <a:r>
              <a:rPr lang="en-US" altLang="ja-JP" sz="2400" baseline="-25000" dirty="0">
                <a:latin typeface="Gill Sans MT" charset="0"/>
              </a:rPr>
              <a:t>B</a:t>
            </a:r>
            <a:r>
              <a:rPr lang="en-US" altLang="ja-JP" sz="2400" dirty="0">
                <a:latin typeface="Gill Sans MT" charset="0"/>
              </a:rPr>
              <a:t>(K</a:t>
            </a:r>
            <a:r>
              <a:rPr lang="en-US" altLang="ja-JP" sz="2400" baseline="-25000" dirty="0">
                <a:latin typeface="Gill Sans MT" charset="0"/>
              </a:rPr>
              <a:t>B</a:t>
            </a:r>
            <a:r>
              <a:rPr lang="en-US" altLang="ja-JP" sz="2400" dirty="0">
                <a:latin typeface="Gill Sans MT" charset="0"/>
              </a:rPr>
              <a:t>(m) ) = m.</a:t>
            </a:r>
          </a:p>
          <a:p>
            <a:pPr marL="277813" indent="-277813">
              <a:lnSpc>
                <a:spcPct val="110000"/>
              </a:lnSpc>
              <a:spcBef>
                <a:spcPct val="20000"/>
              </a:spcBef>
              <a:buClr>
                <a:srgbClr val="000090"/>
              </a:buClr>
              <a:buSzPct val="100000"/>
              <a:buFont typeface="Wingdings" charset="2"/>
              <a:buChar char="§"/>
            </a:pPr>
            <a:r>
              <a:rPr lang="en-US" sz="2400" dirty="0">
                <a:latin typeface="Gill Sans MT" charset="0"/>
              </a:rPr>
              <a:t>If K</a:t>
            </a:r>
            <a:r>
              <a:rPr lang="en-US" sz="2400" baseline="-25000" dirty="0">
                <a:latin typeface="Gill Sans MT" charset="0"/>
              </a:rPr>
              <a:t>B</a:t>
            </a:r>
            <a:r>
              <a:rPr lang="en-US" sz="2400" dirty="0">
                <a:latin typeface="Gill Sans MT" charset="0"/>
              </a:rPr>
              <a:t>(K</a:t>
            </a:r>
            <a:r>
              <a:rPr lang="en-US" sz="2400" baseline="-25000" dirty="0">
                <a:latin typeface="Gill Sans MT" charset="0"/>
              </a:rPr>
              <a:t>B</a:t>
            </a:r>
            <a:r>
              <a:rPr lang="en-US" sz="2400" dirty="0">
                <a:latin typeface="Gill Sans MT" charset="0"/>
              </a:rPr>
              <a:t>(m) ) = m, whoever signed m must have used Brajesh</a:t>
            </a:r>
            <a:r>
              <a:rPr lang="ja-JP" altLang="en-US" sz="2400" dirty="0">
                <a:latin typeface="Gill Sans MT" charset="0"/>
              </a:rPr>
              <a:t>’</a:t>
            </a:r>
            <a:r>
              <a:rPr lang="en-US" altLang="ja-JP" sz="2400" dirty="0">
                <a:latin typeface="Gill Sans MT" charset="0"/>
              </a:rPr>
              <a:t>s private key.</a:t>
            </a:r>
          </a:p>
          <a:p>
            <a:pPr>
              <a:lnSpc>
                <a:spcPct val="120000"/>
              </a:lnSpc>
              <a:spcBef>
                <a:spcPct val="20000"/>
              </a:spcBef>
              <a:buClr>
                <a:srgbClr val="000099"/>
              </a:buClr>
              <a:buSzPct val="70000"/>
              <a:buFont typeface="Wingdings" charset="0"/>
              <a:buChar char="v"/>
            </a:pPr>
            <a:endParaRPr lang="en-US" sz="2400" dirty="0">
              <a:latin typeface="Gill Sans MT" charset="0"/>
            </a:endParaRPr>
          </a:p>
        </p:txBody>
      </p:sp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1703388" y="2433638"/>
            <a:ext cx="736600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sz="1800" dirty="0">
                <a:latin typeface="Arial Unicode MS" charset="0"/>
                <a:cs typeface="Arial Unicode MS" charset="0"/>
              </a:rPr>
              <a:t>-</a:t>
            </a:r>
          </a:p>
        </p:txBody>
      </p:sp>
      <p:sp>
        <p:nvSpPr>
          <p:cNvPr id="19" name="Text Box 7"/>
          <p:cNvSpPr txBox="1">
            <a:spLocks noChangeArrowheads="1"/>
          </p:cNvSpPr>
          <p:nvPr/>
        </p:nvSpPr>
        <p:spPr bwMode="auto">
          <a:xfrm>
            <a:off x="4619625" y="1989138"/>
            <a:ext cx="736600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sz="1800" dirty="0">
                <a:latin typeface="Arial Unicode MS" charset="0"/>
                <a:cs typeface="Arial Unicode MS" charset="0"/>
              </a:rPr>
              <a:t>-</a:t>
            </a:r>
          </a:p>
        </p:txBody>
      </p:sp>
      <p:sp>
        <p:nvSpPr>
          <p:cNvPr id="20" name="Text Box 7"/>
          <p:cNvSpPr txBox="1">
            <a:spLocks noChangeArrowheads="1"/>
          </p:cNvSpPr>
          <p:nvPr/>
        </p:nvSpPr>
        <p:spPr bwMode="auto">
          <a:xfrm>
            <a:off x="1814513" y="1976438"/>
            <a:ext cx="736600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sz="1800" dirty="0">
                <a:latin typeface="Arial Unicode MS" charset="0"/>
                <a:cs typeface="Arial Unicode MS" charset="0"/>
              </a:rPr>
              <a:t>-</a:t>
            </a:r>
          </a:p>
        </p:txBody>
      </p:sp>
      <p:sp>
        <p:nvSpPr>
          <p:cNvPr id="21" name="Text Box 7"/>
          <p:cNvSpPr txBox="1">
            <a:spLocks noChangeArrowheads="1"/>
          </p:cNvSpPr>
          <p:nvPr/>
        </p:nvSpPr>
        <p:spPr bwMode="auto">
          <a:xfrm>
            <a:off x="1295400" y="2466975"/>
            <a:ext cx="736600" cy="415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sz="1800" dirty="0">
                <a:latin typeface="Arial Unicode MS" charset="0"/>
                <a:cs typeface="Arial Unicode MS" charset="0"/>
              </a:rPr>
              <a:t>+</a:t>
            </a:r>
          </a:p>
        </p:txBody>
      </p:sp>
      <p:sp>
        <p:nvSpPr>
          <p:cNvPr id="22" name="Text Box 7"/>
          <p:cNvSpPr txBox="1">
            <a:spLocks noChangeArrowheads="1"/>
          </p:cNvSpPr>
          <p:nvPr/>
        </p:nvSpPr>
        <p:spPr bwMode="auto">
          <a:xfrm>
            <a:off x="1058863" y="1992313"/>
            <a:ext cx="736600" cy="414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sz="1800" dirty="0">
                <a:latin typeface="Arial Unicode MS" charset="0"/>
                <a:cs typeface="Arial Unicode MS" charset="0"/>
              </a:rPr>
              <a:t>+</a:t>
            </a:r>
          </a:p>
        </p:txBody>
      </p:sp>
      <p:sp>
        <p:nvSpPr>
          <p:cNvPr id="23" name="Text Box 7"/>
          <p:cNvSpPr txBox="1">
            <a:spLocks noChangeArrowheads="1"/>
          </p:cNvSpPr>
          <p:nvPr/>
        </p:nvSpPr>
        <p:spPr bwMode="auto">
          <a:xfrm>
            <a:off x="4197350" y="2006600"/>
            <a:ext cx="736600" cy="415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sz="1800" dirty="0">
                <a:latin typeface="Arial Unicode MS" charset="0"/>
                <a:cs typeface="Arial Unicode MS" charset="0"/>
              </a:rPr>
              <a:t>+</a:t>
            </a:r>
          </a:p>
        </p:txBody>
      </p:sp>
      <p:sp>
        <p:nvSpPr>
          <p:cNvPr id="15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43</a:t>
            </a:fld>
            <a:endParaRPr lang="en-US" sz="1200" dirty="0">
              <a:latin typeface="Tahoma" charset="0"/>
            </a:endParaRPr>
          </a:p>
        </p:txBody>
      </p:sp>
      <p:sp>
        <p:nvSpPr>
          <p:cNvPr id="16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69202863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ill Sans MT" charset="0"/>
              </a:rPr>
              <a:t>Message digests</a:t>
            </a:r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11188" y="1739900"/>
            <a:ext cx="3916362" cy="3282950"/>
          </a:xfrm>
        </p:spPr>
        <p:txBody>
          <a:bodyPr/>
          <a:lstStyle/>
          <a:p>
            <a:pPr marL="0" indent="0">
              <a:buFont typeface="Wingdings" charset="0"/>
              <a:buNone/>
            </a:pPr>
            <a:r>
              <a:rPr lang="en-US" dirty="0">
                <a:latin typeface="Gill Sans MT" charset="0"/>
              </a:rPr>
              <a:t>computationally expensive to public-key-encrypt long messages </a:t>
            </a:r>
          </a:p>
          <a:p>
            <a:pPr marL="0" indent="0">
              <a:buFont typeface="Wingdings" charset="0"/>
              <a:buNone/>
            </a:pPr>
            <a:r>
              <a:rPr lang="en-US" sz="3200" i="1" dirty="0">
                <a:solidFill>
                  <a:srgbClr val="C00000"/>
                </a:solidFill>
                <a:latin typeface="Gill Sans MT" charset="0"/>
              </a:rPr>
              <a:t>goal: </a:t>
            </a:r>
            <a:r>
              <a:rPr lang="en-US" dirty="0">
                <a:latin typeface="Gill Sans MT" charset="0"/>
              </a:rPr>
              <a:t>fixed-length, easy- to-compute digital </a:t>
            </a:r>
            <a:r>
              <a:rPr lang="ja-JP" altLang="en-US" dirty="0">
                <a:latin typeface="Gill Sans MT" charset="0"/>
              </a:rPr>
              <a:t>“</a:t>
            </a:r>
            <a:r>
              <a:rPr lang="en-US" altLang="ja-JP" dirty="0">
                <a:latin typeface="Gill Sans MT" charset="0"/>
              </a:rPr>
              <a:t>fingerprint</a:t>
            </a:r>
            <a:r>
              <a:rPr lang="ja-JP" altLang="en-US" dirty="0">
                <a:latin typeface="Gill Sans MT" charset="0"/>
              </a:rPr>
              <a:t>”</a:t>
            </a:r>
            <a:endParaRPr lang="en-US" altLang="ja-JP" dirty="0">
              <a:latin typeface="Gill Sans MT" charset="0"/>
            </a:endParaRPr>
          </a:p>
          <a:p>
            <a:r>
              <a:rPr lang="en-US" sz="2400" dirty="0">
                <a:latin typeface="Gill Sans MT" charset="0"/>
              </a:rPr>
              <a:t>apply hash function H to </a:t>
            </a:r>
            <a:r>
              <a:rPr lang="en-US" sz="2400" i="1" dirty="0">
                <a:latin typeface="Gill Sans MT" charset="0"/>
              </a:rPr>
              <a:t>m</a:t>
            </a:r>
            <a:r>
              <a:rPr lang="en-US" sz="2400" dirty="0">
                <a:latin typeface="Gill Sans MT" charset="0"/>
              </a:rPr>
              <a:t>, get fixed size message digest, </a:t>
            </a:r>
            <a:r>
              <a:rPr lang="en-US" sz="2400" i="1" dirty="0">
                <a:latin typeface="Gill Sans MT" charset="0"/>
              </a:rPr>
              <a:t>H(m).</a:t>
            </a:r>
            <a:endParaRPr lang="en-US" sz="2000" dirty="0">
              <a:latin typeface="Gill Sans MT" charset="0"/>
            </a:endParaRPr>
          </a:p>
          <a:p>
            <a:endParaRPr lang="en-US" sz="2000" dirty="0">
              <a:latin typeface="Gill Sans MT" charset="0"/>
            </a:endParaRPr>
          </a:p>
          <a:p>
            <a:endParaRPr lang="en-US" sz="2400" dirty="0">
              <a:latin typeface="Gill Sans MT" charset="0"/>
            </a:endParaRPr>
          </a:p>
        </p:txBody>
      </p:sp>
      <p:sp>
        <p:nvSpPr>
          <p:cNvPr id="77828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756150" y="2965450"/>
            <a:ext cx="4044950" cy="3465513"/>
          </a:xfrm>
        </p:spPr>
        <p:txBody>
          <a:bodyPr/>
          <a:lstStyle/>
          <a:p>
            <a:pPr>
              <a:buFont typeface="Wingdings" charset="0"/>
              <a:buNone/>
            </a:pPr>
            <a:r>
              <a:rPr lang="en-US" sz="2400" dirty="0">
                <a:solidFill>
                  <a:srgbClr val="C00000"/>
                </a:solidFill>
                <a:latin typeface="Gill Sans MT" charset="0"/>
              </a:rPr>
              <a:t>Hash function properties:</a:t>
            </a:r>
          </a:p>
          <a:p>
            <a:pPr marL="277813" indent="-277813"/>
            <a:r>
              <a:rPr lang="en-US" sz="2400" dirty="0">
                <a:latin typeface="Gill Sans MT" charset="0"/>
              </a:rPr>
              <a:t>many-to-1</a:t>
            </a:r>
          </a:p>
          <a:p>
            <a:pPr marL="277813" indent="-277813"/>
            <a:r>
              <a:rPr lang="en-US" sz="2400" dirty="0">
                <a:latin typeface="Gill Sans MT" charset="0"/>
              </a:rPr>
              <a:t>produces fixed-size msg digest (fingerprint)</a:t>
            </a:r>
          </a:p>
          <a:p>
            <a:pPr marL="277813" indent="-277813"/>
            <a:r>
              <a:rPr lang="en-US" sz="2400" dirty="0">
                <a:latin typeface="Gill Sans MT" charset="0"/>
              </a:rPr>
              <a:t>given message digest x, computationally infeasible to find m such that x = H(m)</a:t>
            </a:r>
          </a:p>
          <a:p>
            <a:pPr>
              <a:buFont typeface="Wingdings" charset="0"/>
              <a:buNone/>
            </a:pPr>
            <a:endParaRPr lang="en-US" sz="2400" dirty="0">
              <a:latin typeface="Gill Sans MT" charset="0"/>
            </a:endParaRPr>
          </a:p>
          <a:p>
            <a:pPr>
              <a:buFont typeface="Wingdings" charset="0"/>
              <a:buNone/>
            </a:pPr>
            <a:endParaRPr lang="en-US" sz="2000" dirty="0">
              <a:latin typeface="Gill Sans MT" charset="0"/>
            </a:endParaRPr>
          </a:p>
        </p:txBody>
      </p:sp>
      <p:sp>
        <p:nvSpPr>
          <p:cNvPr id="48134" name="Rectangle 5"/>
          <p:cNvSpPr>
            <a:spLocks noChangeArrowheads="1"/>
          </p:cNvSpPr>
          <p:nvPr/>
        </p:nvSpPr>
        <p:spPr bwMode="auto">
          <a:xfrm>
            <a:off x="6846888" y="2305050"/>
            <a:ext cx="804862" cy="4222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solidFill>
                <a:srgbClr val="C00000"/>
              </a:solidFill>
              <a:latin typeface="Arial" charset="0"/>
              <a:cs typeface="Arial" charset="0"/>
            </a:endParaRPr>
          </a:p>
        </p:txBody>
      </p:sp>
      <p:sp>
        <p:nvSpPr>
          <p:cNvPr id="48135" name="Rectangle 6"/>
          <p:cNvSpPr>
            <a:spLocks noChangeArrowheads="1"/>
          </p:cNvSpPr>
          <p:nvPr/>
        </p:nvSpPr>
        <p:spPr bwMode="auto">
          <a:xfrm>
            <a:off x="4878388" y="850900"/>
            <a:ext cx="1355725" cy="9445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48136" name="Text Box 7"/>
          <p:cNvSpPr txBox="1">
            <a:spLocks noChangeArrowheads="1"/>
          </p:cNvSpPr>
          <p:nvPr/>
        </p:nvSpPr>
        <p:spPr bwMode="auto">
          <a:xfrm>
            <a:off x="4873625" y="839788"/>
            <a:ext cx="1343025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dirty="0">
                <a:solidFill>
                  <a:srgbClr val="C00000"/>
                </a:solidFill>
                <a:latin typeface="Arial" charset="0"/>
                <a:cs typeface="Arial" charset="0"/>
              </a:rPr>
              <a:t>large </a:t>
            </a:r>
          </a:p>
          <a:p>
            <a:pPr algn="ctr">
              <a:defRPr/>
            </a:pPr>
            <a:r>
              <a:rPr lang="en-US" dirty="0">
                <a:solidFill>
                  <a:srgbClr val="C00000"/>
                </a:solidFill>
                <a:latin typeface="Arial" charset="0"/>
                <a:cs typeface="Arial" charset="0"/>
              </a:rPr>
              <a:t>message</a:t>
            </a:r>
          </a:p>
          <a:p>
            <a:pPr algn="ctr">
              <a:defRPr/>
            </a:pPr>
            <a:r>
              <a:rPr lang="en-US" dirty="0">
                <a:solidFill>
                  <a:srgbClr val="C00000"/>
                </a:solidFill>
                <a:latin typeface="Arial" charset="0"/>
                <a:cs typeface="Arial" charset="0"/>
              </a:rPr>
              <a:t>m</a:t>
            </a:r>
          </a:p>
        </p:txBody>
      </p:sp>
      <p:sp>
        <p:nvSpPr>
          <p:cNvPr id="77832" name="Rectangle 8"/>
          <p:cNvSpPr>
            <a:spLocks noChangeArrowheads="1"/>
          </p:cNvSpPr>
          <p:nvPr/>
        </p:nvSpPr>
        <p:spPr bwMode="auto">
          <a:xfrm>
            <a:off x="6732588" y="966788"/>
            <a:ext cx="1108075" cy="758825"/>
          </a:xfrm>
          <a:prstGeom prst="rect">
            <a:avLst/>
          </a:prstGeom>
          <a:solidFill>
            <a:srgbClr val="008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48138" name="Text Box 9"/>
          <p:cNvSpPr txBox="1">
            <a:spLocks noChangeArrowheads="1"/>
          </p:cNvSpPr>
          <p:nvPr/>
        </p:nvSpPr>
        <p:spPr bwMode="auto">
          <a:xfrm>
            <a:off x="6692900" y="962025"/>
            <a:ext cx="119062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dirty="0">
                <a:solidFill>
                  <a:schemeClr val="bg1"/>
                </a:solidFill>
                <a:latin typeface="Arial" charset="0"/>
                <a:cs typeface="Arial" charset="0"/>
              </a:rPr>
              <a:t>H: Hash</a:t>
            </a:r>
          </a:p>
          <a:p>
            <a:pPr algn="ctr">
              <a:defRPr/>
            </a:pPr>
            <a:r>
              <a:rPr lang="en-US" dirty="0">
                <a:solidFill>
                  <a:schemeClr val="bg1"/>
                </a:solidFill>
                <a:latin typeface="Arial" charset="0"/>
                <a:cs typeface="Arial" charset="0"/>
              </a:rPr>
              <a:t>Function</a:t>
            </a:r>
          </a:p>
        </p:txBody>
      </p:sp>
      <p:sp>
        <p:nvSpPr>
          <p:cNvPr id="48139" name="Line 10"/>
          <p:cNvSpPr>
            <a:spLocks noChangeShapeType="1"/>
          </p:cNvSpPr>
          <p:nvPr/>
        </p:nvSpPr>
        <p:spPr bwMode="auto">
          <a:xfrm>
            <a:off x="6238875" y="1320800"/>
            <a:ext cx="50641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8140" name="Text Box 11"/>
          <p:cNvSpPr txBox="1">
            <a:spLocks noChangeArrowheads="1"/>
          </p:cNvSpPr>
          <p:nvPr/>
        </p:nvSpPr>
        <p:spPr bwMode="auto">
          <a:xfrm>
            <a:off x="6797675" y="2328863"/>
            <a:ext cx="8937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dirty="0">
                <a:solidFill>
                  <a:srgbClr val="C00000"/>
                </a:solidFill>
                <a:latin typeface="Arial" charset="0"/>
                <a:cs typeface="Arial" charset="0"/>
              </a:rPr>
              <a:t>H(m)</a:t>
            </a:r>
          </a:p>
        </p:txBody>
      </p:sp>
      <p:sp>
        <p:nvSpPr>
          <p:cNvPr id="48141" name="Line 12"/>
          <p:cNvSpPr>
            <a:spLocks noChangeShapeType="1"/>
          </p:cNvSpPr>
          <p:nvPr/>
        </p:nvSpPr>
        <p:spPr bwMode="auto">
          <a:xfrm>
            <a:off x="7164388" y="1739900"/>
            <a:ext cx="0" cy="5492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pic>
        <p:nvPicPr>
          <p:cNvPr id="77837" name="Picture 24" descr="underline_base"/>
          <p:cNvPicPr>
            <a:picLocks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375" y="1076325"/>
            <a:ext cx="36560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44</a:t>
            </a:fld>
            <a:endParaRPr lang="en-US" sz="1200" dirty="0">
              <a:latin typeface="Tahoma" charset="0"/>
            </a:endParaRPr>
          </a:p>
        </p:txBody>
      </p:sp>
      <p:sp>
        <p:nvSpPr>
          <p:cNvPr id="16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271283285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>
          <a:xfrm>
            <a:off x="315913" y="276225"/>
            <a:ext cx="8120062" cy="844550"/>
          </a:xfrm>
        </p:spPr>
        <p:txBody>
          <a:bodyPr/>
          <a:lstStyle/>
          <a:p>
            <a:r>
              <a:rPr lang="en-US" sz="3200" dirty="0">
                <a:latin typeface="Gill Sans MT" charset="0"/>
              </a:rPr>
              <a:t>Internet checksum: poor crypto hash function</a:t>
            </a:r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7675" y="1360488"/>
            <a:ext cx="8424863" cy="2122487"/>
          </a:xfrm>
        </p:spPr>
        <p:txBody>
          <a:bodyPr/>
          <a:lstStyle/>
          <a:p>
            <a:pPr>
              <a:buFont typeface="Wingdings" charset="0"/>
              <a:buNone/>
            </a:pPr>
            <a:r>
              <a:rPr lang="en-US" sz="2400" dirty="0">
                <a:latin typeface="Gill Sans MT" charset="0"/>
              </a:rPr>
              <a:t>Internet checksum has some properties of hash function:</a:t>
            </a:r>
          </a:p>
          <a:p>
            <a:pPr indent="-223838"/>
            <a:r>
              <a:rPr lang="en-US" sz="2400" dirty="0">
                <a:latin typeface="Gill Sans MT" charset="0"/>
              </a:rPr>
              <a:t>produces fixed length digest (16-bit sum) of message</a:t>
            </a:r>
          </a:p>
          <a:p>
            <a:pPr indent="-223838"/>
            <a:r>
              <a:rPr lang="en-US" sz="2400" dirty="0">
                <a:latin typeface="Gill Sans MT" charset="0"/>
              </a:rPr>
              <a:t>is many-to-one</a:t>
            </a:r>
          </a:p>
        </p:txBody>
      </p:sp>
      <p:sp>
        <p:nvSpPr>
          <p:cNvPr id="49157" name="Rectangle 4"/>
          <p:cNvSpPr>
            <a:spLocks noChangeArrowheads="1"/>
          </p:cNvSpPr>
          <p:nvPr/>
        </p:nvSpPr>
        <p:spPr bwMode="auto">
          <a:xfrm>
            <a:off x="417513" y="2809875"/>
            <a:ext cx="8424862" cy="976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000099"/>
              </a:buClr>
              <a:buSzPct val="75000"/>
              <a:buFont typeface="Wingdings" charset="0"/>
              <a:buNone/>
              <a:defRPr/>
            </a:pPr>
            <a:r>
              <a:rPr lang="en-US" sz="2400" dirty="0">
                <a:latin typeface="Gill Sans MT" charset="0"/>
                <a:cs typeface="+mn-cs"/>
              </a:rPr>
              <a:t>But given message with given hash value, it is easy to find another message with same hash value: </a:t>
            </a:r>
          </a:p>
        </p:txBody>
      </p:sp>
      <p:sp>
        <p:nvSpPr>
          <p:cNvPr id="49158" name="Text Box 5"/>
          <p:cNvSpPr txBox="1">
            <a:spLocks noChangeArrowheads="1"/>
          </p:cNvSpPr>
          <p:nvPr/>
        </p:nvSpPr>
        <p:spPr bwMode="auto">
          <a:xfrm>
            <a:off x="514350" y="4238625"/>
            <a:ext cx="1109663" cy="101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b="1" dirty="0">
                <a:latin typeface="Arial" charset="0"/>
                <a:cs typeface="Arial" charset="0"/>
              </a:rPr>
              <a:t>I O U 1</a:t>
            </a:r>
          </a:p>
          <a:p>
            <a:pPr algn="ctr">
              <a:defRPr/>
            </a:pPr>
            <a:r>
              <a:rPr lang="en-US" b="1" dirty="0">
                <a:latin typeface="Arial" charset="0"/>
                <a:cs typeface="Arial" charset="0"/>
              </a:rPr>
              <a:t>0 0 . 9</a:t>
            </a:r>
          </a:p>
          <a:p>
            <a:pPr algn="ctr">
              <a:defRPr/>
            </a:pPr>
            <a:r>
              <a:rPr lang="en-US" b="1" dirty="0">
                <a:latin typeface="Arial" charset="0"/>
                <a:cs typeface="Arial" charset="0"/>
              </a:rPr>
              <a:t>9 B O B</a:t>
            </a:r>
          </a:p>
        </p:txBody>
      </p:sp>
      <p:sp>
        <p:nvSpPr>
          <p:cNvPr id="49159" name="Text Box 6"/>
          <p:cNvSpPr txBox="1">
            <a:spLocks noChangeArrowheads="1"/>
          </p:cNvSpPr>
          <p:nvPr/>
        </p:nvSpPr>
        <p:spPr bwMode="auto">
          <a:xfrm>
            <a:off x="1920875" y="4238625"/>
            <a:ext cx="1581150" cy="101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b="1" dirty="0">
                <a:latin typeface="Arial" charset="0"/>
                <a:cs typeface="Arial" charset="0"/>
              </a:rPr>
              <a:t>49 4F 55 31</a:t>
            </a:r>
          </a:p>
          <a:p>
            <a:pPr algn="ctr">
              <a:defRPr/>
            </a:pPr>
            <a:r>
              <a:rPr lang="en-US" b="1" dirty="0">
                <a:latin typeface="Arial" charset="0"/>
                <a:cs typeface="Arial" charset="0"/>
              </a:rPr>
              <a:t>30 30 2E 39</a:t>
            </a:r>
          </a:p>
          <a:p>
            <a:pPr algn="ctr">
              <a:defRPr/>
            </a:pPr>
            <a:r>
              <a:rPr lang="en-US" b="1" dirty="0">
                <a:latin typeface="Arial" charset="0"/>
                <a:cs typeface="Arial" charset="0"/>
              </a:rPr>
              <a:t>39 42 D2 42</a:t>
            </a:r>
          </a:p>
        </p:txBody>
      </p:sp>
      <p:sp>
        <p:nvSpPr>
          <p:cNvPr id="49160" name="Text Box 7"/>
          <p:cNvSpPr txBox="1">
            <a:spLocks noChangeArrowheads="1"/>
          </p:cNvSpPr>
          <p:nvPr/>
        </p:nvSpPr>
        <p:spPr bwMode="auto">
          <a:xfrm>
            <a:off x="431800" y="3879850"/>
            <a:ext cx="1223963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u="sng" dirty="0">
                <a:latin typeface="Arial" charset="0"/>
                <a:cs typeface="Arial" charset="0"/>
              </a:rPr>
              <a:t>message</a:t>
            </a:r>
          </a:p>
        </p:txBody>
      </p:sp>
      <p:sp>
        <p:nvSpPr>
          <p:cNvPr id="49161" name="Text Box 8"/>
          <p:cNvSpPr txBox="1">
            <a:spLocks noChangeArrowheads="1"/>
          </p:cNvSpPr>
          <p:nvPr/>
        </p:nvSpPr>
        <p:spPr bwMode="auto">
          <a:xfrm>
            <a:off x="1920875" y="3875088"/>
            <a:ext cx="1649413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u="sng" dirty="0">
                <a:latin typeface="Arial" charset="0"/>
                <a:cs typeface="Arial" charset="0"/>
              </a:rPr>
              <a:t>ASCII format</a:t>
            </a:r>
          </a:p>
        </p:txBody>
      </p:sp>
      <p:sp>
        <p:nvSpPr>
          <p:cNvPr id="49162" name="Line 9"/>
          <p:cNvSpPr>
            <a:spLocks noChangeShapeType="1"/>
          </p:cNvSpPr>
          <p:nvPr/>
        </p:nvSpPr>
        <p:spPr bwMode="auto">
          <a:xfrm>
            <a:off x="1901825" y="5257800"/>
            <a:ext cx="16033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9163" name="Text Box 10"/>
          <p:cNvSpPr txBox="1">
            <a:spLocks noChangeArrowheads="1"/>
          </p:cNvSpPr>
          <p:nvPr/>
        </p:nvSpPr>
        <p:spPr bwMode="auto">
          <a:xfrm>
            <a:off x="1852613" y="5291138"/>
            <a:ext cx="1744662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b="1" dirty="0">
                <a:latin typeface="Arial" charset="0"/>
                <a:cs typeface="Arial" charset="0"/>
              </a:rPr>
              <a:t>B2 C1 D2 AC</a:t>
            </a:r>
          </a:p>
        </p:txBody>
      </p:sp>
      <p:sp>
        <p:nvSpPr>
          <p:cNvPr id="49164" name="Text Box 11"/>
          <p:cNvSpPr txBox="1">
            <a:spLocks noChangeArrowheads="1"/>
          </p:cNvSpPr>
          <p:nvPr/>
        </p:nvSpPr>
        <p:spPr bwMode="auto">
          <a:xfrm>
            <a:off x="5535613" y="4222750"/>
            <a:ext cx="1109662" cy="101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b="1" dirty="0">
                <a:latin typeface="Arial" charset="0"/>
                <a:cs typeface="Arial" charset="0"/>
              </a:rPr>
              <a:t>I O U </a:t>
            </a:r>
            <a:r>
              <a:rPr lang="en-US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9</a:t>
            </a:r>
          </a:p>
          <a:p>
            <a:pPr algn="ctr">
              <a:defRPr/>
            </a:pPr>
            <a:r>
              <a:rPr lang="en-US" b="1" dirty="0">
                <a:latin typeface="Arial" charset="0"/>
                <a:cs typeface="Arial" charset="0"/>
              </a:rPr>
              <a:t>0 0 . </a:t>
            </a:r>
            <a:r>
              <a:rPr lang="en-US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1</a:t>
            </a:r>
          </a:p>
          <a:p>
            <a:pPr algn="ctr">
              <a:defRPr/>
            </a:pPr>
            <a:r>
              <a:rPr lang="en-US" b="1" dirty="0">
                <a:latin typeface="Arial" charset="0"/>
                <a:cs typeface="Arial" charset="0"/>
              </a:rPr>
              <a:t>9 B O B</a:t>
            </a:r>
          </a:p>
        </p:txBody>
      </p:sp>
      <p:sp>
        <p:nvSpPr>
          <p:cNvPr id="49165" name="Text Box 12"/>
          <p:cNvSpPr txBox="1">
            <a:spLocks noChangeArrowheads="1"/>
          </p:cNvSpPr>
          <p:nvPr/>
        </p:nvSpPr>
        <p:spPr bwMode="auto">
          <a:xfrm>
            <a:off x="6942138" y="4222750"/>
            <a:ext cx="1581150" cy="101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b="1" dirty="0">
                <a:latin typeface="Arial" charset="0"/>
                <a:cs typeface="Arial" charset="0"/>
              </a:rPr>
              <a:t>49 4F 55 </a:t>
            </a:r>
            <a:r>
              <a:rPr lang="en-US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39</a:t>
            </a:r>
          </a:p>
          <a:p>
            <a:pPr algn="ctr">
              <a:defRPr/>
            </a:pPr>
            <a:r>
              <a:rPr lang="en-US" b="1" dirty="0">
                <a:latin typeface="Arial" charset="0"/>
                <a:cs typeface="Arial" charset="0"/>
              </a:rPr>
              <a:t>30 30 2E </a:t>
            </a:r>
            <a:r>
              <a:rPr lang="en-US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31</a:t>
            </a:r>
          </a:p>
          <a:p>
            <a:pPr algn="ctr">
              <a:defRPr/>
            </a:pPr>
            <a:r>
              <a:rPr lang="en-US" b="1" dirty="0">
                <a:latin typeface="Arial" charset="0"/>
                <a:cs typeface="Arial" charset="0"/>
              </a:rPr>
              <a:t>39 42 D2 42</a:t>
            </a:r>
          </a:p>
        </p:txBody>
      </p:sp>
      <p:sp>
        <p:nvSpPr>
          <p:cNvPr id="49166" name="Text Box 13"/>
          <p:cNvSpPr txBox="1">
            <a:spLocks noChangeArrowheads="1"/>
          </p:cNvSpPr>
          <p:nvPr/>
        </p:nvSpPr>
        <p:spPr bwMode="auto">
          <a:xfrm>
            <a:off x="5453063" y="3863975"/>
            <a:ext cx="1223962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u="sng" dirty="0">
                <a:latin typeface="Arial" charset="0"/>
                <a:cs typeface="Arial" charset="0"/>
              </a:rPr>
              <a:t>message</a:t>
            </a:r>
          </a:p>
        </p:txBody>
      </p:sp>
      <p:sp>
        <p:nvSpPr>
          <p:cNvPr id="49167" name="Text Box 14"/>
          <p:cNvSpPr txBox="1">
            <a:spLocks noChangeArrowheads="1"/>
          </p:cNvSpPr>
          <p:nvPr/>
        </p:nvSpPr>
        <p:spPr bwMode="auto">
          <a:xfrm>
            <a:off x="6942138" y="3859213"/>
            <a:ext cx="1649412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u="sng" dirty="0">
                <a:latin typeface="Arial" charset="0"/>
                <a:cs typeface="Arial" charset="0"/>
              </a:rPr>
              <a:t>ASCII format</a:t>
            </a:r>
          </a:p>
        </p:txBody>
      </p:sp>
      <p:sp>
        <p:nvSpPr>
          <p:cNvPr id="49168" name="Line 15"/>
          <p:cNvSpPr>
            <a:spLocks noChangeShapeType="1"/>
          </p:cNvSpPr>
          <p:nvPr/>
        </p:nvSpPr>
        <p:spPr bwMode="auto">
          <a:xfrm>
            <a:off x="6923088" y="5241925"/>
            <a:ext cx="16033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9169" name="Text Box 16"/>
          <p:cNvSpPr txBox="1">
            <a:spLocks noChangeArrowheads="1"/>
          </p:cNvSpPr>
          <p:nvPr/>
        </p:nvSpPr>
        <p:spPr bwMode="auto">
          <a:xfrm>
            <a:off x="6873875" y="5275263"/>
            <a:ext cx="1744663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b="1" dirty="0">
                <a:latin typeface="Arial" charset="0"/>
                <a:cs typeface="Arial" charset="0"/>
              </a:rPr>
              <a:t>B2 C1 D2 AC</a:t>
            </a:r>
          </a:p>
        </p:txBody>
      </p:sp>
      <p:sp>
        <p:nvSpPr>
          <p:cNvPr id="49170" name="Text Box 17"/>
          <p:cNvSpPr txBox="1">
            <a:spLocks noChangeArrowheads="1"/>
          </p:cNvSpPr>
          <p:nvPr/>
        </p:nvSpPr>
        <p:spPr bwMode="auto">
          <a:xfrm>
            <a:off x="3740150" y="5349875"/>
            <a:ext cx="30718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dirty="0">
                <a:solidFill>
                  <a:srgbClr val="000099"/>
                </a:solidFill>
                <a:latin typeface="Arial" charset="0"/>
                <a:cs typeface="Arial" charset="0"/>
              </a:rPr>
              <a:t>different messages</a:t>
            </a:r>
          </a:p>
          <a:p>
            <a:pPr algn="ctr">
              <a:defRPr/>
            </a:pPr>
            <a:r>
              <a:rPr lang="en-US" dirty="0">
                <a:solidFill>
                  <a:srgbClr val="000099"/>
                </a:solidFill>
                <a:latin typeface="Arial" charset="0"/>
                <a:cs typeface="Arial" charset="0"/>
              </a:rPr>
              <a:t>but identical checksums</a:t>
            </a:r>
            <a:r>
              <a:rPr lang="en-US" dirty="0">
                <a:solidFill>
                  <a:schemeClr val="accent2"/>
                </a:solidFill>
                <a:latin typeface="Arial" charset="0"/>
                <a:cs typeface="Arial" charset="0"/>
              </a:rPr>
              <a:t>!</a:t>
            </a:r>
          </a:p>
        </p:txBody>
      </p:sp>
      <p:sp>
        <p:nvSpPr>
          <p:cNvPr id="49171" name="Line 18"/>
          <p:cNvSpPr>
            <a:spLocks noChangeShapeType="1"/>
          </p:cNvSpPr>
          <p:nvPr/>
        </p:nvSpPr>
        <p:spPr bwMode="auto">
          <a:xfrm flipH="1" flipV="1">
            <a:off x="3589338" y="5483225"/>
            <a:ext cx="381000" cy="84138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9172" name="Line 19"/>
          <p:cNvSpPr>
            <a:spLocks noChangeShapeType="1"/>
          </p:cNvSpPr>
          <p:nvPr/>
        </p:nvSpPr>
        <p:spPr bwMode="auto">
          <a:xfrm flipV="1">
            <a:off x="6499225" y="5467350"/>
            <a:ext cx="381000" cy="84138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pic>
        <p:nvPicPr>
          <p:cNvPr id="78868" name="Picture 15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909638"/>
            <a:ext cx="7769225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45</a:t>
            </a:fld>
            <a:endParaRPr lang="en-US" sz="1200" dirty="0">
              <a:latin typeface="Tahoma" charset="0"/>
            </a:endParaRPr>
          </a:p>
        </p:txBody>
      </p:sp>
      <p:sp>
        <p:nvSpPr>
          <p:cNvPr id="23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283330487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Rectangle 2"/>
          <p:cNvSpPr>
            <a:spLocks noChangeArrowheads="1"/>
          </p:cNvSpPr>
          <p:nvPr/>
        </p:nvSpPr>
        <p:spPr bwMode="auto">
          <a:xfrm>
            <a:off x="3652838" y="2405063"/>
            <a:ext cx="762000" cy="40798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solidFill>
                <a:srgbClr val="C00000"/>
              </a:solidFill>
              <a:latin typeface="Arial" charset="0"/>
              <a:cs typeface="Arial" charset="0"/>
            </a:endParaRPr>
          </a:p>
        </p:txBody>
      </p:sp>
      <p:grpSp>
        <p:nvGrpSpPr>
          <p:cNvPr id="79875" name="Group 3"/>
          <p:cNvGrpSpPr>
            <a:grpSpLocks/>
          </p:cNvGrpSpPr>
          <p:nvPr/>
        </p:nvGrpSpPr>
        <p:grpSpPr bwMode="auto">
          <a:xfrm>
            <a:off x="598488" y="2076450"/>
            <a:ext cx="1343025" cy="841375"/>
            <a:chOff x="403" y="1308"/>
            <a:chExt cx="846" cy="530"/>
          </a:xfrm>
        </p:grpSpPr>
        <p:sp>
          <p:nvSpPr>
            <p:cNvPr id="50256" name="Rectangle 4"/>
            <p:cNvSpPr>
              <a:spLocks noChangeArrowheads="1"/>
            </p:cNvSpPr>
            <p:nvPr/>
          </p:nvSpPr>
          <p:spPr bwMode="auto">
            <a:xfrm>
              <a:off x="477" y="1308"/>
              <a:ext cx="685" cy="4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C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50257" name="Text Box 5"/>
            <p:cNvSpPr txBox="1">
              <a:spLocks noChangeArrowheads="1"/>
            </p:cNvSpPr>
            <p:nvPr/>
          </p:nvSpPr>
          <p:spPr bwMode="auto">
            <a:xfrm>
              <a:off x="403" y="1318"/>
              <a:ext cx="846" cy="5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ct val="80000"/>
                </a:lnSpc>
                <a:defRPr/>
              </a:pPr>
              <a:r>
                <a:rPr lang="en-US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large </a:t>
              </a:r>
            </a:p>
            <a:p>
              <a:pPr algn="ctr">
                <a:lnSpc>
                  <a:spcPct val="80000"/>
                </a:lnSpc>
                <a:defRPr/>
              </a:pPr>
              <a:r>
                <a:rPr lang="en-US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message</a:t>
              </a:r>
            </a:p>
            <a:p>
              <a:pPr algn="ctr">
                <a:lnSpc>
                  <a:spcPct val="80000"/>
                </a:lnSpc>
                <a:defRPr/>
              </a:pPr>
              <a:r>
                <a:rPr lang="en-US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m</a:t>
              </a:r>
            </a:p>
          </p:txBody>
        </p:sp>
      </p:grpSp>
      <p:grpSp>
        <p:nvGrpSpPr>
          <p:cNvPr id="50181" name="Group 6"/>
          <p:cNvGrpSpPr>
            <a:grpSpLocks/>
          </p:cNvGrpSpPr>
          <p:nvPr/>
        </p:nvGrpSpPr>
        <p:grpSpPr bwMode="auto">
          <a:xfrm>
            <a:off x="2235200" y="2189069"/>
            <a:ext cx="1017588" cy="650875"/>
            <a:chOff x="1391" y="982"/>
            <a:chExt cx="641" cy="410"/>
          </a:xfrm>
          <a:solidFill>
            <a:srgbClr val="008000"/>
          </a:solidFill>
        </p:grpSpPr>
        <p:sp>
          <p:nvSpPr>
            <p:cNvPr id="50254" name="Rectangle 7"/>
            <p:cNvSpPr>
              <a:spLocks noChangeArrowheads="1"/>
            </p:cNvSpPr>
            <p:nvPr/>
          </p:nvSpPr>
          <p:spPr bwMode="auto">
            <a:xfrm>
              <a:off x="1397" y="982"/>
              <a:ext cx="619" cy="39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50255" name="Text Box 8"/>
            <p:cNvSpPr txBox="1">
              <a:spLocks noChangeArrowheads="1"/>
            </p:cNvSpPr>
            <p:nvPr/>
          </p:nvSpPr>
          <p:spPr bwMode="auto">
            <a:xfrm>
              <a:off x="1391" y="985"/>
              <a:ext cx="641" cy="407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800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H: Hash</a:t>
              </a:r>
            </a:p>
            <a:p>
              <a:pPr algn="ctr">
                <a:defRPr/>
              </a:pPr>
              <a:r>
                <a:rPr lang="en-US" sz="1800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function</a:t>
              </a:r>
            </a:p>
          </p:txBody>
        </p:sp>
      </p:grpSp>
      <p:sp>
        <p:nvSpPr>
          <p:cNvPr id="50182" name="Line 9"/>
          <p:cNvSpPr>
            <a:spLocks noChangeShapeType="1"/>
          </p:cNvSpPr>
          <p:nvPr/>
        </p:nvSpPr>
        <p:spPr bwMode="auto">
          <a:xfrm>
            <a:off x="1765300" y="2546350"/>
            <a:ext cx="50641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50183" name="Text Box 10"/>
          <p:cNvSpPr txBox="1">
            <a:spLocks noChangeArrowheads="1"/>
          </p:cNvSpPr>
          <p:nvPr/>
        </p:nvSpPr>
        <p:spPr bwMode="auto">
          <a:xfrm>
            <a:off x="3603625" y="2428875"/>
            <a:ext cx="8461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dirty="0">
                <a:solidFill>
                  <a:srgbClr val="C00000"/>
                </a:solidFill>
                <a:latin typeface="Arial" charset="0"/>
                <a:cs typeface="Arial" charset="0"/>
              </a:rPr>
              <a:t>H(m)</a:t>
            </a:r>
          </a:p>
        </p:txBody>
      </p:sp>
      <p:sp>
        <p:nvSpPr>
          <p:cNvPr id="50184" name="Line 11"/>
          <p:cNvSpPr>
            <a:spLocks noChangeShapeType="1"/>
          </p:cNvSpPr>
          <p:nvPr/>
        </p:nvSpPr>
        <p:spPr bwMode="auto">
          <a:xfrm>
            <a:off x="3789363" y="2840038"/>
            <a:ext cx="1587" cy="32861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50185" name="Line 12"/>
          <p:cNvSpPr>
            <a:spLocks noChangeShapeType="1"/>
          </p:cNvSpPr>
          <p:nvPr/>
        </p:nvSpPr>
        <p:spPr bwMode="auto">
          <a:xfrm>
            <a:off x="3154363" y="2560638"/>
            <a:ext cx="50641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50186" name="Group 13"/>
          <p:cNvGrpSpPr>
            <a:grpSpLocks/>
          </p:cNvGrpSpPr>
          <p:nvPr/>
        </p:nvGrpSpPr>
        <p:grpSpPr bwMode="auto">
          <a:xfrm>
            <a:off x="3222625" y="3171825"/>
            <a:ext cx="1192213" cy="955675"/>
            <a:chOff x="1126" y="2124"/>
            <a:chExt cx="751" cy="602"/>
          </a:xfrm>
          <a:solidFill>
            <a:srgbClr val="008000"/>
          </a:solidFill>
        </p:grpSpPr>
        <p:sp>
          <p:nvSpPr>
            <p:cNvPr id="50252" name="Rectangle 14"/>
            <p:cNvSpPr>
              <a:spLocks noChangeArrowheads="1"/>
            </p:cNvSpPr>
            <p:nvPr/>
          </p:nvSpPr>
          <p:spPr bwMode="auto">
            <a:xfrm>
              <a:off x="1126" y="2124"/>
              <a:ext cx="751" cy="60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50253" name="Text Box 15"/>
            <p:cNvSpPr txBox="1">
              <a:spLocks noChangeArrowheads="1"/>
            </p:cNvSpPr>
            <p:nvPr/>
          </p:nvSpPr>
          <p:spPr bwMode="auto">
            <a:xfrm>
              <a:off x="1134" y="2127"/>
              <a:ext cx="742" cy="577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800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digital</a:t>
              </a:r>
            </a:p>
            <a:p>
              <a:pPr algn="ctr">
                <a:defRPr/>
              </a:pPr>
              <a:r>
                <a:rPr lang="en-US" sz="1800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signature</a:t>
              </a:r>
            </a:p>
            <a:p>
              <a:pPr algn="ctr">
                <a:defRPr/>
              </a:pPr>
              <a:r>
                <a:rPr lang="en-US" sz="1800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(encrypt)</a:t>
              </a:r>
            </a:p>
          </p:txBody>
        </p:sp>
      </p:grpSp>
      <p:sp>
        <p:nvSpPr>
          <p:cNvPr id="50187" name="Text Box 16"/>
          <p:cNvSpPr txBox="1">
            <a:spLocks noChangeArrowheads="1"/>
          </p:cNvSpPr>
          <p:nvPr/>
        </p:nvSpPr>
        <p:spPr bwMode="auto">
          <a:xfrm>
            <a:off x="1490663" y="3252788"/>
            <a:ext cx="960437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r">
              <a:defRPr/>
            </a:pPr>
            <a:r>
              <a:rPr lang="en-US" sz="1600" dirty="0">
                <a:latin typeface="Arial" charset="0"/>
                <a:cs typeface="Arial" charset="0"/>
              </a:rPr>
              <a:t>Brajesh</a:t>
            </a:r>
            <a:r>
              <a:rPr lang="ja-JP" altLang="en-US" sz="1600" dirty="0">
                <a:latin typeface="Arial" charset="0"/>
                <a:cs typeface="Arial" charset="0"/>
              </a:rPr>
              <a:t>’</a:t>
            </a:r>
            <a:r>
              <a:rPr lang="en-US" sz="1600" dirty="0">
                <a:latin typeface="Arial" charset="0"/>
                <a:cs typeface="Arial" charset="0"/>
              </a:rPr>
              <a:t>s </a:t>
            </a:r>
          </a:p>
          <a:p>
            <a:pPr algn="r">
              <a:defRPr/>
            </a:pPr>
            <a:r>
              <a:rPr lang="en-US" sz="1600" dirty="0">
                <a:latin typeface="Arial" charset="0"/>
                <a:cs typeface="Arial" charset="0"/>
              </a:rPr>
              <a:t>private</a:t>
            </a:r>
          </a:p>
          <a:p>
            <a:pPr algn="r">
              <a:defRPr/>
            </a:pPr>
            <a:r>
              <a:rPr lang="en-US" sz="1600" dirty="0">
                <a:latin typeface="Arial" charset="0"/>
                <a:cs typeface="Arial" charset="0"/>
              </a:rPr>
              <a:t>key </a:t>
            </a:r>
          </a:p>
        </p:txBody>
      </p:sp>
      <p:pic>
        <p:nvPicPr>
          <p:cNvPr id="79883" name="Picture 17" descr="BS00768_[1]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2468563" y="3333750"/>
            <a:ext cx="458787" cy="236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9884" name="Group 18"/>
          <p:cNvGrpSpPr>
            <a:grpSpLocks/>
          </p:cNvGrpSpPr>
          <p:nvPr/>
        </p:nvGrpSpPr>
        <p:grpSpPr bwMode="auto">
          <a:xfrm>
            <a:off x="2406650" y="3659188"/>
            <a:ext cx="490538" cy="604837"/>
            <a:chOff x="2994" y="2073"/>
            <a:chExt cx="309" cy="381"/>
          </a:xfrm>
        </p:grpSpPr>
        <p:grpSp>
          <p:nvGrpSpPr>
            <p:cNvPr id="79939" name="Group 19"/>
            <p:cNvGrpSpPr>
              <a:grpSpLocks/>
            </p:cNvGrpSpPr>
            <p:nvPr/>
          </p:nvGrpSpPr>
          <p:grpSpPr bwMode="auto">
            <a:xfrm>
              <a:off x="2994" y="2144"/>
              <a:ext cx="309" cy="310"/>
              <a:chOff x="2994" y="2144"/>
              <a:chExt cx="309" cy="310"/>
            </a:xfrm>
          </p:grpSpPr>
          <p:sp>
            <p:nvSpPr>
              <p:cNvPr id="50250" name="Text Box 20"/>
              <p:cNvSpPr txBox="1">
                <a:spLocks noChangeArrowheads="1"/>
              </p:cNvSpPr>
              <p:nvPr/>
            </p:nvSpPr>
            <p:spPr bwMode="auto">
              <a:xfrm>
                <a:off x="2994" y="2144"/>
                <a:ext cx="269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K </a:t>
                </a:r>
              </a:p>
            </p:txBody>
          </p:sp>
          <p:sp>
            <p:nvSpPr>
              <p:cNvPr id="50251" name="Text Box 21"/>
              <p:cNvSpPr txBox="1">
                <a:spLocks noChangeArrowheads="1"/>
              </p:cNvSpPr>
              <p:nvPr/>
            </p:nvSpPr>
            <p:spPr bwMode="auto">
              <a:xfrm>
                <a:off x="3101" y="2241"/>
                <a:ext cx="202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1600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B</a:t>
                </a:r>
              </a:p>
            </p:txBody>
          </p:sp>
        </p:grpSp>
        <p:sp>
          <p:nvSpPr>
            <p:cNvPr id="50249" name="Text Box 22"/>
            <p:cNvSpPr txBox="1">
              <a:spLocks noChangeArrowheads="1"/>
            </p:cNvSpPr>
            <p:nvPr/>
          </p:nvSpPr>
          <p:spPr bwMode="auto">
            <a:xfrm>
              <a:off x="3122" y="2073"/>
              <a:ext cx="160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6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-</a:t>
              </a:r>
            </a:p>
          </p:txBody>
        </p:sp>
      </p:grpSp>
      <p:sp>
        <p:nvSpPr>
          <p:cNvPr id="50190" name="Line 23"/>
          <p:cNvSpPr>
            <a:spLocks noChangeShapeType="1"/>
          </p:cNvSpPr>
          <p:nvPr/>
        </p:nvSpPr>
        <p:spPr bwMode="auto">
          <a:xfrm flipV="1">
            <a:off x="2535238" y="3702050"/>
            <a:ext cx="565150" cy="7938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50191" name="Line 24"/>
          <p:cNvSpPr>
            <a:spLocks noChangeShapeType="1"/>
          </p:cNvSpPr>
          <p:nvPr/>
        </p:nvSpPr>
        <p:spPr bwMode="auto">
          <a:xfrm>
            <a:off x="3800475" y="4129088"/>
            <a:ext cx="15875" cy="3127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79887" name="Group 25"/>
          <p:cNvGrpSpPr>
            <a:grpSpLocks/>
          </p:cNvGrpSpPr>
          <p:nvPr/>
        </p:nvGrpSpPr>
        <p:grpSpPr bwMode="auto">
          <a:xfrm>
            <a:off x="828675" y="4799013"/>
            <a:ext cx="846138" cy="519112"/>
            <a:chOff x="984" y="2831"/>
            <a:chExt cx="533" cy="327"/>
          </a:xfrm>
        </p:grpSpPr>
        <p:sp>
          <p:nvSpPr>
            <p:cNvPr id="50246" name="Text Box 26"/>
            <p:cNvSpPr txBox="1">
              <a:spLocks noChangeArrowheads="1"/>
            </p:cNvSpPr>
            <p:nvPr/>
          </p:nvSpPr>
          <p:spPr bwMode="auto">
            <a:xfrm>
              <a:off x="984" y="2831"/>
              <a:ext cx="53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2800" dirty="0">
                  <a:latin typeface="Arial" charset="0"/>
                  <a:cs typeface="Arial" charset="0"/>
                </a:rPr>
                <a:t>+</a:t>
              </a:r>
            </a:p>
          </p:txBody>
        </p:sp>
        <p:sp>
          <p:nvSpPr>
            <p:cNvPr id="50247" name="Oval 27"/>
            <p:cNvSpPr>
              <a:spLocks noChangeArrowheads="1"/>
            </p:cNvSpPr>
            <p:nvPr/>
          </p:nvSpPr>
          <p:spPr bwMode="auto">
            <a:xfrm>
              <a:off x="1152" y="2924"/>
              <a:ext cx="195" cy="16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charset="0"/>
                <a:cs typeface="Arial" charset="0"/>
              </a:endParaRPr>
            </a:p>
          </p:txBody>
        </p:sp>
      </p:grpSp>
      <p:sp>
        <p:nvSpPr>
          <p:cNvPr id="50193" name="Line 28"/>
          <p:cNvSpPr>
            <a:spLocks noChangeShapeType="1"/>
          </p:cNvSpPr>
          <p:nvPr/>
        </p:nvSpPr>
        <p:spPr bwMode="auto">
          <a:xfrm>
            <a:off x="1276350" y="2928938"/>
            <a:ext cx="0" cy="1981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50194" name="Line 29"/>
          <p:cNvSpPr>
            <a:spLocks noChangeShapeType="1"/>
          </p:cNvSpPr>
          <p:nvPr/>
        </p:nvSpPr>
        <p:spPr bwMode="auto">
          <a:xfrm>
            <a:off x="1249363" y="5222875"/>
            <a:ext cx="3175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pic>
        <p:nvPicPr>
          <p:cNvPr id="79890" name="Picture 30" descr="BS00592_[1]"/>
          <p:cNvPicPr>
            <a:picLocks noGrp="1" noChangeAspect="1" noChangeArrowheads="1"/>
          </p:cNvPicPr>
          <p:nvPr>
            <p:ph sz="half" idx="1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93775" y="5551488"/>
            <a:ext cx="627063" cy="768350"/>
          </a:xfrm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50196" name="Rectangle 31"/>
          <p:cNvSpPr>
            <a:spLocks noChangeArrowheads="1"/>
          </p:cNvSpPr>
          <p:nvPr/>
        </p:nvSpPr>
        <p:spPr bwMode="auto">
          <a:xfrm>
            <a:off x="520700" y="1096963"/>
            <a:ext cx="3810000" cy="1128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000099"/>
              </a:buClr>
              <a:buSzPct val="75000"/>
              <a:buFont typeface="Wingdings" charset="0"/>
              <a:buNone/>
              <a:defRPr/>
            </a:pPr>
            <a:r>
              <a:rPr lang="en-US" sz="2400" dirty="0">
                <a:latin typeface="Gill Sans MT" charset="0"/>
                <a:cs typeface="+mn-cs"/>
              </a:rPr>
              <a:t>Brajesh sends digitally signed message:</a:t>
            </a:r>
          </a:p>
        </p:txBody>
      </p:sp>
      <p:sp>
        <p:nvSpPr>
          <p:cNvPr id="217120" name="Rectangle 32"/>
          <p:cNvSpPr>
            <a:spLocks noGrp="1" noChangeArrowheads="1"/>
          </p:cNvSpPr>
          <p:nvPr>
            <p:ph type="body" sz="half" idx="2"/>
          </p:nvPr>
        </p:nvSpPr>
        <p:spPr>
          <a:xfrm>
            <a:off x="4883150" y="1211263"/>
            <a:ext cx="4238625" cy="1057275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buFont typeface="Wingdings" charset="0"/>
              <a:buNone/>
            </a:pPr>
            <a:r>
              <a:rPr lang="en-US" sz="2400" dirty="0">
                <a:latin typeface="Gill Sans MT" charset="0"/>
              </a:rPr>
              <a:t>Aman verifies signature, integrity of digitally signed message:</a:t>
            </a:r>
          </a:p>
        </p:txBody>
      </p:sp>
      <p:grpSp>
        <p:nvGrpSpPr>
          <p:cNvPr id="79893" name="Group 33"/>
          <p:cNvGrpSpPr>
            <a:grpSpLocks/>
          </p:cNvGrpSpPr>
          <p:nvPr/>
        </p:nvGrpSpPr>
        <p:grpSpPr bwMode="auto">
          <a:xfrm>
            <a:off x="2959100" y="4325938"/>
            <a:ext cx="1722438" cy="995362"/>
            <a:chOff x="3157" y="2362"/>
            <a:chExt cx="1085" cy="627"/>
          </a:xfrm>
        </p:grpSpPr>
        <p:grpSp>
          <p:nvGrpSpPr>
            <p:cNvPr id="79932" name="Group 34"/>
            <p:cNvGrpSpPr>
              <a:grpSpLocks/>
            </p:cNvGrpSpPr>
            <p:nvPr/>
          </p:nvGrpSpPr>
          <p:grpSpPr bwMode="auto">
            <a:xfrm>
              <a:off x="3220" y="2639"/>
              <a:ext cx="923" cy="339"/>
              <a:chOff x="2546" y="3029"/>
              <a:chExt cx="923" cy="339"/>
            </a:xfrm>
          </p:grpSpPr>
          <p:sp>
            <p:nvSpPr>
              <p:cNvPr id="50244" name="Text Box 35"/>
              <p:cNvSpPr txBox="1">
                <a:spLocks noChangeArrowheads="1"/>
              </p:cNvSpPr>
              <p:nvPr/>
            </p:nvSpPr>
            <p:spPr bwMode="auto">
              <a:xfrm>
                <a:off x="2546" y="3118"/>
                <a:ext cx="923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K</a:t>
                </a:r>
                <a:r>
                  <a:rPr lang="en-US" sz="2400" baseline="-25000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B</a:t>
                </a:r>
                <a:r>
                  <a:rPr lang="en-US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(H(m))</a:t>
                </a:r>
              </a:p>
            </p:txBody>
          </p:sp>
          <p:sp>
            <p:nvSpPr>
              <p:cNvPr id="50245" name="Text Box 36"/>
              <p:cNvSpPr txBox="1">
                <a:spLocks noChangeArrowheads="1"/>
              </p:cNvSpPr>
              <p:nvPr/>
            </p:nvSpPr>
            <p:spPr bwMode="auto">
              <a:xfrm>
                <a:off x="2554" y="3029"/>
                <a:ext cx="533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-</a:t>
                </a:r>
              </a:p>
            </p:txBody>
          </p:sp>
        </p:grpSp>
        <p:sp>
          <p:nvSpPr>
            <p:cNvPr id="50242" name="Rectangle 37"/>
            <p:cNvSpPr>
              <a:spLocks noChangeArrowheads="1"/>
            </p:cNvSpPr>
            <p:nvPr/>
          </p:nvSpPr>
          <p:spPr bwMode="auto">
            <a:xfrm>
              <a:off x="3291" y="2378"/>
              <a:ext cx="780" cy="61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C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50243" name="Text Box 38"/>
            <p:cNvSpPr txBox="1">
              <a:spLocks noChangeArrowheads="1"/>
            </p:cNvSpPr>
            <p:nvPr/>
          </p:nvSpPr>
          <p:spPr bwMode="auto">
            <a:xfrm>
              <a:off x="3157" y="2362"/>
              <a:ext cx="1085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8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encrypted </a:t>
              </a:r>
            </a:p>
            <a:p>
              <a:pPr algn="ctr">
                <a:defRPr/>
              </a:pPr>
              <a:r>
                <a:rPr lang="en-US" sz="18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msg digest</a:t>
              </a:r>
            </a:p>
          </p:txBody>
        </p:sp>
      </p:grpSp>
      <p:sp>
        <p:nvSpPr>
          <p:cNvPr id="50199" name="Line 39"/>
          <p:cNvSpPr>
            <a:spLocks noChangeShapeType="1"/>
          </p:cNvSpPr>
          <p:nvPr/>
        </p:nvSpPr>
        <p:spPr bwMode="auto">
          <a:xfrm flipH="1">
            <a:off x="1377950" y="5078413"/>
            <a:ext cx="180181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pic>
        <p:nvPicPr>
          <p:cNvPr id="217128" name="Picture 40" descr="BS00592_[1]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0038" y="2201863"/>
            <a:ext cx="627062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7129" name="Line 41"/>
          <p:cNvSpPr>
            <a:spLocks noChangeShapeType="1"/>
          </p:cNvSpPr>
          <p:nvPr/>
        </p:nvSpPr>
        <p:spPr bwMode="auto">
          <a:xfrm>
            <a:off x="8116888" y="3352800"/>
            <a:ext cx="15875" cy="3127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217130" name="Group 42"/>
          <p:cNvGrpSpPr>
            <a:grpSpLocks/>
          </p:cNvGrpSpPr>
          <p:nvPr/>
        </p:nvGrpSpPr>
        <p:grpSpPr bwMode="auto">
          <a:xfrm>
            <a:off x="7248525" y="2339975"/>
            <a:ext cx="1722438" cy="995363"/>
            <a:chOff x="3157" y="2362"/>
            <a:chExt cx="1085" cy="627"/>
          </a:xfrm>
        </p:grpSpPr>
        <p:grpSp>
          <p:nvGrpSpPr>
            <p:cNvPr id="79927" name="Group 43"/>
            <p:cNvGrpSpPr>
              <a:grpSpLocks/>
            </p:cNvGrpSpPr>
            <p:nvPr/>
          </p:nvGrpSpPr>
          <p:grpSpPr bwMode="auto">
            <a:xfrm>
              <a:off x="3220" y="2639"/>
              <a:ext cx="923" cy="339"/>
              <a:chOff x="2546" y="3029"/>
              <a:chExt cx="923" cy="339"/>
            </a:xfrm>
          </p:grpSpPr>
          <p:sp>
            <p:nvSpPr>
              <p:cNvPr id="50239" name="Text Box 44"/>
              <p:cNvSpPr txBox="1">
                <a:spLocks noChangeArrowheads="1"/>
              </p:cNvSpPr>
              <p:nvPr/>
            </p:nvSpPr>
            <p:spPr bwMode="auto">
              <a:xfrm>
                <a:off x="2546" y="3118"/>
                <a:ext cx="923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K</a:t>
                </a:r>
                <a:r>
                  <a:rPr lang="en-US" sz="2400" baseline="-25000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B</a:t>
                </a:r>
                <a:r>
                  <a:rPr lang="en-US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(H(m))</a:t>
                </a:r>
              </a:p>
            </p:txBody>
          </p:sp>
          <p:sp>
            <p:nvSpPr>
              <p:cNvPr id="50240" name="Text Box 45"/>
              <p:cNvSpPr txBox="1">
                <a:spLocks noChangeArrowheads="1"/>
              </p:cNvSpPr>
              <p:nvPr/>
            </p:nvSpPr>
            <p:spPr bwMode="auto">
              <a:xfrm>
                <a:off x="2554" y="3029"/>
                <a:ext cx="533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-</a:t>
                </a:r>
              </a:p>
            </p:txBody>
          </p:sp>
        </p:grpSp>
        <p:sp>
          <p:nvSpPr>
            <p:cNvPr id="50237" name="Rectangle 46"/>
            <p:cNvSpPr>
              <a:spLocks noChangeArrowheads="1"/>
            </p:cNvSpPr>
            <p:nvPr/>
          </p:nvSpPr>
          <p:spPr bwMode="auto">
            <a:xfrm>
              <a:off x="3291" y="2378"/>
              <a:ext cx="780" cy="61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C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50238" name="Text Box 47"/>
            <p:cNvSpPr txBox="1">
              <a:spLocks noChangeArrowheads="1"/>
            </p:cNvSpPr>
            <p:nvPr/>
          </p:nvSpPr>
          <p:spPr bwMode="auto">
            <a:xfrm>
              <a:off x="3157" y="2362"/>
              <a:ext cx="1085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8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encrypted </a:t>
              </a:r>
            </a:p>
            <a:p>
              <a:pPr algn="ctr">
                <a:defRPr/>
              </a:pPr>
              <a:r>
                <a:rPr lang="en-US" sz="18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msg digest</a:t>
              </a:r>
            </a:p>
          </p:txBody>
        </p:sp>
      </p:grpSp>
      <p:grpSp>
        <p:nvGrpSpPr>
          <p:cNvPr id="217136" name="Group 48"/>
          <p:cNvGrpSpPr>
            <a:grpSpLocks/>
          </p:cNvGrpSpPr>
          <p:nvPr/>
        </p:nvGrpSpPr>
        <p:grpSpPr bwMode="auto">
          <a:xfrm>
            <a:off x="5054600" y="3254375"/>
            <a:ext cx="1343025" cy="841375"/>
            <a:chOff x="403" y="1308"/>
            <a:chExt cx="846" cy="530"/>
          </a:xfrm>
        </p:grpSpPr>
        <p:sp>
          <p:nvSpPr>
            <p:cNvPr id="50234" name="Rectangle 49"/>
            <p:cNvSpPr>
              <a:spLocks noChangeArrowheads="1"/>
            </p:cNvSpPr>
            <p:nvPr/>
          </p:nvSpPr>
          <p:spPr bwMode="auto">
            <a:xfrm>
              <a:off x="477" y="1308"/>
              <a:ext cx="685" cy="4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C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50235" name="Text Box 50"/>
            <p:cNvSpPr txBox="1">
              <a:spLocks noChangeArrowheads="1"/>
            </p:cNvSpPr>
            <p:nvPr/>
          </p:nvSpPr>
          <p:spPr bwMode="auto">
            <a:xfrm>
              <a:off x="403" y="1318"/>
              <a:ext cx="846" cy="5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ct val="80000"/>
                </a:lnSpc>
                <a:defRPr/>
              </a:pPr>
              <a:r>
                <a:rPr lang="en-US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large </a:t>
              </a:r>
            </a:p>
            <a:p>
              <a:pPr algn="ctr">
                <a:lnSpc>
                  <a:spcPct val="80000"/>
                </a:lnSpc>
                <a:defRPr/>
              </a:pPr>
              <a:r>
                <a:rPr lang="en-US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message</a:t>
              </a:r>
            </a:p>
            <a:p>
              <a:pPr algn="ctr">
                <a:lnSpc>
                  <a:spcPct val="80000"/>
                </a:lnSpc>
                <a:defRPr/>
              </a:pPr>
              <a:r>
                <a:rPr lang="en-US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m</a:t>
              </a:r>
            </a:p>
          </p:txBody>
        </p:sp>
      </p:grpSp>
      <p:grpSp>
        <p:nvGrpSpPr>
          <p:cNvPr id="217139" name="Group 51"/>
          <p:cNvGrpSpPr>
            <a:grpSpLocks/>
          </p:cNvGrpSpPr>
          <p:nvPr/>
        </p:nvGrpSpPr>
        <p:grpSpPr bwMode="auto">
          <a:xfrm>
            <a:off x="5187950" y="4287838"/>
            <a:ext cx="1017588" cy="650875"/>
            <a:chOff x="1391" y="982"/>
            <a:chExt cx="641" cy="410"/>
          </a:xfrm>
          <a:solidFill>
            <a:srgbClr val="008000"/>
          </a:solidFill>
        </p:grpSpPr>
        <p:sp>
          <p:nvSpPr>
            <p:cNvPr id="50232" name="Rectangle 52"/>
            <p:cNvSpPr>
              <a:spLocks noChangeArrowheads="1"/>
            </p:cNvSpPr>
            <p:nvPr/>
          </p:nvSpPr>
          <p:spPr bwMode="auto">
            <a:xfrm>
              <a:off x="1397" y="982"/>
              <a:ext cx="619" cy="39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50233" name="Text Box 53"/>
            <p:cNvSpPr txBox="1">
              <a:spLocks noChangeArrowheads="1"/>
            </p:cNvSpPr>
            <p:nvPr/>
          </p:nvSpPr>
          <p:spPr bwMode="auto">
            <a:xfrm>
              <a:off x="1391" y="985"/>
              <a:ext cx="641" cy="407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800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H: Hash</a:t>
              </a:r>
            </a:p>
            <a:p>
              <a:pPr algn="ctr">
                <a:defRPr/>
              </a:pPr>
              <a:r>
                <a:rPr lang="en-US" sz="1800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function</a:t>
              </a:r>
            </a:p>
          </p:txBody>
        </p:sp>
      </p:grpSp>
      <p:grpSp>
        <p:nvGrpSpPr>
          <p:cNvPr id="217142" name="Group 54"/>
          <p:cNvGrpSpPr>
            <a:grpSpLocks/>
          </p:cNvGrpSpPr>
          <p:nvPr/>
        </p:nvGrpSpPr>
        <p:grpSpPr bwMode="auto">
          <a:xfrm>
            <a:off x="5289550" y="5132388"/>
            <a:ext cx="873125" cy="420687"/>
            <a:chOff x="3305" y="3136"/>
            <a:chExt cx="550" cy="265"/>
          </a:xfrm>
        </p:grpSpPr>
        <p:sp>
          <p:nvSpPr>
            <p:cNvPr id="50230" name="Rectangle 55"/>
            <p:cNvSpPr>
              <a:spLocks noChangeArrowheads="1"/>
            </p:cNvSpPr>
            <p:nvPr/>
          </p:nvSpPr>
          <p:spPr bwMode="auto">
            <a:xfrm>
              <a:off x="3336" y="3136"/>
              <a:ext cx="480" cy="25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C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50231" name="Text Box 56"/>
            <p:cNvSpPr txBox="1">
              <a:spLocks noChangeArrowheads="1"/>
            </p:cNvSpPr>
            <p:nvPr/>
          </p:nvSpPr>
          <p:spPr bwMode="auto">
            <a:xfrm>
              <a:off x="3305" y="3151"/>
              <a:ext cx="55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H(m)</a:t>
              </a:r>
            </a:p>
          </p:txBody>
        </p:sp>
      </p:grpSp>
      <p:grpSp>
        <p:nvGrpSpPr>
          <p:cNvPr id="217145" name="Group 57"/>
          <p:cNvGrpSpPr>
            <a:grpSpLocks/>
          </p:cNvGrpSpPr>
          <p:nvPr/>
        </p:nvGrpSpPr>
        <p:grpSpPr bwMode="auto">
          <a:xfrm>
            <a:off x="7596188" y="3705225"/>
            <a:ext cx="1192212" cy="955675"/>
            <a:chOff x="1126" y="2124"/>
            <a:chExt cx="751" cy="602"/>
          </a:xfrm>
          <a:solidFill>
            <a:srgbClr val="008000"/>
          </a:solidFill>
        </p:grpSpPr>
        <p:sp>
          <p:nvSpPr>
            <p:cNvPr id="50228" name="Rectangle 58"/>
            <p:cNvSpPr>
              <a:spLocks noChangeArrowheads="1"/>
            </p:cNvSpPr>
            <p:nvPr/>
          </p:nvSpPr>
          <p:spPr bwMode="auto">
            <a:xfrm>
              <a:off x="1126" y="2124"/>
              <a:ext cx="751" cy="60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50229" name="Text Box 59"/>
            <p:cNvSpPr txBox="1">
              <a:spLocks noChangeArrowheads="1"/>
            </p:cNvSpPr>
            <p:nvPr/>
          </p:nvSpPr>
          <p:spPr bwMode="auto">
            <a:xfrm>
              <a:off x="1148" y="2127"/>
              <a:ext cx="714" cy="582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800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digital</a:t>
              </a:r>
            </a:p>
            <a:p>
              <a:pPr algn="ctr">
                <a:defRPr/>
              </a:pPr>
              <a:r>
                <a:rPr lang="en-US" sz="1800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signature</a:t>
              </a:r>
            </a:p>
            <a:p>
              <a:pPr algn="ctr">
                <a:defRPr/>
              </a:pPr>
              <a:r>
                <a:rPr lang="en-US" sz="1800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(decrypt)</a:t>
              </a:r>
            </a:p>
          </p:txBody>
        </p:sp>
      </p:grpSp>
      <p:sp>
        <p:nvSpPr>
          <p:cNvPr id="217148" name="Line 60"/>
          <p:cNvSpPr>
            <a:spLocks noChangeShapeType="1"/>
          </p:cNvSpPr>
          <p:nvPr/>
        </p:nvSpPr>
        <p:spPr bwMode="auto">
          <a:xfrm>
            <a:off x="8132763" y="4748213"/>
            <a:ext cx="15875" cy="3127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217149" name="Group 61"/>
          <p:cNvGrpSpPr>
            <a:grpSpLocks/>
          </p:cNvGrpSpPr>
          <p:nvPr/>
        </p:nvGrpSpPr>
        <p:grpSpPr bwMode="auto">
          <a:xfrm>
            <a:off x="7762875" y="5129213"/>
            <a:ext cx="873125" cy="420687"/>
            <a:chOff x="3305" y="3136"/>
            <a:chExt cx="550" cy="265"/>
          </a:xfrm>
        </p:grpSpPr>
        <p:sp>
          <p:nvSpPr>
            <p:cNvPr id="50226" name="Rectangle 62"/>
            <p:cNvSpPr>
              <a:spLocks noChangeArrowheads="1"/>
            </p:cNvSpPr>
            <p:nvPr/>
          </p:nvSpPr>
          <p:spPr bwMode="auto">
            <a:xfrm>
              <a:off x="3336" y="3136"/>
              <a:ext cx="480" cy="25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C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50227" name="Text Box 63"/>
            <p:cNvSpPr txBox="1">
              <a:spLocks noChangeArrowheads="1"/>
            </p:cNvSpPr>
            <p:nvPr/>
          </p:nvSpPr>
          <p:spPr bwMode="auto">
            <a:xfrm>
              <a:off x="3305" y="3151"/>
              <a:ext cx="55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H(m)</a:t>
              </a:r>
            </a:p>
          </p:txBody>
        </p:sp>
      </p:grpSp>
      <p:sp>
        <p:nvSpPr>
          <p:cNvPr id="217152" name="Line 64"/>
          <p:cNvSpPr>
            <a:spLocks noChangeShapeType="1"/>
          </p:cNvSpPr>
          <p:nvPr/>
        </p:nvSpPr>
        <p:spPr bwMode="auto">
          <a:xfrm flipH="1">
            <a:off x="6003925" y="2571750"/>
            <a:ext cx="144938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7153" name="Line 65"/>
          <p:cNvSpPr>
            <a:spLocks noChangeShapeType="1"/>
          </p:cNvSpPr>
          <p:nvPr/>
        </p:nvSpPr>
        <p:spPr bwMode="auto">
          <a:xfrm>
            <a:off x="5638800" y="2914650"/>
            <a:ext cx="15875" cy="3127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7154" name="Line 66"/>
          <p:cNvSpPr>
            <a:spLocks noChangeShapeType="1"/>
          </p:cNvSpPr>
          <p:nvPr/>
        </p:nvSpPr>
        <p:spPr bwMode="auto">
          <a:xfrm>
            <a:off x="5678488" y="4037013"/>
            <a:ext cx="15875" cy="3127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7155" name="Line 67"/>
          <p:cNvSpPr>
            <a:spLocks noChangeShapeType="1"/>
          </p:cNvSpPr>
          <p:nvPr/>
        </p:nvSpPr>
        <p:spPr bwMode="auto">
          <a:xfrm>
            <a:off x="5689600" y="4892675"/>
            <a:ext cx="15875" cy="3127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7156" name="Text Box 68"/>
          <p:cNvSpPr txBox="1">
            <a:spLocks noChangeArrowheads="1"/>
          </p:cNvSpPr>
          <p:nvPr/>
        </p:nvSpPr>
        <p:spPr bwMode="auto">
          <a:xfrm>
            <a:off x="6061075" y="3643313"/>
            <a:ext cx="960438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r">
              <a:defRPr/>
            </a:pPr>
            <a:r>
              <a:rPr lang="en-US" sz="1600" dirty="0">
                <a:latin typeface="Arial" charset="0"/>
                <a:cs typeface="Arial" charset="0"/>
              </a:rPr>
              <a:t>Brajesh</a:t>
            </a:r>
            <a:r>
              <a:rPr lang="ja-JP" altLang="en-US" sz="1600" dirty="0">
                <a:latin typeface="Arial" charset="0"/>
                <a:cs typeface="Arial" charset="0"/>
              </a:rPr>
              <a:t>’</a:t>
            </a:r>
            <a:r>
              <a:rPr lang="en-US" sz="1600" dirty="0">
                <a:latin typeface="Arial" charset="0"/>
                <a:cs typeface="Arial" charset="0"/>
              </a:rPr>
              <a:t>s </a:t>
            </a:r>
          </a:p>
          <a:p>
            <a:pPr algn="r">
              <a:defRPr/>
            </a:pPr>
            <a:r>
              <a:rPr lang="en-US" sz="1600" dirty="0">
                <a:latin typeface="Arial" charset="0"/>
                <a:cs typeface="Arial" charset="0"/>
              </a:rPr>
              <a:t>public</a:t>
            </a:r>
          </a:p>
          <a:p>
            <a:pPr algn="r">
              <a:defRPr/>
            </a:pPr>
            <a:r>
              <a:rPr lang="en-US" sz="1600" dirty="0">
                <a:latin typeface="Arial" charset="0"/>
                <a:cs typeface="Arial" charset="0"/>
              </a:rPr>
              <a:t>key </a:t>
            </a:r>
          </a:p>
        </p:txBody>
      </p:sp>
      <p:pic>
        <p:nvPicPr>
          <p:cNvPr id="217157" name="Picture 69" descr="BS00768_[1]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7038975" y="3724275"/>
            <a:ext cx="458788" cy="236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17158" name="Group 70"/>
          <p:cNvGrpSpPr>
            <a:grpSpLocks/>
          </p:cNvGrpSpPr>
          <p:nvPr/>
        </p:nvGrpSpPr>
        <p:grpSpPr bwMode="auto">
          <a:xfrm>
            <a:off x="6977063" y="4049713"/>
            <a:ext cx="490537" cy="604837"/>
            <a:chOff x="2994" y="2073"/>
            <a:chExt cx="309" cy="381"/>
          </a:xfrm>
        </p:grpSpPr>
        <p:grpSp>
          <p:nvGrpSpPr>
            <p:cNvPr id="79917" name="Group 71"/>
            <p:cNvGrpSpPr>
              <a:grpSpLocks/>
            </p:cNvGrpSpPr>
            <p:nvPr/>
          </p:nvGrpSpPr>
          <p:grpSpPr bwMode="auto">
            <a:xfrm>
              <a:off x="2994" y="2144"/>
              <a:ext cx="309" cy="310"/>
              <a:chOff x="2994" y="2144"/>
              <a:chExt cx="309" cy="310"/>
            </a:xfrm>
          </p:grpSpPr>
          <p:sp>
            <p:nvSpPr>
              <p:cNvPr id="50224" name="Text Box 72"/>
              <p:cNvSpPr txBox="1">
                <a:spLocks noChangeArrowheads="1"/>
              </p:cNvSpPr>
              <p:nvPr/>
            </p:nvSpPr>
            <p:spPr bwMode="auto">
              <a:xfrm>
                <a:off x="2994" y="2144"/>
                <a:ext cx="269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K </a:t>
                </a:r>
              </a:p>
            </p:txBody>
          </p:sp>
          <p:sp>
            <p:nvSpPr>
              <p:cNvPr id="50225" name="Text Box 73"/>
              <p:cNvSpPr txBox="1">
                <a:spLocks noChangeArrowheads="1"/>
              </p:cNvSpPr>
              <p:nvPr/>
            </p:nvSpPr>
            <p:spPr bwMode="auto">
              <a:xfrm>
                <a:off x="3101" y="2241"/>
                <a:ext cx="202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1600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B</a:t>
                </a:r>
              </a:p>
            </p:txBody>
          </p:sp>
        </p:grpSp>
        <p:sp>
          <p:nvSpPr>
            <p:cNvPr id="50223" name="Text Box 74"/>
            <p:cNvSpPr txBox="1">
              <a:spLocks noChangeArrowheads="1"/>
            </p:cNvSpPr>
            <p:nvPr/>
          </p:nvSpPr>
          <p:spPr bwMode="auto">
            <a:xfrm>
              <a:off x="3106" y="2073"/>
              <a:ext cx="192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6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+</a:t>
              </a:r>
            </a:p>
          </p:txBody>
        </p:sp>
      </p:grpSp>
      <p:sp>
        <p:nvSpPr>
          <p:cNvPr id="217163" name="Line 75"/>
          <p:cNvSpPr>
            <a:spLocks noChangeShapeType="1"/>
          </p:cNvSpPr>
          <p:nvPr/>
        </p:nvSpPr>
        <p:spPr bwMode="auto">
          <a:xfrm flipV="1">
            <a:off x="7105650" y="4092575"/>
            <a:ext cx="423863" cy="7938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7164" name="Line 76"/>
          <p:cNvSpPr>
            <a:spLocks noChangeShapeType="1"/>
          </p:cNvSpPr>
          <p:nvPr/>
        </p:nvSpPr>
        <p:spPr bwMode="auto">
          <a:xfrm>
            <a:off x="5681663" y="5581650"/>
            <a:ext cx="873125" cy="2111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7165" name="Line 77"/>
          <p:cNvSpPr>
            <a:spLocks noChangeShapeType="1"/>
          </p:cNvSpPr>
          <p:nvPr/>
        </p:nvSpPr>
        <p:spPr bwMode="auto">
          <a:xfrm flipH="1">
            <a:off x="7299325" y="5575300"/>
            <a:ext cx="873125" cy="2111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7166" name="Text Box 78"/>
          <p:cNvSpPr txBox="1">
            <a:spLocks noChangeArrowheads="1"/>
          </p:cNvSpPr>
          <p:nvPr/>
        </p:nvSpPr>
        <p:spPr bwMode="auto">
          <a:xfrm>
            <a:off x="6170613" y="5640388"/>
            <a:ext cx="1439862" cy="830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2400" dirty="0">
                <a:latin typeface="Arial" charset="0"/>
                <a:cs typeface="Arial" charset="0"/>
              </a:rPr>
              <a:t>equal</a:t>
            </a:r>
          </a:p>
          <a:p>
            <a:pPr algn="ctr">
              <a:defRPr/>
            </a:pPr>
            <a:r>
              <a:rPr lang="en-US" sz="2400" dirty="0">
                <a:latin typeface="Arial" charset="0"/>
                <a:cs typeface="Arial" charset="0"/>
              </a:rPr>
              <a:t> ?</a:t>
            </a:r>
          </a:p>
        </p:txBody>
      </p:sp>
      <p:sp>
        <p:nvSpPr>
          <p:cNvPr id="50220" name="Rectangle 79"/>
          <p:cNvSpPr>
            <a:spLocks noChangeArrowheads="1"/>
          </p:cNvSpPr>
          <p:nvPr/>
        </p:nvSpPr>
        <p:spPr bwMode="auto">
          <a:xfrm>
            <a:off x="244475" y="0"/>
            <a:ext cx="8183563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defRPr/>
            </a:pPr>
            <a:r>
              <a:rPr lang="en-US" sz="3600" dirty="0">
                <a:solidFill>
                  <a:srgbClr val="000099"/>
                </a:solidFill>
                <a:latin typeface="Gill Sans MT" charset="0"/>
                <a:cs typeface="+mn-cs"/>
              </a:rPr>
              <a:t>Digital signature = signed message digest</a:t>
            </a:r>
          </a:p>
        </p:txBody>
      </p:sp>
      <p:pic>
        <p:nvPicPr>
          <p:cNvPr id="79916" name="Picture 6" descr="underline_bas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513" y="806450"/>
            <a:ext cx="82280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46</a:t>
            </a:fld>
            <a:endParaRPr lang="en-US" sz="1200" dirty="0">
              <a:latin typeface="Tahoma" charset="0"/>
            </a:endParaRPr>
          </a:p>
        </p:txBody>
      </p:sp>
      <p:sp>
        <p:nvSpPr>
          <p:cNvPr id="83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1261638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71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7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17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7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7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7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17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7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17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7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17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17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17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17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17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17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17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17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17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17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17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7120" grpId="0" build="p"/>
      <p:bldP spid="217156" grpId="0"/>
      <p:bldP spid="217166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ill Sans MT" charset="0"/>
              </a:rPr>
              <a:t>Hash function algorithms</a:t>
            </a:r>
          </a:p>
        </p:txBody>
      </p:sp>
      <p:sp>
        <p:nvSpPr>
          <p:cNvPr id="80899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646113" y="1489075"/>
            <a:ext cx="8131175" cy="4648200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  <a:latin typeface="Gill Sans MT" charset="0"/>
              </a:rPr>
              <a:t>MD5 hash function widely used (RFC 1321) </a:t>
            </a:r>
          </a:p>
          <a:p>
            <a:pPr lvl="1"/>
            <a:r>
              <a:rPr lang="en-US" dirty="0">
                <a:latin typeface="Gill Sans MT" charset="0"/>
              </a:rPr>
              <a:t>computes 128-bit message digest in 4-step process. </a:t>
            </a:r>
          </a:p>
          <a:p>
            <a:pPr lvl="1"/>
            <a:r>
              <a:rPr lang="en-US" dirty="0">
                <a:latin typeface="Gill Sans MT" charset="0"/>
              </a:rPr>
              <a:t>arbitrary 128-bit string x, appears difficult to construct msg m whose MD5 hash is equal to x</a:t>
            </a:r>
          </a:p>
          <a:p>
            <a:r>
              <a:rPr lang="en-US" dirty="0">
                <a:solidFill>
                  <a:srgbClr val="C00000"/>
                </a:solidFill>
                <a:latin typeface="Gill Sans MT" charset="0"/>
              </a:rPr>
              <a:t>SHA-1 is also used</a:t>
            </a:r>
          </a:p>
          <a:p>
            <a:pPr lvl="1"/>
            <a:r>
              <a:rPr lang="en-US" dirty="0">
                <a:latin typeface="Gill Sans MT" charset="0"/>
              </a:rPr>
              <a:t>US standard [</a:t>
            </a:r>
            <a:r>
              <a:rPr lang="en-US" sz="2000" dirty="0">
                <a:latin typeface="Gill Sans MT" charset="0"/>
              </a:rPr>
              <a:t>NIST, FIPS PUB 180-1]</a:t>
            </a:r>
            <a:endParaRPr lang="en-US" dirty="0">
              <a:latin typeface="Gill Sans MT" charset="0"/>
            </a:endParaRPr>
          </a:p>
          <a:p>
            <a:pPr lvl="1"/>
            <a:r>
              <a:rPr lang="en-US" dirty="0">
                <a:latin typeface="Gill Sans MT" charset="0"/>
              </a:rPr>
              <a:t>160-bit message digest</a:t>
            </a:r>
          </a:p>
        </p:txBody>
      </p:sp>
      <p:pic>
        <p:nvPicPr>
          <p:cNvPr id="80900" name="Picture 19" descr="underline_base"/>
          <p:cNvPicPr>
            <a:picLocks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250" y="1044575"/>
            <a:ext cx="59420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47</a:t>
            </a:fld>
            <a:endParaRPr lang="en-US" sz="1200" dirty="0">
              <a:latin typeface="Tahoma" charset="0"/>
            </a:endParaRPr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178067466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21" name="Picture 22" descr="underline_base"/>
          <p:cNvPicPr>
            <a:picLocks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238" y="887413"/>
            <a:ext cx="6145212" cy="15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2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3825"/>
            <a:ext cx="6445250" cy="952500"/>
          </a:xfrm>
        </p:spPr>
        <p:txBody>
          <a:bodyPr/>
          <a:lstStyle/>
          <a:p>
            <a:r>
              <a:rPr lang="en-US" dirty="0">
                <a:latin typeface="Gill Sans MT" charset="0"/>
              </a:rPr>
              <a:t>Recall: ap5.0 security hole</a:t>
            </a:r>
          </a:p>
        </p:txBody>
      </p:sp>
      <p:sp>
        <p:nvSpPr>
          <p:cNvPr id="8192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5613" y="1084263"/>
            <a:ext cx="7593012" cy="919162"/>
          </a:xfrm>
        </p:spPr>
        <p:txBody>
          <a:bodyPr/>
          <a:lstStyle/>
          <a:p>
            <a:pPr>
              <a:buFont typeface="Wingdings" charset="0"/>
              <a:buNone/>
            </a:pPr>
            <a:r>
              <a:rPr lang="en-US" sz="2400" i="1" dirty="0">
                <a:solidFill>
                  <a:srgbClr val="C00000"/>
                </a:solidFill>
                <a:latin typeface="Gill Sans MT" charset="0"/>
              </a:rPr>
              <a:t>man (or woman) in the middle attack: </a:t>
            </a:r>
            <a:r>
              <a:rPr lang="en-US" sz="2400" dirty="0">
                <a:latin typeface="Gill Sans MT" charset="0"/>
              </a:rPr>
              <a:t>Manish poses as Aman (to Brajesh) and as Brajesh (to Aman)</a:t>
            </a:r>
          </a:p>
        </p:txBody>
      </p:sp>
      <p:pic>
        <p:nvPicPr>
          <p:cNvPr id="81925" name="Picture 4" descr="Bob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23175" y="2306638"/>
            <a:ext cx="800100" cy="817562"/>
          </a:xfrm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81926" name="Picture 5" descr="Eve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9263" y="2203450"/>
            <a:ext cx="954087" cy="1141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27" name="Picture 6" descr="Alice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3638" y="2195513"/>
            <a:ext cx="752475" cy="927100"/>
          </a:xfrm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1992" name="Line 7"/>
          <p:cNvSpPr>
            <a:spLocks noChangeShapeType="1"/>
          </p:cNvSpPr>
          <p:nvPr/>
        </p:nvSpPr>
        <p:spPr bwMode="auto">
          <a:xfrm>
            <a:off x="1936750" y="2678113"/>
            <a:ext cx="22494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1993" name="Text Box 8"/>
          <p:cNvSpPr txBox="1">
            <a:spLocks noChangeArrowheads="1"/>
          </p:cNvSpPr>
          <p:nvPr/>
        </p:nvSpPr>
        <p:spPr bwMode="auto">
          <a:xfrm>
            <a:off x="2213702" y="2328863"/>
            <a:ext cx="128759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1800" dirty="0">
                <a:latin typeface="Arial" charset="0"/>
                <a:cs typeface="Arial" charset="0"/>
              </a:rPr>
              <a:t>I am Aman</a:t>
            </a:r>
          </a:p>
        </p:txBody>
      </p:sp>
      <p:sp>
        <p:nvSpPr>
          <p:cNvPr id="41994" name="Line 9"/>
          <p:cNvSpPr>
            <a:spLocks noChangeShapeType="1"/>
          </p:cNvSpPr>
          <p:nvPr/>
        </p:nvSpPr>
        <p:spPr bwMode="auto">
          <a:xfrm>
            <a:off x="5183188" y="2717800"/>
            <a:ext cx="22494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1995" name="Text Box 10"/>
          <p:cNvSpPr txBox="1">
            <a:spLocks noChangeArrowheads="1"/>
          </p:cNvSpPr>
          <p:nvPr/>
        </p:nvSpPr>
        <p:spPr bwMode="auto">
          <a:xfrm>
            <a:off x="5460139" y="2368550"/>
            <a:ext cx="128759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1800" dirty="0">
                <a:latin typeface="Arial" charset="0"/>
                <a:cs typeface="Arial" charset="0"/>
              </a:rPr>
              <a:t>I am Aman</a:t>
            </a:r>
          </a:p>
        </p:txBody>
      </p:sp>
      <p:sp>
        <p:nvSpPr>
          <p:cNvPr id="41996" name="Line 11"/>
          <p:cNvSpPr>
            <a:spLocks noChangeShapeType="1"/>
          </p:cNvSpPr>
          <p:nvPr/>
        </p:nvSpPr>
        <p:spPr bwMode="auto">
          <a:xfrm flipH="1">
            <a:off x="5222875" y="2786063"/>
            <a:ext cx="2165350" cy="2809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1997" name="Text Box 12"/>
          <p:cNvSpPr txBox="1">
            <a:spLocks noChangeArrowheads="1"/>
          </p:cNvSpPr>
          <p:nvPr/>
        </p:nvSpPr>
        <p:spPr bwMode="auto">
          <a:xfrm>
            <a:off x="5321300" y="2701925"/>
            <a:ext cx="352425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1800" dirty="0">
                <a:latin typeface="Arial" charset="0"/>
                <a:cs typeface="Arial" charset="0"/>
              </a:rPr>
              <a:t>R</a:t>
            </a:r>
          </a:p>
        </p:txBody>
      </p:sp>
      <p:sp>
        <p:nvSpPr>
          <p:cNvPr id="41998" name="Line 13"/>
          <p:cNvSpPr>
            <a:spLocks noChangeShapeType="1"/>
          </p:cNvSpPr>
          <p:nvPr/>
        </p:nvSpPr>
        <p:spPr bwMode="auto">
          <a:xfrm>
            <a:off x="5251450" y="3235325"/>
            <a:ext cx="22494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81935" name="Group 14"/>
          <p:cNvGrpSpPr>
            <a:grpSpLocks/>
          </p:cNvGrpSpPr>
          <p:nvPr/>
        </p:nvGrpSpPr>
        <p:grpSpPr bwMode="auto">
          <a:xfrm>
            <a:off x="6481763" y="2781300"/>
            <a:ext cx="850900" cy="681038"/>
            <a:chOff x="3732" y="350"/>
            <a:chExt cx="536" cy="429"/>
          </a:xfrm>
        </p:grpSpPr>
        <p:sp>
          <p:nvSpPr>
            <p:cNvPr id="42049" name="Text Box 15"/>
            <p:cNvSpPr txBox="1">
              <a:spLocks noChangeArrowheads="1"/>
            </p:cNvSpPr>
            <p:nvPr/>
          </p:nvSpPr>
          <p:spPr bwMode="auto">
            <a:xfrm>
              <a:off x="3843" y="546"/>
              <a:ext cx="20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80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T</a:t>
              </a:r>
            </a:p>
          </p:txBody>
        </p:sp>
        <p:grpSp>
          <p:nvGrpSpPr>
            <p:cNvPr id="81985" name="Group 16"/>
            <p:cNvGrpSpPr>
              <a:grpSpLocks/>
            </p:cNvGrpSpPr>
            <p:nvPr/>
          </p:nvGrpSpPr>
          <p:grpSpPr bwMode="auto">
            <a:xfrm>
              <a:off x="3732" y="350"/>
              <a:ext cx="536" cy="325"/>
              <a:chOff x="3732" y="350"/>
              <a:chExt cx="536" cy="325"/>
            </a:xfrm>
          </p:grpSpPr>
          <p:sp>
            <p:nvSpPr>
              <p:cNvPr id="42051" name="Text Box 17"/>
              <p:cNvSpPr txBox="1">
                <a:spLocks noChangeArrowheads="1"/>
              </p:cNvSpPr>
              <p:nvPr/>
            </p:nvSpPr>
            <p:spPr bwMode="auto">
              <a:xfrm>
                <a:off x="3732" y="442"/>
                <a:ext cx="536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1800" dirty="0">
                    <a:latin typeface="Arial" charset="0"/>
                    <a:cs typeface="Arial" charset="0"/>
                  </a:rPr>
                  <a:t>K   (R)</a:t>
                </a:r>
              </a:p>
            </p:txBody>
          </p:sp>
          <p:sp>
            <p:nvSpPr>
              <p:cNvPr id="42052" name="Text Box 18"/>
              <p:cNvSpPr txBox="1">
                <a:spLocks noChangeArrowheads="1"/>
              </p:cNvSpPr>
              <p:nvPr/>
            </p:nvSpPr>
            <p:spPr bwMode="auto">
              <a:xfrm>
                <a:off x="3853" y="350"/>
                <a:ext cx="165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1800" dirty="0">
                    <a:solidFill>
                      <a:srgbClr val="FF0000"/>
                    </a:solidFill>
                    <a:latin typeface="Arial" charset="0"/>
                    <a:cs typeface="Arial" charset="0"/>
                  </a:rPr>
                  <a:t>-</a:t>
                </a:r>
              </a:p>
            </p:txBody>
          </p:sp>
        </p:grpSp>
      </p:grpSp>
      <p:sp>
        <p:nvSpPr>
          <p:cNvPr id="42000" name="Line 19"/>
          <p:cNvSpPr>
            <a:spLocks noChangeShapeType="1"/>
          </p:cNvSpPr>
          <p:nvPr/>
        </p:nvSpPr>
        <p:spPr bwMode="auto">
          <a:xfrm flipH="1">
            <a:off x="5289550" y="3403600"/>
            <a:ext cx="2165350" cy="2809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2001" name="Text Box 20"/>
          <p:cNvSpPr txBox="1">
            <a:spLocks noChangeArrowheads="1"/>
          </p:cNvSpPr>
          <p:nvPr/>
        </p:nvSpPr>
        <p:spPr bwMode="auto">
          <a:xfrm>
            <a:off x="5135563" y="3360738"/>
            <a:ext cx="246856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1600" dirty="0">
                <a:latin typeface="Arial" charset="0"/>
                <a:cs typeface="Arial" charset="0"/>
              </a:rPr>
              <a:t>Send me your public key</a:t>
            </a:r>
          </a:p>
        </p:txBody>
      </p:sp>
      <p:sp>
        <p:nvSpPr>
          <p:cNvPr id="42002" name="Line 21"/>
          <p:cNvSpPr>
            <a:spLocks noChangeShapeType="1"/>
          </p:cNvSpPr>
          <p:nvPr/>
        </p:nvSpPr>
        <p:spPr bwMode="auto">
          <a:xfrm>
            <a:off x="5319713" y="3922713"/>
            <a:ext cx="22494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81939" name="Group 22"/>
          <p:cNvGrpSpPr>
            <a:grpSpLocks/>
          </p:cNvGrpSpPr>
          <p:nvPr/>
        </p:nvGrpSpPr>
        <p:grpSpPr bwMode="auto">
          <a:xfrm>
            <a:off x="6937375" y="3525838"/>
            <a:ext cx="584200" cy="695325"/>
            <a:chOff x="4737" y="2510"/>
            <a:chExt cx="368" cy="438"/>
          </a:xfrm>
        </p:grpSpPr>
        <p:grpSp>
          <p:nvGrpSpPr>
            <p:cNvPr id="81980" name="Group 23"/>
            <p:cNvGrpSpPr>
              <a:grpSpLocks/>
            </p:cNvGrpSpPr>
            <p:nvPr/>
          </p:nvGrpSpPr>
          <p:grpSpPr bwMode="auto">
            <a:xfrm>
              <a:off x="4737" y="2620"/>
              <a:ext cx="368" cy="328"/>
              <a:chOff x="4737" y="2620"/>
              <a:chExt cx="368" cy="328"/>
            </a:xfrm>
          </p:grpSpPr>
          <p:sp>
            <p:nvSpPr>
              <p:cNvPr id="42047" name="Text Box 24"/>
              <p:cNvSpPr txBox="1">
                <a:spLocks noChangeArrowheads="1"/>
              </p:cNvSpPr>
              <p:nvPr/>
            </p:nvSpPr>
            <p:spPr bwMode="auto">
              <a:xfrm>
                <a:off x="4900" y="2715"/>
                <a:ext cx="205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1800" dirty="0">
                    <a:solidFill>
                      <a:srgbClr val="FF0000"/>
                    </a:solidFill>
                    <a:latin typeface="Arial" charset="0"/>
                    <a:cs typeface="Arial" charset="0"/>
                  </a:rPr>
                  <a:t>T</a:t>
                </a:r>
              </a:p>
            </p:txBody>
          </p:sp>
          <p:sp>
            <p:nvSpPr>
              <p:cNvPr id="42048" name="Text Box 25"/>
              <p:cNvSpPr txBox="1">
                <a:spLocks noChangeArrowheads="1"/>
              </p:cNvSpPr>
              <p:nvPr/>
            </p:nvSpPr>
            <p:spPr bwMode="auto">
              <a:xfrm>
                <a:off x="4737" y="2620"/>
                <a:ext cx="333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1800" dirty="0">
                    <a:latin typeface="Arial" charset="0"/>
                    <a:cs typeface="Arial" charset="0"/>
                  </a:rPr>
                  <a:t>K   </a:t>
                </a:r>
              </a:p>
            </p:txBody>
          </p:sp>
        </p:grpSp>
        <p:sp>
          <p:nvSpPr>
            <p:cNvPr id="42046" name="Text Box 26"/>
            <p:cNvSpPr txBox="1">
              <a:spLocks noChangeArrowheads="1"/>
            </p:cNvSpPr>
            <p:nvPr/>
          </p:nvSpPr>
          <p:spPr bwMode="auto">
            <a:xfrm>
              <a:off x="4892" y="2510"/>
              <a:ext cx="20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80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+</a:t>
              </a:r>
            </a:p>
          </p:txBody>
        </p:sp>
      </p:grpSp>
      <p:sp>
        <p:nvSpPr>
          <p:cNvPr id="42004" name="Line 27"/>
          <p:cNvSpPr>
            <a:spLocks noChangeShapeType="1"/>
          </p:cNvSpPr>
          <p:nvPr/>
        </p:nvSpPr>
        <p:spPr bwMode="auto">
          <a:xfrm flipH="1">
            <a:off x="1900238" y="3430588"/>
            <a:ext cx="2165350" cy="2809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2005" name="Line 28"/>
          <p:cNvSpPr>
            <a:spLocks noChangeShapeType="1"/>
          </p:cNvSpPr>
          <p:nvPr/>
        </p:nvSpPr>
        <p:spPr bwMode="auto">
          <a:xfrm>
            <a:off x="1928813" y="3879850"/>
            <a:ext cx="22494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81942" name="Group 29"/>
          <p:cNvGrpSpPr>
            <a:grpSpLocks/>
          </p:cNvGrpSpPr>
          <p:nvPr/>
        </p:nvGrpSpPr>
        <p:grpSpPr bwMode="auto">
          <a:xfrm>
            <a:off x="3144838" y="3411538"/>
            <a:ext cx="850900" cy="654050"/>
            <a:chOff x="3732" y="350"/>
            <a:chExt cx="536" cy="412"/>
          </a:xfrm>
        </p:grpSpPr>
        <p:sp>
          <p:nvSpPr>
            <p:cNvPr id="42041" name="Text Box 30"/>
            <p:cNvSpPr txBox="1">
              <a:spLocks noChangeArrowheads="1"/>
            </p:cNvSpPr>
            <p:nvPr/>
          </p:nvSpPr>
          <p:spPr bwMode="auto">
            <a:xfrm>
              <a:off x="3815" y="531"/>
              <a:ext cx="22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80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A</a:t>
              </a:r>
            </a:p>
          </p:txBody>
        </p:sp>
        <p:grpSp>
          <p:nvGrpSpPr>
            <p:cNvPr id="81977" name="Group 31"/>
            <p:cNvGrpSpPr>
              <a:grpSpLocks/>
            </p:cNvGrpSpPr>
            <p:nvPr/>
          </p:nvGrpSpPr>
          <p:grpSpPr bwMode="auto">
            <a:xfrm>
              <a:off x="3732" y="350"/>
              <a:ext cx="536" cy="325"/>
              <a:chOff x="3732" y="350"/>
              <a:chExt cx="536" cy="325"/>
            </a:xfrm>
          </p:grpSpPr>
          <p:sp>
            <p:nvSpPr>
              <p:cNvPr id="42043" name="Text Box 32"/>
              <p:cNvSpPr txBox="1">
                <a:spLocks noChangeArrowheads="1"/>
              </p:cNvSpPr>
              <p:nvPr/>
            </p:nvSpPr>
            <p:spPr bwMode="auto">
              <a:xfrm>
                <a:off x="3732" y="442"/>
                <a:ext cx="536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1800" dirty="0">
                    <a:latin typeface="Arial" charset="0"/>
                    <a:cs typeface="Arial" charset="0"/>
                  </a:rPr>
                  <a:t>K   (R)</a:t>
                </a:r>
              </a:p>
            </p:txBody>
          </p:sp>
          <p:sp>
            <p:nvSpPr>
              <p:cNvPr id="42044" name="Text Box 33"/>
              <p:cNvSpPr txBox="1">
                <a:spLocks noChangeArrowheads="1"/>
              </p:cNvSpPr>
              <p:nvPr/>
            </p:nvSpPr>
            <p:spPr bwMode="auto">
              <a:xfrm>
                <a:off x="3838" y="350"/>
                <a:ext cx="165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1800" dirty="0">
                    <a:solidFill>
                      <a:srgbClr val="FF0000"/>
                    </a:solidFill>
                    <a:latin typeface="Arial" charset="0"/>
                    <a:cs typeface="Arial" charset="0"/>
                  </a:rPr>
                  <a:t>-</a:t>
                </a:r>
              </a:p>
            </p:txBody>
          </p:sp>
        </p:grpSp>
      </p:grpSp>
      <p:sp>
        <p:nvSpPr>
          <p:cNvPr id="42007" name="Line 34"/>
          <p:cNvSpPr>
            <a:spLocks noChangeShapeType="1"/>
          </p:cNvSpPr>
          <p:nvPr/>
        </p:nvSpPr>
        <p:spPr bwMode="auto">
          <a:xfrm flipH="1">
            <a:off x="1966913" y="4048125"/>
            <a:ext cx="2165350" cy="2809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2008" name="Text Box 35"/>
          <p:cNvSpPr txBox="1">
            <a:spLocks noChangeArrowheads="1"/>
          </p:cNvSpPr>
          <p:nvPr/>
        </p:nvSpPr>
        <p:spPr bwMode="auto">
          <a:xfrm>
            <a:off x="1812925" y="4005263"/>
            <a:ext cx="24685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1600" dirty="0">
                <a:latin typeface="Arial" charset="0"/>
                <a:cs typeface="Arial" charset="0"/>
              </a:rPr>
              <a:t>Send me your public key</a:t>
            </a:r>
          </a:p>
        </p:txBody>
      </p:sp>
      <p:sp>
        <p:nvSpPr>
          <p:cNvPr id="42009" name="Line 36"/>
          <p:cNvSpPr>
            <a:spLocks noChangeShapeType="1"/>
          </p:cNvSpPr>
          <p:nvPr/>
        </p:nvSpPr>
        <p:spPr bwMode="auto">
          <a:xfrm>
            <a:off x="1997075" y="4567238"/>
            <a:ext cx="22494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81946" name="Group 37"/>
          <p:cNvGrpSpPr>
            <a:grpSpLocks/>
          </p:cNvGrpSpPr>
          <p:nvPr/>
        </p:nvGrpSpPr>
        <p:grpSpPr bwMode="auto">
          <a:xfrm>
            <a:off x="3500438" y="4125913"/>
            <a:ext cx="569912" cy="654050"/>
            <a:chOff x="4737" y="2534"/>
            <a:chExt cx="359" cy="412"/>
          </a:xfrm>
        </p:grpSpPr>
        <p:grpSp>
          <p:nvGrpSpPr>
            <p:cNvPr id="81972" name="Group 38"/>
            <p:cNvGrpSpPr>
              <a:grpSpLocks/>
            </p:cNvGrpSpPr>
            <p:nvPr/>
          </p:nvGrpSpPr>
          <p:grpSpPr bwMode="auto">
            <a:xfrm>
              <a:off x="4737" y="2620"/>
              <a:ext cx="359" cy="326"/>
              <a:chOff x="4737" y="2620"/>
              <a:chExt cx="359" cy="326"/>
            </a:xfrm>
          </p:grpSpPr>
          <p:sp>
            <p:nvSpPr>
              <p:cNvPr id="42039" name="Text Box 39"/>
              <p:cNvSpPr txBox="1">
                <a:spLocks noChangeArrowheads="1"/>
              </p:cNvSpPr>
              <p:nvPr/>
            </p:nvSpPr>
            <p:spPr bwMode="auto">
              <a:xfrm>
                <a:off x="4875" y="2715"/>
                <a:ext cx="221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1800" dirty="0">
                    <a:solidFill>
                      <a:srgbClr val="FF0000"/>
                    </a:solidFill>
                    <a:latin typeface="Arial" charset="0"/>
                    <a:cs typeface="Arial" charset="0"/>
                  </a:rPr>
                  <a:t>A</a:t>
                </a:r>
              </a:p>
            </p:txBody>
          </p:sp>
          <p:sp>
            <p:nvSpPr>
              <p:cNvPr id="42040" name="Text Box 40"/>
              <p:cNvSpPr txBox="1">
                <a:spLocks noChangeArrowheads="1"/>
              </p:cNvSpPr>
              <p:nvPr/>
            </p:nvSpPr>
            <p:spPr bwMode="auto">
              <a:xfrm>
                <a:off x="4737" y="2620"/>
                <a:ext cx="333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1800" dirty="0">
                    <a:latin typeface="Arial" charset="0"/>
                    <a:cs typeface="Arial" charset="0"/>
                  </a:rPr>
                  <a:t>K   </a:t>
                </a:r>
              </a:p>
            </p:txBody>
          </p:sp>
        </p:grpSp>
        <p:sp>
          <p:nvSpPr>
            <p:cNvPr id="42038" name="Text Box 41"/>
            <p:cNvSpPr txBox="1">
              <a:spLocks noChangeArrowheads="1"/>
            </p:cNvSpPr>
            <p:nvPr/>
          </p:nvSpPr>
          <p:spPr bwMode="auto">
            <a:xfrm>
              <a:off x="4883" y="2534"/>
              <a:ext cx="20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80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+</a:t>
              </a:r>
            </a:p>
          </p:txBody>
        </p:sp>
      </p:grpSp>
      <p:sp>
        <p:nvSpPr>
          <p:cNvPr id="42011" name="Line 42"/>
          <p:cNvSpPr>
            <a:spLocks noChangeShapeType="1"/>
          </p:cNvSpPr>
          <p:nvPr/>
        </p:nvSpPr>
        <p:spPr bwMode="auto">
          <a:xfrm flipH="1" flipV="1">
            <a:off x="5364163" y="5024438"/>
            <a:ext cx="21685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81948" name="Group 43"/>
          <p:cNvGrpSpPr>
            <a:grpSpLocks/>
          </p:cNvGrpSpPr>
          <p:nvPr/>
        </p:nvGrpSpPr>
        <p:grpSpPr bwMode="auto">
          <a:xfrm>
            <a:off x="5975350" y="4506913"/>
            <a:ext cx="874713" cy="681037"/>
            <a:chOff x="3670" y="3430"/>
            <a:chExt cx="551" cy="429"/>
          </a:xfrm>
        </p:grpSpPr>
        <p:sp>
          <p:nvSpPr>
            <p:cNvPr id="42034" name="Text Box 44"/>
            <p:cNvSpPr txBox="1">
              <a:spLocks noChangeArrowheads="1"/>
            </p:cNvSpPr>
            <p:nvPr/>
          </p:nvSpPr>
          <p:spPr bwMode="auto">
            <a:xfrm>
              <a:off x="3778" y="3626"/>
              <a:ext cx="20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80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T</a:t>
              </a:r>
            </a:p>
          </p:txBody>
        </p:sp>
        <p:sp>
          <p:nvSpPr>
            <p:cNvPr id="42035" name="Text Box 45"/>
            <p:cNvSpPr txBox="1">
              <a:spLocks noChangeArrowheads="1"/>
            </p:cNvSpPr>
            <p:nvPr/>
          </p:nvSpPr>
          <p:spPr bwMode="auto">
            <a:xfrm>
              <a:off x="3670" y="3540"/>
              <a:ext cx="55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800" dirty="0">
                  <a:latin typeface="Arial" charset="0"/>
                  <a:cs typeface="Arial" charset="0"/>
                </a:rPr>
                <a:t>K   (m)</a:t>
              </a:r>
            </a:p>
          </p:txBody>
        </p:sp>
        <p:sp>
          <p:nvSpPr>
            <p:cNvPr id="42036" name="Text Box 46"/>
            <p:cNvSpPr txBox="1">
              <a:spLocks noChangeArrowheads="1"/>
            </p:cNvSpPr>
            <p:nvPr/>
          </p:nvSpPr>
          <p:spPr bwMode="auto">
            <a:xfrm>
              <a:off x="3726" y="3430"/>
              <a:ext cx="20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80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+</a:t>
              </a:r>
            </a:p>
          </p:txBody>
        </p:sp>
      </p:grpSp>
      <p:grpSp>
        <p:nvGrpSpPr>
          <p:cNvPr id="81949" name="Group 47"/>
          <p:cNvGrpSpPr>
            <a:grpSpLocks/>
          </p:cNvGrpSpPr>
          <p:nvPr/>
        </p:nvGrpSpPr>
        <p:grpSpPr bwMode="auto">
          <a:xfrm>
            <a:off x="3814763" y="5006975"/>
            <a:ext cx="1768475" cy="719138"/>
            <a:chOff x="1299" y="3314"/>
            <a:chExt cx="1114" cy="453"/>
          </a:xfrm>
        </p:grpSpPr>
        <p:sp>
          <p:nvSpPr>
            <p:cNvPr id="42029" name="Text Box 48"/>
            <p:cNvSpPr txBox="1">
              <a:spLocks noChangeArrowheads="1"/>
            </p:cNvSpPr>
            <p:nvPr/>
          </p:nvSpPr>
          <p:spPr bwMode="auto">
            <a:xfrm>
              <a:off x="1661" y="3526"/>
              <a:ext cx="20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80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T</a:t>
              </a:r>
            </a:p>
          </p:txBody>
        </p:sp>
        <p:sp>
          <p:nvSpPr>
            <p:cNvPr id="42030" name="Text Box 49"/>
            <p:cNvSpPr txBox="1">
              <a:spLocks noChangeArrowheads="1"/>
            </p:cNvSpPr>
            <p:nvPr/>
          </p:nvSpPr>
          <p:spPr bwMode="auto">
            <a:xfrm>
              <a:off x="1299" y="3414"/>
              <a:ext cx="1114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800" dirty="0">
                  <a:latin typeface="Arial" charset="0"/>
                  <a:cs typeface="Arial" charset="0"/>
                </a:rPr>
                <a:t>m = K  (K   (m))</a:t>
              </a:r>
            </a:p>
          </p:txBody>
        </p:sp>
        <p:sp>
          <p:nvSpPr>
            <p:cNvPr id="42031" name="Text Box 50"/>
            <p:cNvSpPr txBox="1">
              <a:spLocks noChangeArrowheads="1"/>
            </p:cNvSpPr>
            <p:nvPr/>
          </p:nvSpPr>
          <p:spPr bwMode="auto">
            <a:xfrm>
              <a:off x="1901" y="3332"/>
              <a:ext cx="20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80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+</a:t>
              </a:r>
            </a:p>
          </p:txBody>
        </p:sp>
        <p:sp>
          <p:nvSpPr>
            <p:cNvPr id="42032" name="Text Box 51"/>
            <p:cNvSpPr txBox="1">
              <a:spLocks noChangeArrowheads="1"/>
            </p:cNvSpPr>
            <p:nvPr/>
          </p:nvSpPr>
          <p:spPr bwMode="auto">
            <a:xfrm>
              <a:off x="1905" y="3534"/>
              <a:ext cx="20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80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T</a:t>
              </a:r>
            </a:p>
          </p:txBody>
        </p:sp>
        <p:sp>
          <p:nvSpPr>
            <p:cNvPr id="42033" name="Text Box 52"/>
            <p:cNvSpPr txBox="1">
              <a:spLocks noChangeArrowheads="1"/>
            </p:cNvSpPr>
            <p:nvPr/>
          </p:nvSpPr>
          <p:spPr bwMode="auto">
            <a:xfrm>
              <a:off x="1688" y="3314"/>
              <a:ext cx="16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80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-</a:t>
              </a:r>
            </a:p>
          </p:txBody>
        </p:sp>
      </p:grpSp>
      <p:sp>
        <p:nvSpPr>
          <p:cNvPr id="42014" name="Text Box 53"/>
          <p:cNvSpPr txBox="1">
            <a:spLocks noChangeArrowheads="1"/>
          </p:cNvSpPr>
          <p:nvPr/>
        </p:nvSpPr>
        <p:spPr bwMode="auto">
          <a:xfrm>
            <a:off x="3865639" y="4819650"/>
            <a:ext cx="142859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1800" dirty="0">
                <a:latin typeface="Arial" charset="0"/>
                <a:cs typeface="Arial" charset="0"/>
              </a:rPr>
              <a:t>Manish gets</a:t>
            </a:r>
          </a:p>
        </p:txBody>
      </p:sp>
      <p:sp>
        <p:nvSpPr>
          <p:cNvPr id="42015" name="Text Box 54"/>
          <p:cNvSpPr txBox="1">
            <a:spLocks noChangeArrowheads="1"/>
          </p:cNvSpPr>
          <p:nvPr/>
        </p:nvSpPr>
        <p:spPr bwMode="auto">
          <a:xfrm>
            <a:off x="3714750" y="5511800"/>
            <a:ext cx="200183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1800" dirty="0">
                <a:latin typeface="Arial" charset="0"/>
                <a:cs typeface="Arial" charset="0"/>
              </a:rPr>
              <a:t>sends m to Aman encrypted with Aman</a:t>
            </a:r>
            <a:r>
              <a:rPr lang="ja-JP" altLang="en-US" sz="1800" dirty="0">
                <a:latin typeface="Arial" charset="0"/>
                <a:cs typeface="Arial" charset="0"/>
              </a:rPr>
              <a:t>’</a:t>
            </a:r>
            <a:r>
              <a:rPr lang="en-US" sz="1800" dirty="0">
                <a:latin typeface="Arial" charset="0"/>
                <a:cs typeface="Arial" charset="0"/>
              </a:rPr>
              <a:t>s public key</a:t>
            </a:r>
          </a:p>
        </p:txBody>
      </p:sp>
      <p:sp>
        <p:nvSpPr>
          <p:cNvPr id="42016" name="Line 55"/>
          <p:cNvSpPr>
            <a:spLocks noChangeShapeType="1"/>
          </p:cNvSpPr>
          <p:nvPr/>
        </p:nvSpPr>
        <p:spPr bwMode="auto">
          <a:xfrm flipH="1">
            <a:off x="1782763" y="5767388"/>
            <a:ext cx="1712912" cy="6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81953" name="Group 56"/>
          <p:cNvGrpSpPr>
            <a:grpSpLocks/>
          </p:cNvGrpSpPr>
          <p:nvPr/>
        </p:nvGrpSpPr>
        <p:grpSpPr bwMode="auto">
          <a:xfrm>
            <a:off x="2566988" y="5230813"/>
            <a:ext cx="806450" cy="677862"/>
            <a:chOff x="3691" y="3430"/>
            <a:chExt cx="508" cy="427"/>
          </a:xfrm>
        </p:grpSpPr>
        <p:sp>
          <p:nvSpPr>
            <p:cNvPr id="42026" name="Text Box 57"/>
            <p:cNvSpPr txBox="1">
              <a:spLocks noChangeArrowheads="1"/>
            </p:cNvSpPr>
            <p:nvPr/>
          </p:nvSpPr>
          <p:spPr bwMode="auto">
            <a:xfrm>
              <a:off x="3771" y="3626"/>
              <a:ext cx="22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80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A</a:t>
              </a:r>
              <a:endParaRPr lang="en-US" sz="2400" dirty="0">
                <a:latin typeface="Arial" charset="0"/>
                <a:cs typeface="Arial" charset="0"/>
              </a:endParaRPr>
            </a:p>
          </p:txBody>
        </p:sp>
        <p:sp>
          <p:nvSpPr>
            <p:cNvPr id="42027" name="Text Box 58"/>
            <p:cNvSpPr txBox="1">
              <a:spLocks noChangeArrowheads="1"/>
            </p:cNvSpPr>
            <p:nvPr/>
          </p:nvSpPr>
          <p:spPr bwMode="auto">
            <a:xfrm>
              <a:off x="3691" y="3540"/>
              <a:ext cx="50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800" dirty="0">
                  <a:latin typeface="Arial" charset="0"/>
                  <a:cs typeface="Arial" charset="0"/>
                </a:rPr>
                <a:t>K  (m)</a:t>
              </a:r>
            </a:p>
          </p:txBody>
        </p:sp>
        <p:sp>
          <p:nvSpPr>
            <p:cNvPr id="42028" name="Text Box 59"/>
            <p:cNvSpPr txBox="1">
              <a:spLocks noChangeArrowheads="1"/>
            </p:cNvSpPr>
            <p:nvPr/>
          </p:nvSpPr>
          <p:spPr bwMode="auto">
            <a:xfrm>
              <a:off x="3765" y="3430"/>
              <a:ext cx="20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80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+</a:t>
              </a:r>
            </a:p>
          </p:txBody>
        </p:sp>
      </p:grpSp>
      <p:grpSp>
        <p:nvGrpSpPr>
          <p:cNvPr id="81954" name="Group 60"/>
          <p:cNvGrpSpPr>
            <a:grpSpLocks/>
          </p:cNvGrpSpPr>
          <p:nvPr/>
        </p:nvGrpSpPr>
        <p:grpSpPr bwMode="auto">
          <a:xfrm>
            <a:off x="296863" y="5646738"/>
            <a:ext cx="1768475" cy="711200"/>
            <a:chOff x="1299" y="3317"/>
            <a:chExt cx="1114" cy="448"/>
          </a:xfrm>
        </p:grpSpPr>
        <p:sp>
          <p:nvSpPr>
            <p:cNvPr id="42021" name="Text Box 61"/>
            <p:cNvSpPr txBox="1">
              <a:spLocks noChangeArrowheads="1"/>
            </p:cNvSpPr>
            <p:nvPr/>
          </p:nvSpPr>
          <p:spPr bwMode="auto">
            <a:xfrm>
              <a:off x="1654" y="3526"/>
              <a:ext cx="22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80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A</a:t>
              </a:r>
            </a:p>
          </p:txBody>
        </p:sp>
        <p:sp>
          <p:nvSpPr>
            <p:cNvPr id="42022" name="Text Box 62"/>
            <p:cNvSpPr txBox="1">
              <a:spLocks noChangeArrowheads="1"/>
            </p:cNvSpPr>
            <p:nvPr/>
          </p:nvSpPr>
          <p:spPr bwMode="auto">
            <a:xfrm>
              <a:off x="1299" y="3414"/>
              <a:ext cx="1114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800" dirty="0">
                  <a:latin typeface="Arial" charset="0"/>
                  <a:cs typeface="Arial" charset="0"/>
                </a:rPr>
                <a:t>m = K  (K   (m))</a:t>
              </a:r>
            </a:p>
          </p:txBody>
        </p:sp>
        <p:sp>
          <p:nvSpPr>
            <p:cNvPr id="42023" name="Text Box 63"/>
            <p:cNvSpPr txBox="1">
              <a:spLocks noChangeArrowheads="1"/>
            </p:cNvSpPr>
            <p:nvPr/>
          </p:nvSpPr>
          <p:spPr bwMode="auto">
            <a:xfrm>
              <a:off x="1901" y="3332"/>
              <a:ext cx="20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80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+</a:t>
              </a:r>
            </a:p>
          </p:txBody>
        </p:sp>
        <p:sp>
          <p:nvSpPr>
            <p:cNvPr id="42024" name="Text Box 64"/>
            <p:cNvSpPr txBox="1">
              <a:spLocks noChangeArrowheads="1"/>
            </p:cNvSpPr>
            <p:nvPr/>
          </p:nvSpPr>
          <p:spPr bwMode="auto">
            <a:xfrm>
              <a:off x="1898" y="3534"/>
              <a:ext cx="22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80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A</a:t>
              </a:r>
            </a:p>
          </p:txBody>
        </p:sp>
        <p:sp>
          <p:nvSpPr>
            <p:cNvPr id="42025" name="Text Box 65"/>
            <p:cNvSpPr txBox="1">
              <a:spLocks noChangeArrowheads="1"/>
            </p:cNvSpPr>
            <p:nvPr/>
          </p:nvSpPr>
          <p:spPr bwMode="auto">
            <a:xfrm>
              <a:off x="1685" y="3317"/>
              <a:ext cx="16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80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-</a:t>
              </a:r>
            </a:p>
          </p:txBody>
        </p:sp>
      </p:grpSp>
      <p:sp>
        <p:nvSpPr>
          <p:cNvPr id="42019" name="Text Box 66"/>
          <p:cNvSpPr txBox="1">
            <a:spLocks noChangeArrowheads="1"/>
          </p:cNvSpPr>
          <p:nvPr/>
        </p:nvSpPr>
        <p:spPr bwMode="auto">
          <a:xfrm>
            <a:off x="2224088" y="3305175"/>
            <a:ext cx="352425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1800" dirty="0">
                <a:latin typeface="Arial" charset="0"/>
                <a:cs typeface="Arial" charset="0"/>
              </a:rPr>
              <a:t>R</a:t>
            </a:r>
          </a:p>
        </p:txBody>
      </p:sp>
      <p:sp>
        <p:nvSpPr>
          <p:cNvPr id="69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48</a:t>
            </a:fld>
            <a:endParaRPr lang="en-US" sz="1200" dirty="0">
              <a:latin typeface="Tahoma" charset="0"/>
            </a:endParaRPr>
          </a:p>
        </p:txBody>
      </p:sp>
      <p:sp>
        <p:nvSpPr>
          <p:cNvPr id="70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37708496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945" name="Picture 21" descr="underline_base"/>
          <p:cNvPicPr>
            <a:picLocks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425" y="1050925"/>
            <a:ext cx="50276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9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ill Sans MT" charset="0"/>
              </a:rPr>
              <a:t>Public-key certification</a:t>
            </a:r>
          </a:p>
        </p:txBody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490663"/>
            <a:ext cx="7772400" cy="4648200"/>
          </a:xfrm>
        </p:spPr>
        <p:txBody>
          <a:bodyPr/>
          <a:lstStyle/>
          <a:p>
            <a:r>
              <a:rPr lang="en-US" dirty="0">
                <a:latin typeface="Gill Sans MT" charset="0"/>
              </a:rPr>
              <a:t>motivation: Manish plays pizza prank on Brajesh</a:t>
            </a:r>
          </a:p>
          <a:p>
            <a:pPr lvl="1"/>
            <a:r>
              <a:rPr lang="en-US" dirty="0">
                <a:latin typeface="Gill Sans MT" charset="0"/>
              </a:rPr>
              <a:t>Manish creates e-mail order: </a:t>
            </a:r>
            <a:br>
              <a:rPr lang="en-US" dirty="0">
                <a:latin typeface="Gill Sans MT" charset="0"/>
              </a:rPr>
            </a:br>
            <a:r>
              <a:rPr lang="en-US" i="1" dirty="0">
                <a:latin typeface="Gill Sans MT" charset="0"/>
              </a:rPr>
              <a:t>Dear Pizza Store, Please deliver to me four pepperoni pizzas. Thank you, Brajesh</a:t>
            </a:r>
          </a:p>
          <a:p>
            <a:pPr lvl="1"/>
            <a:r>
              <a:rPr lang="en-US" dirty="0">
                <a:latin typeface="Gill Sans MT" charset="0"/>
              </a:rPr>
              <a:t>Manish signs order with her private key</a:t>
            </a:r>
          </a:p>
          <a:p>
            <a:pPr lvl="1"/>
            <a:r>
              <a:rPr lang="en-US" dirty="0">
                <a:latin typeface="Gill Sans MT" charset="0"/>
              </a:rPr>
              <a:t>Manish sends order to Pizza Store</a:t>
            </a:r>
          </a:p>
          <a:p>
            <a:pPr lvl="1"/>
            <a:r>
              <a:rPr lang="en-US" dirty="0">
                <a:latin typeface="Gill Sans MT" charset="0"/>
              </a:rPr>
              <a:t>Manish sends to Pizza Store her public key, but says it</a:t>
            </a:r>
            <a:r>
              <a:rPr lang="ja-JP" altLang="en-US" dirty="0">
                <a:latin typeface="Gill Sans MT" charset="0"/>
              </a:rPr>
              <a:t>’</a:t>
            </a:r>
            <a:r>
              <a:rPr lang="en-US" altLang="ja-JP" dirty="0">
                <a:latin typeface="Gill Sans MT" charset="0"/>
              </a:rPr>
              <a:t>s Brajesh</a:t>
            </a:r>
            <a:r>
              <a:rPr lang="ja-JP" altLang="en-US" dirty="0">
                <a:latin typeface="Gill Sans MT" charset="0"/>
              </a:rPr>
              <a:t>’</a:t>
            </a:r>
            <a:r>
              <a:rPr lang="en-US" altLang="ja-JP" dirty="0">
                <a:latin typeface="Gill Sans MT" charset="0"/>
              </a:rPr>
              <a:t>s public key</a:t>
            </a:r>
          </a:p>
          <a:p>
            <a:pPr lvl="1"/>
            <a:r>
              <a:rPr lang="en-US" dirty="0">
                <a:latin typeface="Gill Sans MT" charset="0"/>
              </a:rPr>
              <a:t>Pizza Store verifies signature; then delivers four pepperoni pizzas to Brajesh</a:t>
            </a:r>
          </a:p>
          <a:p>
            <a:pPr lvl="1"/>
            <a:r>
              <a:rPr lang="en-US" dirty="0">
                <a:latin typeface="Gill Sans MT" charset="0"/>
              </a:rPr>
              <a:t>Brajesh doesn’</a:t>
            </a:r>
            <a:r>
              <a:rPr lang="en-US" altLang="ja-JP" dirty="0">
                <a:latin typeface="Gill Sans MT" charset="0"/>
              </a:rPr>
              <a:t>t even like pepperoni</a:t>
            </a:r>
          </a:p>
          <a:p>
            <a:pPr lvl="1"/>
            <a:endParaRPr lang="en-US" dirty="0">
              <a:latin typeface="Gill Sans MT" charset="0"/>
            </a:endParaRPr>
          </a:p>
        </p:txBody>
      </p:sp>
      <p:sp>
        <p:nvSpPr>
          <p:cNvPr id="6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49</a:t>
            </a:fld>
            <a:endParaRPr lang="en-US" sz="1200" dirty="0">
              <a:latin typeface="Tahoma" charset="0"/>
            </a:endParaRPr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100346603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>
          <a:xfrm>
            <a:off x="522288" y="130175"/>
            <a:ext cx="6302375" cy="1143000"/>
          </a:xfrm>
        </p:spPr>
        <p:txBody>
          <a:bodyPr/>
          <a:lstStyle/>
          <a:p>
            <a:r>
              <a:rPr lang="en-US" dirty="0">
                <a:latin typeface="Gill Sans MT" charset="0"/>
              </a:rPr>
              <a:t>Certification authorities</a:t>
            </a:r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61975" y="1382713"/>
            <a:ext cx="7902575" cy="4648200"/>
          </a:xfrm>
        </p:spPr>
        <p:txBody>
          <a:bodyPr/>
          <a:lstStyle/>
          <a:p>
            <a:r>
              <a:rPr lang="en-US" i="1" dirty="0">
                <a:solidFill>
                  <a:srgbClr val="C00000"/>
                </a:solidFill>
                <a:latin typeface="Gill Sans MT" charset="0"/>
              </a:rPr>
              <a:t>certification authority (CA): </a:t>
            </a:r>
            <a:r>
              <a:rPr lang="en-US" sz="2400" dirty="0">
                <a:latin typeface="Gill Sans MT" charset="0"/>
              </a:rPr>
              <a:t>binds public key to particular entity, E.</a:t>
            </a:r>
          </a:p>
          <a:p>
            <a:r>
              <a:rPr lang="en-US" sz="2400" dirty="0">
                <a:latin typeface="Gill Sans MT" charset="0"/>
              </a:rPr>
              <a:t>E (person, router) registers its public key with CA.</a:t>
            </a:r>
          </a:p>
          <a:p>
            <a:pPr lvl="1"/>
            <a:r>
              <a:rPr lang="en-US" sz="2000" dirty="0">
                <a:latin typeface="Gill Sans MT" charset="0"/>
              </a:rPr>
              <a:t>E provides </a:t>
            </a:r>
            <a:r>
              <a:rPr lang="ja-JP" altLang="en-US" sz="2000">
                <a:latin typeface="Gill Sans MT" charset="0"/>
              </a:rPr>
              <a:t>“</a:t>
            </a:r>
            <a:r>
              <a:rPr lang="en-US" altLang="ja-JP" sz="2000" dirty="0">
                <a:latin typeface="Gill Sans MT" charset="0"/>
              </a:rPr>
              <a:t>proof of identity</a:t>
            </a:r>
            <a:r>
              <a:rPr lang="ja-JP" altLang="en-US" sz="2000">
                <a:latin typeface="Gill Sans MT" charset="0"/>
              </a:rPr>
              <a:t>”</a:t>
            </a:r>
            <a:r>
              <a:rPr lang="en-US" altLang="ja-JP" sz="2000" dirty="0">
                <a:latin typeface="Gill Sans MT" charset="0"/>
              </a:rPr>
              <a:t> to CA. </a:t>
            </a:r>
          </a:p>
          <a:p>
            <a:pPr lvl="1"/>
            <a:r>
              <a:rPr lang="en-US" sz="2000" dirty="0">
                <a:latin typeface="Gill Sans MT" charset="0"/>
              </a:rPr>
              <a:t>CA creates certificate binding E to its public key.</a:t>
            </a:r>
          </a:p>
          <a:p>
            <a:pPr lvl="1"/>
            <a:r>
              <a:rPr lang="en-US" sz="2000" dirty="0">
                <a:latin typeface="Gill Sans MT" charset="0"/>
              </a:rPr>
              <a:t>certificate containing E</a:t>
            </a:r>
            <a:r>
              <a:rPr lang="ja-JP" altLang="en-US" sz="2000">
                <a:latin typeface="Gill Sans MT" charset="0"/>
              </a:rPr>
              <a:t>’</a:t>
            </a:r>
            <a:r>
              <a:rPr lang="en-US" altLang="ja-JP" sz="2000" dirty="0">
                <a:latin typeface="Gill Sans MT" charset="0"/>
              </a:rPr>
              <a:t>s public key digitally signed by CA – CA says </a:t>
            </a:r>
            <a:r>
              <a:rPr lang="ja-JP" altLang="en-US" sz="2000">
                <a:latin typeface="Gill Sans MT" charset="0"/>
              </a:rPr>
              <a:t>“</a:t>
            </a:r>
            <a:r>
              <a:rPr lang="en-US" altLang="ja-JP" sz="2000" dirty="0">
                <a:latin typeface="Gill Sans MT" charset="0"/>
              </a:rPr>
              <a:t>this is E</a:t>
            </a:r>
            <a:r>
              <a:rPr lang="ja-JP" altLang="en-US" sz="2000">
                <a:latin typeface="Gill Sans MT" charset="0"/>
              </a:rPr>
              <a:t>’</a:t>
            </a:r>
            <a:r>
              <a:rPr lang="en-US" altLang="ja-JP" sz="2000" dirty="0">
                <a:latin typeface="Gill Sans MT" charset="0"/>
              </a:rPr>
              <a:t>s public key</a:t>
            </a:r>
            <a:r>
              <a:rPr lang="ja-JP" altLang="en-US" sz="2000">
                <a:latin typeface="Gill Sans MT" charset="0"/>
              </a:rPr>
              <a:t>”</a:t>
            </a:r>
            <a:endParaRPr lang="en-US" sz="2000" dirty="0">
              <a:latin typeface="Gill Sans MT" charset="0"/>
            </a:endParaRPr>
          </a:p>
        </p:txBody>
      </p:sp>
      <p:pic>
        <p:nvPicPr>
          <p:cNvPr id="83972" name="Picture 4" descr="j0175664[1]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324225" y="4979988"/>
            <a:ext cx="1155700" cy="917575"/>
          </a:xfrm>
          <a:noFill/>
        </p:spPr>
      </p:pic>
      <p:pic>
        <p:nvPicPr>
          <p:cNvPr id="83973" name="Picture 5" descr="Bob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0388" y="5702300"/>
            <a:ext cx="590550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3974" name="Text Box 6"/>
          <p:cNvSpPr txBox="1">
            <a:spLocks noChangeArrowheads="1"/>
          </p:cNvSpPr>
          <p:nvPr/>
        </p:nvSpPr>
        <p:spPr bwMode="auto">
          <a:xfrm>
            <a:off x="1155700" y="4324350"/>
            <a:ext cx="960438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r"/>
            <a:r>
              <a:rPr lang="en-US" sz="1600" dirty="0">
                <a:latin typeface="Arial" charset="0"/>
                <a:cs typeface="Arial" charset="0"/>
              </a:rPr>
              <a:t>Brajesh</a:t>
            </a:r>
            <a:r>
              <a:rPr lang="ja-JP" altLang="en-US" sz="1600" dirty="0">
                <a:latin typeface="Arial" charset="0"/>
                <a:cs typeface="Arial" charset="0"/>
              </a:rPr>
              <a:t>’</a:t>
            </a:r>
            <a:r>
              <a:rPr lang="en-US" altLang="ja-JP" sz="1600" dirty="0">
                <a:latin typeface="Arial" charset="0"/>
                <a:cs typeface="Arial" charset="0"/>
              </a:rPr>
              <a:t>s </a:t>
            </a:r>
          </a:p>
          <a:p>
            <a:pPr algn="r"/>
            <a:r>
              <a:rPr lang="en-US" sz="1600" dirty="0">
                <a:latin typeface="Arial" charset="0"/>
                <a:cs typeface="Arial" charset="0"/>
              </a:rPr>
              <a:t>public</a:t>
            </a:r>
          </a:p>
          <a:p>
            <a:pPr algn="r"/>
            <a:r>
              <a:rPr lang="en-US" sz="1600" dirty="0">
                <a:latin typeface="Arial" charset="0"/>
                <a:cs typeface="Arial" charset="0"/>
              </a:rPr>
              <a:t>key </a:t>
            </a:r>
          </a:p>
        </p:txBody>
      </p:sp>
      <p:pic>
        <p:nvPicPr>
          <p:cNvPr id="83975" name="Picture 7" descr="BS00768_[1]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2133600" y="4405313"/>
            <a:ext cx="458788" cy="236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3976" name="Group 8"/>
          <p:cNvGrpSpPr>
            <a:grpSpLocks/>
          </p:cNvGrpSpPr>
          <p:nvPr/>
        </p:nvGrpSpPr>
        <p:grpSpPr bwMode="auto">
          <a:xfrm>
            <a:off x="2043113" y="4643438"/>
            <a:ext cx="538162" cy="604837"/>
            <a:chOff x="2994" y="2073"/>
            <a:chExt cx="339" cy="381"/>
          </a:xfrm>
        </p:grpSpPr>
        <p:grpSp>
          <p:nvGrpSpPr>
            <p:cNvPr id="84000" name="Group 9"/>
            <p:cNvGrpSpPr>
              <a:grpSpLocks/>
            </p:cNvGrpSpPr>
            <p:nvPr/>
          </p:nvGrpSpPr>
          <p:grpSpPr bwMode="auto">
            <a:xfrm>
              <a:off x="2994" y="2144"/>
              <a:ext cx="339" cy="310"/>
              <a:chOff x="2994" y="2144"/>
              <a:chExt cx="339" cy="310"/>
            </a:xfrm>
          </p:grpSpPr>
          <p:sp>
            <p:nvSpPr>
              <p:cNvPr id="84002" name="Text Box 10"/>
              <p:cNvSpPr txBox="1">
                <a:spLocks noChangeArrowheads="1"/>
              </p:cNvSpPr>
              <p:nvPr/>
            </p:nvSpPr>
            <p:spPr bwMode="auto">
              <a:xfrm>
                <a:off x="2994" y="2144"/>
                <a:ext cx="269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K </a:t>
                </a:r>
              </a:p>
            </p:txBody>
          </p:sp>
          <p:sp>
            <p:nvSpPr>
              <p:cNvPr id="84003" name="Text Box 11"/>
              <p:cNvSpPr txBox="1">
                <a:spLocks noChangeArrowheads="1"/>
              </p:cNvSpPr>
              <p:nvPr/>
            </p:nvSpPr>
            <p:spPr bwMode="auto">
              <a:xfrm>
                <a:off x="3131" y="2241"/>
                <a:ext cx="202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1600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B</a:t>
                </a:r>
              </a:p>
            </p:txBody>
          </p:sp>
        </p:grpSp>
        <p:sp>
          <p:nvSpPr>
            <p:cNvPr id="84001" name="Text Box 12"/>
            <p:cNvSpPr txBox="1">
              <a:spLocks noChangeArrowheads="1"/>
            </p:cNvSpPr>
            <p:nvPr/>
          </p:nvSpPr>
          <p:spPr bwMode="auto">
            <a:xfrm>
              <a:off x="3133" y="2073"/>
              <a:ext cx="192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6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+</a:t>
              </a:r>
            </a:p>
          </p:txBody>
        </p:sp>
      </p:grpSp>
      <p:sp>
        <p:nvSpPr>
          <p:cNvPr id="83977" name="Line 13"/>
          <p:cNvSpPr>
            <a:spLocks noChangeShapeType="1"/>
          </p:cNvSpPr>
          <p:nvPr/>
        </p:nvSpPr>
        <p:spPr bwMode="auto">
          <a:xfrm>
            <a:off x="2562225" y="4651375"/>
            <a:ext cx="698500" cy="61595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83978" name="Text Box 14"/>
          <p:cNvSpPr txBox="1">
            <a:spLocks noChangeArrowheads="1"/>
          </p:cNvSpPr>
          <p:nvPr/>
        </p:nvSpPr>
        <p:spPr bwMode="auto">
          <a:xfrm>
            <a:off x="565150" y="5507038"/>
            <a:ext cx="1309688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r"/>
            <a:r>
              <a:rPr lang="en-US" sz="1600" dirty="0">
                <a:latin typeface="Arial" charset="0"/>
                <a:cs typeface="Arial" charset="0"/>
              </a:rPr>
              <a:t>Brajesh</a:t>
            </a:r>
            <a:r>
              <a:rPr lang="ja-JP" altLang="en-US" sz="1600" dirty="0">
                <a:latin typeface="Arial" charset="0"/>
                <a:cs typeface="Arial" charset="0"/>
              </a:rPr>
              <a:t>’</a:t>
            </a:r>
            <a:r>
              <a:rPr lang="en-US" altLang="ja-JP" sz="1600" dirty="0">
                <a:latin typeface="Arial" charset="0"/>
                <a:cs typeface="Arial" charset="0"/>
              </a:rPr>
              <a:t>s </a:t>
            </a:r>
          </a:p>
          <a:p>
            <a:pPr algn="r"/>
            <a:r>
              <a:rPr lang="en-US" sz="1600" dirty="0">
                <a:latin typeface="Arial" charset="0"/>
                <a:cs typeface="Arial" charset="0"/>
              </a:rPr>
              <a:t>identifying information </a:t>
            </a:r>
          </a:p>
        </p:txBody>
      </p:sp>
      <p:sp>
        <p:nvSpPr>
          <p:cNvPr id="83979" name="Line 15"/>
          <p:cNvSpPr>
            <a:spLocks noChangeShapeType="1"/>
          </p:cNvSpPr>
          <p:nvPr/>
        </p:nvSpPr>
        <p:spPr bwMode="auto">
          <a:xfrm flipV="1">
            <a:off x="2525713" y="5434013"/>
            <a:ext cx="741362" cy="341312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grpSp>
        <p:nvGrpSpPr>
          <p:cNvPr id="54285" name="Group 16"/>
          <p:cNvGrpSpPr>
            <a:grpSpLocks/>
          </p:cNvGrpSpPr>
          <p:nvPr/>
        </p:nvGrpSpPr>
        <p:grpSpPr bwMode="auto">
          <a:xfrm>
            <a:off x="4856163" y="4224338"/>
            <a:ext cx="1192212" cy="955675"/>
            <a:chOff x="1126" y="2124"/>
            <a:chExt cx="751" cy="602"/>
          </a:xfrm>
          <a:solidFill>
            <a:srgbClr val="008000"/>
          </a:solidFill>
        </p:grpSpPr>
        <p:sp>
          <p:nvSpPr>
            <p:cNvPr id="54305" name="Rectangle 17"/>
            <p:cNvSpPr>
              <a:spLocks noChangeArrowheads="1"/>
            </p:cNvSpPr>
            <p:nvPr/>
          </p:nvSpPr>
          <p:spPr bwMode="auto">
            <a:xfrm>
              <a:off x="1126" y="2124"/>
              <a:ext cx="751" cy="60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54306" name="Text Box 18"/>
            <p:cNvSpPr txBox="1">
              <a:spLocks noChangeArrowheads="1"/>
            </p:cNvSpPr>
            <p:nvPr/>
          </p:nvSpPr>
          <p:spPr bwMode="auto">
            <a:xfrm>
              <a:off x="1134" y="2127"/>
              <a:ext cx="742" cy="57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800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digital</a:t>
              </a:r>
            </a:p>
            <a:p>
              <a:pPr algn="ctr">
                <a:defRPr/>
              </a:pPr>
              <a:r>
                <a:rPr lang="en-US" sz="1800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signature</a:t>
              </a:r>
            </a:p>
            <a:p>
              <a:pPr algn="ctr">
                <a:defRPr/>
              </a:pPr>
              <a:r>
                <a:rPr lang="en-US" sz="1800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(encrypt)</a:t>
              </a:r>
            </a:p>
          </p:txBody>
        </p:sp>
      </p:grpSp>
      <p:sp>
        <p:nvSpPr>
          <p:cNvPr id="83981" name="Text Box 19"/>
          <p:cNvSpPr txBox="1">
            <a:spLocks noChangeArrowheads="1"/>
          </p:cNvSpPr>
          <p:nvPr/>
        </p:nvSpPr>
        <p:spPr bwMode="auto">
          <a:xfrm>
            <a:off x="4546600" y="5219700"/>
            <a:ext cx="960438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r"/>
            <a:r>
              <a:rPr lang="en-US" sz="1600" dirty="0">
                <a:latin typeface="Arial" charset="0"/>
                <a:cs typeface="Arial" charset="0"/>
              </a:rPr>
              <a:t>CA </a:t>
            </a:r>
          </a:p>
          <a:p>
            <a:pPr algn="r"/>
            <a:r>
              <a:rPr lang="en-US" sz="1600" dirty="0">
                <a:latin typeface="Arial" charset="0"/>
                <a:cs typeface="Arial" charset="0"/>
              </a:rPr>
              <a:t>private</a:t>
            </a:r>
          </a:p>
          <a:p>
            <a:pPr algn="r"/>
            <a:r>
              <a:rPr lang="en-US" sz="1600" dirty="0">
                <a:latin typeface="Arial" charset="0"/>
                <a:cs typeface="Arial" charset="0"/>
              </a:rPr>
              <a:t>key </a:t>
            </a:r>
          </a:p>
        </p:txBody>
      </p:sp>
      <p:pic>
        <p:nvPicPr>
          <p:cNvPr id="83982" name="Picture 20" descr="BS00768_[1]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5715000" y="5313363"/>
            <a:ext cx="458788" cy="236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3983" name="Group 21"/>
          <p:cNvGrpSpPr>
            <a:grpSpLocks/>
          </p:cNvGrpSpPr>
          <p:nvPr/>
        </p:nvGrpSpPr>
        <p:grpSpPr bwMode="auto">
          <a:xfrm>
            <a:off x="5403850" y="5551488"/>
            <a:ext cx="690563" cy="479425"/>
            <a:chOff x="3770" y="3688"/>
            <a:chExt cx="435" cy="302"/>
          </a:xfrm>
        </p:grpSpPr>
        <p:sp>
          <p:nvSpPr>
            <p:cNvPr id="83998" name="Text Box 22"/>
            <p:cNvSpPr txBox="1">
              <a:spLocks noChangeArrowheads="1"/>
            </p:cNvSpPr>
            <p:nvPr/>
          </p:nvSpPr>
          <p:spPr bwMode="auto">
            <a:xfrm>
              <a:off x="3770" y="3688"/>
              <a:ext cx="269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K </a:t>
              </a:r>
            </a:p>
          </p:txBody>
        </p:sp>
        <p:sp>
          <p:nvSpPr>
            <p:cNvPr id="83999" name="Text Box 23"/>
            <p:cNvSpPr txBox="1">
              <a:spLocks noChangeArrowheads="1"/>
            </p:cNvSpPr>
            <p:nvPr/>
          </p:nvSpPr>
          <p:spPr bwMode="auto">
            <a:xfrm>
              <a:off x="3910" y="3777"/>
              <a:ext cx="295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6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CA</a:t>
              </a:r>
            </a:p>
          </p:txBody>
        </p:sp>
      </p:grpSp>
      <p:sp>
        <p:nvSpPr>
          <p:cNvPr id="83984" name="Text Box 24"/>
          <p:cNvSpPr txBox="1">
            <a:spLocks noChangeArrowheads="1"/>
          </p:cNvSpPr>
          <p:nvPr/>
        </p:nvSpPr>
        <p:spPr bwMode="auto">
          <a:xfrm>
            <a:off x="5643563" y="5368925"/>
            <a:ext cx="2857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2400" dirty="0">
                <a:solidFill>
                  <a:srgbClr val="C00000"/>
                </a:solidFill>
                <a:latin typeface="Arial" charset="0"/>
                <a:cs typeface="Arial" charset="0"/>
              </a:rPr>
              <a:t>-</a:t>
            </a:r>
          </a:p>
        </p:txBody>
      </p:sp>
      <p:sp>
        <p:nvSpPr>
          <p:cNvPr id="83985" name="Line 25"/>
          <p:cNvSpPr>
            <a:spLocks noChangeShapeType="1"/>
          </p:cNvSpPr>
          <p:nvPr/>
        </p:nvSpPr>
        <p:spPr bwMode="auto">
          <a:xfrm flipV="1">
            <a:off x="5634038" y="5132388"/>
            <a:ext cx="0" cy="428625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83986" name="Line 26"/>
          <p:cNvSpPr>
            <a:spLocks noChangeShapeType="1"/>
          </p:cNvSpPr>
          <p:nvPr/>
        </p:nvSpPr>
        <p:spPr bwMode="auto">
          <a:xfrm>
            <a:off x="2613025" y="4468813"/>
            <a:ext cx="2222500" cy="63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83987" name="Line 27"/>
          <p:cNvSpPr>
            <a:spLocks noChangeShapeType="1"/>
          </p:cNvSpPr>
          <p:nvPr/>
        </p:nvSpPr>
        <p:spPr bwMode="auto">
          <a:xfrm flipV="1">
            <a:off x="6089650" y="4495800"/>
            <a:ext cx="1133475" cy="95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grpSp>
        <p:nvGrpSpPr>
          <p:cNvPr id="83988" name="Group 28"/>
          <p:cNvGrpSpPr>
            <a:grpSpLocks/>
          </p:cNvGrpSpPr>
          <p:nvPr/>
        </p:nvGrpSpPr>
        <p:grpSpPr bwMode="auto">
          <a:xfrm>
            <a:off x="7058025" y="4203700"/>
            <a:ext cx="858838" cy="1158875"/>
            <a:chOff x="4446" y="2648"/>
            <a:chExt cx="541" cy="730"/>
          </a:xfrm>
        </p:grpSpPr>
        <p:pic>
          <p:nvPicPr>
            <p:cNvPr id="83991" name="Picture 29" descr="SO00109_[1]"/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46" y="2648"/>
              <a:ext cx="541" cy="7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83992" name="Group 30"/>
            <p:cNvGrpSpPr>
              <a:grpSpLocks/>
            </p:cNvGrpSpPr>
            <p:nvPr/>
          </p:nvGrpSpPr>
          <p:grpSpPr bwMode="auto">
            <a:xfrm>
              <a:off x="4610" y="2766"/>
              <a:ext cx="309" cy="381"/>
              <a:chOff x="2994" y="2073"/>
              <a:chExt cx="309" cy="381"/>
            </a:xfrm>
          </p:grpSpPr>
          <p:grpSp>
            <p:nvGrpSpPr>
              <p:cNvPr id="83994" name="Group 31"/>
              <p:cNvGrpSpPr>
                <a:grpSpLocks/>
              </p:cNvGrpSpPr>
              <p:nvPr/>
            </p:nvGrpSpPr>
            <p:grpSpPr bwMode="auto">
              <a:xfrm>
                <a:off x="2994" y="2144"/>
                <a:ext cx="309" cy="310"/>
                <a:chOff x="2994" y="2144"/>
                <a:chExt cx="309" cy="310"/>
              </a:xfrm>
            </p:grpSpPr>
            <p:sp>
              <p:nvSpPr>
                <p:cNvPr id="83996" name="Text Box 32"/>
                <p:cNvSpPr txBox="1">
                  <a:spLocks noChangeArrowheads="1"/>
                </p:cNvSpPr>
                <p:nvPr/>
              </p:nvSpPr>
              <p:spPr bwMode="auto">
                <a:xfrm>
                  <a:off x="2994" y="2144"/>
                  <a:ext cx="269" cy="25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/>
                  <a:r>
                    <a:rPr lang="en-US" dirty="0">
                      <a:solidFill>
                        <a:srgbClr val="FF0000"/>
                      </a:solidFill>
                      <a:latin typeface="Arial" charset="0"/>
                      <a:cs typeface="Arial" charset="0"/>
                    </a:rPr>
                    <a:t>K </a:t>
                  </a:r>
                </a:p>
              </p:txBody>
            </p:sp>
            <p:sp>
              <p:nvSpPr>
                <p:cNvPr id="83997" name="Text Box 33"/>
                <p:cNvSpPr txBox="1">
                  <a:spLocks noChangeArrowheads="1"/>
                </p:cNvSpPr>
                <p:nvPr/>
              </p:nvSpPr>
              <p:spPr bwMode="auto">
                <a:xfrm>
                  <a:off x="3101" y="2241"/>
                  <a:ext cx="202" cy="2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/>
                  <a:r>
                    <a:rPr lang="en-US" sz="1600" dirty="0">
                      <a:solidFill>
                        <a:srgbClr val="FF0000"/>
                      </a:solidFill>
                      <a:latin typeface="Arial" charset="0"/>
                      <a:cs typeface="Arial" charset="0"/>
                    </a:rPr>
                    <a:t>B</a:t>
                  </a:r>
                </a:p>
              </p:txBody>
            </p:sp>
          </p:grpSp>
          <p:sp>
            <p:nvSpPr>
              <p:cNvPr id="83995" name="Text Box 34"/>
              <p:cNvSpPr txBox="1">
                <a:spLocks noChangeArrowheads="1"/>
              </p:cNvSpPr>
              <p:nvPr/>
            </p:nvSpPr>
            <p:spPr bwMode="auto">
              <a:xfrm>
                <a:off x="3106" y="2073"/>
                <a:ext cx="192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1600" dirty="0">
                    <a:solidFill>
                      <a:srgbClr val="FF0000"/>
                    </a:solidFill>
                    <a:latin typeface="Arial" charset="0"/>
                    <a:cs typeface="Arial" charset="0"/>
                  </a:rPr>
                  <a:t>+</a:t>
                </a:r>
              </a:p>
            </p:txBody>
          </p:sp>
        </p:grpSp>
        <p:pic>
          <p:nvPicPr>
            <p:cNvPr id="83993" name="Picture 35" descr="BS00768_[1]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4640" y="3118"/>
              <a:ext cx="289" cy="1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83989" name="Text Box 36"/>
          <p:cNvSpPr txBox="1">
            <a:spLocks noChangeArrowheads="1"/>
          </p:cNvSpPr>
          <p:nvPr/>
        </p:nvSpPr>
        <p:spPr bwMode="auto">
          <a:xfrm>
            <a:off x="6319838" y="5297488"/>
            <a:ext cx="2312987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r"/>
            <a:r>
              <a:rPr lang="en-US" dirty="0">
                <a:latin typeface="Arial" charset="0"/>
                <a:cs typeface="Arial" charset="0"/>
              </a:rPr>
              <a:t>certificate for Brajesh</a:t>
            </a:r>
            <a:r>
              <a:rPr lang="ja-JP" altLang="en-US" dirty="0">
                <a:latin typeface="Arial" charset="0"/>
                <a:cs typeface="Arial" charset="0"/>
              </a:rPr>
              <a:t>’</a:t>
            </a:r>
            <a:r>
              <a:rPr lang="en-US" altLang="ja-JP" dirty="0">
                <a:latin typeface="Arial" charset="0"/>
                <a:cs typeface="Arial" charset="0"/>
              </a:rPr>
              <a:t>s public key, signed by CA</a:t>
            </a:r>
            <a:endParaRPr lang="en-US" dirty="0">
              <a:latin typeface="Arial" charset="0"/>
              <a:cs typeface="Arial" charset="0"/>
            </a:endParaRPr>
          </a:p>
        </p:txBody>
      </p:sp>
      <p:pic>
        <p:nvPicPr>
          <p:cNvPr id="83990" name="Picture 20" descr="underline_base"/>
          <p:cNvPicPr>
            <a:picLocks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" y="985838"/>
            <a:ext cx="54848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50</a:t>
            </a:fld>
            <a:endParaRPr lang="en-US" sz="1200" dirty="0">
              <a:latin typeface="Tahoma" charset="0"/>
            </a:endParaRPr>
          </a:p>
        </p:txBody>
      </p:sp>
      <p:sp>
        <p:nvSpPr>
          <p:cNvPr id="40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287521253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3"/>
          <p:cNvSpPr>
            <a:spLocks noGrp="1" noChangeArrowheads="1"/>
          </p:cNvSpPr>
          <p:nvPr>
            <p:ph type="body" sz="half" idx="3"/>
          </p:nvPr>
        </p:nvSpPr>
        <p:spPr>
          <a:xfrm>
            <a:off x="650875" y="1325563"/>
            <a:ext cx="7727950" cy="4648200"/>
          </a:xfrm>
        </p:spPr>
        <p:txBody>
          <a:bodyPr/>
          <a:lstStyle/>
          <a:p>
            <a:r>
              <a:rPr lang="en-US" sz="2400" dirty="0">
                <a:solidFill>
                  <a:schemeClr val="tx2"/>
                </a:solidFill>
                <a:latin typeface="Gill Sans MT" charset="0"/>
              </a:rPr>
              <a:t>when Aman wants Brajesh</a:t>
            </a:r>
            <a:r>
              <a:rPr lang="ja-JP" altLang="en-US" sz="2400" dirty="0">
                <a:solidFill>
                  <a:schemeClr val="tx2"/>
                </a:solidFill>
                <a:latin typeface="Gill Sans MT" charset="0"/>
              </a:rPr>
              <a:t>’</a:t>
            </a:r>
            <a:r>
              <a:rPr lang="en-US" altLang="ja-JP" sz="2400" dirty="0">
                <a:solidFill>
                  <a:schemeClr val="tx2"/>
                </a:solidFill>
                <a:latin typeface="Gill Sans MT" charset="0"/>
              </a:rPr>
              <a:t>s public key:</a:t>
            </a:r>
          </a:p>
          <a:p>
            <a:pPr lvl="1"/>
            <a:r>
              <a:rPr lang="en-US" dirty="0">
                <a:solidFill>
                  <a:schemeClr val="tx2"/>
                </a:solidFill>
                <a:latin typeface="Gill Sans MT" charset="0"/>
              </a:rPr>
              <a:t>gets Brajesh</a:t>
            </a:r>
            <a:r>
              <a:rPr lang="ja-JP" altLang="en-US" dirty="0">
                <a:solidFill>
                  <a:schemeClr val="tx2"/>
                </a:solidFill>
                <a:latin typeface="Gill Sans MT" charset="0"/>
              </a:rPr>
              <a:t>’</a:t>
            </a:r>
            <a:r>
              <a:rPr lang="en-US" altLang="ja-JP" dirty="0">
                <a:solidFill>
                  <a:schemeClr val="tx2"/>
                </a:solidFill>
                <a:latin typeface="Gill Sans MT" charset="0"/>
              </a:rPr>
              <a:t>s certificate (Brajesh or elsewhere).</a:t>
            </a:r>
          </a:p>
          <a:p>
            <a:pPr lvl="1"/>
            <a:r>
              <a:rPr lang="en-US" dirty="0">
                <a:solidFill>
                  <a:schemeClr val="tx2"/>
                </a:solidFill>
                <a:latin typeface="Gill Sans MT" charset="0"/>
              </a:rPr>
              <a:t>apply CA</a:t>
            </a:r>
            <a:r>
              <a:rPr lang="ja-JP" altLang="en-US" dirty="0">
                <a:solidFill>
                  <a:schemeClr val="tx2"/>
                </a:solidFill>
                <a:latin typeface="Gill Sans MT" charset="0"/>
              </a:rPr>
              <a:t>’</a:t>
            </a:r>
            <a:r>
              <a:rPr lang="en-US" altLang="ja-JP" dirty="0">
                <a:solidFill>
                  <a:schemeClr val="tx2"/>
                </a:solidFill>
                <a:latin typeface="Gill Sans MT" charset="0"/>
              </a:rPr>
              <a:t>s public key to Brajesh</a:t>
            </a:r>
            <a:r>
              <a:rPr lang="ja-JP" altLang="en-US" dirty="0">
                <a:solidFill>
                  <a:schemeClr val="tx2"/>
                </a:solidFill>
                <a:latin typeface="Gill Sans MT" charset="0"/>
              </a:rPr>
              <a:t>’</a:t>
            </a:r>
            <a:r>
              <a:rPr lang="en-US" altLang="ja-JP" dirty="0">
                <a:solidFill>
                  <a:schemeClr val="tx2"/>
                </a:solidFill>
                <a:latin typeface="Gill Sans MT" charset="0"/>
              </a:rPr>
              <a:t>s certificate, get Brajesh</a:t>
            </a:r>
            <a:r>
              <a:rPr lang="ja-JP" altLang="en-US" dirty="0">
                <a:solidFill>
                  <a:schemeClr val="tx2"/>
                </a:solidFill>
                <a:latin typeface="Gill Sans MT" charset="0"/>
              </a:rPr>
              <a:t>’</a:t>
            </a:r>
            <a:r>
              <a:rPr lang="en-US" altLang="ja-JP" dirty="0">
                <a:solidFill>
                  <a:schemeClr val="tx2"/>
                </a:solidFill>
                <a:latin typeface="Gill Sans MT" charset="0"/>
              </a:rPr>
              <a:t>s public key</a:t>
            </a:r>
            <a:endParaRPr lang="en-US" dirty="0">
              <a:solidFill>
                <a:schemeClr val="tx2"/>
              </a:solidFill>
              <a:latin typeface="Gill Sans MT" charset="0"/>
            </a:endParaRPr>
          </a:p>
        </p:txBody>
      </p:sp>
      <p:pic>
        <p:nvPicPr>
          <p:cNvPr id="84995" name="Picture 4" descr="j0175664[1]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179888" y="5241925"/>
            <a:ext cx="938212" cy="744538"/>
          </a:xfrm>
          <a:noFill/>
        </p:spPr>
      </p:pic>
      <p:sp>
        <p:nvSpPr>
          <p:cNvPr id="84996" name="Text Box 5"/>
          <p:cNvSpPr txBox="1">
            <a:spLocks noChangeArrowheads="1"/>
          </p:cNvSpPr>
          <p:nvPr/>
        </p:nvSpPr>
        <p:spPr bwMode="auto">
          <a:xfrm>
            <a:off x="6642100" y="3467100"/>
            <a:ext cx="960438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r"/>
            <a:r>
              <a:rPr lang="en-US" sz="1600" dirty="0">
                <a:latin typeface="Arial" charset="0"/>
                <a:cs typeface="Arial" charset="0"/>
              </a:rPr>
              <a:t>Brajesh</a:t>
            </a:r>
            <a:r>
              <a:rPr lang="ja-JP" altLang="en-US" sz="1600" dirty="0">
                <a:latin typeface="Arial" charset="0"/>
                <a:cs typeface="Arial" charset="0"/>
              </a:rPr>
              <a:t>’</a:t>
            </a:r>
            <a:r>
              <a:rPr lang="en-US" altLang="ja-JP" sz="1600" dirty="0">
                <a:latin typeface="Arial" charset="0"/>
                <a:cs typeface="Arial" charset="0"/>
              </a:rPr>
              <a:t>s </a:t>
            </a:r>
          </a:p>
          <a:p>
            <a:pPr algn="r"/>
            <a:r>
              <a:rPr lang="en-US" sz="1600" dirty="0">
                <a:latin typeface="Arial" charset="0"/>
                <a:cs typeface="Arial" charset="0"/>
              </a:rPr>
              <a:t>public</a:t>
            </a:r>
          </a:p>
          <a:p>
            <a:pPr algn="r"/>
            <a:r>
              <a:rPr lang="en-US" sz="1600" dirty="0">
                <a:latin typeface="Arial" charset="0"/>
                <a:cs typeface="Arial" charset="0"/>
              </a:rPr>
              <a:t>key </a:t>
            </a:r>
          </a:p>
        </p:txBody>
      </p:sp>
      <p:pic>
        <p:nvPicPr>
          <p:cNvPr id="84997" name="Picture 6" descr="BS00768_[1]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6473825" y="3592513"/>
            <a:ext cx="458788" cy="236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4998" name="Group 7"/>
          <p:cNvGrpSpPr>
            <a:grpSpLocks/>
          </p:cNvGrpSpPr>
          <p:nvPr/>
        </p:nvGrpSpPr>
        <p:grpSpPr bwMode="auto">
          <a:xfrm>
            <a:off x="6383338" y="3830638"/>
            <a:ext cx="528637" cy="604837"/>
            <a:chOff x="2994" y="2073"/>
            <a:chExt cx="333" cy="381"/>
          </a:xfrm>
        </p:grpSpPr>
        <p:grpSp>
          <p:nvGrpSpPr>
            <p:cNvPr id="85019" name="Group 8"/>
            <p:cNvGrpSpPr>
              <a:grpSpLocks/>
            </p:cNvGrpSpPr>
            <p:nvPr/>
          </p:nvGrpSpPr>
          <p:grpSpPr bwMode="auto">
            <a:xfrm>
              <a:off x="2994" y="2144"/>
              <a:ext cx="333" cy="310"/>
              <a:chOff x="2994" y="2144"/>
              <a:chExt cx="333" cy="310"/>
            </a:xfrm>
          </p:grpSpPr>
          <p:sp>
            <p:nvSpPr>
              <p:cNvPr id="85021" name="Text Box 9"/>
              <p:cNvSpPr txBox="1">
                <a:spLocks noChangeArrowheads="1"/>
              </p:cNvSpPr>
              <p:nvPr/>
            </p:nvSpPr>
            <p:spPr bwMode="auto">
              <a:xfrm>
                <a:off x="2994" y="2144"/>
                <a:ext cx="269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K </a:t>
                </a:r>
              </a:p>
            </p:txBody>
          </p:sp>
          <p:sp>
            <p:nvSpPr>
              <p:cNvPr id="85022" name="Text Box 10"/>
              <p:cNvSpPr txBox="1">
                <a:spLocks noChangeArrowheads="1"/>
              </p:cNvSpPr>
              <p:nvPr/>
            </p:nvSpPr>
            <p:spPr bwMode="auto">
              <a:xfrm>
                <a:off x="3125" y="2241"/>
                <a:ext cx="202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1600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B</a:t>
                </a:r>
              </a:p>
            </p:txBody>
          </p:sp>
        </p:grpSp>
        <p:sp>
          <p:nvSpPr>
            <p:cNvPr id="85020" name="Text Box 11"/>
            <p:cNvSpPr txBox="1">
              <a:spLocks noChangeArrowheads="1"/>
            </p:cNvSpPr>
            <p:nvPr/>
          </p:nvSpPr>
          <p:spPr bwMode="auto">
            <a:xfrm>
              <a:off x="3124" y="2073"/>
              <a:ext cx="192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6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+</a:t>
              </a:r>
            </a:p>
          </p:txBody>
        </p:sp>
      </p:grpSp>
      <p:grpSp>
        <p:nvGrpSpPr>
          <p:cNvPr id="55304" name="Group 12"/>
          <p:cNvGrpSpPr>
            <a:grpSpLocks/>
          </p:cNvGrpSpPr>
          <p:nvPr/>
        </p:nvGrpSpPr>
        <p:grpSpPr bwMode="auto">
          <a:xfrm>
            <a:off x="4029075" y="3425825"/>
            <a:ext cx="1192213" cy="955675"/>
            <a:chOff x="1126" y="2124"/>
            <a:chExt cx="751" cy="602"/>
          </a:xfrm>
          <a:solidFill>
            <a:srgbClr val="008000"/>
          </a:solidFill>
        </p:grpSpPr>
        <p:sp>
          <p:nvSpPr>
            <p:cNvPr id="55324" name="Rectangle 13"/>
            <p:cNvSpPr>
              <a:spLocks noChangeArrowheads="1"/>
            </p:cNvSpPr>
            <p:nvPr/>
          </p:nvSpPr>
          <p:spPr bwMode="auto">
            <a:xfrm>
              <a:off x="1126" y="2124"/>
              <a:ext cx="751" cy="60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55325" name="Text Box 14"/>
            <p:cNvSpPr txBox="1">
              <a:spLocks noChangeArrowheads="1"/>
            </p:cNvSpPr>
            <p:nvPr/>
          </p:nvSpPr>
          <p:spPr bwMode="auto">
            <a:xfrm>
              <a:off x="1148" y="2127"/>
              <a:ext cx="714" cy="58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800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digital</a:t>
              </a:r>
            </a:p>
            <a:p>
              <a:pPr algn="ctr">
                <a:defRPr/>
              </a:pPr>
              <a:r>
                <a:rPr lang="en-US" sz="1800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signature</a:t>
              </a:r>
            </a:p>
            <a:p>
              <a:pPr algn="ctr">
                <a:defRPr/>
              </a:pPr>
              <a:r>
                <a:rPr lang="en-US" sz="1800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(decrypt)</a:t>
              </a:r>
            </a:p>
          </p:txBody>
        </p:sp>
      </p:grpSp>
      <p:sp>
        <p:nvSpPr>
          <p:cNvPr id="85000" name="Text Box 15"/>
          <p:cNvSpPr txBox="1">
            <a:spLocks noChangeArrowheads="1"/>
          </p:cNvSpPr>
          <p:nvPr/>
        </p:nvSpPr>
        <p:spPr bwMode="auto">
          <a:xfrm>
            <a:off x="3560763" y="4522788"/>
            <a:ext cx="960437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r"/>
            <a:r>
              <a:rPr lang="en-US" sz="1600" dirty="0">
                <a:latin typeface="Arial" charset="0"/>
                <a:cs typeface="Arial" charset="0"/>
              </a:rPr>
              <a:t>CA </a:t>
            </a:r>
          </a:p>
          <a:p>
            <a:pPr algn="r"/>
            <a:r>
              <a:rPr lang="en-US" sz="1600" dirty="0">
                <a:latin typeface="Arial" charset="0"/>
                <a:cs typeface="Arial" charset="0"/>
              </a:rPr>
              <a:t>public</a:t>
            </a:r>
          </a:p>
          <a:p>
            <a:pPr algn="r"/>
            <a:r>
              <a:rPr lang="en-US" sz="1600" dirty="0">
                <a:latin typeface="Arial" charset="0"/>
                <a:cs typeface="Arial" charset="0"/>
              </a:rPr>
              <a:t>key </a:t>
            </a:r>
          </a:p>
        </p:txBody>
      </p:sp>
      <p:pic>
        <p:nvPicPr>
          <p:cNvPr id="85001" name="Picture 16" descr="BS00768_[1]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4800600" y="4530725"/>
            <a:ext cx="458788" cy="236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5002" name="Group 17"/>
          <p:cNvGrpSpPr>
            <a:grpSpLocks/>
          </p:cNvGrpSpPr>
          <p:nvPr/>
        </p:nvGrpSpPr>
        <p:grpSpPr bwMode="auto">
          <a:xfrm>
            <a:off x="4779963" y="4810125"/>
            <a:ext cx="690562" cy="479425"/>
            <a:chOff x="3770" y="3688"/>
            <a:chExt cx="435" cy="302"/>
          </a:xfrm>
        </p:grpSpPr>
        <p:sp>
          <p:nvSpPr>
            <p:cNvPr id="85017" name="Text Box 18"/>
            <p:cNvSpPr txBox="1">
              <a:spLocks noChangeArrowheads="1"/>
            </p:cNvSpPr>
            <p:nvPr/>
          </p:nvSpPr>
          <p:spPr bwMode="auto">
            <a:xfrm>
              <a:off x="3770" y="3688"/>
              <a:ext cx="269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K </a:t>
              </a:r>
            </a:p>
          </p:txBody>
        </p:sp>
        <p:sp>
          <p:nvSpPr>
            <p:cNvPr id="85018" name="Text Box 19"/>
            <p:cNvSpPr txBox="1">
              <a:spLocks noChangeArrowheads="1"/>
            </p:cNvSpPr>
            <p:nvPr/>
          </p:nvSpPr>
          <p:spPr bwMode="auto">
            <a:xfrm>
              <a:off x="3910" y="3777"/>
              <a:ext cx="295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6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CA</a:t>
              </a:r>
            </a:p>
          </p:txBody>
        </p:sp>
      </p:grpSp>
      <p:sp>
        <p:nvSpPr>
          <p:cNvPr id="85003" name="Text Box 20"/>
          <p:cNvSpPr txBox="1">
            <a:spLocks noChangeArrowheads="1"/>
          </p:cNvSpPr>
          <p:nvPr/>
        </p:nvSpPr>
        <p:spPr bwMode="auto">
          <a:xfrm>
            <a:off x="4995863" y="4645025"/>
            <a:ext cx="365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2400" dirty="0">
                <a:solidFill>
                  <a:srgbClr val="C00000"/>
                </a:solidFill>
                <a:latin typeface="Arial" charset="0"/>
                <a:cs typeface="Arial" charset="0"/>
              </a:rPr>
              <a:t>+</a:t>
            </a:r>
          </a:p>
        </p:txBody>
      </p:sp>
      <p:sp>
        <p:nvSpPr>
          <p:cNvPr id="85004" name="Line 21"/>
          <p:cNvSpPr>
            <a:spLocks noChangeShapeType="1"/>
          </p:cNvSpPr>
          <p:nvPr/>
        </p:nvSpPr>
        <p:spPr bwMode="auto">
          <a:xfrm flipV="1">
            <a:off x="4603750" y="4449763"/>
            <a:ext cx="0" cy="893762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85005" name="Line 22"/>
          <p:cNvSpPr>
            <a:spLocks noChangeShapeType="1"/>
          </p:cNvSpPr>
          <p:nvPr/>
        </p:nvSpPr>
        <p:spPr bwMode="auto">
          <a:xfrm>
            <a:off x="2379663" y="3873500"/>
            <a:ext cx="1627187" cy="63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85006" name="Line 23"/>
          <p:cNvSpPr>
            <a:spLocks noChangeShapeType="1"/>
          </p:cNvSpPr>
          <p:nvPr/>
        </p:nvSpPr>
        <p:spPr bwMode="auto">
          <a:xfrm flipV="1">
            <a:off x="5248275" y="3886200"/>
            <a:ext cx="1133475" cy="95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grpSp>
        <p:nvGrpSpPr>
          <p:cNvPr id="85007" name="Group 24"/>
          <p:cNvGrpSpPr>
            <a:grpSpLocks/>
          </p:cNvGrpSpPr>
          <p:nvPr/>
        </p:nvGrpSpPr>
        <p:grpSpPr bwMode="auto">
          <a:xfrm>
            <a:off x="1558925" y="3305175"/>
            <a:ext cx="858838" cy="1158875"/>
            <a:chOff x="4446" y="2648"/>
            <a:chExt cx="541" cy="730"/>
          </a:xfrm>
        </p:grpSpPr>
        <p:pic>
          <p:nvPicPr>
            <p:cNvPr id="85010" name="Picture 25" descr="SO00109_[1]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46" y="2648"/>
              <a:ext cx="541" cy="7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85011" name="Group 26"/>
            <p:cNvGrpSpPr>
              <a:grpSpLocks/>
            </p:cNvGrpSpPr>
            <p:nvPr/>
          </p:nvGrpSpPr>
          <p:grpSpPr bwMode="auto">
            <a:xfrm>
              <a:off x="4610" y="2766"/>
              <a:ext cx="309" cy="381"/>
              <a:chOff x="2994" y="2073"/>
              <a:chExt cx="309" cy="381"/>
            </a:xfrm>
          </p:grpSpPr>
          <p:grpSp>
            <p:nvGrpSpPr>
              <p:cNvPr id="85013" name="Group 27"/>
              <p:cNvGrpSpPr>
                <a:grpSpLocks/>
              </p:cNvGrpSpPr>
              <p:nvPr/>
            </p:nvGrpSpPr>
            <p:grpSpPr bwMode="auto">
              <a:xfrm>
                <a:off x="2994" y="2144"/>
                <a:ext cx="309" cy="310"/>
                <a:chOff x="2994" y="2144"/>
                <a:chExt cx="309" cy="310"/>
              </a:xfrm>
            </p:grpSpPr>
            <p:sp>
              <p:nvSpPr>
                <p:cNvPr id="85015" name="Text Box 28"/>
                <p:cNvSpPr txBox="1">
                  <a:spLocks noChangeArrowheads="1"/>
                </p:cNvSpPr>
                <p:nvPr/>
              </p:nvSpPr>
              <p:spPr bwMode="auto">
                <a:xfrm>
                  <a:off x="2994" y="2144"/>
                  <a:ext cx="269" cy="25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/>
                  <a:r>
                    <a:rPr lang="en-US" dirty="0">
                      <a:solidFill>
                        <a:srgbClr val="FF0000"/>
                      </a:solidFill>
                      <a:latin typeface="Arial" charset="0"/>
                      <a:cs typeface="Arial" charset="0"/>
                    </a:rPr>
                    <a:t>K </a:t>
                  </a:r>
                </a:p>
              </p:txBody>
            </p:sp>
            <p:sp>
              <p:nvSpPr>
                <p:cNvPr id="85016" name="Text Box 29"/>
                <p:cNvSpPr txBox="1">
                  <a:spLocks noChangeArrowheads="1"/>
                </p:cNvSpPr>
                <p:nvPr/>
              </p:nvSpPr>
              <p:spPr bwMode="auto">
                <a:xfrm>
                  <a:off x="3101" y="2241"/>
                  <a:ext cx="202" cy="2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/>
                  <a:r>
                    <a:rPr lang="en-US" sz="1600" dirty="0">
                      <a:solidFill>
                        <a:srgbClr val="FF0000"/>
                      </a:solidFill>
                      <a:latin typeface="Arial" charset="0"/>
                      <a:cs typeface="Arial" charset="0"/>
                    </a:rPr>
                    <a:t>B</a:t>
                  </a:r>
                </a:p>
              </p:txBody>
            </p:sp>
          </p:grpSp>
          <p:sp>
            <p:nvSpPr>
              <p:cNvPr id="85014" name="Text Box 30"/>
              <p:cNvSpPr txBox="1">
                <a:spLocks noChangeArrowheads="1"/>
              </p:cNvSpPr>
              <p:nvPr/>
            </p:nvSpPr>
            <p:spPr bwMode="auto">
              <a:xfrm>
                <a:off x="3106" y="2073"/>
                <a:ext cx="192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1600" dirty="0">
                    <a:solidFill>
                      <a:srgbClr val="FF0000"/>
                    </a:solidFill>
                    <a:latin typeface="Arial" charset="0"/>
                    <a:cs typeface="Arial" charset="0"/>
                  </a:rPr>
                  <a:t>+</a:t>
                </a:r>
              </a:p>
            </p:txBody>
          </p:sp>
        </p:grpSp>
        <p:pic>
          <p:nvPicPr>
            <p:cNvPr id="85012" name="Picture 31" descr="BS00768_[1]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4640" y="3118"/>
              <a:ext cx="289" cy="1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85008" name="Rectangle 2"/>
          <p:cNvSpPr>
            <a:spLocks noGrp="1" noChangeArrowheads="1"/>
          </p:cNvSpPr>
          <p:nvPr>
            <p:ph type="title"/>
          </p:nvPr>
        </p:nvSpPr>
        <p:spPr>
          <a:xfrm>
            <a:off x="522288" y="130175"/>
            <a:ext cx="6302375" cy="1143000"/>
          </a:xfrm>
        </p:spPr>
        <p:txBody>
          <a:bodyPr/>
          <a:lstStyle/>
          <a:p>
            <a:r>
              <a:rPr lang="en-US" dirty="0">
                <a:latin typeface="Gill Sans MT" charset="0"/>
              </a:rPr>
              <a:t>Certification authorities</a:t>
            </a:r>
          </a:p>
        </p:txBody>
      </p:sp>
      <p:pic>
        <p:nvPicPr>
          <p:cNvPr id="85009" name="Picture 20" descr="underline_base"/>
          <p:cNvPicPr>
            <a:picLocks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" y="985838"/>
            <a:ext cx="54848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51</a:t>
            </a:fld>
            <a:endParaRPr lang="en-US" sz="1200" dirty="0">
              <a:latin typeface="Tahoma" charset="0"/>
            </a:endParaRPr>
          </a:p>
        </p:txBody>
      </p:sp>
      <p:sp>
        <p:nvSpPr>
          <p:cNvPr id="35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419822133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ill Sans MT" charset="0"/>
              </a:rPr>
              <a:t>Chapter 8 roadmap</a:t>
            </a:r>
          </a:p>
        </p:txBody>
      </p:sp>
      <p:sp>
        <p:nvSpPr>
          <p:cNvPr id="161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50875" y="1668463"/>
            <a:ext cx="7772400" cy="4648200"/>
          </a:xfrm>
        </p:spPr>
        <p:txBody>
          <a:bodyPr/>
          <a:lstStyle/>
          <a:p>
            <a:pPr>
              <a:buFont typeface="Wingdings" charset="0"/>
              <a:buNone/>
            </a:pPr>
            <a:r>
              <a:rPr lang="en-US" dirty="0">
                <a:solidFill>
                  <a:srgbClr val="000099"/>
                </a:solidFill>
                <a:latin typeface="Gill Sans MT" charset="0"/>
              </a:rPr>
              <a:t>8.1 </a:t>
            </a:r>
            <a:r>
              <a:rPr lang="en-US" dirty="0">
                <a:latin typeface="Gill Sans MT" charset="0"/>
              </a:rPr>
              <a:t>What is network security?</a:t>
            </a:r>
          </a:p>
          <a:p>
            <a:pPr>
              <a:buFont typeface="Wingdings" charset="0"/>
              <a:buNone/>
            </a:pPr>
            <a:r>
              <a:rPr lang="en-US" dirty="0">
                <a:solidFill>
                  <a:srgbClr val="000099"/>
                </a:solidFill>
                <a:latin typeface="Gill Sans MT" charset="0"/>
              </a:rPr>
              <a:t>8.2</a:t>
            </a:r>
            <a:r>
              <a:rPr lang="en-US" dirty="0">
                <a:latin typeface="Gill Sans MT" charset="0"/>
              </a:rPr>
              <a:t> Principles of cryptography</a:t>
            </a:r>
          </a:p>
          <a:p>
            <a:pPr>
              <a:buFont typeface="Wingdings" charset="0"/>
              <a:buNone/>
            </a:pPr>
            <a:r>
              <a:rPr lang="en-US" dirty="0">
                <a:solidFill>
                  <a:srgbClr val="000099"/>
                </a:solidFill>
                <a:latin typeface="Gill Sans MT" charset="0"/>
              </a:rPr>
              <a:t>8.3</a:t>
            </a:r>
            <a:r>
              <a:rPr lang="en-US" dirty="0">
                <a:latin typeface="Gill Sans MT" charset="0"/>
              </a:rPr>
              <a:t> Message integrity</a:t>
            </a:r>
          </a:p>
          <a:p>
            <a:pPr>
              <a:buFont typeface="Wingdings" charset="0"/>
              <a:buNone/>
            </a:pPr>
            <a:r>
              <a:rPr lang="en-US" dirty="0">
                <a:solidFill>
                  <a:srgbClr val="000099"/>
                </a:solidFill>
                <a:latin typeface="Gill Sans MT" charset="0"/>
              </a:rPr>
              <a:t>8.4 </a:t>
            </a:r>
            <a:r>
              <a:rPr lang="en-US" dirty="0">
                <a:latin typeface="Gill Sans MT" charset="0"/>
              </a:rPr>
              <a:t>Securing e-mail</a:t>
            </a:r>
          </a:p>
          <a:p>
            <a:pPr>
              <a:buFont typeface="Wingdings" charset="0"/>
              <a:buNone/>
            </a:pPr>
            <a:r>
              <a:rPr lang="en-US" dirty="0">
                <a:solidFill>
                  <a:srgbClr val="000099"/>
                </a:solidFill>
                <a:latin typeface="Gill Sans MT" charset="0"/>
              </a:rPr>
              <a:t>8.5</a:t>
            </a:r>
            <a:r>
              <a:rPr lang="en-US" dirty="0">
                <a:latin typeface="Gill Sans MT" charset="0"/>
              </a:rPr>
              <a:t> Securing TCP connections: SSL</a:t>
            </a:r>
          </a:p>
          <a:p>
            <a:pPr>
              <a:buFont typeface="Wingdings" charset="0"/>
              <a:buNone/>
            </a:pPr>
            <a:r>
              <a:rPr lang="en-US" dirty="0">
                <a:solidFill>
                  <a:srgbClr val="000099"/>
                </a:solidFill>
                <a:latin typeface="Gill Sans MT" charset="0"/>
              </a:rPr>
              <a:t>8.6</a:t>
            </a:r>
            <a:r>
              <a:rPr lang="en-US" dirty="0">
                <a:latin typeface="Gill Sans MT" charset="0"/>
              </a:rPr>
              <a:t> Network layer security: IPsec</a:t>
            </a:r>
          </a:p>
          <a:p>
            <a:pPr>
              <a:buFont typeface="Wingdings" charset="0"/>
              <a:buNone/>
            </a:pPr>
            <a:r>
              <a:rPr lang="en-US" dirty="0">
                <a:solidFill>
                  <a:srgbClr val="000099"/>
                </a:solidFill>
                <a:latin typeface="Gill Sans MT" charset="0"/>
              </a:rPr>
              <a:t>8.7</a:t>
            </a:r>
            <a:r>
              <a:rPr lang="en-US" dirty="0">
                <a:latin typeface="Gill Sans MT" charset="0"/>
              </a:rPr>
              <a:t> Securing wireless LANs</a:t>
            </a:r>
          </a:p>
          <a:p>
            <a:pPr>
              <a:buFont typeface="Wingdings" charset="0"/>
              <a:buNone/>
            </a:pPr>
            <a:r>
              <a:rPr lang="en-US" i="1" dirty="0">
                <a:solidFill>
                  <a:srgbClr val="CC0000"/>
                </a:solidFill>
                <a:latin typeface="Gill Sans MT" charset="0"/>
              </a:rPr>
              <a:t>8.8 Operational security: firewalls and IDS</a:t>
            </a:r>
          </a:p>
        </p:txBody>
      </p:sp>
      <p:pic>
        <p:nvPicPr>
          <p:cNvPr id="161796" name="Picture 22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475" y="1038225"/>
            <a:ext cx="45704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52</a:t>
            </a:fld>
            <a:endParaRPr lang="en-US" sz="1200" dirty="0">
              <a:latin typeface="Tahoma" charset="0"/>
            </a:endParaRPr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277693806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2"/>
          <p:cNvSpPr>
            <a:spLocks noChangeArrowheads="1"/>
          </p:cNvSpPr>
          <p:nvPr/>
        </p:nvSpPr>
        <p:spPr bwMode="auto">
          <a:xfrm>
            <a:off x="496888" y="1522413"/>
            <a:ext cx="8366125" cy="1235075"/>
          </a:xfrm>
          <a:prstGeom prst="rect">
            <a:avLst/>
          </a:prstGeom>
          <a:solidFill>
            <a:srgbClr val="FFFFFF"/>
          </a:solid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63843" name="Rectangle 3"/>
          <p:cNvSpPr>
            <a:spLocks noGrp="1" noChangeArrowheads="1"/>
          </p:cNvSpPr>
          <p:nvPr>
            <p:ph type="title"/>
          </p:nvPr>
        </p:nvSpPr>
        <p:spPr>
          <a:xfrm>
            <a:off x="474663" y="180975"/>
            <a:ext cx="7772400" cy="1143000"/>
          </a:xfrm>
        </p:spPr>
        <p:txBody>
          <a:bodyPr/>
          <a:lstStyle/>
          <a:p>
            <a:r>
              <a:rPr lang="en-US" dirty="0">
                <a:latin typeface="Gill Sans MT" charset="0"/>
              </a:rPr>
              <a:t>Firewalls</a:t>
            </a:r>
          </a:p>
        </p:txBody>
      </p:sp>
      <p:sp>
        <p:nvSpPr>
          <p:cNvPr id="163844" name="Rectangle 5"/>
          <p:cNvSpPr>
            <a:spLocks noChangeArrowheads="1"/>
          </p:cNvSpPr>
          <p:nvPr/>
        </p:nvSpPr>
        <p:spPr bwMode="auto">
          <a:xfrm>
            <a:off x="501650" y="4419600"/>
            <a:ext cx="3810000" cy="181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5000"/>
              <a:buFont typeface="ZapfDingbats" charset="0"/>
              <a:buNone/>
            </a:pPr>
            <a:endParaRPr lang="en-US" dirty="0"/>
          </a:p>
        </p:txBody>
      </p:sp>
      <p:sp>
        <p:nvSpPr>
          <p:cNvPr id="163845" name="Text Box 7"/>
          <p:cNvSpPr txBox="1">
            <a:spLocks noChangeArrowheads="1"/>
          </p:cNvSpPr>
          <p:nvPr/>
        </p:nvSpPr>
        <p:spPr bwMode="auto">
          <a:xfrm>
            <a:off x="555625" y="1708150"/>
            <a:ext cx="8361363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2800" dirty="0">
                <a:latin typeface="Gill Sans MT" charset="0"/>
                <a:cs typeface="Gill Sans MT" charset="0"/>
              </a:rPr>
              <a:t>isolates organization</a:t>
            </a:r>
            <a:r>
              <a:rPr lang="ja-JP" altLang="en-US" sz="2800">
                <a:latin typeface="Gill Sans MT" charset="0"/>
                <a:cs typeface="Gill Sans MT" charset="0"/>
              </a:rPr>
              <a:t>’</a:t>
            </a:r>
            <a:r>
              <a:rPr lang="en-US" altLang="ja-JP" sz="2800" dirty="0">
                <a:latin typeface="Gill Sans MT" charset="0"/>
                <a:cs typeface="Gill Sans MT" charset="0"/>
              </a:rPr>
              <a:t>s internal net from larger Internet, allowing some packets to pass, blocking others</a:t>
            </a:r>
            <a:endParaRPr lang="en-US" sz="2800" dirty="0">
              <a:latin typeface="Gill Sans MT" charset="0"/>
              <a:cs typeface="Gill Sans MT" charset="0"/>
            </a:endParaRPr>
          </a:p>
        </p:txBody>
      </p:sp>
      <p:grpSp>
        <p:nvGrpSpPr>
          <p:cNvPr id="163846" name="Group 8"/>
          <p:cNvGrpSpPr>
            <a:grpSpLocks/>
          </p:cNvGrpSpPr>
          <p:nvPr/>
        </p:nvGrpSpPr>
        <p:grpSpPr bwMode="auto">
          <a:xfrm>
            <a:off x="727075" y="1201738"/>
            <a:ext cx="1223963" cy="523875"/>
            <a:chOff x="1282" y="3611"/>
            <a:chExt cx="771" cy="330"/>
          </a:xfrm>
        </p:grpSpPr>
        <p:sp>
          <p:nvSpPr>
            <p:cNvPr id="164084" name="Rectangle 9"/>
            <p:cNvSpPr>
              <a:spLocks noChangeArrowheads="1"/>
            </p:cNvSpPr>
            <p:nvPr/>
          </p:nvSpPr>
          <p:spPr bwMode="auto">
            <a:xfrm>
              <a:off x="1356" y="3648"/>
              <a:ext cx="636" cy="23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64085" name="Text Box 10"/>
            <p:cNvSpPr txBox="1">
              <a:spLocks noChangeArrowheads="1"/>
            </p:cNvSpPr>
            <p:nvPr/>
          </p:nvSpPr>
          <p:spPr bwMode="auto">
            <a:xfrm>
              <a:off x="1282" y="3611"/>
              <a:ext cx="771" cy="33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2800" i="1" dirty="0">
                  <a:solidFill>
                    <a:srgbClr val="FF0000"/>
                  </a:solidFill>
                  <a:latin typeface="Gill Sans MT" charset="0"/>
                  <a:cs typeface="Gill Sans MT" charset="0"/>
                </a:rPr>
                <a:t>firewall</a:t>
              </a:r>
            </a:p>
          </p:txBody>
        </p:sp>
      </p:grpSp>
      <p:sp>
        <p:nvSpPr>
          <p:cNvPr id="163847" name="Rectangle 12"/>
          <p:cNvSpPr>
            <a:spLocks noChangeArrowheads="1"/>
          </p:cNvSpPr>
          <p:nvPr/>
        </p:nvSpPr>
        <p:spPr bwMode="auto">
          <a:xfrm>
            <a:off x="0" y="18907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 dirty="0"/>
          </a:p>
        </p:txBody>
      </p:sp>
      <p:sp>
        <p:nvSpPr>
          <p:cNvPr id="163848" name="AutoShape 14"/>
          <p:cNvSpPr>
            <a:spLocks noChangeAspect="1" noChangeArrowheads="1" noTextEdit="1"/>
          </p:cNvSpPr>
          <p:nvPr/>
        </p:nvSpPr>
        <p:spPr bwMode="auto">
          <a:xfrm>
            <a:off x="1697038" y="3113088"/>
            <a:ext cx="5200650" cy="290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63849" name="Rectangle 16"/>
          <p:cNvSpPr>
            <a:spLocks noChangeArrowheads="1"/>
          </p:cNvSpPr>
          <p:nvPr/>
        </p:nvSpPr>
        <p:spPr bwMode="auto">
          <a:xfrm>
            <a:off x="6910388" y="6164263"/>
            <a:ext cx="4762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500" dirty="0">
                <a:solidFill>
                  <a:srgbClr val="000000"/>
                </a:solidFill>
              </a:rPr>
              <a:t> </a:t>
            </a:r>
            <a:endParaRPr lang="en-US" dirty="0"/>
          </a:p>
        </p:txBody>
      </p:sp>
      <p:sp>
        <p:nvSpPr>
          <p:cNvPr id="163850" name="Rectangle 362"/>
          <p:cNvSpPr>
            <a:spLocks noChangeArrowheads="1"/>
          </p:cNvSpPr>
          <p:nvPr/>
        </p:nvSpPr>
        <p:spPr bwMode="auto">
          <a:xfrm>
            <a:off x="3616325" y="6015038"/>
            <a:ext cx="1449388" cy="33178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63851" name="Rectangle 364"/>
          <p:cNvSpPr>
            <a:spLocks noChangeArrowheads="1"/>
          </p:cNvSpPr>
          <p:nvPr/>
        </p:nvSpPr>
        <p:spPr bwMode="auto">
          <a:xfrm>
            <a:off x="4665663" y="6076950"/>
            <a:ext cx="4762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500" dirty="0">
                <a:solidFill>
                  <a:srgbClr val="000000"/>
                </a:solidFill>
              </a:rPr>
              <a:t> </a:t>
            </a:r>
            <a:endParaRPr lang="en-US" dirty="0"/>
          </a:p>
        </p:txBody>
      </p:sp>
      <p:sp>
        <p:nvSpPr>
          <p:cNvPr id="163852" name="Freeform 17"/>
          <p:cNvSpPr>
            <a:spLocks/>
          </p:cNvSpPr>
          <p:nvPr/>
        </p:nvSpPr>
        <p:spPr bwMode="auto">
          <a:xfrm>
            <a:off x="1195388" y="3017838"/>
            <a:ext cx="3189287" cy="1808162"/>
          </a:xfrm>
          <a:custGeom>
            <a:avLst/>
            <a:gdLst>
              <a:gd name="T0" fmla="*/ 2147483647 w 1672"/>
              <a:gd name="T1" fmla="*/ 2147483647 h 977"/>
              <a:gd name="T2" fmla="*/ 2147483647 w 1672"/>
              <a:gd name="T3" fmla="*/ 2147483647 h 977"/>
              <a:gd name="T4" fmla="*/ 2147483647 w 1672"/>
              <a:gd name="T5" fmla="*/ 2147483647 h 977"/>
              <a:gd name="T6" fmla="*/ 2147483647 w 1672"/>
              <a:gd name="T7" fmla="*/ 2147483647 h 977"/>
              <a:gd name="T8" fmla="*/ 2147483647 w 1672"/>
              <a:gd name="T9" fmla="*/ 2147483647 h 977"/>
              <a:gd name="T10" fmla="*/ 2147483647 w 1672"/>
              <a:gd name="T11" fmla="*/ 2147483647 h 977"/>
              <a:gd name="T12" fmla="*/ 2147483647 w 1672"/>
              <a:gd name="T13" fmla="*/ 2147483647 h 977"/>
              <a:gd name="T14" fmla="*/ 2147483647 w 1672"/>
              <a:gd name="T15" fmla="*/ 2147483647 h 977"/>
              <a:gd name="T16" fmla="*/ 2147483647 w 1672"/>
              <a:gd name="T17" fmla="*/ 2147483647 h 977"/>
              <a:gd name="T18" fmla="*/ 2147483647 w 1672"/>
              <a:gd name="T19" fmla="*/ 2147483647 h 977"/>
              <a:gd name="T20" fmla="*/ 2147483647 w 1672"/>
              <a:gd name="T21" fmla="*/ 2147483647 h 977"/>
              <a:gd name="T22" fmla="*/ 2147483647 w 1672"/>
              <a:gd name="T23" fmla="*/ 2147483647 h 977"/>
              <a:gd name="T24" fmla="*/ 2147483647 w 1672"/>
              <a:gd name="T25" fmla="*/ 2147483647 h 977"/>
              <a:gd name="T26" fmla="*/ 2147483647 w 1672"/>
              <a:gd name="T27" fmla="*/ 2147483647 h 977"/>
              <a:gd name="T28" fmla="*/ 2147483647 w 1672"/>
              <a:gd name="T29" fmla="*/ 2147483647 h 977"/>
              <a:gd name="T30" fmla="*/ 2147483647 w 1672"/>
              <a:gd name="T31" fmla="*/ 2147483647 h 977"/>
              <a:gd name="T32" fmla="*/ 2147483647 w 1672"/>
              <a:gd name="T33" fmla="*/ 2147483647 h 977"/>
              <a:gd name="T34" fmla="*/ 2147483647 w 1672"/>
              <a:gd name="T35" fmla="*/ 2147483647 h 977"/>
              <a:gd name="T36" fmla="*/ 2147483647 w 1672"/>
              <a:gd name="T37" fmla="*/ 2147483647 h 977"/>
              <a:gd name="T38" fmla="*/ 2147483647 w 1672"/>
              <a:gd name="T39" fmla="*/ 2147483647 h 977"/>
              <a:gd name="T40" fmla="*/ 2147483647 w 1672"/>
              <a:gd name="T41" fmla="*/ 2147483647 h 977"/>
              <a:gd name="T42" fmla="*/ 2147483647 w 1672"/>
              <a:gd name="T43" fmla="*/ 2147483647 h 977"/>
              <a:gd name="T44" fmla="*/ 2147483647 w 1672"/>
              <a:gd name="T45" fmla="*/ 2147483647 h 977"/>
              <a:gd name="T46" fmla="*/ 2147483647 w 1672"/>
              <a:gd name="T47" fmla="*/ 2147483647 h 977"/>
              <a:gd name="T48" fmla="*/ 2147483647 w 1672"/>
              <a:gd name="T49" fmla="*/ 2147483647 h 977"/>
              <a:gd name="T50" fmla="*/ 2147483647 w 1672"/>
              <a:gd name="T51" fmla="*/ 2147483647 h 977"/>
              <a:gd name="T52" fmla="*/ 2147483647 w 1672"/>
              <a:gd name="T53" fmla="*/ 2147483647 h 977"/>
              <a:gd name="T54" fmla="*/ 2147483647 w 1672"/>
              <a:gd name="T55" fmla="*/ 2147483647 h 977"/>
              <a:gd name="T56" fmla="*/ 2147483647 w 1672"/>
              <a:gd name="T57" fmla="*/ 2147483647 h 977"/>
              <a:gd name="T58" fmla="*/ 2147483647 w 1672"/>
              <a:gd name="T59" fmla="*/ 2147483647 h 977"/>
              <a:gd name="T60" fmla="*/ 2147483647 w 1672"/>
              <a:gd name="T61" fmla="*/ 2147483647 h 977"/>
              <a:gd name="T62" fmla="*/ 2147483647 w 1672"/>
              <a:gd name="T63" fmla="*/ 2147483647 h 977"/>
              <a:gd name="T64" fmla="*/ 2147483647 w 1672"/>
              <a:gd name="T65" fmla="*/ 2147483647 h 977"/>
              <a:gd name="T66" fmla="*/ 2147483647 w 1672"/>
              <a:gd name="T67" fmla="*/ 2147483647 h 977"/>
              <a:gd name="T68" fmla="*/ 2147483647 w 1672"/>
              <a:gd name="T69" fmla="*/ 2147483647 h 977"/>
              <a:gd name="T70" fmla="*/ 2147483647 w 1672"/>
              <a:gd name="T71" fmla="*/ 2147483647 h 977"/>
              <a:gd name="T72" fmla="*/ 2147483647 w 1672"/>
              <a:gd name="T73" fmla="*/ 2147483647 h 977"/>
              <a:gd name="T74" fmla="*/ 2147483647 w 1672"/>
              <a:gd name="T75" fmla="*/ 2147483647 h 977"/>
              <a:gd name="T76" fmla="*/ 2147483647 w 1672"/>
              <a:gd name="T77" fmla="*/ 2147483647 h 977"/>
              <a:gd name="T78" fmla="*/ 2147483647 w 1672"/>
              <a:gd name="T79" fmla="*/ 2147483647 h 977"/>
              <a:gd name="T80" fmla="*/ 2147483647 w 1672"/>
              <a:gd name="T81" fmla="*/ 2147483647 h 977"/>
              <a:gd name="T82" fmla="*/ 2147483647 w 1672"/>
              <a:gd name="T83" fmla="*/ 2147483647 h 977"/>
              <a:gd name="T84" fmla="*/ 2147483647 w 1672"/>
              <a:gd name="T85" fmla="*/ 2147483647 h 977"/>
              <a:gd name="T86" fmla="*/ 2147483647 w 1672"/>
              <a:gd name="T87" fmla="*/ 2147483647 h 977"/>
              <a:gd name="T88" fmla="*/ 0 w 1672"/>
              <a:gd name="T89" fmla="*/ 2147483647 h 977"/>
              <a:gd name="T90" fmla="*/ 2147483647 w 1672"/>
              <a:gd name="T91" fmla="*/ 2147483647 h 977"/>
              <a:gd name="T92" fmla="*/ 2147483647 w 1672"/>
              <a:gd name="T93" fmla="*/ 2147483647 h 977"/>
              <a:gd name="T94" fmla="*/ 0 w 1672"/>
              <a:gd name="T95" fmla="*/ 2147483647 h 977"/>
              <a:gd name="T96" fmla="*/ 2147483647 w 1672"/>
              <a:gd name="T97" fmla="*/ 2147483647 h 977"/>
              <a:gd name="T98" fmla="*/ 2147483647 w 1672"/>
              <a:gd name="T99" fmla="*/ 2147483647 h 977"/>
              <a:gd name="T100" fmla="*/ 2147483647 w 1672"/>
              <a:gd name="T101" fmla="*/ 2147483647 h 977"/>
              <a:gd name="T102" fmla="*/ 2147483647 w 1672"/>
              <a:gd name="T103" fmla="*/ 2147483647 h 977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w 1672"/>
              <a:gd name="T157" fmla="*/ 0 h 977"/>
              <a:gd name="T158" fmla="*/ 1672 w 1672"/>
              <a:gd name="T159" fmla="*/ 977 h 977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T156" t="T157" r="T158" b="T159"/>
            <a:pathLst>
              <a:path w="1672" h="977">
                <a:moveTo>
                  <a:pt x="54" y="16"/>
                </a:moveTo>
                <a:lnTo>
                  <a:pt x="57" y="14"/>
                </a:lnTo>
                <a:lnTo>
                  <a:pt x="61" y="10"/>
                </a:lnTo>
                <a:lnTo>
                  <a:pt x="69" y="7"/>
                </a:lnTo>
                <a:lnTo>
                  <a:pt x="77" y="3"/>
                </a:lnTo>
                <a:lnTo>
                  <a:pt x="86" y="1"/>
                </a:lnTo>
                <a:lnTo>
                  <a:pt x="96" y="0"/>
                </a:lnTo>
                <a:lnTo>
                  <a:pt x="105" y="0"/>
                </a:lnTo>
                <a:lnTo>
                  <a:pt x="116" y="0"/>
                </a:lnTo>
                <a:lnTo>
                  <a:pt x="127" y="1"/>
                </a:lnTo>
                <a:lnTo>
                  <a:pt x="138" y="3"/>
                </a:lnTo>
                <a:lnTo>
                  <a:pt x="149" y="6"/>
                </a:lnTo>
                <a:lnTo>
                  <a:pt x="161" y="9"/>
                </a:lnTo>
                <a:lnTo>
                  <a:pt x="174" y="13"/>
                </a:lnTo>
                <a:lnTo>
                  <a:pt x="187" y="17"/>
                </a:lnTo>
                <a:lnTo>
                  <a:pt x="200" y="22"/>
                </a:lnTo>
                <a:lnTo>
                  <a:pt x="212" y="27"/>
                </a:lnTo>
                <a:lnTo>
                  <a:pt x="225" y="31"/>
                </a:lnTo>
                <a:lnTo>
                  <a:pt x="253" y="43"/>
                </a:lnTo>
                <a:lnTo>
                  <a:pt x="281" y="54"/>
                </a:lnTo>
                <a:lnTo>
                  <a:pt x="309" y="65"/>
                </a:lnTo>
                <a:lnTo>
                  <a:pt x="338" y="76"/>
                </a:lnTo>
                <a:lnTo>
                  <a:pt x="352" y="82"/>
                </a:lnTo>
                <a:lnTo>
                  <a:pt x="366" y="86"/>
                </a:lnTo>
                <a:lnTo>
                  <a:pt x="380" y="90"/>
                </a:lnTo>
                <a:lnTo>
                  <a:pt x="394" y="95"/>
                </a:lnTo>
                <a:lnTo>
                  <a:pt x="408" y="97"/>
                </a:lnTo>
                <a:lnTo>
                  <a:pt x="422" y="100"/>
                </a:lnTo>
                <a:lnTo>
                  <a:pt x="436" y="103"/>
                </a:lnTo>
                <a:lnTo>
                  <a:pt x="451" y="104"/>
                </a:lnTo>
                <a:lnTo>
                  <a:pt x="465" y="105"/>
                </a:lnTo>
                <a:lnTo>
                  <a:pt x="477" y="105"/>
                </a:lnTo>
                <a:lnTo>
                  <a:pt x="491" y="105"/>
                </a:lnTo>
                <a:lnTo>
                  <a:pt x="504" y="105"/>
                </a:lnTo>
                <a:lnTo>
                  <a:pt x="518" y="104"/>
                </a:lnTo>
                <a:lnTo>
                  <a:pt x="532" y="104"/>
                </a:lnTo>
                <a:lnTo>
                  <a:pt x="559" y="100"/>
                </a:lnTo>
                <a:lnTo>
                  <a:pt x="586" y="98"/>
                </a:lnTo>
                <a:lnTo>
                  <a:pt x="614" y="95"/>
                </a:lnTo>
                <a:lnTo>
                  <a:pt x="641" y="90"/>
                </a:lnTo>
                <a:lnTo>
                  <a:pt x="670" y="86"/>
                </a:lnTo>
                <a:lnTo>
                  <a:pt x="698" y="83"/>
                </a:lnTo>
                <a:lnTo>
                  <a:pt x="727" y="79"/>
                </a:lnTo>
                <a:lnTo>
                  <a:pt x="757" y="77"/>
                </a:lnTo>
                <a:lnTo>
                  <a:pt x="774" y="76"/>
                </a:lnTo>
                <a:lnTo>
                  <a:pt x="789" y="75"/>
                </a:lnTo>
                <a:lnTo>
                  <a:pt x="804" y="75"/>
                </a:lnTo>
                <a:lnTo>
                  <a:pt x="820" y="75"/>
                </a:lnTo>
                <a:lnTo>
                  <a:pt x="837" y="76"/>
                </a:lnTo>
                <a:lnTo>
                  <a:pt x="853" y="76"/>
                </a:lnTo>
                <a:lnTo>
                  <a:pt x="871" y="77"/>
                </a:lnTo>
                <a:lnTo>
                  <a:pt x="888" y="79"/>
                </a:lnTo>
                <a:lnTo>
                  <a:pt x="906" y="82"/>
                </a:lnTo>
                <a:lnTo>
                  <a:pt x="923" y="84"/>
                </a:lnTo>
                <a:lnTo>
                  <a:pt x="942" y="88"/>
                </a:lnTo>
                <a:lnTo>
                  <a:pt x="961" y="91"/>
                </a:lnTo>
                <a:lnTo>
                  <a:pt x="980" y="95"/>
                </a:lnTo>
                <a:lnTo>
                  <a:pt x="1003" y="98"/>
                </a:lnTo>
                <a:lnTo>
                  <a:pt x="1024" y="102"/>
                </a:lnTo>
                <a:lnTo>
                  <a:pt x="1046" y="106"/>
                </a:lnTo>
                <a:lnTo>
                  <a:pt x="1069" y="110"/>
                </a:lnTo>
                <a:lnTo>
                  <a:pt x="1092" y="114"/>
                </a:lnTo>
                <a:lnTo>
                  <a:pt x="1117" y="119"/>
                </a:lnTo>
                <a:lnTo>
                  <a:pt x="1141" y="124"/>
                </a:lnTo>
                <a:lnTo>
                  <a:pt x="1190" y="134"/>
                </a:lnTo>
                <a:lnTo>
                  <a:pt x="1239" y="146"/>
                </a:lnTo>
                <a:lnTo>
                  <a:pt x="1288" y="159"/>
                </a:lnTo>
                <a:lnTo>
                  <a:pt x="1313" y="166"/>
                </a:lnTo>
                <a:lnTo>
                  <a:pt x="1337" y="173"/>
                </a:lnTo>
                <a:lnTo>
                  <a:pt x="1361" y="180"/>
                </a:lnTo>
                <a:lnTo>
                  <a:pt x="1384" y="187"/>
                </a:lnTo>
                <a:lnTo>
                  <a:pt x="1406" y="195"/>
                </a:lnTo>
                <a:lnTo>
                  <a:pt x="1429" y="203"/>
                </a:lnTo>
                <a:lnTo>
                  <a:pt x="1450" y="211"/>
                </a:lnTo>
                <a:lnTo>
                  <a:pt x="1471" y="220"/>
                </a:lnTo>
                <a:lnTo>
                  <a:pt x="1490" y="229"/>
                </a:lnTo>
                <a:lnTo>
                  <a:pt x="1509" y="238"/>
                </a:lnTo>
                <a:lnTo>
                  <a:pt x="1527" y="248"/>
                </a:lnTo>
                <a:lnTo>
                  <a:pt x="1535" y="252"/>
                </a:lnTo>
                <a:lnTo>
                  <a:pt x="1543" y="258"/>
                </a:lnTo>
                <a:lnTo>
                  <a:pt x="1551" y="263"/>
                </a:lnTo>
                <a:lnTo>
                  <a:pt x="1558" y="267"/>
                </a:lnTo>
                <a:lnTo>
                  <a:pt x="1565" y="273"/>
                </a:lnTo>
                <a:lnTo>
                  <a:pt x="1572" y="279"/>
                </a:lnTo>
                <a:lnTo>
                  <a:pt x="1579" y="284"/>
                </a:lnTo>
                <a:lnTo>
                  <a:pt x="1585" y="290"/>
                </a:lnTo>
                <a:lnTo>
                  <a:pt x="1591" y="296"/>
                </a:lnTo>
                <a:lnTo>
                  <a:pt x="1597" y="301"/>
                </a:lnTo>
                <a:lnTo>
                  <a:pt x="1607" y="313"/>
                </a:lnTo>
                <a:lnTo>
                  <a:pt x="1616" y="326"/>
                </a:lnTo>
                <a:lnTo>
                  <a:pt x="1625" y="340"/>
                </a:lnTo>
                <a:lnTo>
                  <a:pt x="1633" y="355"/>
                </a:lnTo>
                <a:lnTo>
                  <a:pt x="1640" y="370"/>
                </a:lnTo>
                <a:lnTo>
                  <a:pt x="1647" y="385"/>
                </a:lnTo>
                <a:lnTo>
                  <a:pt x="1651" y="403"/>
                </a:lnTo>
                <a:lnTo>
                  <a:pt x="1656" y="419"/>
                </a:lnTo>
                <a:lnTo>
                  <a:pt x="1661" y="438"/>
                </a:lnTo>
                <a:lnTo>
                  <a:pt x="1664" y="456"/>
                </a:lnTo>
                <a:lnTo>
                  <a:pt x="1667" y="474"/>
                </a:lnTo>
                <a:lnTo>
                  <a:pt x="1669" y="493"/>
                </a:lnTo>
                <a:lnTo>
                  <a:pt x="1671" y="512"/>
                </a:lnTo>
                <a:lnTo>
                  <a:pt x="1671" y="530"/>
                </a:lnTo>
                <a:lnTo>
                  <a:pt x="1672" y="550"/>
                </a:lnTo>
                <a:lnTo>
                  <a:pt x="1671" y="569"/>
                </a:lnTo>
                <a:lnTo>
                  <a:pt x="1671" y="588"/>
                </a:lnTo>
                <a:lnTo>
                  <a:pt x="1670" y="607"/>
                </a:lnTo>
                <a:lnTo>
                  <a:pt x="1668" y="626"/>
                </a:lnTo>
                <a:lnTo>
                  <a:pt x="1665" y="645"/>
                </a:lnTo>
                <a:lnTo>
                  <a:pt x="1663" y="662"/>
                </a:lnTo>
                <a:lnTo>
                  <a:pt x="1660" y="680"/>
                </a:lnTo>
                <a:lnTo>
                  <a:pt x="1656" y="697"/>
                </a:lnTo>
                <a:lnTo>
                  <a:pt x="1651" y="715"/>
                </a:lnTo>
                <a:lnTo>
                  <a:pt x="1648" y="731"/>
                </a:lnTo>
                <a:lnTo>
                  <a:pt x="1643" y="747"/>
                </a:lnTo>
                <a:lnTo>
                  <a:pt x="1637" y="762"/>
                </a:lnTo>
                <a:lnTo>
                  <a:pt x="1632" y="776"/>
                </a:lnTo>
                <a:lnTo>
                  <a:pt x="1626" y="790"/>
                </a:lnTo>
                <a:lnTo>
                  <a:pt x="1620" y="803"/>
                </a:lnTo>
                <a:lnTo>
                  <a:pt x="1614" y="814"/>
                </a:lnTo>
                <a:lnTo>
                  <a:pt x="1607" y="825"/>
                </a:lnTo>
                <a:lnTo>
                  <a:pt x="1600" y="834"/>
                </a:lnTo>
                <a:lnTo>
                  <a:pt x="1592" y="843"/>
                </a:lnTo>
                <a:lnTo>
                  <a:pt x="1584" y="852"/>
                </a:lnTo>
                <a:lnTo>
                  <a:pt x="1574" y="859"/>
                </a:lnTo>
                <a:lnTo>
                  <a:pt x="1564" y="867"/>
                </a:lnTo>
                <a:lnTo>
                  <a:pt x="1553" y="873"/>
                </a:lnTo>
                <a:lnTo>
                  <a:pt x="1543" y="879"/>
                </a:lnTo>
                <a:lnTo>
                  <a:pt x="1531" y="884"/>
                </a:lnTo>
                <a:lnTo>
                  <a:pt x="1518" y="890"/>
                </a:lnTo>
                <a:lnTo>
                  <a:pt x="1506" y="895"/>
                </a:lnTo>
                <a:lnTo>
                  <a:pt x="1493" y="898"/>
                </a:lnTo>
                <a:lnTo>
                  <a:pt x="1479" y="902"/>
                </a:lnTo>
                <a:lnTo>
                  <a:pt x="1465" y="905"/>
                </a:lnTo>
                <a:lnTo>
                  <a:pt x="1451" y="909"/>
                </a:lnTo>
                <a:lnTo>
                  <a:pt x="1436" y="912"/>
                </a:lnTo>
                <a:lnTo>
                  <a:pt x="1420" y="915"/>
                </a:lnTo>
                <a:lnTo>
                  <a:pt x="1390" y="919"/>
                </a:lnTo>
                <a:lnTo>
                  <a:pt x="1358" y="923"/>
                </a:lnTo>
                <a:lnTo>
                  <a:pt x="1326" y="926"/>
                </a:lnTo>
                <a:lnTo>
                  <a:pt x="1293" y="930"/>
                </a:lnTo>
                <a:lnTo>
                  <a:pt x="1259" y="932"/>
                </a:lnTo>
                <a:lnTo>
                  <a:pt x="1227" y="936"/>
                </a:lnTo>
                <a:lnTo>
                  <a:pt x="1194" y="939"/>
                </a:lnTo>
                <a:lnTo>
                  <a:pt x="1162" y="944"/>
                </a:lnTo>
                <a:lnTo>
                  <a:pt x="1146" y="946"/>
                </a:lnTo>
                <a:lnTo>
                  <a:pt x="1130" y="949"/>
                </a:lnTo>
                <a:lnTo>
                  <a:pt x="1112" y="950"/>
                </a:lnTo>
                <a:lnTo>
                  <a:pt x="1095" y="952"/>
                </a:lnTo>
                <a:lnTo>
                  <a:pt x="1077" y="954"/>
                </a:lnTo>
                <a:lnTo>
                  <a:pt x="1059" y="956"/>
                </a:lnTo>
                <a:lnTo>
                  <a:pt x="1041" y="958"/>
                </a:lnTo>
                <a:lnTo>
                  <a:pt x="1022" y="959"/>
                </a:lnTo>
                <a:lnTo>
                  <a:pt x="984" y="963"/>
                </a:lnTo>
                <a:lnTo>
                  <a:pt x="945" y="966"/>
                </a:lnTo>
                <a:lnTo>
                  <a:pt x="907" y="969"/>
                </a:lnTo>
                <a:lnTo>
                  <a:pt x="867" y="970"/>
                </a:lnTo>
                <a:lnTo>
                  <a:pt x="829" y="972"/>
                </a:lnTo>
                <a:lnTo>
                  <a:pt x="791" y="973"/>
                </a:lnTo>
                <a:lnTo>
                  <a:pt x="773" y="974"/>
                </a:lnTo>
                <a:lnTo>
                  <a:pt x="754" y="974"/>
                </a:lnTo>
                <a:lnTo>
                  <a:pt x="736" y="976"/>
                </a:lnTo>
                <a:lnTo>
                  <a:pt x="718" y="976"/>
                </a:lnTo>
                <a:lnTo>
                  <a:pt x="701" y="976"/>
                </a:lnTo>
                <a:lnTo>
                  <a:pt x="684" y="977"/>
                </a:lnTo>
                <a:lnTo>
                  <a:pt x="668" y="977"/>
                </a:lnTo>
                <a:lnTo>
                  <a:pt x="651" y="977"/>
                </a:lnTo>
                <a:lnTo>
                  <a:pt x="636" y="977"/>
                </a:lnTo>
                <a:lnTo>
                  <a:pt x="621" y="977"/>
                </a:lnTo>
                <a:lnTo>
                  <a:pt x="607" y="977"/>
                </a:lnTo>
                <a:lnTo>
                  <a:pt x="593" y="977"/>
                </a:lnTo>
                <a:lnTo>
                  <a:pt x="580" y="976"/>
                </a:lnTo>
                <a:lnTo>
                  <a:pt x="567" y="976"/>
                </a:lnTo>
                <a:lnTo>
                  <a:pt x="556" y="976"/>
                </a:lnTo>
                <a:lnTo>
                  <a:pt x="544" y="974"/>
                </a:lnTo>
                <a:lnTo>
                  <a:pt x="532" y="974"/>
                </a:lnTo>
                <a:lnTo>
                  <a:pt x="522" y="974"/>
                </a:lnTo>
                <a:lnTo>
                  <a:pt x="511" y="973"/>
                </a:lnTo>
                <a:lnTo>
                  <a:pt x="502" y="972"/>
                </a:lnTo>
                <a:lnTo>
                  <a:pt x="493" y="972"/>
                </a:lnTo>
                <a:lnTo>
                  <a:pt x="483" y="971"/>
                </a:lnTo>
                <a:lnTo>
                  <a:pt x="474" y="970"/>
                </a:lnTo>
                <a:lnTo>
                  <a:pt x="465" y="969"/>
                </a:lnTo>
                <a:lnTo>
                  <a:pt x="448" y="966"/>
                </a:lnTo>
                <a:lnTo>
                  <a:pt x="432" y="964"/>
                </a:lnTo>
                <a:lnTo>
                  <a:pt x="417" y="960"/>
                </a:lnTo>
                <a:lnTo>
                  <a:pt x="401" y="958"/>
                </a:lnTo>
                <a:lnTo>
                  <a:pt x="372" y="950"/>
                </a:lnTo>
                <a:lnTo>
                  <a:pt x="357" y="946"/>
                </a:lnTo>
                <a:lnTo>
                  <a:pt x="342" y="942"/>
                </a:lnTo>
                <a:lnTo>
                  <a:pt x="326" y="937"/>
                </a:lnTo>
                <a:lnTo>
                  <a:pt x="308" y="932"/>
                </a:lnTo>
                <a:lnTo>
                  <a:pt x="291" y="928"/>
                </a:lnTo>
                <a:lnTo>
                  <a:pt x="273" y="923"/>
                </a:lnTo>
                <a:lnTo>
                  <a:pt x="254" y="918"/>
                </a:lnTo>
                <a:lnTo>
                  <a:pt x="236" y="914"/>
                </a:lnTo>
                <a:lnTo>
                  <a:pt x="216" y="908"/>
                </a:lnTo>
                <a:lnTo>
                  <a:pt x="197" y="903"/>
                </a:lnTo>
                <a:lnTo>
                  <a:pt x="179" y="897"/>
                </a:lnTo>
                <a:lnTo>
                  <a:pt x="160" y="891"/>
                </a:lnTo>
                <a:lnTo>
                  <a:pt x="142" y="886"/>
                </a:lnTo>
                <a:lnTo>
                  <a:pt x="125" y="877"/>
                </a:lnTo>
                <a:lnTo>
                  <a:pt x="109" y="870"/>
                </a:lnTo>
                <a:lnTo>
                  <a:pt x="92" y="861"/>
                </a:lnTo>
                <a:lnTo>
                  <a:pt x="85" y="856"/>
                </a:lnTo>
                <a:lnTo>
                  <a:pt x="78" y="852"/>
                </a:lnTo>
                <a:lnTo>
                  <a:pt x="71" y="846"/>
                </a:lnTo>
                <a:lnTo>
                  <a:pt x="64" y="841"/>
                </a:lnTo>
                <a:lnTo>
                  <a:pt x="58" y="835"/>
                </a:lnTo>
                <a:lnTo>
                  <a:pt x="53" y="828"/>
                </a:lnTo>
                <a:lnTo>
                  <a:pt x="47" y="822"/>
                </a:lnTo>
                <a:lnTo>
                  <a:pt x="42" y="815"/>
                </a:lnTo>
                <a:lnTo>
                  <a:pt x="37" y="808"/>
                </a:lnTo>
                <a:lnTo>
                  <a:pt x="34" y="801"/>
                </a:lnTo>
                <a:lnTo>
                  <a:pt x="29" y="793"/>
                </a:lnTo>
                <a:lnTo>
                  <a:pt x="26" y="786"/>
                </a:lnTo>
                <a:lnTo>
                  <a:pt x="22" y="778"/>
                </a:lnTo>
                <a:lnTo>
                  <a:pt x="20" y="770"/>
                </a:lnTo>
                <a:lnTo>
                  <a:pt x="14" y="752"/>
                </a:lnTo>
                <a:lnTo>
                  <a:pt x="9" y="735"/>
                </a:lnTo>
                <a:lnTo>
                  <a:pt x="7" y="716"/>
                </a:lnTo>
                <a:lnTo>
                  <a:pt x="5" y="696"/>
                </a:lnTo>
                <a:lnTo>
                  <a:pt x="2" y="675"/>
                </a:lnTo>
                <a:lnTo>
                  <a:pt x="1" y="654"/>
                </a:lnTo>
                <a:lnTo>
                  <a:pt x="1" y="633"/>
                </a:lnTo>
                <a:lnTo>
                  <a:pt x="0" y="611"/>
                </a:lnTo>
                <a:lnTo>
                  <a:pt x="0" y="588"/>
                </a:lnTo>
                <a:lnTo>
                  <a:pt x="1" y="564"/>
                </a:lnTo>
                <a:lnTo>
                  <a:pt x="1" y="540"/>
                </a:lnTo>
                <a:lnTo>
                  <a:pt x="2" y="515"/>
                </a:lnTo>
                <a:lnTo>
                  <a:pt x="2" y="491"/>
                </a:lnTo>
                <a:lnTo>
                  <a:pt x="2" y="478"/>
                </a:lnTo>
                <a:lnTo>
                  <a:pt x="2" y="464"/>
                </a:lnTo>
                <a:lnTo>
                  <a:pt x="2" y="450"/>
                </a:lnTo>
                <a:lnTo>
                  <a:pt x="2" y="435"/>
                </a:lnTo>
                <a:lnTo>
                  <a:pt x="1" y="418"/>
                </a:lnTo>
                <a:lnTo>
                  <a:pt x="1" y="402"/>
                </a:lnTo>
                <a:lnTo>
                  <a:pt x="1" y="385"/>
                </a:lnTo>
                <a:lnTo>
                  <a:pt x="0" y="368"/>
                </a:lnTo>
                <a:lnTo>
                  <a:pt x="0" y="350"/>
                </a:lnTo>
                <a:lnTo>
                  <a:pt x="0" y="333"/>
                </a:lnTo>
                <a:lnTo>
                  <a:pt x="0" y="297"/>
                </a:lnTo>
                <a:lnTo>
                  <a:pt x="0" y="260"/>
                </a:lnTo>
                <a:lnTo>
                  <a:pt x="0" y="224"/>
                </a:lnTo>
                <a:lnTo>
                  <a:pt x="1" y="207"/>
                </a:lnTo>
                <a:lnTo>
                  <a:pt x="2" y="189"/>
                </a:lnTo>
                <a:lnTo>
                  <a:pt x="4" y="173"/>
                </a:lnTo>
                <a:lnTo>
                  <a:pt x="5" y="156"/>
                </a:lnTo>
                <a:lnTo>
                  <a:pt x="7" y="140"/>
                </a:lnTo>
                <a:lnTo>
                  <a:pt x="8" y="125"/>
                </a:lnTo>
                <a:lnTo>
                  <a:pt x="12" y="110"/>
                </a:lnTo>
                <a:lnTo>
                  <a:pt x="14" y="96"/>
                </a:lnTo>
                <a:lnTo>
                  <a:pt x="18" y="82"/>
                </a:lnTo>
                <a:lnTo>
                  <a:pt x="21" y="70"/>
                </a:lnTo>
                <a:lnTo>
                  <a:pt x="26" y="58"/>
                </a:lnTo>
                <a:lnTo>
                  <a:pt x="29" y="48"/>
                </a:lnTo>
                <a:lnTo>
                  <a:pt x="35" y="37"/>
                </a:lnTo>
                <a:lnTo>
                  <a:pt x="37" y="34"/>
                </a:lnTo>
                <a:lnTo>
                  <a:pt x="41" y="29"/>
                </a:lnTo>
                <a:lnTo>
                  <a:pt x="43" y="26"/>
                </a:lnTo>
                <a:lnTo>
                  <a:pt x="47" y="22"/>
                </a:lnTo>
                <a:lnTo>
                  <a:pt x="50" y="19"/>
                </a:lnTo>
                <a:lnTo>
                  <a:pt x="54" y="16"/>
                </a:lnTo>
                <a:close/>
              </a:path>
            </a:pathLst>
          </a:custGeom>
          <a:solidFill>
            <a:srgbClr val="00CC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grpSp>
        <p:nvGrpSpPr>
          <p:cNvPr id="163853" name="Group 3"/>
          <p:cNvGrpSpPr>
            <a:grpSpLocks/>
          </p:cNvGrpSpPr>
          <p:nvPr/>
        </p:nvGrpSpPr>
        <p:grpSpPr bwMode="auto">
          <a:xfrm>
            <a:off x="4048125" y="4906963"/>
            <a:ext cx="441325" cy="1095375"/>
            <a:chOff x="4048125" y="4787151"/>
            <a:chExt cx="441325" cy="1095375"/>
          </a:xfrm>
        </p:grpSpPr>
        <p:sp>
          <p:nvSpPr>
            <p:cNvPr id="163973" name="Freeform 83"/>
            <p:cNvSpPr>
              <a:spLocks/>
            </p:cNvSpPr>
            <p:nvPr/>
          </p:nvSpPr>
          <p:spPr bwMode="auto">
            <a:xfrm>
              <a:off x="4092575" y="4868114"/>
              <a:ext cx="219075" cy="1012825"/>
            </a:xfrm>
            <a:custGeom>
              <a:avLst/>
              <a:gdLst>
                <a:gd name="T0" fmla="*/ 0 w 138"/>
                <a:gd name="T1" fmla="*/ 2147483647 h 638"/>
                <a:gd name="T2" fmla="*/ 2147483647 w 138"/>
                <a:gd name="T3" fmla="*/ 2147483647 h 638"/>
                <a:gd name="T4" fmla="*/ 2147483647 w 138"/>
                <a:gd name="T5" fmla="*/ 2147483647 h 638"/>
                <a:gd name="T6" fmla="*/ 2147483647 w 138"/>
                <a:gd name="T7" fmla="*/ 2147483647 h 638"/>
                <a:gd name="T8" fmla="*/ 0 w 138"/>
                <a:gd name="T9" fmla="*/ 0 h 638"/>
                <a:gd name="T10" fmla="*/ 0 w 138"/>
                <a:gd name="T11" fmla="*/ 2147483647 h 63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38"/>
                <a:gd name="T19" fmla="*/ 0 h 638"/>
                <a:gd name="T20" fmla="*/ 138 w 138"/>
                <a:gd name="T21" fmla="*/ 638 h 63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38" h="638">
                  <a:moveTo>
                    <a:pt x="0" y="485"/>
                  </a:moveTo>
                  <a:lnTo>
                    <a:pt x="138" y="638"/>
                  </a:lnTo>
                  <a:lnTo>
                    <a:pt x="138" y="77"/>
                  </a:lnTo>
                  <a:lnTo>
                    <a:pt x="116" y="49"/>
                  </a:lnTo>
                  <a:lnTo>
                    <a:pt x="0" y="0"/>
                  </a:lnTo>
                  <a:lnTo>
                    <a:pt x="0" y="485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3974" name="Rectangle 82"/>
            <p:cNvSpPr>
              <a:spLocks noChangeArrowheads="1"/>
            </p:cNvSpPr>
            <p:nvPr/>
          </p:nvSpPr>
          <p:spPr bwMode="auto">
            <a:xfrm>
              <a:off x="4311650" y="4982414"/>
              <a:ext cx="133350" cy="900112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3975" name="Freeform 84"/>
            <p:cNvSpPr>
              <a:spLocks/>
            </p:cNvSpPr>
            <p:nvPr/>
          </p:nvSpPr>
          <p:spPr bwMode="auto">
            <a:xfrm>
              <a:off x="4306888" y="4982414"/>
              <a:ext cx="136525" cy="101600"/>
            </a:xfrm>
            <a:custGeom>
              <a:avLst/>
              <a:gdLst>
                <a:gd name="T0" fmla="*/ 0 w 86"/>
                <a:gd name="T1" fmla="*/ 0 h 64"/>
                <a:gd name="T2" fmla="*/ 2147483647 w 86"/>
                <a:gd name="T3" fmla="*/ 0 h 64"/>
                <a:gd name="T4" fmla="*/ 2147483647 w 86"/>
                <a:gd name="T5" fmla="*/ 2147483647 h 64"/>
                <a:gd name="T6" fmla="*/ 0 w 86"/>
                <a:gd name="T7" fmla="*/ 2147483647 h 64"/>
                <a:gd name="T8" fmla="*/ 0 w 86"/>
                <a:gd name="T9" fmla="*/ 0 h 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6"/>
                <a:gd name="T16" fmla="*/ 0 h 64"/>
                <a:gd name="T17" fmla="*/ 86 w 86"/>
                <a:gd name="T18" fmla="*/ 64 h 6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6" h="64">
                  <a:moveTo>
                    <a:pt x="0" y="0"/>
                  </a:moveTo>
                  <a:lnTo>
                    <a:pt x="86" y="0"/>
                  </a:lnTo>
                  <a:lnTo>
                    <a:pt x="86" y="64"/>
                  </a:lnTo>
                  <a:lnTo>
                    <a:pt x="0" y="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3976" name="Rectangle 85"/>
            <p:cNvSpPr>
              <a:spLocks noChangeArrowheads="1"/>
            </p:cNvSpPr>
            <p:nvPr/>
          </p:nvSpPr>
          <p:spPr bwMode="auto">
            <a:xfrm>
              <a:off x="4311650" y="5114176"/>
              <a:ext cx="65088" cy="52388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3977" name="Rectangle 86"/>
            <p:cNvSpPr>
              <a:spLocks noChangeArrowheads="1"/>
            </p:cNvSpPr>
            <p:nvPr/>
          </p:nvSpPr>
          <p:spPr bwMode="auto">
            <a:xfrm>
              <a:off x="4379913" y="5112589"/>
              <a:ext cx="68262" cy="53975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3978" name="Rectangle 87"/>
            <p:cNvSpPr>
              <a:spLocks noChangeArrowheads="1"/>
            </p:cNvSpPr>
            <p:nvPr/>
          </p:nvSpPr>
          <p:spPr bwMode="auto">
            <a:xfrm>
              <a:off x="4344988" y="5053851"/>
              <a:ext cx="68262" cy="50800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3979" name="Rectangle 88"/>
            <p:cNvSpPr>
              <a:spLocks noChangeArrowheads="1"/>
            </p:cNvSpPr>
            <p:nvPr/>
          </p:nvSpPr>
          <p:spPr bwMode="auto">
            <a:xfrm>
              <a:off x="4414838" y="5053851"/>
              <a:ext cx="33337" cy="50800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3980" name="Rectangle 89"/>
            <p:cNvSpPr>
              <a:spLocks noChangeArrowheads="1"/>
            </p:cNvSpPr>
            <p:nvPr/>
          </p:nvSpPr>
          <p:spPr bwMode="auto">
            <a:xfrm>
              <a:off x="4305300" y="5053851"/>
              <a:ext cx="34925" cy="50800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3981" name="Rectangle 90"/>
            <p:cNvSpPr>
              <a:spLocks noChangeArrowheads="1"/>
            </p:cNvSpPr>
            <p:nvPr/>
          </p:nvSpPr>
          <p:spPr bwMode="auto">
            <a:xfrm>
              <a:off x="4310063" y="4991939"/>
              <a:ext cx="68262" cy="53975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3982" name="Rectangle 91"/>
            <p:cNvSpPr>
              <a:spLocks noChangeArrowheads="1"/>
            </p:cNvSpPr>
            <p:nvPr/>
          </p:nvSpPr>
          <p:spPr bwMode="auto">
            <a:xfrm>
              <a:off x="4381500" y="4993526"/>
              <a:ext cx="68263" cy="52388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3983" name="Rectangle 92"/>
            <p:cNvSpPr>
              <a:spLocks noChangeArrowheads="1"/>
            </p:cNvSpPr>
            <p:nvPr/>
          </p:nvSpPr>
          <p:spPr bwMode="auto">
            <a:xfrm>
              <a:off x="4310063" y="5233239"/>
              <a:ext cx="63500" cy="52387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3984" name="Rectangle 93"/>
            <p:cNvSpPr>
              <a:spLocks noChangeArrowheads="1"/>
            </p:cNvSpPr>
            <p:nvPr/>
          </p:nvSpPr>
          <p:spPr bwMode="auto">
            <a:xfrm>
              <a:off x="4379913" y="5233239"/>
              <a:ext cx="66675" cy="52387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3985" name="Rectangle 94"/>
            <p:cNvSpPr>
              <a:spLocks noChangeArrowheads="1"/>
            </p:cNvSpPr>
            <p:nvPr/>
          </p:nvSpPr>
          <p:spPr bwMode="auto">
            <a:xfrm>
              <a:off x="4344988" y="5172914"/>
              <a:ext cx="66675" cy="50800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3986" name="Rectangle 95"/>
            <p:cNvSpPr>
              <a:spLocks noChangeArrowheads="1"/>
            </p:cNvSpPr>
            <p:nvPr/>
          </p:nvSpPr>
          <p:spPr bwMode="auto">
            <a:xfrm>
              <a:off x="4413250" y="5172914"/>
              <a:ext cx="34925" cy="50800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3987" name="Rectangle 96"/>
            <p:cNvSpPr>
              <a:spLocks noChangeArrowheads="1"/>
            </p:cNvSpPr>
            <p:nvPr/>
          </p:nvSpPr>
          <p:spPr bwMode="auto">
            <a:xfrm>
              <a:off x="4311650" y="5172914"/>
              <a:ext cx="26988" cy="50800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3988" name="Rectangle 97"/>
            <p:cNvSpPr>
              <a:spLocks noChangeArrowheads="1"/>
            </p:cNvSpPr>
            <p:nvPr/>
          </p:nvSpPr>
          <p:spPr bwMode="auto">
            <a:xfrm>
              <a:off x="4310063" y="5349126"/>
              <a:ext cx="63500" cy="52388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3989" name="Rectangle 98"/>
            <p:cNvSpPr>
              <a:spLocks noChangeArrowheads="1"/>
            </p:cNvSpPr>
            <p:nvPr/>
          </p:nvSpPr>
          <p:spPr bwMode="auto">
            <a:xfrm>
              <a:off x="4379913" y="5349126"/>
              <a:ext cx="66675" cy="52388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3990" name="Rectangle 99"/>
            <p:cNvSpPr>
              <a:spLocks noChangeArrowheads="1"/>
            </p:cNvSpPr>
            <p:nvPr/>
          </p:nvSpPr>
          <p:spPr bwMode="auto">
            <a:xfrm>
              <a:off x="4344988" y="5290389"/>
              <a:ext cx="66675" cy="50800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3991" name="Rectangle 100"/>
            <p:cNvSpPr>
              <a:spLocks noChangeArrowheads="1"/>
            </p:cNvSpPr>
            <p:nvPr/>
          </p:nvSpPr>
          <p:spPr bwMode="auto">
            <a:xfrm>
              <a:off x="4413250" y="5290389"/>
              <a:ext cx="34925" cy="50800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3992" name="Rectangle 101"/>
            <p:cNvSpPr>
              <a:spLocks noChangeArrowheads="1"/>
            </p:cNvSpPr>
            <p:nvPr/>
          </p:nvSpPr>
          <p:spPr bwMode="auto">
            <a:xfrm>
              <a:off x="4310063" y="5290389"/>
              <a:ext cx="28575" cy="50800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3993" name="Rectangle 102"/>
            <p:cNvSpPr>
              <a:spLocks noChangeArrowheads="1"/>
            </p:cNvSpPr>
            <p:nvPr/>
          </p:nvSpPr>
          <p:spPr bwMode="auto">
            <a:xfrm>
              <a:off x="4310063" y="5469776"/>
              <a:ext cx="63500" cy="52388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3994" name="Rectangle 103"/>
            <p:cNvSpPr>
              <a:spLocks noChangeArrowheads="1"/>
            </p:cNvSpPr>
            <p:nvPr/>
          </p:nvSpPr>
          <p:spPr bwMode="auto">
            <a:xfrm>
              <a:off x="4379913" y="5469776"/>
              <a:ext cx="66675" cy="52388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3995" name="Rectangle 104"/>
            <p:cNvSpPr>
              <a:spLocks noChangeArrowheads="1"/>
            </p:cNvSpPr>
            <p:nvPr/>
          </p:nvSpPr>
          <p:spPr bwMode="auto">
            <a:xfrm>
              <a:off x="4343400" y="5409451"/>
              <a:ext cx="68263" cy="52388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3996" name="Rectangle 105"/>
            <p:cNvSpPr>
              <a:spLocks noChangeArrowheads="1"/>
            </p:cNvSpPr>
            <p:nvPr/>
          </p:nvSpPr>
          <p:spPr bwMode="auto">
            <a:xfrm>
              <a:off x="4413250" y="5409451"/>
              <a:ext cx="33338" cy="52388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3997" name="Rectangle 106"/>
            <p:cNvSpPr>
              <a:spLocks noChangeArrowheads="1"/>
            </p:cNvSpPr>
            <p:nvPr/>
          </p:nvSpPr>
          <p:spPr bwMode="auto">
            <a:xfrm>
              <a:off x="4311650" y="5409451"/>
              <a:ext cx="26988" cy="52388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3998" name="Rectangle 107"/>
            <p:cNvSpPr>
              <a:spLocks noChangeArrowheads="1"/>
            </p:cNvSpPr>
            <p:nvPr/>
          </p:nvSpPr>
          <p:spPr bwMode="auto">
            <a:xfrm>
              <a:off x="4310063" y="5588839"/>
              <a:ext cx="66675" cy="50800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3999" name="Rectangle 108"/>
            <p:cNvSpPr>
              <a:spLocks noChangeArrowheads="1"/>
            </p:cNvSpPr>
            <p:nvPr/>
          </p:nvSpPr>
          <p:spPr bwMode="auto">
            <a:xfrm>
              <a:off x="4379913" y="5587251"/>
              <a:ext cx="68262" cy="53975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00" name="Rectangle 109"/>
            <p:cNvSpPr>
              <a:spLocks noChangeArrowheads="1"/>
            </p:cNvSpPr>
            <p:nvPr/>
          </p:nvSpPr>
          <p:spPr bwMode="auto">
            <a:xfrm>
              <a:off x="4344988" y="5528514"/>
              <a:ext cx="68262" cy="50800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01" name="Rectangle 110"/>
            <p:cNvSpPr>
              <a:spLocks noChangeArrowheads="1"/>
            </p:cNvSpPr>
            <p:nvPr/>
          </p:nvSpPr>
          <p:spPr bwMode="auto">
            <a:xfrm>
              <a:off x="4414838" y="5528514"/>
              <a:ext cx="33337" cy="50800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02" name="Rectangle 111"/>
            <p:cNvSpPr>
              <a:spLocks noChangeArrowheads="1"/>
            </p:cNvSpPr>
            <p:nvPr/>
          </p:nvSpPr>
          <p:spPr bwMode="auto">
            <a:xfrm>
              <a:off x="4310063" y="5707901"/>
              <a:ext cx="63500" cy="52388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03" name="Rectangle 112"/>
            <p:cNvSpPr>
              <a:spLocks noChangeArrowheads="1"/>
            </p:cNvSpPr>
            <p:nvPr/>
          </p:nvSpPr>
          <p:spPr bwMode="auto">
            <a:xfrm>
              <a:off x="4379913" y="5707901"/>
              <a:ext cx="66675" cy="52388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04" name="Rectangle 113"/>
            <p:cNvSpPr>
              <a:spLocks noChangeArrowheads="1"/>
            </p:cNvSpPr>
            <p:nvPr/>
          </p:nvSpPr>
          <p:spPr bwMode="auto">
            <a:xfrm>
              <a:off x="4344988" y="5649164"/>
              <a:ext cx="66675" cy="49212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05" name="Rectangle 114"/>
            <p:cNvSpPr>
              <a:spLocks noChangeArrowheads="1"/>
            </p:cNvSpPr>
            <p:nvPr/>
          </p:nvSpPr>
          <p:spPr bwMode="auto">
            <a:xfrm>
              <a:off x="4413250" y="5645989"/>
              <a:ext cx="34925" cy="52387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06" name="Rectangle 115"/>
            <p:cNvSpPr>
              <a:spLocks noChangeArrowheads="1"/>
            </p:cNvSpPr>
            <p:nvPr/>
          </p:nvSpPr>
          <p:spPr bwMode="auto">
            <a:xfrm>
              <a:off x="4311650" y="5645989"/>
              <a:ext cx="26988" cy="52387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07" name="Rectangle 116"/>
            <p:cNvSpPr>
              <a:spLocks noChangeArrowheads="1"/>
            </p:cNvSpPr>
            <p:nvPr/>
          </p:nvSpPr>
          <p:spPr bwMode="auto">
            <a:xfrm>
              <a:off x="4310063" y="5825376"/>
              <a:ext cx="63500" cy="50800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08" name="Rectangle 117"/>
            <p:cNvSpPr>
              <a:spLocks noChangeArrowheads="1"/>
            </p:cNvSpPr>
            <p:nvPr/>
          </p:nvSpPr>
          <p:spPr bwMode="auto">
            <a:xfrm>
              <a:off x="4379913" y="5825376"/>
              <a:ext cx="66675" cy="50800"/>
            </a:xfrm>
            <a:prstGeom prst="rect">
              <a:avLst/>
            </a:prstGeom>
            <a:solidFill>
              <a:srgbClr val="4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09" name="Rectangle 118"/>
            <p:cNvSpPr>
              <a:spLocks noChangeArrowheads="1"/>
            </p:cNvSpPr>
            <p:nvPr/>
          </p:nvSpPr>
          <p:spPr bwMode="auto">
            <a:xfrm>
              <a:off x="4344988" y="5765051"/>
              <a:ext cx="66675" cy="50800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10" name="Rectangle 119"/>
            <p:cNvSpPr>
              <a:spLocks noChangeArrowheads="1"/>
            </p:cNvSpPr>
            <p:nvPr/>
          </p:nvSpPr>
          <p:spPr bwMode="auto">
            <a:xfrm>
              <a:off x="4413250" y="5765051"/>
              <a:ext cx="34925" cy="50800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11" name="Rectangle 120"/>
            <p:cNvSpPr>
              <a:spLocks noChangeArrowheads="1"/>
            </p:cNvSpPr>
            <p:nvPr/>
          </p:nvSpPr>
          <p:spPr bwMode="auto">
            <a:xfrm>
              <a:off x="4310063" y="5765051"/>
              <a:ext cx="28575" cy="50800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12" name="Freeform 121"/>
            <p:cNvSpPr>
              <a:spLocks/>
            </p:cNvSpPr>
            <p:nvPr/>
          </p:nvSpPr>
          <p:spPr bwMode="auto">
            <a:xfrm>
              <a:off x="4292600" y="5807914"/>
              <a:ext cx="19050" cy="65087"/>
            </a:xfrm>
            <a:custGeom>
              <a:avLst/>
              <a:gdLst>
                <a:gd name="T0" fmla="*/ 2147483647 w 12"/>
                <a:gd name="T1" fmla="*/ 2147483647 h 41"/>
                <a:gd name="T2" fmla="*/ 2147483647 w 12"/>
                <a:gd name="T3" fmla="*/ 2147483647 h 41"/>
                <a:gd name="T4" fmla="*/ 0 w 12"/>
                <a:gd name="T5" fmla="*/ 2147483647 h 41"/>
                <a:gd name="T6" fmla="*/ 0 w 12"/>
                <a:gd name="T7" fmla="*/ 0 h 41"/>
                <a:gd name="T8" fmla="*/ 2147483647 w 12"/>
                <a:gd name="T9" fmla="*/ 2147483647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"/>
                <a:gd name="T16" fmla="*/ 0 h 41"/>
                <a:gd name="T17" fmla="*/ 12 w 12"/>
                <a:gd name="T18" fmla="*/ 41 h 4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" h="41">
                  <a:moveTo>
                    <a:pt x="12" y="11"/>
                  </a:moveTo>
                  <a:lnTo>
                    <a:pt x="12" y="41"/>
                  </a:lnTo>
                  <a:lnTo>
                    <a:pt x="0" y="29"/>
                  </a:lnTo>
                  <a:lnTo>
                    <a:pt x="0" y="0"/>
                  </a:lnTo>
                  <a:lnTo>
                    <a:pt x="12" y="11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13" name="Freeform 122"/>
            <p:cNvSpPr>
              <a:spLocks/>
            </p:cNvSpPr>
            <p:nvPr/>
          </p:nvSpPr>
          <p:spPr bwMode="auto">
            <a:xfrm>
              <a:off x="4233863" y="5741239"/>
              <a:ext cx="55562" cy="111125"/>
            </a:xfrm>
            <a:custGeom>
              <a:avLst/>
              <a:gdLst>
                <a:gd name="T0" fmla="*/ 2147483647 w 35"/>
                <a:gd name="T1" fmla="*/ 2147483647 h 70"/>
                <a:gd name="T2" fmla="*/ 2147483647 w 35"/>
                <a:gd name="T3" fmla="*/ 2147483647 h 70"/>
                <a:gd name="T4" fmla="*/ 0 w 35"/>
                <a:gd name="T5" fmla="*/ 2147483647 h 70"/>
                <a:gd name="T6" fmla="*/ 0 w 35"/>
                <a:gd name="T7" fmla="*/ 0 h 70"/>
                <a:gd name="T8" fmla="*/ 2147483647 w 35"/>
                <a:gd name="T9" fmla="*/ 2147483647 h 7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70"/>
                <a:gd name="T17" fmla="*/ 35 w 35"/>
                <a:gd name="T18" fmla="*/ 70 h 7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70">
                  <a:moveTo>
                    <a:pt x="35" y="40"/>
                  </a:moveTo>
                  <a:lnTo>
                    <a:pt x="35" y="70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5" y="40"/>
                  </a:lnTo>
                  <a:close/>
                </a:path>
              </a:pathLst>
            </a:custGeom>
            <a:solidFill>
              <a:srgbClr val="4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14" name="Freeform 123"/>
            <p:cNvSpPr>
              <a:spLocks/>
            </p:cNvSpPr>
            <p:nvPr/>
          </p:nvSpPr>
          <p:spPr bwMode="auto">
            <a:xfrm>
              <a:off x="4176713" y="5679326"/>
              <a:ext cx="55562" cy="106363"/>
            </a:xfrm>
            <a:custGeom>
              <a:avLst/>
              <a:gdLst>
                <a:gd name="T0" fmla="*/ 2147483647 w 35"/>
                <a:gd name="T1" fmla="*/ 2147483647 h 67"/>
                <a:gd name="T2" fmla="*/ 2147483647 w 35"/>
                <a:gd name="T3" fmla="*/ 2147483647 h 67"/>
                <a:gd name="T4" fmla="*/ 0 w 35"/>
                <a:gd name="T5" fmla="*/ 2147483647 h 67"/>
                <a:gd name="T6" fmla="*/ 0 w 35"/>
                <a:gd name="T7" fmla="*/ 0 h 67"/>
                <a:gd name="T8" fmla="*/ 2147483647 w 35"/>
                <a:gd name="T9" fmla="*/ 2147483647 h 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67"/>
                <a:gd name="T17" fmla="*/ 35 w 35"/>
                <a:gd name="T18" fmla="*/ 67 h 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67">
                  <a:moveTo>
                    <a:pt x="35" y="39"/>
                  </a:moveTo>
                  <a:lnTo>
                    <a:pt x="35" y="67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5" y="39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15" name="Freeform 124"/>
            <p:cNvSpPr>
              <a:spLocks/>
            </p:cNvSpPr>
            <p:nvPr/>
          </p:nvSpPr>
          <p:spPr bwMode="auto">
            <a:xfrm>
              <a:off x="4117975" y="5617414"/>
              <a:ext cx="53975" cy="103187"/>
            </a:xfrm>
            <a:custGeom>
              <a:avLst/>
              <a:gdLst>
                <a:gd name="T0" fmla="*/ 2147483647 w 34"/>
                <a:gd name="T1" fmla="*/ 2147483647 h 65"/>
                <a:gd name="T2" fmla="*/ 2147483647 w 34"/>
                <a:gd name="T3" fmla="*/ 2147483647 h 65"/>
                <a:gd name="T4" fmla="*/ 0 w 34"/>
                <a:gd name="T5" fmla="*/ 2147483647 h 65"/>
                <a:gd name="T6" fmla="*/ 0 w 34"/>
                <a:gd name="T7" fmla="*/ 0 h 65"/>
                <a:gd name="T8" fmla="*/ 2147483647 w 34"/>
                <a:gd name="T9" fmla="*/ 2147483647 h 6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65"/>
                <a:gd name="T17" fmla="*/ 34 w 34"/>
                <a:gd name="T18" fmla="*/ 65 h 6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65">
                  <a:moveTo>
                    <a:pt x="34" y="37"/>
                  </a:moveTo>
                  <a:lnTo>
                    <a:pt x="34" y="65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37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16" name="Freeform 125"/>
            <p:cNvSpPr>
              <a:spLocks/>
            </p:cNvSpPr>
            <p:nvPr/>
          </p:nvSpPr>
          <p:spPr bwMode="auto">
            <a:xfrm>
              <a:off x="4087813" y="5584076"/>
              <a:ext cx="26987" cy="73025"/>
            </a:xfrm>
            <a:custGeom>
              <a:avLst/>
              <a:gdLst>
                <a:gd name="T0" fmla="*/ 2147483647 w 17"/>
                <a:gd name="T1" fmla="*/ 2147483647 h 46"/>
                <a:gd name="T2" fmla="*/ 2147483647 w 17"/>
                <a:gd name="T3" fmla="*/ 2147483647 h 46"/>
                <a:gd name="T4" fmla="*/ 0 w 17"/>
                <a:gd name="T5" fmla="*/ 2147483647 h 46"/>
                <a:gd name="T6" fmla="*/ 0 w 17"/>
                <a:gd name="T7" fmla="*/ 0 h 46"/>
                <a:gd name="T8" fmla="*/ 2147483647 w 17"/>
                <a:gd name="T9" fmla="*/ 2147483647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"/>
                <a:gd name="T16" fmla="*/ 0 h 46"/>
                <a:gd name="T17" fmla="*/ 17 w 17"/>
                <a:gd name="T18" fmla="*/ 46 h 4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" h="46">
                  <a:moveTo>
                    <a:pt x="17" y="18"/>
                  </a:moveTo>
                  <a:lnTo>
                    <a:pt x="17" y="46"/>
                  </a:lnTo>
                  <a:lnTo>
                    <a:pt x="0" y="27"/>
                  </a:lnTo>
                  <a:lnTo>
                    <a:pt x="0" y="0"/>
                  </a:lnTo>
                  <a:lnTo>
                    <a:pt x="17" y="1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17" name="Freeform 126"/>
            <p:cNvSpPr>
              <a:spLocks/>
            </p:cNvSpPr>
            <p:nvPr/>
          </p:nvSpPr>
          <p:spPr bwMode="auto">
            <a:xfrm>
              <a:off x="4292600" y="4984001"/>
              <a:ext cx="19050" cy="57150"/>
            </a:xfrm>
            <a:custGeom>
              <a:avLst/>
              <a:gdLst>
                <a:gd name="T0" fmla="*/ 2147483647 w 12"/>
                <a:gd name="T1" fmla="*/ 2147483647 h 36"/>
                <a:gd name="T2" fmla="*/ 2147483647 w 12"/>
                <a:gd name="T3" fmla="*/ 2147483647 h 36"/>
                <a:gd name="T4" fmla="*/ 0 w 12"/>
                <a:gd name="T5" fmla="*/ 2147483647 h 36"/>
                <a:gd name="T6" fmla="*/ 0 w 12"/>
                <a:gd name="T7" fmla="*/ 0 h 36"/>
                <a:gd name="T8" fmla="*/ 2147483647 w 12"/>
                <a:gd name="T9" fmla="*/ 2147483647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"/>
                <a:gd name="T16" fmla="*/ 0 h 36"/>
                <a:gd name="T17" fmla="*/ 12 w 12"/>
                <a:gd name="T18" fmla="*/ 36 h 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" h="36">
                  <a:moveTo>
                    <a:pt x="12" y="5"/>
                  </a:moveTo>
                  <a:lnTo>
                    <a:pt x="12" y="36"/>
                  </a:lnTo>
                  <a:lnTo>
                    <a:pt x="0" y="31"/>
                  </a:lnTo>
                  <a:lnTo>
                    <a:pt x="0" y="0"/>
                  </a:lnTo>
                  <a:lnTo>
                    <a:pt x="12" y="5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18" name="Freeform 127"/>
            <p:cNvSpPr>
              <a:spLocks/>
            </p:cNvSpPr>
            <p:nvPr/>
          </p:nvSpPr>
          <p:spPr bwMode="auto">
            <a:xfrm>
              <a:off x="4233863" y="4952251"/>
              <a:ext cx="55562" cy="77788"/>
            </a:xfrm>
            <a:custGeom>
              <a:avLst/>
              <a:gdLst>
                <a:gd name="T0" fmla="*/ 2147483647 w 35"/>
                <a:gd name="T1" fmla="*/ 2147483647 h 49"/>
                <a:gd name="T2" fmla="*/ 2147483647 w 35"/>
                <a:gd name="T3" fmla="*/ 2147483647 h 49"/>
                <a:gd name="T4" fmla="*/ 0 w 35"/>
                <a:gd name="T5" fmla="*/ 2147483647 h 49"/>
                <a:gd name="T6" fmla="*/ 0 w 35"/>
                <a:gd name="T7" fmla="*/ 0 h 49"/>
                <a:gd name="T8" fmla="*/ 2147483647 w 35"/>
                <a:gd name="T9" fmla="*/ 2147483647 h 4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49"/>
                <a:gd name="T17" fmla="*/ 35 w 35"/>
                <a:gd name="T18" fmla="*/ 49 h 4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49">
                  <a:moveTo>
                    <a:pt x="35" y="19"/>
                  </a:moveTo>
                  <a:lnTo>
                    <a:pt x="35" y="49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5" y="19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19" name="Freeform 128"/>
            <p:cNvSpPr>
              <a:spLocks/>
            </p:cNvSpPr>
            <p:nvPr/>
          </p:nvSpPr>
          <p:spPr bwMode="auto">
            <a:xfrm>
              <a:off x="4176713" y="4922089"/>
              <a:ext cx="55562" cy="73025"/>
            </a:xfrm>
            <a:custGeom>
              <a:avLst/>
              <a:gdLst>
                <a:gd name="T0" fmla="*/ 2147483647 w 35"/>
                <a:gd name="T1" fmla="*/ 2147483647 h 46"/>
                <a:gd name="T2" fmla="*/ 2147483647 w 35"/>
                <a:gd name="T3" fmla="*/ 2147483647 h 46"/>
                <a:gd name="T4" fmla="*/ 0 w 35"/>
                <a:gd name="T5" fmla="*/ 2147483647 h 46"/>
                <a:gd name="T6" fmla="*/ 0 w 35"/>
                <a:gd name="T7" fmla="*/ 0 h 46"/>
                <a:gd name="T8" fmla="*/ 2147483647 w 35"/>
                <a:gd name="T9" fmla="*/ 2147483647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46"/>
                <a:gd name="T17" fmla="*/ 35 w 35"/>
                <a:gd name="T18" fmla="*/ 46 h 4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46">
                  <a:moveTo>
                    <a:pt x="35" y="18"/>
                  </a:moveTo>
                  <a:lnTo>
                    <a:pt x="35" y="46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5" y="1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20" name="Freeform 129"/>
            <p:cNvSpPr>
              <a:spLocks/>
            </p:cNvSpPr>
            <p:nvPr/>
          </p:nvSpPr>
          <p:spPr bwMode="auto">
            <a:xfrm>
              <a:off x="4117975" y="4890339"/>
              <a:ext cx="53975" cy="73025"/>
            </a:xfrm>
            <a:custGeom>
              <a:avLst/>
              <a:gdLst>
                <a:gd name="T0" fmla="*/ 2147483647 w 34"/>
                <a:gd name="T1" fmla="*/ 2147483647 h 46"/>
                <a:gd name="T2" fmla="*/ 2147483647 w 34"/>
                <a:gd name="T3" fmla="*/ 2147483647 h 46"/>
                <a:gd name="T4" fmla="*/ 0 w 34"/>
                <a:gd name="T5" fmla="*/ 2147483647 h 46"/>
                <a:gd name="T6" fmla="*/ 0 w 34"/>
                <a:gd name="T7" fmla="*/ 0 h 46"/>
                <a:gd name="T8" fmla="*/ 2147483647 w 34"/>
                <a:gd name="T9" fmla="*/ 2147483647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46"/>
                <a:gd name="T17" fmla="*/ 34 w 34"/>
                <a:gd name="T18" fmla="*/ 46 h 4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46">
                  <a:moveTo>
                    <a:pt x="34" y="18"/>
                  </a:moveTo>
                  <a:lnTo>
                    <a:pt x="34" y="46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1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21" name="Freeform 130"/>
            <p:cNvSpPr>
              <a:spLocks/>
            </p:cNvSpPr>
            <p:nvPr/>
          </p:nvSpPr>
          <p:spPr bwMode="auto">
            <a:xfrm>
              <a:off x="4087813" y="4872876"/>
              <a:ext cx="26987" cy="57150"/>
            </a:xfrm>
            <a:custGeom>
              <a:avLst/>
              <a:gdLst>
                <a:gd name="T0" fmla="*/ 2147483647 w 17"/>
                <a:gd name="T1" fmla="*/ 2147483647 h 36"/>
                <a:gd name="T2" fmla="*/ 2147483647 w 17"/>
                <a:gd name="T3" fmla="*/ 2147483647 h 36"/>
                <a:gd name="T4" fmla="*/ 0 w 17"/>
                <a:gd name="T5" fmla="*/ 2147483647 h 36"/>
                <a:gd name="T6" fmla="*/ 0 w 17"/>
                <a:gd name="T7" fmla="*/ 0 h 36"/>
                <a:gd name="T8" fmla="*/ 2147483647 w 17"/>
                <a:gd name="T9" fmla="*/ 2147483647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"/>
                <a:gd name="T16" fmla="*/ 0 h 36"/>
                <a:gd name="T17" fmla="*/ 17 w 17"/>
                <a:gd name="T18" fmla="*/ 36 h 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" h="36">
                  <a:moveTo>
                    <a:pt x="17" y="10"/>
                  </a:moveTo>
                  <a:lnTo>
                    <a:pt x="17" y="36"/>
                  </a:lnTo>
                  <a:lnTo>
                    <a:pt x="0" y="28"/>
                  </a:lnTo>
                  <a:lnTo>
                    <a:pt x="0" y="0"/>
                  </a:lnTo>
                  <a:lnTo>
                    <a:pt x="17" y="10"/>
                  </a:lnTo>
                  <a:close/>
                </a:path>
              </a:pathLst>
            </a:custGeom>
            <a:solidFill>
              <a:srgbClr val="4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22" name="Freeform 131"/>
            <p:cNvSpPr>
              <a:spLocks/>
            </p:cNvSpPr>
            <p:nvPr/>
          </p:nvSpPr>
          <p:spPr bwMode="auto">
            <a:xfrm>
              <a:off x="4233863" y="5064964"/>
              <a:ext cx="55562" cy="82550"/>
            </a:xfrm>
            <a:custGeom>
              <a:avLst/>
              <a:gdLst>
                <a:gd name="T0" fmla="*/ 2147483647 w 35"/>
                <a:gd name="T1" fmla="*/ 2147483647 h 52"/>
                <a:gd name="T2" fmla="*/ 2147483647 w 35"/>
                <a:gd name="T3" fmla="*/ 2147483647 h 52"/>
                <a:gd name="T4" fmla="*/ 0 w 35"/>
                <a:gd name="T5" fmla="*/ 2147483647 h 52"/>
                <a:gd name="T6" fmla="*/ 0 w 35"/>
                <a:gd name="T7" fmla="*/ 0 h 52"/>
                <a:gd name="T8" fmla="*/ 2147483647 w 35"/>
                <a:gd name="T9" fmla="*/ 2147483647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52"/>
                <a:gd name="T17" fmla="*/ 35 w 35"/>
                <a:gd name="T18" fmla="*/ 52 h 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52">
                  <a:moveTo>
                    <a:pt x="35" y="22"/>
                  </a:moveTo>
                  <a:lnTo>
                    <a:pt x="35" y="52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5" y="22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23" name="Freeform 132"/>
            <p:cNvSpPr>
              <a:spLocks/>
            </p:cNvSpPr>
            <p:nvPr/>
          </p:nvSpPr>
          <p:spPr bwMode="auto">
            <a:xfrm>
              <a:off x="4176713" y="5028451"/>
              <a:ext cx="55562" cy="82550"/>
            </a:xfrm>
            <a:custGeom>
              <a:avLst/>
              <a:gdLst>
                <a:gd name="T0" fmla="*/ 2147483647 w 35"/>
                <a:gd name="T1" fmla="*/ 2147483647 h 52"/>
                <a:gd name="T2" fmla="*/ 2147483647 w 35"/>
                <a:gd name="T3" fmla="*/ 2147483647 h 52"/>
                <a:gd name="T4" fmla="*/ 0 w 35"/>
                <a:gd name="T5" fmla="*/ 2147483647 h 52"/>
                <a:gd name="T6" fmla="*/ 0 w 35"/>
                <a:gd name="T7" fmla="*/ 0 h 52"/>
                <a:gd name="T8" fmla="*/ 2147483647 w 35"/>
                <a:gd name="T9" fmla="*/ 2147483647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52"/>
                <a:gd name="T17" fmla="*/ 35 w 35"/>
                <a:gd name="T18" fmla="*/ 52 h 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52">
                  <a:moveTo>
                    <a:pt x="35" y="23"/>
                  </a:moveTo>
                  <a:lnTo>
                    <a:pt x="35" y="52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5" y="23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24" name="Freeform 133"/>
            <p:cNvSpPr>
              <a:spLocks/>
            </p:cNvSpPr>
            <p:nvPr/>
          </p:nvSpPr>
          <p:spPr bwMode="auto">
            <a:xfrm>
              <a:off x="4117975" y="4993526"/>
              <a:ext cx="53975" cy="77788"/>
            </a:xfrm>
            <a:custGeom>
              <a:avLst/>
              <a:gdLst>
                <a:gd name="T0" fmla="*/ 2147483647 w 34"/>
                <a:gd name="T1" fmla="*/ 2147483647 h 49"/>
                <a:gd name="T2" fmla="*/ 2147483647 w 34"/>
                <a:gd name="T3" fmla="*/ 2147483647 h 49"/>
                <a:gd name="T4" fmla="*/ 0 w 34"/>
                <a:gd name="T5" fmla="*/ 2147483647 h 49"/>
                <a:gd name="T6" fmla="*/ 0 w 34"/>
                <a:gd name="T7" fmla="*/ 0 h 49"/>
                <a:gd name="T8" fmla="*/ 2147483647 w 34"/>
                <a:gd name="T9" fmla="*/ 2147483647 h 4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49"/>
                <a:gd name="T17" fmla="*/ 34 w 34"/>
                <a:gd name="T18" fmla="*/ 49 h 4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49">
                  <a:moveTo>
                    <a:pt x="34" y="21"/>
                  </a:moveTo>
                  <a:lnTo>
                    <a:pt x="34" y="49"/>
                  </a:lnTo>
                  <a:lnTo>
                    <a:pt x="0" y="27"/>
                  </a:lnTo>
                  <a:lnTo>
                    <a:pt x="0" y="0"/>
                  </a:lnTo>
                  <a:lnTo>
                    <a:pt x="34" y="21"/>
                  </a:lnTo>
                  <a:close/>
                </a:path>
              </a:pathLst>
            </a:custGeom>
            <a:solidFill>
              <a:srgbClr val="4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25" name="Freeform 134"/>
            <p:cNvSpPr>
              <a:spLocks/>
            </p:cNvSpPr>
            <p:nvPr/>
          </p:nvSpPr>
          <p:spPr bwMode="auto">
            <a:xfrm>
              <a:off x="4087813" y="4974476"/>
              <a:ext cx="26987" cy="61913"/>
            </a:xfrm>
            <a:custGeom>
              <a:avLst/>
              <a:gdLst>
                <a:gd name="T0" fmla="*/ 2147483647 w 17"/>
                <a:gd name="T1" fmla="*/ 2147483647 h 39"/>
                <a:gd name="T2" fmla="*/ 2147483647 w 17"/>
                <a:gd name="T3" fmla="*/ 2147483647 h 39"/>
                <a:gd name="T4" fmla="*/ 0 w 17"/>
                <a:gd name="T5" fmla="*/ 2147483647 h 39"/>
                <a:gd name="T6" fmla="*/ 0 w 17"/>
                <a:gd name="T7" fmla="*/ 0 h 39"/>
                <a:gd name="T8" fmla="*/ 2147483647 w 17"/>
                <a:gd name="T9" fmla="*/ 2147483647 h 3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"/>
                <a:gd name="T16" fmla="*/ 0 h 39"/>
                <a:gd name="T17" fmla="*/ 17 w 17"/>
                <a:gd name="T18" fmla="*/ 39 h 3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" h="39">
                  <a:moveTo>
                    <a:pt x="17" y="11"/>
                  </a:moveTo>
                  <a:lnTo>
                    <a:pt x="17" y="39"/>
                  </a:lnTo>
                  <a:lnTo>
                    <a:pt x="0" y="27"/>
                  </a:lnTo>
                  <a:lnTo>
                    <a:pt x="0" y="0"/>
                  </a:lnTo>
                  <a:lnTo>
                    <a:pt x="17" y="11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26" name="Freeform 135"/>
            <p:cNvSpPr>
              <a:spLocks/>
            </p:cNvSpPr>
            <p:nvPr/>
          </p:nvSpPr>
          <p:spPr bwMode="auto">
            <a:xfrm>
              <a:off x="4292600" y="5220539"/>
              <a:ext cx="19050" cy="60325"/>
            </a:xfrm>
            <a:custGeom>
              <a:avLst/>
              <a:gdLst>
                <a:gd name="T0" fmla="*/ 2147483647 w 12"/>
                <a:gd name="T1" fmla="*/ 2147483647 h 38"/>
                <a:gd name="T2" fmla="*/ 2147483647 w 12"/>
                <a:gd name="T3" fmla="*/ 2147483647 h 38"/>
                <a:gd name="T4" fmla="*/ 0 w 12"/>
                <a:gd name="T5" fmla="*/ 2147483647 h 38"/>
                <a:gd name="T6" fmla="*/ 0 w 12"/>
                <a:gd name="T7" fmla="*/ 0 h 38"/>
                <a:gd name="T8" fmla="*/ 2147483647 w 12"/>
                <a:gd name="T9" fmla="*/ 2147483647 h 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"/>
                <a:gd name="T16" fmla="*/ 0 h 38"/>
                <a:gd name="T17" fmla="*/ 12 w 12"/>
                <a:gd name="T18" fmla="*/ 38 h 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" h="38">
                  <a:moveTo>
                    <a:pt x="12" y="8"/>
                  </a:moveTo>
                  <a:lnTo>
                    <a:pt x="12" y="38"/>
                  </a:lnTo>
                  <a:lnTo>
                    <a:pt x="0" y="30"/>
                  </a:lnTo>
                  <a:lnTo>
                    <a:pt x="0" y="0"/>
                  </a:lnTo>
                  <a:lnTo>
                    <a:pt x="12" y="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27" name="Freeform 136"/>
            <p:cNvSpPr>
              <a:spLocks/>
            </p:cNvSpPr>
            <p:nvPr/>
          </p:nvSpPr>
          <p:spPr bwMode="auto">
            <a:xfrm>
              <a:off x="4233863" y="5177676"/>
              <a:ext cx="55562" cy="87313"/>
            </a:xfrm>
            <a:custGeom>
              <a:avLst/>
              <a:gdLst>
                <a:gd name="T0" fmla="*/ 2147483647 w 35"/>
                <a:gd name="T1" fmla="*/ 2147483647 h 55"/>
                <a:gd name="T2" fmla="*/ 2147483647 w 35"/>
                <a:gd name="T3" fmla="*/ 2147483647 h 55"/>
                <a:gd name="T4" fmla="*/ 0 w 35"/>
                <a:gd name="T5" fmla="*/ 2147483647 h 55"/>
                <a:gd name="T6" fmla="*/ 0 w 35"/>
                <a:gd name="T7" fmla="*/ 0 h 55"/>
                <a:gd name="T8" fmla="*/ 2147483647 w 35"/>
                <a:gd name="T9" fmla="*/ 2147483647 h 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55"/>
                <a:gd name="T17" fmla="*/ 35 w 35"/>
                <a:gd name="T18" fmla="*/ 55 h 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55">
                  <a:moveTo>
                    <a:pt x="35" y="24"/>
                  </a:moveTo>
                  <a:lnTo>
                    <a:pt x="35" y="55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5" y="24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28" name="Freeform 137"/>
            <p:cNvSpPr>
              <a:spLocks/>
            </p:cNvSpPr>
            <p:nvPr/>
          </p:nvSpPr>
          <p:spPr bwMode="auto">
            <a:xfrm>
              <a:off x="4176713" y="5136401"/>
              <a:ext cx="55562" cy="85725"/>
            </a:xfrm>
            <a:custGeom>
              <a:avLst/>
              <a:gdLst>
                <a:gd name="T0" fmla="*/ 2147483647 w 35"/>
                <a:gd name="T1" fmla="*/ 2147483647 h 54"/>
                <a:gd name="T2" fmla="*/ 2147483647 w 35"/>
                <a:gd name="T3" fmla="*/ 2147483647 h 54"/>
                <a:gd name="T4" fmla="*/ 0 w 35"/>
                <a:gd name="T5" fmla="*/ 2147483647 h 54"/>
                <a:gd name="T6" fmla="*/ 0 w 35"/>
                <a:gd name="T7" fmla="*/ 0 h 54"/>
                <a:gd name="T8" fmla="*/ 2147483647 w 35"/>
                <a:gd name="T9" fmla="*/ 2147483647 h 5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54"/>
                <a:gd name="T17" fmla="*/ 35 w 35"/>
                <a:gd name="T18" fmla="*/ 54 h 5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54">
                  <a:moveTo>
                    <a:pt x="35" y="26"/>
                  </a:moveTo>
                  <a:lnTo>
                    <a:pt x="35" y="54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5" y="26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29" name="Freeform 138"/>
            <p:cNvSpPr>
              <a:spLocks/>
            </p:cNvSpPr>
            <p:nvPr/>
          </p:nvSpPr>
          <p:spPr bwMode="auto">
            <a:xfrm>
              <a:off x="4117975" y="5098301"/>
              <a:ext cx="53975" cy="82550"/>
            </a:xfrm>
            <a:custGeom>
              <a:avLst/>
              <a:gdLst>
                <a:gd name="T0" fmla="*/ 2147483647 w 34"/>
                <a:gd name="T1" fmla="*/ 2147483647 h 52"/>
                <a:gd name="T2" fmla="*/ 2147483647 w 34"/>
                <a:gd name="T3" fmla="*/ 2147483647 h 52"/>
                <a:gd name="T4" fmla="*/ 0 w 34"/>
                <a:gd name="T5" fmla="*/ 2147483647 h 52"/>
                <a:gd name="T6" fmla="*/ 0 w 34"/>
                <a:gd name="T7" fmla="*/ 0 h 52"/>
                <a:gd name="T8" fmla="*/ 2147483647 w 34"/>
                <a:gd name="T9" fmla="*/ 2147483647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52"/>
                <a:gd name="T17" fmla="*/ 34 w 34"/>
                <a:gd name="T18" fmla="*/ 52 h 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52">
                  <a:moveTo>
                    <a:pt x="34" y="24"/>
                  </a:moveTo>
                  <a:lnTo>
                    <a:pt x="34" y="52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24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30" name="Freeform 139"/>
            <p:cNvSpPr>
              <a:spLocks/>
            </p:cNvSpPr>
            <p:nvPr/>
          </p:nvSpPr>
          <p:spPr bwMode="auto">
            <a:xfrm>
              <a:off x="4087813" y="5077664"/>
              <a:ext cx="26987" cy="60325"/>
            </a:xfrm>
            <a:custGeom>
              <a:avLst/>
              <a:gdLst>
                <a:gd name="T0" fmla="*/ 2147483647 w 17"/>
                <a:gd name="T1" fmla="*/ 2147483647 h 38"/>
                <a:gd name="T2" fmla="*/ 2147483647 w 17"/>
                <a:gd name="T3" fmla="*/ 2147483647 h 38"/>
                <a:gd name="T4" fmla="*/ 0 w 17"/>
                <a:gd name="T5" fmla="*/ 2147483647 h 38"/>
                <a:gd name="T6" fmla="*/ 0 w 17"/>
                <a:gd name="T7" fmla="*/ 0 h 38"/>
                <a:gd name="T8" fmla="*/ 2147483647 w 17"/>
                <a:gd name="T9" fmla="*/ 2147483647 h 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"/>
                <a:gd name="T16" fmla="*/ 0 h 38"/>
                <a:gd name="T17" fmla="*/ 17 w 17"/>
                <a:gd name="T18" fmla="*/ 38 h 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" h="38">
                  <a:moveTo>
                    <a:pt x="17" y="10"/>
                  </a:moveTo>
                  <a:lnTo>
                    <a:pt x="17" y="38"/>
                  </a:lnTo>
                  <a:lnTo>
                    <a:pt x="0" y="27"/>
                  </a:lnTo>
                  <a:lnTo>
                    <a:pt x="0" y="0"/>
                  </a:lnTo>
                  <a:lnTo>
                    <a:pt x="17" y="10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31" name="Freeform 140"/>
            <p:cNvSpPr>
              <a:spLocks/>
            </p:cNvSpPr>
            <p:nvPr/>
          </p:nvSpPr>
          <p:spPr bwMode="auto">
            <a:xfrm>
              <a:off x="4292600" y="5334839"/>
              <a:ext cx="17463" cy="63500"/>
            </a:xfrm>
            <a:custGeom>
              <a:avLst/>
              <a:gdLst>
                <a:gd name="T0" fmla="*/ 2147483647 w 11"/>
                <a:gd name="T1" fmla="*/ 2147483647 h 40"/>
                <a:gd name="T2" fmla="*/ 2147483647 w 11"/>
                <a:gd name="T3" fmla="*/ 2147483647 h 40"/>
                <a:gd name="T4" fmla="*/ 0 w 11"/>
                <a:gd name="T5" fmla="*/ 2147483647 h 40"/>
                <a:gd name="T6" fmla="*/ 0 w 11"/>
                <a:gd name="T7" fmla="*/ 0 h 40"/>
                <a:gd name="T8" fmla="*/ 2147483647 w 11"/>
                <a:gd name="T9" fmla="*/ 2147483647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"/>
                <a:gd name="T16" fmla="*/ 0 h 40"/>
                <a:gd name="T17" fmla="*/ 11 w 11"/>
                <a:gd name="T18" fmla="*/ 40 h 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" h="40">
                  <a:moveTo>
                    <a:pt x="11" y="9"/>
                  </a:moveTo>
                  <a:lnTo>
                    <a:pt x="11" y="40"/>
                  </a:lnTo>
                  <a:lnTo>
                    <a:pt x="0" y="32"/>
                  </a:lnTo>
                  <a:lnTo>
                    <a:pt x="0" y="0"/>
                  </a:lnTo>
                  <a:lnTo>
                    <a:pt x="11" y="9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32" name="Freeform 141"/>
            <p:cNvSpPr>
              <a:spLocks/>
            </p:cNvSpPr>
            <p:nvPr/>
          </p:nvSpPr>
          <p:spPr bwMode="auto">
            <a:xfrm>
              <a:off x="4233863" y="5290389"/>
              <a:ext cx="55562" cy="90487"/>
            </a:xfrm>
            <a:custGeom>
              <a:avLst/>
              <a:gdLst>
                <a:gd name="T0" fmla="*/ 2147483647 w 35"/>
                <a:gd name="T1" fmla="*/ 2147483647 h 57"/>
                <a:gd name="T2" fmla="*/ 2147483647 w 35"/>
                <a:gd name="T3" fmla="*/ 2147483647 h 57"/>
                <a:gd name="T4" fmla="*/ 0 w 35"/>
                <a:gd name="T5" fmla="*/ 2147483647 h 57"/>
                <a:gd name="T6" fmla="*/ 0 w 35"/>
                <a:gd name="T7" fmla="*/ 0 h 57"/>
                <a:gd name="T8" fmla="*/ 2147483647 w 35"/>
                <a:gd name="T9" fmla="*/ 2147483647 h 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57"/>
                <a:gd name="T17" fmla="*/ 35 w 35"/>
                <a:gd name="T18" fmla="*/ 57 h 5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57">
                  <a:moveTo>
                    <a:pt x="35" y="27"/>
                  </a:moveTo>
                  <a:lnTo>
                    <a:pt x="35" y="57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5" y="27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33" name="Freeform 142"/>
            <p:cNvSpPr>
              <a:spLocks/>
            </p:cNvSpPr>
            <p:nvPr/>
          </p:nvSpPr>
          <p:spPr bwMode="auto">
            <a:xfrm>
              <a:off x="4176713" y="5245939"/>
              <a:ext cx="55562" cy="88900"/>
            </a:xfrm>
            <a:custGeom>
              <a:avLst/>
              <a:gdLst>
                <a:gd name="T0" fmla="*/ 2147483647 w 35"/>
                <a:gd name="T1" fmla="*/ 2147483647 h 56"/>
                <a:gd name="T2" fmla="*/ 2147483647 w 35"/>
                <a:gd name="T3" fmla="*/ 2147483647 h 56"/>
                <a:gd name="T4" fmla="*/ 0 w 35"/>
                <a:gd name="T5" fmla="*/ 2147483647 h 56"/>
                <a:gd name="T6" fmla="*/ 0 w 35"/>
                <a:gd name="T7" fmla="*/ 0 h 56"/>
                <a:gd name="T8" fmla="*/ 2147483647 w 35"/>
                <a:gd name="T9" fmla="*/ 2147483647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56"/>
                <a:gd name="T17" fmla="*/ 35 w 35"/>
                <a:gd name="T18" fmla="*/ 56 h 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56">
                  <a:moveTo>
                    <a:pt x="35" y="28"/>
                  </a:moveTo>
                  <a:lnTo>
                    <a:pt x="35" y="56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5" y="2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34" name="Freeform 143"/>
            <p:cNvSpPr>
              <a:spLocks/>
            </p:cNvSpPr>
            <p:nvPr/>
          </p:nvSpPr>
          <p:spPr bwMode="auto">
            <a:xfrm>
              <a:off x="4117975" y="5199901"/>
              <a:ext cx="53975" cy="88900"/>
            </a:xfrm>
            <a:custGeom>
              <a:avLst/>
              <a:gdLst>
                <a:gd name="T0" fmla="*/ 2147483647 w 34"/>
                <a:gd name="T1" fmla="*/ 2147483647 h 56"/>
                <a:gd name="T2" fmla="*/ 2147483647 w 34"/>
                <a:gd name="T3" fmla="*/ 2147483647 h 56"/>
                <a:gd name="T4" fmla="*/ 0 w 34"/>
                <a:gd name="T5" fmla="*/ 2147483647 h 56"/>
                <a:gd name="T6" fmla="*/ 0 w 34"/>
                <a:gd name="T7" fmla="*/ 0 h 56"/>
                <a:gd name="T8" fmla="*/ 2147483647 w 34"/>
                <a:gd name="T9" fmla="*/ 2147483647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56"/>
                <a:gd name="T17" fmla="*/ 34 w 34"/>
                <a:gd name="T18" fmla="*/ 56 h 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56">
                  <a:moveTo>
                    <a:pt x="34" y="28"/>
                  </a:moveTo>
                  <a:lnTo>
                    <a:pt x="34" y="56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2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35" name="Freeform 144"/>
            <p:cNvSpPr>
              <a:spLocks/>
            </p:cNvSpPr>
            <p:nvPr/>
          </p:nvSpPr>
          <p:spPr bwMode="auto">
            <a:xfrm>
              <a:off x="4087813" y="5177676"/>
              <a:ext cx="26987" cy="65088"/>
            </a:xfrm>
            <a:custGeom>
              <a:avLst/>
              <a:gdLst>
                <a:gd name="T0" fmla="*/ 2147483647 w 17"/>
                <a:gd name="T1" fmla="*/ 2147483647 h 41"/>
                <a:gd name="T2" fmla="*/ 2147483647 w 17"/>
                <a:gd name="T3" fmla="*/ 2147483647 h 41"/>
                <a:gd name="T4" fmla="*/ 0 w 17"/>
                <a:gd name="T5" fmla="*/ 2147483647 h 41"/>
                <a:gd name="T6" fmla="*/ 0 w 17"/>
                <a:gd name="T7" fmla="*/ 0 h 41"/>
                <a:gd name="T8" fmla="*/ 2147483647 w 17"/>
                <a:gd name="T9" fmla="*/ 2147483647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"/>
                <a:gd name="T16" fmla="*/ 0 h 41"/>
                <a:gd name="T17" fmla="*/ 17 w 17"/>
                <a:gd name="T18" fmla="*/ 41 h 4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" h="41">
                  <a:moveTo>
                    <a:pt x="17" y="13"/>
                  </a:moveTo>
                  <a:lnTo>
                    <a:pt x="17" y="41"/>
                  </a:lnTo>
                  <a:lnTo>
                    <a:pt x="0" y="25"/>
                  </a:lnTo>
                  <a:lnTo>
                    <a:pt x="0" y="0"/>
                  </a:lnTo>
                  <a:lnTo>
                    <a:pt x="17" y="13"/>
                  </a:lnTo>
                  <a:close/>
                </a:path>
              </a:pathLst>
            </a:custGeom>
            <a:solidFill>
              <a:srgbClr val="4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36" name="Freeform 145"/>
            <p:cNvSpPr>
              <a:spLocks/>
            </p:cNvSpPr>
            <p:nvPr/>
          </p:nvSpPr>
          <p:spPr bwMode="auto">
            <a:xfrm>
              <a:off x="4292600" y="5453901"/>
              <a:ext cx="19050" cy="65088"/>
            </a:xfrm>
            <a:custGeom>
              <a:avLst/>
              <a:gdLst>
                <a:gd name="T0" fmla="*/ 2147483647 w 12"/>
                <a:gd name="T1" fmla="*/ 2147483647 h 41"/>
                <a:gd name="T2" fmla="*/ 2147483647 w 12"/>
                <a:gd name="T3" fmla="*/ 2147483647 h 41"/>
                <a:gd name="T4" fmla="*/ 0 w 12"/>
                <a:gd name="T5" fmla="*/ 2147483647 h 41"/>
                <a:gd name="T6" fmla="*/ 0 w 12"/>
                <a:gd name="T7" fmla="*/ 0 h 41"/>
                <a:gd name="T8" fmla="*/ 2147483647 w 12"/>
                <a:gd name="T9" fmla="*/ 2147483647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"/>
                <a:gd name="T16" fmla="*/ 0 h 41"/>
                <a:gd name="T17" fmla="*/ 12 w 12"/>
                <a:gd name="T18" fmla="*/ 41 h 4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" h="41">
                  <a:moveTo>
                    <a:pt x="12" y="10"/>
                  </a:moveTo>
                  <a:lnTo>
                    <a:pt x="12" y="41"/>
                  </a:lnTo>
                  <a:lnTo>
                    <a:pt x="0" y="30"/>
                  </a:lnTo>
                  <a:lnTo>
                    <a:pt x="0" y="0"/>
                  </a:lnTo>
                  <a:lnTo>
                    <a:pt x="12" y="10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37" name="Freeform 146"/>
            <p:cNvSpPr>
              <a:spLocks/>
            </p:cNvSpPr>
            <p:nvPr/>
          </p:nvSpPr>
          <p:spPr bwMode="auto">
            <a:xfrm>
              <a:off x="4233863" y="5403101"/>
              <a:ext cx="55562" cy="93663"/>
            </a:xfrm>
            <a:custGeom>
              <a:avLst/>
              <a:gdLst>
                <a:gd name="T0" fmla="*/ 2147483647 w 35"/>
                <a:gd name="T1" fmla="*/ 2147483647 h 59"/>
                <a:gd name="T2" fmla="*/ 2147483647 w 35"/>
                <a:gd name="T3" fmla="*/ 2147483647 h 59"/>
                <a:gd name="T4" fmla="*/ 0 w 35"/>
                <a:gd name="T5" fmla="*/ 2147483647 h 59"/>
                <a:gd name="T6" fmla="*/ 0 w 35"/>
                <a:gd name="T7" fmla="*/ 0 h 59"/>
                <a:gd name="T8" fmla="*/ 2147483647 w 35"/>
                <a:gd name="T9" fmla="*/ 2147483647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59"/>
                <a:gd name="T17" fmla="*/ 35 w 35"/>
                <a:gd name="T18" fmla="*/ 59 h 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59">
                  <a:moveTo>
                    <a:pt x="35" y="30"/>
                  </a:moveTo>
                  <a:lnTo>
                    <a:pt x="35" y="59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5" y="30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38" name="Freeform 147"/>
            <p:cNvSpPr>
              <a:spLocks/>
            </p:cNvSpPr>
            <p:nvPr/>
          </p:nvSpPr>
          <p:spPr bwMode="auto">
            <a:xfrm>
              <a:off x="4176713" y="5353889"/>
              <a:ext cx="55562" cy="93662"/>
            </a:xfrm>
            <a:custGeom>
              <a:avLst/>
              <a:gdLst>
                <a:gd name="T0" fmla="*/ 2147483647 w 35"/>
                <a:gd name="T1" fmla="*/ 2147483647 h 59"/>
                <a:gd name="T2" fmla="*/ 2147483647 w 35"/>
                <a:gd name="T3" fmla="*/ 2147483647 h 59"/>
                <a:gd name="T4" fmla="*/ 0 w 35"/>
                <a:gd name="T5" fmla="*/ 2147483647 h 59"/>
                <a:gd name="T6" fmla="*/ 0 w 35"/>
                <a:gd name="T7" fmla="*/ 0 h 59"/>
                <a:gd name="T8" fmla="*/ 2147483647 w 35"/>
                <a:gd name="T9" fmla="*/ 2147483647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59"/>
                <a:gd name="T17" fmla="*/ 35 w 35"/>
                <a:gd name="T18" fmla="*/ 59 h 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59">
                  <a:moveTo>
                    <a:pt x="35" y="30"/>
                  </a:moveTo>
                  <a:lnTo>
                    <a:pt x="35" y="59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5" y="30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39" name="Freeform 148"/>
            <p:cNvSpPr>
              <a:spLocks/>
            </p:cNvSpPr>
            <p:nvPr/>
          </p:nvSpPr>
          <p:spPr bwMode="auto">
            <a:xfrm>
              <a:off x="4117975" y="5303089"/>
              <a:ext cx="53975" cy="93662"/>
            </a:xfrm>
            <a:custGeom>
              <a:avLst/>
              <a:gdLst>
                <a:gd name="T0" fmla="*/ 2147483647 w 34"/>
                <a:gd name="T1" fmla="*/ 2147483647 h 59"/>
                <a:gd name="T2" fmla="*/ 2147483647 w 34"/>
                <a:gd name="T3" fmla="*/ 2147483647 h 59"/>
                <a:gd name="T4" fmla="*/ 0 w 34"/>
                <a:gd name="T5" fmla="*/ 2147483647 h 59"/>
                <a:gd name="T6" fmla="*/ 0 w 34"/>
                <a:gd name="T7" fmla="*/ 0 h 59"/>
                <a:gd name="T8" fmla="*/ 2147483647 w 34"/>
                <a:gd name="T9" fmla="*/ 2147483647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59"/>
                <a:gd name="T17" fmla="*/ 34 w 34"/>
                <a:gd name="T18" fmla="*/ 59 h 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59">
                  <a:moveTo>
                    <a:pt x="34" y="31"/>
                  </a:moveTo>
                  <a:lnTo>
                    <a:pt x="34" y="59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31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40" name="Freeform 149"/>
            <p:cNvSpPr>
              <a:spLocks/>
            </p:cNvSpPr>
            <p:nvPr/>
          </p:nvSpPr>
          <p:spPr bwMode="auto">
            <a:xfrm>
              <a:off x="4087813" y="5279276"/>
              <a:ext cx="26987" cy="66675"/>
            </a:xfrm>
            <a:custGeom>
              <a:avLst/>
              <a:gdLst>
                <a:gd name="T0" fmla="*/ 2147483647 w 17"/>
                <a:gd name="T1" fmla="*/ 2147483647 h 42"/>
                <a:gd name="T2" fmla="*/ 2147483647 w 17"/>
                <a:gd name="T3" fmla="*/ 2147483647 h 42"/>
                <a:gd name="T4" fmla="*/ 0 w 17"/>
                <a:gd name="T5" fmla="*/ 2147483647 h 42"/>
                <a:gd name="T6" fmla="*/ 0 w 17"/>
                <a:gd name="T7" fmla="*/ 0 h 42"/>
                <a:gd name="T8" fmla="*/ 2147483647 w 17"/>
                <a:gd name="T9" fmla="*/ 2147483647 h 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"/>
                <a:gd name="T16" fmla="*/ 0 h 42"/>
                <a:gd name="T17" fmla="*/ 17 w 17"/>
                <a:gd name="T18" fmla="*/ 42 h 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" h="42">
                  <a:moveTo>
                    <a:pt x="17" y="14"/>
                  </a:moveTo>
                  <a:lnTo>
                    <a:pt x="17" y="42"/>
                  </a:lnTo>
                  <a:lnTo>
                    <a:pt x="0" y="27"/>
                  </a:lnTo>
                  <a:lnTo>
                    <a:pt x="0" y="0"/>
                  </a:lnTo>
                  <a:lnTo>
                    <a:pt x="17" y="14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41" name="Freeform 150"/>
            <p:cNvSpPr>
              <a:spLocks/>
            </p:cNvSpPr>
            <p:nvPr/>
          </p:nvSpPr>
          <p:spPr bwMode="auto">
            <a:xfrm>
              <a:off x="4292600" y="5574551"/>
              <a:ext cx="17463" cy="60325"/>
            </a:xfrm>
            <a:custGeom>
              <a:avLst/>
              <a:gdLst>
                <a:gd name="T0" fmla="*/ 2147483647 w 11"/>
                <a:gd name="T1" fmla="*/ 2147483647 h 38"/>
                <a:gd name="T2" fmla="*/ 2147483647 w 11"/>
                <a:gd name="T3" fmla="*/ 2147483647 h 38"/>
                <a:gd name="T4" fmla="*/ 0 w 11"/>
                <a:gd name="T5" fmla="*/ 2147483647 h 38"/>
                <a:gd name="T6" fmla="*/ 0 w 11"/>
                <a:gd name="T7" fmla="*/ 0 h 38"/>
                <a:gd name="T8" fmla="*/ 2147483647 w 11"/>
                <a:gd name="T9" fmla="*/ 2147483647 h 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"/>
                <a:gd name="T16" fmla="*/ 0 h 38"/>
                <a:gd name="T17" fmla="*/ 11 w 11"/>
                <a:gd name="T18" fmla="*/ 38 h 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" h="38">
                  <a:moveTo>
                    <a:pt x="11" y="8"/>
                  </a:moveTo>
                  <a:lnTo>
                    <a:pt x="11" y="38"/>
                  </a:lnTo>
                  <a:lnTo>
                    <a:pt x="0" y="27"/>
                  </a:lnTo>
                  <a:lnTo>
                    <a:pt x="0" y="0"/>
                  </a:lnTo>
                  <a:lnTo>
                    <a:pt x="11" y="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42" name="Freeform 151"/>
            <p:cNvSpPr>
              <a:spLocks/>
            </p:cNvSpPr>
            <p:nvPr/>
          </p:nvSpPr>
          <p:spPr bwMode="auto">
            <a:xfrm>
              <a:off x="4233863" y="5517401"/>
              <a:ext cx="55562" cy="100013"/>
            </a:xfrm>
            <a:custGeom>
              <a:avLst/>
              <a:gdLst>
                <a:gd name="T0" fmla="*/ 2147483647 w 35"/>
                <a:gd name="T1" fmla="*/ 2147483647 h 63"/>
                <a:gd name="T2" fmla="*/ 2147483647 w 35"/>
                <a:gd name="T3" fmla="*/ 2147483647 h 63"/>
                <a:gd name="T4" fmla="*/ 0 w 35"/>
                <a:gd name="T5" fmla="*/ 2147483647 h 63"/>
                <a:gd name="T6" fmla="*/ 0 w 35"/>
                <a:gd name="T7" fmla="*/ 0 h 63"/>
                <a:gd name="T8" fmla="*/ 2147483647 w 35"/>
                <a:gd name="T9" fmla="*/ 2147483647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63"/>
                <a:gd name="T17" fmla="*/ 35 w 35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63">
                  <a:moveTo>
                    <a:pt x="35" y="32"/>
                  </a:moveTo>
                  <a:lnTo>
                    <a:pt x="35" y="63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5" y="32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43" name="Freeform 152"/>
            <p:cNvSpPr>
              <a:spLocks/>
            </p:cNvSpPr>
            <p:nvPr/>
          </p:nvSpPr>
          <p:spPr bwMode="auto">
            <a:xfrm>
              <a:off x="4176713" y="5463426"/>
              <a:ext cx="55562" cy="95250"/>
            </a:xfrm>
            <a:custGeom>
              <a:avLst/>
              <a:gdLst>
                <a:gd name="T0" fmla="*/ 2147483647 w 35"/>
                <a:gd name="T1" fmla="*/ 2147483647 h 60"/>
                <a:gd name="T2" fmla="*/ 2147483647 w 35"/>
                <a:gd name="T3" fmla="*/ 2147483647 h 60"/>
                <a:gd name="T4" fmla="*/ 0 w 35"/>
                <a:gd name="T5" fmla="*/ 2147483647 h 60"/>
                <a:gd name="T6" fmla="*/ 0 w 35"/>
                <a:gd name="T7" fmla="*/ 0 h 60"/>
                <a:gd name="T8" fmla="*/ 2147483647 w 35"/>
                <a:gd name="T9" fmla="*/ 2147483647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60"/>
                <a:gd name="T17" fmla="*/ 35 w 35"/>
                <a:gd name="T18" fmla="*/ 60 h 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60">
                  <a:moveTo>
                    <a:pt x="35" y="32"/>
                  </a:moveTo>
                  <a:lnTo>
                    <a:pt x="35" y="60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5" y="32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44" name="Freeform 153"/>
            <p:cNvSpPr>
              <a:spLocks/>
            </p:cNvSpPr>
            <p:nvPr/>
          </p:nvSpPr>
          <p:spPr bwMode="auto">
            <a:xfrm>
              <a:off x="4116388" y="5406276"/>
              <a:ext cx="55562" cy="96838"/>
            </a:xfrm>
            <a:custGeom>
              <a:avLst/>
              <a:gdLst>
                <a:gd name="T0" fmla="*/ 2147483647 w 35"/>
                <a:gd name="T1" fmla="*/ 2147483647 h 61"/>
                <a:gd name="T2" fmla="*/ 2147483647 w 35"/>
                <a:gd name="T3" fmla="*/ 2147483647 h 61"/>
                <a:gd name="T4" fmla="*/ 0 w 35"/>
                <a:gd name="T5" fmla="*/ 2147483647 h 61"/>
                <a:gd name="T6" fmla="*/ 0 w 35"/>
                <a:gd name="T7" fmla="*/ 0 h 61"/>
                <a:gd name="T8" fmla="*/ 2147483647 w 35"/>
                <a:gd name="T9" fmla="*/ 2147483647 h 6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61"/>
                <a:gd name="T17" fmla="*/ 35 w 35"/>
                <a:gd name="T18" fmla="*/ 61 h 6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61">
                  <a:moveTo>
                    <a:pt x="35" y="35"/>
                  </a:moveTo>
                  <a:lnTo>
                    <a:pt x="35" y="61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5" y="35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45" name="Freeform 154"/>
            <p:cNvSpPr>
              <a:spLocks/>
            </p:cNvSpPr>
            <p:nvPr/>
          </p:nvSpPr>
          <p:spPr bwMode="auto">
            <a:xfrm>
              <a:off x="4087813" y="5380876"/>
              <a:ext cx="26987" cy="66675"/>
            </a:xfrm>
            <a:custGeom>
              <a:avLst/>
              <a:gdLst>
                <a:gd name="T0" fmla="*/ 2147483647 w 17"/>
                <a:gd name="T1" fmla="*/ 2147483647 h 42"/>
                <a:gd name="T2" fmla="*/ 2147483647 w 17"/>
                <a:gd name="T3" fmla="*/ 2147483647 h 42"/>
                <a:gd name="T4" fmla="*/ 0 w 17"/>
                <a:gd name="T5" fmla="*/ 2147483647 h 42"/>
                <a:gd name="T6" fmla="*/ 0 w 17"/>
                <a:gd name="T7" fmla="*/ 0 h 42"/>
                <a:gd name="T8" fmla="*/ 2147483647 w 17"/>
                <a:gd name="T9" fmla="*/ 2147483647 h 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"/>
                <a:gd name="T16" fmla="*/ 0 h 42"/>
                <a:gd name="T17" fmla="*/ 17 w 17"/>
                <a:gd name="T18" fmla="*/ 42 h 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" h="42">
                  <a:moveTo>
                    <a:pt x="17" y="14"/>
                  </a:moveTo>
                  <a:lnTo>
                    <a:pt x="17" y="42"/>
                  </a:lnTo>
                  <a:lnTo>
                    <a:pt x="0" y="26"/>
                  </a:lnTo>
                  <a:lnTo>
                    <a:pt x="0" y="0"/>
                  </a:lnTo>
                  <a:lnTo>
                    <a:pt x="17" y="14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46" name="Freeform 155"/>
            <p:cNvSpPr>
              <a:spLocks/>
            </p:cNvSpPr>
            <p:nvPr/>
          </p:nvSpPr>
          <p:spPr bwMode="auto">
            <a:xfrm>
              <a:off x="4292600" y="5687264"/>
              <a:ext cx="17463" cy="69850"/>
            </a:xfrm>
            <a:custGeom>
              <a:avLst/>
              <a:gdLst>
                <a:gd name="T0" fmla="*/ 2147483647 w 11"/>
                <a:gd name="T1" fmla="*/ 2147483647 h 44"/>
                <a:gd name="T2" fmla="*/ 2147483647 w 11"/>
                <a:gd name="T3" fmla="*/ 2147483647 h 44"/>
                <a:gd name="T4" fmla="*/ 0 w 11"/>
                <a:gd name="T5" fmla="*/ 2147483647 h 44"/>
                <a:gd name="T6" fmla="*/ 0 w 11"/>
                <a:gd name="T7" fmla="*/ 0 h 44"/>
                <a:gd name="T8" fmla="*/ 2147483647 w 11"/>
                <a:gd name="T9" fmla="*/ 2147483647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"/>
                <a:gd name="T16" fmla="*/ 0 h 44"/>
                <a:gd name="T17" fmla="*/ 11 w 11"/>
                <a:gd name="T18" fmla="*/ 44 h 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" h="44">
                  <a:moveTo>
                    <a:pt x="11" y="13"/>
                  </a:moveTo>
                  <a:lnTo>
                    <a:pt x="11" y="44"/>
                  </a:lnTo>
                  <a:lnTo>
                    <a:pt x="0" y="32"/>
                  </a:lnTo>
                  <a:lnTo>
                    <a:pt x="0" y="0"/>
                  </a:lnTo>
                  <a:lnTo>
                    <a:pt x="11" y="13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47" name="Freeform 156"/>
            <p:cNvSpPr>
              <a:spLocks/>
            </p:cNvSpPr>
            <p:nvPr/>
          </p:nvSpPr>
          <p:spPr bwMode="auto">
            <a:xfrm>
              <a:off x="4233863" y="5630114"/>
              <a:ext cx="55562" cy="103187"/>
            </a:xfrm>
            <a:custGeom>
              <a:avLst/>
              <a:gdLst>
                <a:gd name="T0" fmla="*/ 2147483647 w 35"/>
                <a:gd name="T1" fmla="*/ 2147483647 h 65"/>
                <a:gd name="T2" fmla="*/ 2147483647 w 35"/>
                <a:gd name="T3" fmla="*/ 2147483647 h 65"/>
                <a:gd name="T4" fmla="*/ 0 w 35"/>
                <a:gd name="T5" fmla="*/ 2147483647 h 65"/>
                <a:gd name="T6" fmla="*/ 0 w 35"/>
                <a:gd name="T7" fmla="*/ 0 h 65"/>
                <a:gd name="T8" fmla="*/ 2147483647 w 35"/>
                <a:gd name="T9" fmla="*/ 2147483647 h 6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65"/>
                <a:gd name="T17" fmla="*/ 35 w 35"/>
                <a:gd name="T18" fmla="*/ 65 h 6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65">
                  <a:moveTo>
                    <a:pt x="35" y="35"/>
                  </a:moveTo>
                  <a:lnTo>
                    <a:pt x="35" y="65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5" y="35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48" name="Freeform 157"/>
            <p:cNvSpPr>
              <a:spLocks/>
            </p:cNvSpPr>
            <p:nvPr/>
          </p:nvSpPr>
          <p:spPr bwMode="auto">
            <a:xfrm>
              <a:off x="4176713" y="5569789"/>
              <a:ext cx="55562" cy="103187"/>
            </a:xfrm>
            <a:custGeom>
              <a:avLst/>
              <a:gdLst>
                <a:gd name="T0" fmla="*/ 2147483647 w 35"/>
                <a:gd name="T1" fmla="*/ 2147483647 h 65"/>
                <a:gd name="T2" fmla="*/ 2147483647 w 35"/>
                <a:gd name="T3" fmla="*/ 2147483647 h 65"/>
                <a:gd name="T4" fmla="*/ 0 w 35"/>
                <a:gd name="T5" fmla="*/ 2147483647 h 65"/>
                <a:gd name="T6" fmla="*/ 0 w 35"/>
                <a:gd name="T7" fmla="*/ 0 h 65"/>
                <a:gd name="T8" fmla="*/ 2147483647 w 35"/>
                <a:gd name="T9" fmla="*/ 2147483647 h 6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65"/>
                <a:gd name="T17" fmla="*/ 35 w 35"/>
                <a:gd name="T18" fmla="*/ 65 h 6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65">
                  <a:moveTo>
                    <a:pt x="35" y="37"/>
                  </a:moveTo>
                  <a:lnTo>
                    <a:pt x="35" y="65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5" y="37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49" name="Freeform 158"/>
            <p:cNvSpPr>
              <a:spLocks/>
            </p:cNvSpPr>
            <p:nvPr/>
          </p:nvSpPr>
          <p:spPr bwMode="auto">
            <a:xfrm>
              <a:off x="4117975" y="5512639"/>
              <a:ext cx="53975" cy="100012"/>
            </a:xfrm>
            <a:custGeom>
              <a:avLst/>
              <a:gdLst>
                <a:gd name="T0" fmla="*/ 2147483647 w 34"/>
                <a:gd name="T1" fmla="*/ 2147483647 h 63"/>
                <a:gd name="T2" fmla="*/ 2147483647 w 34"/>
                <a:gd name="T3" fmla="*/ 2147483647 h 63"/>
                <a:gd name="T4" fmla="*/ 0 w 34"/>
                <a:gd name="T5" fmla="*/ 2147483647 h 63"/>
                <a:gd name="T6" fmla="*/ 0 w 34"/>
                <a:gd name="T7" fmla="*/ 0 h 63"/>
                <a:gd name="T8" fmla="*/ 2147483647 w 34"/>
                <a:gd name="T9" fmla="*/ 2147483647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63"/>
                <a:gd name="T17" fmla="*/ 34 w 3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63">
                  <a:moveTo>
                    <a:pt x="34" y="35"/>
                  </a:moveTo>
                  <a:lnTo>
                    <a:pt x="34" y="63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35"/>
                  </a:lnTo>
                  <a:close/>
                </a:path>
              </a:pathLst>
            </a:custGeom>
            <a:solidFill>
              <a:srgbClr val="2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50" name="Freeform 159"/>
            <p:cNvSpPr>
              <a:spLocks/>
            </p:cNvSpPr>
            <p:nvPr/>
          </p:nvSpPr>
          <p:spPr bwMode="auto">
            <a:xfrm>
              <a:off x="4087813" y="5485651"/>
              <a:ext cx="26987" cy="69850"/>
            </a:xfrm>
            <a:custGeom>
              <a:avLst/>
              <a:gdLst>
                <a:gd name="T0" fmla="*/ 2147483647 w 17"/>
                <a:gd name="T1" fmla="*/ 2147483647 h 44"/>
                <a:gd name="T2" fmla="*/ 2147483647 w 17"/>
                <a:gd name="T3" fmla="*/ 2147483647 h 44"/>
                <a:gd name="T4" fmla="*/ 0 w 17"/>
                <a:gd name="T5" fmla="*/ 2147483647 h 44"/>
                <a:gd name="T6" fmla="*/ 0 w 17"/>
                <a:gd name="T7" fmla="*/ 0 h 44"/>
                <a:gd name="T8" fmla="*/ 2147483647 w 17"/>
                <a:gd name="T9" fmla="*/ 2147483647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"/>
                <a:gd name="T16" fmla="*/ 0 h 44"/>
                <a:gd name="T17" fmla="*/ 17 w 17"/>
                <a:gd name="T18" fmla="*/ 44 h 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" h="44">
                  <a:moveTo>
                    <a:pt x="17" y="16"/>
                  </a:moveTo>
                  <a:lnTo>
                    <a:pt x="17" y="44"/>
                  </a:lnTo>
                  <a:lnTo>
                    <a:pt x="0" y="24"/>
                  </a:lnTo>
                  <a:lnTo>
                    <a:pt x="0" y="0"/>
                  </a:lnTo>
                  <a:lnTo>
                    <a:pt x="17" y="16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51" name="Freeform 160"/>
            <p:cNvSpPr>
              <a:spLocks/>
            </p:cNvSpPr>
            <p:nvPr/>
          </p:nvSpPr>
          <p:spPr bwMode="auto">
            <a:xfrm>
              <a:off x="4087813" y="5534864"/>
              <a:ext cx="46037" cy="87312"/>
            </a:xfrm>
            <a:custGeom>
              <a:avLst/>
              <a:gdLst>
                <a:gd name="T0" fmla="*/ 2147483647 w 29"/>
                <a:gd name="T1" fmla="*/ 2147483647 h 55"/>
                <a:gd name="T2" fmla="*/ 2147483647 w 29"/>
                <a:gd name="T3" fmla="*/ 2147483647 h 55"/>
                <a:gd name="T4" fmla="*/ 0 w 29"/>
                <a:gd name="T5" fmla="*/ 2147483647 h 55"/>
                <a:gd name="T6" fmla="*/ 0 w 29"/>
                <a:gd name="T7" fmla="*/ 0 h 55"/>
                <a:gd name="T8" fmla="*/ 2147483647 w 29"/>
                <a:gd name="T9" fmla="*/ 2147483647 h 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"/>
                <a:gd name="T16" fmla="*/ 0 h 55"/>
                <a:gd name="T17" fmla="*/ 29 w 29"/>
                <a:gd name="T18" fmla="*/ 55 h 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" h="55">
                  <a:moveTo>
                    <a:pt x="29" y="30"/>
                  </a:moveTo>
                  <a:lnTo>
                    <a:pt x="29" y="55"/>
                  </a:lnTo>
                  <a:lnTo>
                    <a:pt x="0" y="27"/>
                  </a:lnTo>
                  <a:lnTo>
                    <a:pt x="0" y="0"/>
                  </a:lnTo>
                  <a:lnTo>
                    <a:pt x="29" y="30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52" name="Freeform 161"/>
            <p:cNvSpPr>
              <a:spLocks/>
            </p:cNvSpPr>
            <p:nvPr/>
          </p:nvSpPr>
          <p:spPr bwMode="auto">
            <a:xfrm>
              <a:off x="4248150" y="5698376"/>
              <a:ext cx="61913" cy="112713"/>
            </a:xfrm>
            <a:custGeom>
              <a:avLst/>
              <a:gdLst>
                <a:gd name="T0" fmla="*/ 2147483647 w 39"/>
                <a:gd name="T1" fmla="*/ 2147483647 h 71"/>
                <a:gd name="T2" fmla="*/ 2147483647 w 39"/>
                <a:gd name="T3" fmla="*/ 2147483647 h 71"/>
                <a:gd name="T4" fmla="*/ 0 w 39"/>
                <a:gd name="T5" fmla="*/ 2147483647 h 71"/>
                <a:gd name="T6" fmla="*/ 0 w 39"/>
                <a:gd name="T7" fmla="*/ 0 h 71"/>
                <a:gd name="T8" fmla="*/ 2147483647 w 39"/>
                <a:gd name="T9" fmla="*/ 2147483647 h 7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9"/>
                <a:gd name="T16" fmla="*/ 0 h 71"/>
                <a:gd name="T17" fmla="*/ 39 w 39"/>
                <a:gd name="T18" fmla="*/ 71 h 7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9" h="71">
                  <a:moveTo>
                    <a:pt x="39" y="43"/>
                  </a:moveTo>
                  <a:lnTo>
                    <a:pt x="39" y="71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9" y="43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53" name="Freeform 162"/>
            <p:cNvSpPr>
              <a:spLocks/>
            </p:cNvSpPr>
            <p:nvPr/>
          </p:nvSpPr>
          <p:spPr bwMode="auto">
            <a:xfrm>
              <a:off x="4194175" y="5642814"/>
              <a:ext cx="50800" cy="101600"/>
            </a:xfrm>
            <a:custGeom>
              <a:avLst/>
              <a:gdLst>
                <a:gd name="T0" fmla="*/ 2147483647 w 32"/>
                <a:gd name="T1" fmla="*/ 2147483647 h 64"/>
                <a:gd name="T2" fmla="*/ 2147483647 w 32"/>
                <a:gd name="T3" fmla="*/ 2147483647 h 64"/>
                <a:gd name="T4" fmla="*/ 0 w 32"/>
                <a:gd name="T5" fmla="*/ 2147483647 h 64"/>
                <a:gd name="T6" fmla="*/ 0 w 32"/>
                <a:gd name="T7" fmla="*/ 0 h 64"/>
                <a:gd name="T8" fmla="*/ 2147483647 w 32"/>
                <a:gd name="T9" fmla="*/ 2147483647 h 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"/>
                <a:gd name="T16" fmla="*/ 0 h 64"/>
                <a:gd name="T17" fmla="*/ 32 w 32"/>
                <a:gd name="T18" fmla="*/ 64 h 6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" h="64">
                  <a:moveTo>
                    <a:pt x="32" y="34"/>
                  </a:moveTo>
                  <a:lnTo>
                    <a:pt x="32" y="64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2" y="34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54" name="Freeform 163"/>
            <p:cNvSpPr>
              <a:spLocks/>
            </p:cNvSpPr>
            <p:nvPr/>
          </p:nvSpPr>
          <p:spPr bwMode="auto">
            <a:xfrm>
              <a:off x="4137025" y="5585664"/>
              <a:ext cx="53975" cy="98425"/>
            </a:xfrm>
            <a:custGeom>
              <a:avLst/>
              <a:gdLst>
                <a:gd name="T0" fmla="*/ 2147483647 w 34"/>
                <a:gd name="T1" fmla="*/ 2147483647 h 62"/>
                <a:gd name="T2" fmla="*/ 2147483647 w 34"/>
                <a:gd name="T3" fmla="*/ 2147483647 h 62"/>
                <a:gd name="T4" fmla="*/ 0 w 34"/>
                <a:gd name="T5" fmla="*/ 2147483647 h 62"/>
                <a:gd name="T6" fmla="*/ 0 w 34"/>
                <a:gd name="T7" fmla="*/ 0 h 62"/>
                <a:gd name="T8" fmla="*/ 2147483647 w 34"/>
                <a:gd name="T9" fmla="*/ 2147483647 h 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62"/>
                <a:gd name="T17" fmla="*/ 34 w 34"/>
                <a:gd name="T18" fmla="*/ 62 h 6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62">
                  <a:moveTo>
                    <a:pt x="34" y="34"/>
                  </a:moveTo>
                  <a:lnTo>
                    <a:pt x="34" y="62"/>
                  </a:lnTo>
                  <a:lnTo>
                    <a:pt x="0" y="26"/>
                  </a:lnTo>
                  <a:lnTo>
                    <a:pt x="0" y="0"/>
                  </a:lnTo>
                  <a:lnTo>
                    <a:pt x="34" y="34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55" name="Freeform 164"/>
            <p:cNvSpPr>
              <a:spLocks/>
            </p:cNvSpPr>
            <p:nvPr/>
          </p:nvSpPr>
          <p:spPr bwMode="auto">
            <a:xfrm>
              <a:off x="4087813" y="4925264"/>
              <a:ext cx="47625" cy="69850"/>
            </a:xfrm>
            <a:custGeom>
              <a:avLst/>
              <a:gdLst>
                <a:gd name="T0" fmla="*/ 2147483647 w 30"/>
                <a:gd name="T1" fmla="*/ 2147483647 h 44"/>
                <a:gd name="T2" fmla="*/ 2147483647 w 30"/>
                <a:gd name="T3" fmla="*/ 2147483647 h 44"/>
                <a:gd name="T4" fmla="*/ 0 w 30"/>
                <a:gd name="T5" fmla="*/ 2147483647 h 44"/>
                <a:gd name="T6" fmla="*/ 0 w 30"/>
                <a:gd name="T7" fmla="*/ 0 h 44"/>
                <a:gd name="T8" fmla="*/ 2147483647 w 30"/>
                <a:gd name="T9" fmla="*/ 2147483647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"/>
                <a:gd name="T16" fmla="*/ 0 h 44"/>
                <a:gd name="T17" fmla="*/ 30 w 30"/>
                <a:gd name="T18" fmla="*/ 44 h 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" h="44">
                  <a:moveTo>
                    <a:pt x="30" y="17"/>
                  </a:moveTo>
                  <a:lnTo>
                    <a:pt x="30" y="44"/>
                  </a:lnTo>
                  <a:lnTo>
                    <a:pt x="0" y="27"/>
                  </a:lnTo>
                  <a:lnTo>
                    <a:pt x="0" y="0"/>
                  </a:lnTo>
                  <a:lnTo>
                    <a:pt x="30" y="17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56" name="Freeform 165"/>
            <p:cNvSpPr>
              <a:spLocks/>
            </p:cNvSpPr>
            <p:nvPr/>
          </p:nvSpPr>
          <p:spPr bwMode="auto">
            <a:xfrm>
              <a:off x="4195763" y="4985589"/>
              <a:ext cx="52387" cy="79375"/>
            </a:xfrm>
            <a:custGeom>
              <a:avLst/>
              <a:gdLst>
                <a:gd name="T0" fmla="*/ 2147483647 w 33"/>
                <a:gd name="T1" fmla="*/ 2147483647 h 50"/>
                <a:gd name="T2" fmla="*/ 2147483647 w 33"/>
                <a:gd name="T3" fmla="*/ 2147483647 h 50"/>
                <a:gd name="T4" fmla="*/ 0 w 33"/>
                <a:gd name="T5" fmla="*/ 2147483647 h 50"/>
                <a:gd name="T6" fmla="*/ 0 w 33"/>
                <a:gd name="T7" fmla="*/ 0 h 50"/>
                <a:gd name="T8" fmla="*/ 2147483647 w 33"/>
                <a:gd name="T9" fmla="*/ 2147483647 h 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3"/>
                <a:gd name="T16" fmla="*/ 0 h 50"/>
                <a:gd name="T17" fmla="*/ 33 w 33"/>
                <a:gd name="T18" fmla="*/ 50 h 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3" h="50">
                  <a:moveTo>
                    <a:pt x="33" y="19"/>
                  </a:moveTo>
                  <a:lnTo>
                    <a:pt x="33" y="50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3" y="19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57" name="Freeform 166"/>
            <p:cNvSpPr>
              <a:spLocks/>
            </p:cNvSpPr>
            <p:nvPr/>
          </p:nvSpPr>
          <p:spPr bwMode="auto">
            <a:xfrm>
              <a:off x="4138613" y="4952251"/>
              <a:ext cx="53975" cy="77788"/>
            </a:xfrm>
            <a:custGeom>
              <a:avLst/>
              <a:gdLst>
                <a:gd name="T0" fmla="*/ 2147483647 w 34"/>
                <a:gd name="T1" fmla="*/ 2147483647 h 49"/>
                <a:gd name="T2" fmla="*/ 2147483647 w 34"/>
                <a:gd name="T3" fmla="*/ 2147483647 h 49"/>
                <a:gd name="T4" fmla="*/ 0 w 34"/>
                <a:gd name="T5" fmla="*/ 2147483647 h 49"/>
                <a:gd name="T6" fmla="*/ 0 w 34"/>
                <a:gd name="T7" fmla="*/ 0 h 49"/>
                <a:gd name="T8" fmla="*/ 2147483647 w 34"/>
                <a:gd name="T9" fmla="*/ 2147483647 h 4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49"/>
                <a:gd name="T17" fmla="*/ 34 w 34"/>
                <a:gd name="T18" fmla="*/ 49 h 4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49">
                  <a:moveTo>
                    <a:pt x="34" y="21"/>
                  </a:moveTo>
                  <a:lnTo>
                    <a:pt x="34" y="49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21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58" name="Freeform 167"/>
            <p:cNvSpPr>
              <a:spLocks/>
            </p:cNvSpPr>
            <p:nvPr/>
          </p:nvSpPr>
          <p:spPr bwMode="auto">
            <a:xfrm>
              <a:off x="4087813" y="5025276"/>
              <a:ext cx="47625" cy="76200"/>
            </a:xfrm>
            <a:custGeom>
              <a:avLst/>
              <a:gdLst>
                <a:gd name="T0" fmla="*/ 2147483647 w 30"/>
                <a:gd name="T1" fmla="*/ 2147483647 h 48"/>
                <a:gd name="T2" fmla="*/ 2147483647 w 30"/>
                <a:gd name="T3" fmla="*/ 2147483647 h 48"/>
                <a:gd name="T4" fmla="*/ 0 w 30"/>
                <a:gd name="T5" fmla="*/ 2147483647 h 48"/>
                <a:gd name="T6" fmla="*/ 0 w 30"/>
                <a:gd name="T7" fmla="*/ 0 h 48"/>
                <a:gd name="T8" fmla="*/ 2147483647 w 30"/>
                <a:gd name="T9" fmla="*/ 2147483647 h 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"/>
                <a:gd name="T16" fmla="*/ 0 h 48"/>
                <a:gd name="T17" fmla="*/ 30 w 30"/>
                <a:gd name="T18" fmla="*/ 48 h 4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" h="48">
                  <a:moveTo>
                    <a:pt x="30" y="21"/>
                  </a:moveTo>
                  <a:lnTo>
                    <a:pt x="30" y="48"/>
                  </a:lnTo>
                  <a:lnTo>
                    <a:pt x="0" y="27"/>
                  </a:lnTo>
                  <a:lnTo>
                    <a:pt x="0" y="0"/>
                  </a:lnTo>
                  <a:lnTo>
                    <a:pt x="30" y="21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59" name="Freeform 168"/>
            <p:cNvSpPr>
              <a:spLocks/>
            </p:cNvSpPr>
            <p:nvPr/>
          </p:nvSpPr>
          <p:spPr bwMode="auto">
            <a:xfrm>
              <a:off x="4249738" y="5133226"/>
              <a:ext cx="61912" cy="88900"/>
            </a:xfrm>
            <a:custGeom>
              <a:avLst/>
              <a:gdLst>
                <a:gd name="T0" fmla="*/ 2147483647 w 39"/>
                <a:gd name="T1" fmla="*/ 2147483647 h 56"/>
                <a:gd name="T2" fmla="*/ 2147483647 w 39"/>
                <a:gd name="T3" fmla="*/ 2147483647 h 56"/>
                <a:gd name="T4" fmla="*/ 0 w 39"/>
                <a:gd name="T5" fmla="*/ 2147483647 h 56"/>
                <a:gd name="T6" fmla="*/ 0 w 39"/>
                <a:gd name="T7" fmla="*/ 0 h 56"/>
                <a:gd name="T8" fmla="*/ 2147483647 w 39"/>
                <a:gd name="T9" fmla="*/ 2147483647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9"/>
                <a:gd name="T16" fmla="*/ 0 h 56"/>
                <a:gd name="T17" fmla="*/ 39 w 39"/>
                <a:gd name="T18" fmla="*/ 56 h 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9" h="56">
                  <a:moveTo>
                    <a:pt x="39" y="25"/>
                  </a:moveTo>
                  <a:lnTo>
                    <a:pt x="39" y="56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9" y="25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60" name="Freeform 169"/>
            <p:cNvSpPr>
              <a:spLocks/>
            </p:cNvSpPr>
            <p:nvPr/>
          </p:nvSpPr>
          <p:spPr bwMode="auto">
            <a:xfrm>
              <a:off x="4195763" y="5098301"/>
              <a:ext cx="52387" cy="80963"/>
            </a:xfrm>
            <a:custGeom>
              <a:avLst/>
              <a:gdLst>
                <a:gd name="T0" fmla="*/ 2147483647 w 33"/>
                <a:gd name="T1" fmla="*/ 2147483647 h 51"/>
                <a:gd name="T2" fmla="*/ 2147483647 w 33"/>
                <a:gd name="T3" fmla="*/ 2147483647 h 51"/>
                <a:gd name="T4" fmla="*/ 0 w 33"/>
                <a:gd name="T5" fmla="*/ 2147483647 h 51"/>
                <a:gd name="T6" fmla="*/ 0 w 33"/>
                <a:gd name="T7" fmla="*/ 0 h 51"/>
                <a:gd name="T8" fmla="*/ 2147483647 w 33"/>
                <a:gd name="T9" fmla="*/ 2147483647 h 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3"/>
                <a:gd name="T16" fmla="*/ 0 h 51"/>
                <a:gd name="T17" fmla="*/ 33 w 33"/>
                <a:gd name="T18" fmla="*/ 51 h 5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3" h="51">
                  <a:moveTo>
                    <a:pt x="33" y="21"/>
                  </a:moveTo>
                  <a:lnTo>
                    <a:pt x="33" y="51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3" y="21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61" name="Freeform 170"/>
            <p:cNvSpPr>
              <a:spLocks/>
            </p:cNvSpPr>
            <p:nvPr/>
          </p:nvSpPr>
          <p:spPr bwMode="auto">
            <a:xfrm>
              <a:off x="4138613" y="5060201"/>
              <a:ext cx="53975" cy="79375"/>
            </a:xfrm>
            <a:custGeom>
              <a:avLst/>
              <a:gdLst>
                <a:gd name="T0" fmla="*/ 2147483647 w 34"/>
                <a:gd name="T1" fmla="*/ 2147483647 h 50"/>
                <a:gd name="T2" fmla="*/ 2147483647 w 34"/>
                <a:gd name="T3" fmla="*/ 2147483647 h 50"/>
                <a:gd name="T4" fmla="*/ 0 w 34"/>
                <a:gd name="T5" fmla="*/ 2147483647 h 50"/>
                <a:gd name="T6" fmla="*/ 0 w 34"/>
                <a:gd name="T7" fmla="*/ 0 h 50"/>
                <a:gd name="T8" fmla="*/ 2147483647 w 34"/>
                <a:gd name="T9" fmla="*/ 2147483647 h 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50"/>
                <a:gd name="T17" fmla="*/ 34 w 34"/>
                <a:gd name="T18" fmla="*/ 50 h 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50">
                  <a:moveTo>
                    <a:pt x="34" y="22"/>
                  </a:moveTo>
                  <a:lnTo>
                    <a:pt x="34" y="50"/>
                  </a:lnTo>
                  <a:lnTo>
                    <a:pt x="0" y="27"/>
                  </a:lnTo>
                  <a:lnTo>
                    <a:pt x="0" y="0"/>
                  </a:lnTo>
                  <a:lnTo>
                    <a:pt x="34" y="22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62" name="Freeform 171"/>
            <p:cNvSpPr>
              <a:spLocks/>
            </p:cNvSpPr>
            <p:nvPr/>
          </p:nvSpPr>
          <p:spPr bwMode="auto">
            <a:xfrm>
              <a:off x="4087813" y="5126876"/>
              <a:ext cx="47625" cy="77788"/>
            </a:xfrm>
            <a:custGeom>
              <a:avLst/>
              <a:gdLst>
                <a:gd name="T0" fmla="*/ 2147483647 w 30"/>
                <a:gd name="T1" fmla="*/ 2147483647 h 49"/>
                <a:gd name="T2" fmla="*/ 2147483647 w 30"/>
                <a:gd name="T3" fmla="*/ 2147483647 h 49"/>
                <a:gd name="T4" fmla="*/ 0 w 30"/>
                <a:gd name="T5" fmla="*/ 2147483647 h 49"/>
                <a:gd name="T6" fmla="*/ 0 w 30"/>
                <a:gd name="T7" fmla="*/ 0 h 49"/>
                <a:gd name="T8" fmla="*/ 2147483647 w 30"/>
                <a:gd name="T9" fmla="*/ 2147483647 h 4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"/>
                <a:gd name="T16" fmla="*/ 0 h 49"/>
                <a:gd name="T17" fmla="*/ 30 w 30"/>
                <a:gd name="T18" fmla="*/ 49 h 4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" h="49">
                  <a:moveTo>
                    <a:pt x="30" y="24"/>
                  </a:moveTo>
                  <a:lnTo>
                    <a:pt x="30" y="49"/>
                  </a:lnTo>
                  <a:lnTo>
                    <a:pt x="0" y="27"/>
                  </a:lnTo>
                  <a:lnTo>
                    <a:pt x="0" y="0"/>
                  </a:lnTo>
                  <a:lnTo>
                    <a:pt x="30" y="24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63" name="Freeform 172"/>
            <p:cNvSpPr>
              <a:spLocks/>
            </p:cNvSpPr>
            <p:nvPr/>
          </p:nvSpPr>
          <p:spPr bwMode="auto">
            <a:xfrm>
              <a:off x="4195763" y="5206251"/>
              <a:ext cx="52387" cy="85725"/>
            </a:xfrm>
            <a:custGeom>
              <a:avLst/>
              <a:gdLst>
                <a:gd name="T0" fmla="*/ 2147483647 w 33"/>
                <a:gd name="T1" fmla="*/ 2147483647 h 54"/>
                <a:gd name="T2" fmla="*/ 2147483647 w 33"/>
                <a:gd name="T3" fmla="*/ 2147483647 h 54"/>
                <a:gd name="T4" fmla="*/ 0 w 33"/>
                <a:gd name="T5" fmla="*/ 2147483647 h 54"/>
                <a:gd name="T6" fmla="*/ 0 w 33"/>
                <a:gd name="T7" fmla="*/ 0 h 54"/>
                <a:gd name="T8" fmla="*/ 2147483647 w 33"/>
                <a:gd name="T9" fmla="*/ 2147483647 h 5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3"/>
                <a:gd name="T16" fmla="*/ 0 h 54"/>
                <a:gd name="T17" fmla="*/ 33 w 33"/>
                <a:gd name="T18" fmla="*/ 54 h 5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3" h="54">
                  <a:moveTo>
                    <a:pt x="33" y="24"/>
                  </a:moveTo>
                  <a:lnTo>
                    <a:pt x="33" y="54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3" y="24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64" name="Freeform 173"/>
            <p:cNvSpPr>
              <a:spLocks/>
            </p:cNvSpPr>
            <p:nvPr/>
          </p:nvSpPr>
          <p:spPr bwMode="auto">
            <a:xfrm>
              <a:off x="4138613" y="5164976"/>
              <a:ext cx="53975" cy="84138"/>
            </a:xfrm>
            <a:custGeom>
              <a:avLst/>
              <a:gdLst>
                <a:gd name="T0" fmla="*/ 2147483647 w 34"/>
                <a:gd name="T1" fmla="*/ 2147483647 h 53"/>
                <a:gd name="T2" fmla="*/ 2147483647 w 34"/>
                <a:gd name="T3" fmla="*/ 2147483647 h 53"/>
                <a:gd name="T4" fmla="*/ 0 w 34"/>
                <a:gd name="T5" fmla="*/ 2147483647 h 53"/>
                <a:gd name="T6" fmla="*/ 0 w 34"/>
                <a:gd name="T7" fmla="*/ 0 h 53"/>
                <a:gd name="T8" fmla="*/ 2147483647 w 34"/>
                <a:gd name="T9" fmla="*/ 2147483647 h 5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53"/>
                <a:gd name="T17" fmla="*/ 34 w 34"/>
                <a:gd name="T18" fmla="*/ 53 h 5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53">
                  <a:moveTo>
                    <a:pt x="34" y="25"/>
                  </a:moveTo>
                  <a:lnTo>
                    <a:pt x="34" y="53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25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65" name="Freeform 174"/>
            <p:cNvSpPr>
              <a:spLocks/>
            </p:cNvSpPr>
            <p:nvPr/>
          </p:nvSpPr>
          <p:spPr bwMode="auto">
            <a:xfrm>
              <a:off x="4087813" y="5230064"/>
              <a:ext cx="46037" cy="79375"/>
            </a:xfrm>
            <a:custGeom>
              <a:avLst/>
              <a:gdLst>
                <a:gd name="T0" fmla="*/ 2147483647 w 29"/>
                <a:gd name="T1" fmla="*/ 2147483647 h 50"/>
                <a:gd name="T2" fmla="*/ 2147483647 w 29"/>
                <a:gd name="T3" fmla="*/ 2147483647 h 50"/>
                <a:gd name="T4" fmla="*/ 0 w 29"/>
                <a:gd name="T5" fmla="*/ 2147483647 h 50"/>
                <a:gd name="T6" fmla="*/ 0 w 29"/>
                <a:gd name="T7" fmla="*/ 0 h 50"/>
                <a:gd name="T8" fmla="*/ 2147483647 w 29"/>
                <a:gd name="T9" fmla="*/ 2147483647 h 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"/>
                <a:gd name="T16" fmla="*/ 0 h 50"/>
                <a:gd name="T17" fmla="*/ 29 w 29"/>
                <a:gd name="T18" fmla="*/ 50 h 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" h="50">
                  <a:moveTo>
                    <a:pt x="29" y="23"/>
                  </a:moveTo>
                  <a:lnTo>
                    <a:pt x="29" y="50"/>
                  </a:lnTo>
                  <a:lnTo>
                    <a:pt x="0" y="26"/>
                  </a:lnTo>
                  <a:lnTo>
                    <a:pt x="0" y="0"/>
                  </a:lnTo>
                  <a:lnTo>
                    <a:pt x="29" y="23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66" name="Freeform 175"/>
            <p:cNvSpPr>
              <a:spLocks/>
            </p:cNvSpPr>
            <p:nvPr/>
          </p:nvSpPr>
          <p:spPr bwMode="auto">
            <a:xfrm>
              <a:off x="4248150" y="5357064"/>
              <a:ext cx="63500" cy="100012"/>
            </a:xfrm>
            <a:custGeom>
              <a:avLst/>
              <a:gdLst>
                <a:gd name="T0" fmla="*/ 2147483647 w 40"/>
                <a:gd name="T1" fmla="*/ 2147483647 h 63"/>
                <a:gd name="T2" fmla="*/ 2147483647 w 40"/>
                <a:gd name="T3" fmla="*/ 2147483647 h 63"/>
                <a:gd name="T4" fmla="*/ 0 w 40"/>
                <a:gd name="T5" fmla="*/ 2147483647 h 63"/>
                <a:gd name="T6" fmla="*/ 0 w 40"/>
                <a:gd name="T7" fmla="*/ 0 h 63"/>
                <a:gd name="T8" fmla="*/ 2147483647 w 40"/>
                <a:gd name="T9" fmla="*/ 2147483647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0"/>
                <a:gd name="T16" fmla="*/ 0 h 63"/>
                <a:gd name="T17" fmla="*/ 40 w 40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0" h="63">
                  <a:moveTo>
                    <a:pt x="40" y="33"/>
                  </a:moveTo>
                  <a:lnTo>
                    <a:pt x="40" y="63"/>
                  </a:lnTo>
                  <a:lnTo>
                    <a:pt x="0" y="32"/>
                  </a:lnTo>
                  <a:lnTo>
                    <a:pt x="0" y="0"/>
                  </a:lnTo>
                  <a:lnTo>
                    <a:pt x="40" y="33"/>
                  </a:lnTo>
                  <a:close/>
                </a:path>
              </a:pathLst>
            </a:custGeom>
            <a:solidFill>
              <a:srgbClr val="4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67" name="Freeform 176"/>
            <p:cNvSpPr>
              <a:spLocks/>
            </p:cNvSpPr>
            <p:nvPr/>
          </p:nvSpPr>
          <p:spPr bwMode="auto">
            <a:xfrm>
              <a:off x="4194175" y="5314201"/>
              <a:ext cx="50800" cy="92075"/>
            </a:xfrm>
            <a:custGeom>
              <a:avLst/>
              <a:gdLst>
                <a:gd name="T0" fmla="*/ 2147483647 w 32"/>
                <a:gd name="T1" fmla="*/ 2147483647 h 58"/>
                <a:gd name="T2" fmla="*/ 2147483647 w 32"/>
                <a:gd name="T3" fmla="*/ 2147483647 h 58"/>
                <a:gd name="T4" fmla="*/ 0 w 32"/>
                <a:gd name="T5" fmla="*/ 2147483647 h 58"/>
                <a:gd name="T6" fmla="*/ 0 w 32"/>
                <a:gd name="T7" fmla="*/ 0 h 58"/>
                <a:gd name="T8" fmla="*/ 2147483647 w 32"/>
                <a:gd name="T9" fmla="*/ 2147483647 h 5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"/>
                <a:gd name="T16" fmla="*/ 0 h 58"/>
                <a:gd name="T17" fmla="*/ 32 w 32"/>
                <a:gd name="T18" fmla="*/ 58 h 5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" h="58">
                  <a:moveTo>
                    <a:pt x="32" y="26"/>
                  </a:moveTo>
                  <a:lnTo>
                    <a:pt x="32" y="58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2" y="26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68" name="Freeform 177"/>
            <p:cNvSpPr>
              <a:spLocks/>
            </p:cNvSpPr>
            <p:nvPr/>
          </p:nvSpPr>
          <p:spPr bwMode="auto">
            <a:xfrm>
              <a:off x="4137025" y="5268164"/>
              <a:ext cx="53975" cy="88900"/>
            </a:xfrm>
            <a:custGeom>
              <a:avLst/>
              <a:gdLst>
                <a:gd name="T0" fmla="*/ 2147483647 w 34"/>
                <a:gd name="T1" fmla="*/ 2147483647 h 56"/>
                <a:gd name="T2" fmla="*/ 2147483647 w 34"/>
                <a:gd name="T3" fmla="*/ 2147483647 h 56"/>
                <a:gd name="T4" fmla="*/ 0 w 34"/>
                <a:gd name="T5" fmla="*/ 2147483647 h 56"/>
                <a:gd name="T6" fmla="*/ 0 w 34"/>
                <a:gd name="T7" fmla="*/ 0 h 56"/>
                <a:gd name="T8" fmla="*/ 2147483647 w 34"/>
                <a:gd name="T9" fmla="*/ 2147483647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56"/>
                <a:gd name="T17" fmla="*/ 34 w 34"/>
                <a:gd name="T18" fmla="*/ 56 h 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56">
                  <a:moveTo>
                    <a:pt x="34" y="28"/>
                  </a:moveTo>
                  <a:lnTo>
                    <a:pt x="34" y="56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4" y="28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69" name="Freeform 178"/>
            <p:cNvSpPr>
              <a:spLocks/>
            </p:cNvSpPr>
            <p:nvPr/>
          </p:nvSpPr>
          <p:spPr bwMode="auto">
            <a:xfrm>
              <a:off x="4087813" y="5331664"/>
              <a:ext cx="46037" cy="80962"/>
            </a:xfrm>
            <a:custGeom>
              <a:avLst/>
              <a:gdLst>
                <a:gd name="T0" fmla="*/ 2147483647 w 29"/>
                <a:gd name="T1" fmla="*/ 2147483647 h 51"/>
                <a:gd name="T2" fmla="*/ 2147483647 w 29"/>
                <a:gd name="T3" fmla="*/ 2147483647 h 51"/>
                <a:gd name="T4" fmla="*/ 0 w 29"/>
                <a:gd name="T5" fmla="*/ 2147483647 h 51"/>
                <a:gd name="T6" fmla="*/ 0 w 29"/>
                <a:gd name="T7" fmla="*/ 0 h 51"/>
                <a:gd name="T8" fmla="*/ 2147483647 w 29"/>
                <a:gd name="T9" fmla="*/ 2147483647 h 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"/>
                <a:gd name="T16" fmla="*/ 0 h 51"/>
                <a:gd name="T17" fmla="*/ 29 w 29"/>
                <a:gd name="T18" fmla="*/ 51 h 5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" h="51">
                  <a:moveTo>
                    <a:pt x="29" y="24"/>
                  </a:moveTo>
                  <a:lnTo>
                    <a:pt x="29" y="51"/>
                  </a:lnTo>
                  <a:lnTo>
                    <a:pt x="0" y="25"/>
                  </a:lnTo>
                  <a:lnTo>
                    <a:pt x="0" y="0"/>
                  </a:lnTo>
                  <a:lnTo>
                    <a:pt x="29" y="24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70" name="Freeform 179"/>
            <p:cNvSpPr>
              <a:spLocks/>
            </p:cNvSpPr>
            <p:nvPr/>
          </p:nvSpPr>
          <p:spPr bwMode="auto">
            <a:xfrm>
              <a:off x="4248150" y="5472951"/>
              <a:ext cx="63500" cy="101600"/>
            </a:xfrm>
            <a:custGeom>
              <a:avLst/>
              <a:gdLst>
                <a:gd name="T0" fmla="*/ 2147483647 w 40"/>
                <a:gd name="T1" fmla="*/ 2147483647 h 64"/>
                <a:gd name="T2" fmla="*/ 2147483647 w 40"/>
                <a:gd name="T3" fmla="*/ 2147483647 h 64"/>
                <a:gd name="T4" fmla="*/ 0 w 40"/>
                <a:gd name="T5" fmla="*/ 2147483647 h 64"/>
                <a:gd name="T6" fmla="*/ 0 w 40"/>
                <a:gd name="T7" fmla="*/ 0 h 64"/>
                <a:gd name="T8" fmla="*/ 2147483647 w 40"/>
                <a:gd name="T9" fmla="*/ 2147483647 h 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0"/>
                <a:gd name="T16" fmla="*/ 0 h 64"/>
                <a:gd name="T17" fmla="*/ 40 w 40"/>
                <a:gd name="T18" fmla="*/ 64 h 6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0" h="64">
                  <a:moveTo>
                    <a:pt x="40" y="35"/>
                  </a:moveTo>
                  <a:lnTo>
                    <a:pt x="40" y="64"/>
                  </a:lnTo>
                  <a:lnTo>
                    <a:pt x="0" y="30"/>
                  </a:lnTo>
                  <a:lnTo>
                    <a:pt x="0" y="0"/>
                  </a:lnTo>
                  <a:lnTo>
                    <a:pt x="40" y="35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71" name="Freeform 180"/>
            <p:cNvSpPr>
              <a:spLocks/>
            </p:cNvSpPr>
            <p:nvPr/>
          </p:nvSpPr>
          <p:spPr bwMode="auto">
            <a:xfrm>
              <a:off x="4194175" y="5423739"/>
              <a:ext cx="50800" cy="95250"/>
            </a:xfrm>
            <a:custGeom>
              <a:avLst/>
              <a:gdLst>
                <a:gd name="T0" fmla="*/ 2147483647 w 32"/>
                <a:gd name="T1" fmla="*/ 2147483647 h 60"/>
                <a:gd name="T2" fmla="*/ 2147483647 w 32"/>
                <a:gd name="T3" fmla="*/ 2147483647 h 60"/>
                <a:gd name="T4" fmla="*/ 0 w 32"/>
                <a:gd name="T5" fmla="*/ 2147483647 h 60"/>
                <a:gd name="T6" fmla="*/ 0 w 32"/>
                <a:gd name="T7" fmla="*/ 0 h 60"/>
                <a:gd name="T8" fmla="*/ 2147483647 w 32"/>
                <a:gd name="T9" fmla="*/ 2147483647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"/>
                <a:gd name="T16" fmla="*/ 0 h 60"/>
                <a:gd name="T17" fmla="*/ 32 w 32"/>
                <a:gd name="T18" fmla="*/ 60 h 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" h="60">
                  <a:moveTo>
                    <a:pt x="32" y="29"/>
                  </a:moveTo>
                  <a:lnTo>
                    <a:pt x="32" y="60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2" y="29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72" name="Freeform 181"/>
            <p:cNvSpPr>
              <a:spLocks/>
            </p:cNvSpPr>
            <p:nvPr/>
          </p:nvSpPr>
          <p:spPr bwMode="auto">
            <a:xfrm>
              <a:off x="4137025" y="5371351"/>
              <a:ext cx="53975" cy="95250"/>
            </a:xfrm>
            <a:custGeom>
              <a:avLst/>
              <a:gdLst>
                <a:gd name="T0" fmla="*/ 2147483647 w 34"/>
                <a:gd name="T1" fmla="*/ 2147483647 h 60"/>
                <a:gd name="T2" fmla="*/ 2147483647 w 34"/>
                <a:gd name="T3" fmla="*/ 2147483647 h 60"/>
                <a:gd name="T4" fmla="*/ 0 w 34"/>
                <a:gd name="T5" fmla="*/ 2147483647 h 60"/>
                <a:gd name="T6" fmla="*/ 0 w 34"/>
                <a:gd name="T7" fmla="*/ 0 h 60"/>
                <a:gd name="T8" fmla="*/ 2147483647 w 34"/>
                <a:gd name="T9" fmla="*/ 2147483647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60"/>
                <a:gd name="T17" fmla="*/ 34 w 34"/>
                <a:gd name="T18" fmla="*/ 60 h 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60">
                  <a:moveTo>
                    <a:pt x="34" y="32"/>
                  </a:moveTo>
                  <a:lnTo>
                    <a:pt x="34" y="60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4" y="32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73" name="Freeform 182"/>
            <p:cNvSpPr>
              <a:spLocks/>
            </p:cNvSpPr>
            <p:nvPr/>
          </p:nvSpPr>
          <p:spPr bwMode="auto">
            <a:xfrm>
              <a:off x="4087813" y="5431676"/>
              <a:ext cx="46037" cy="88900"/>
            </a:xfrm>
            <a:custGeom>
              <a:avLst/>
              <a:gdLst>
                <a:gd name="T0" fmla="*/ 2147483647 w 29"/>
                <a:gd name="T1" fmla="*/ 2147483647 h 56"/>
                <a:gd name="T2" fmla="*/ 2147483647 w 29"/>
                <a:gd name="T3" fmla="*/ 2147483647 h 56"/>
                <a:gd name="T4" fmla="*/ 0 w 29"/>
                <a:gd name="T5" fmla="*/ 2147483647 h 56"/>
                <a:gd name="T6" fmla="*/ 0 w 29"/>
                <a:gd name="T7" fmla="*/ 0 h 56"/>
                <a:gd name="T8" fmla="*/ 2147483647 w 29"/>
                <a:gd name="T9" fmla="*/ 2147483647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"/>
                <a:gd name="T16" fmla="*/ 0 h 56"/>
                <a:gd name="T17" fmla="*/ 29 w 29"/>
                <a:gd name="T18" fmla="*/ 56 h 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" h="56">
                  <a:moveTo>
                    <a:pt x="29" y="29"/>
                  </a:moveTo>
                  <a:lnTo>
                    <a:pt x="29" y="56"/>
                  </a:lnTo>
                  <a:lnTo>
                    <a:pt x="0" y="28"/>
                  </a:lnTo>
                  <a:lnTo>
                    <a:pt x="0" y="0"/>
                  </a:lnTo>
                  <a:lnTo>
                    <a:pt x="29" y="29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74" name="Freeform 183"/>
            <p:cNvSpPr>
              <a:spLocks/>
            </p:cNvSpPr>
            <p:nvPr/>
          </p:nvSpPr>
          <p:spPr bwMode="auto">
            <a:xfrm>
              <a:off x="4248150" y="5585664"/>
              <a:ext cx="63500" cy="111125"/>
            </a:xfrm>
            <a:custGeom>
              <a:avLst/>
              <a:gdLst>
                <a:gd name="T0" fmla="*/ 2147483647 w 40"/>
                <a:gd name="T1" fmla="*/ 2147483647 h 70"/>
                <a:gd name="T2" fmla="*/ 2147483647 w 40"/>
                <a:gd name="T3" fmla="*/ 2147483647 h 70"/>
                <a:gd name="T4" fmla="*/ 0 w 40"/>
                <a:gd name="T5" fmla="*/ 2147483647 h 70"/>
                <a:gd name="T6" fmla="*/ 0 w 40"/>
                <a:gd name="T7" fmla="*/ 0 h 70"/>
                <a:gd name="T8" fmla="*/ 2147483647 w 40"/>
                <a:gd name="T9" fmla="*/ 2147483647 h 7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0"/>
                <a:gd name="T16" fmla="*/ 0 h 70"/>
                <a:gd name="T17" fmla="*/ 40 w 40"/>
                <a:gd name="T18" fmla="*/ 70 h 7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0" h="70">
                  <a:moveTo>
                    <a:pt x="40" y="38"/>
                  </a:moveTo>
                  <a:lnTo>
                    <a:pt x="40" y="70"/>
                  </a:lnTo>
                  <a:lnTo>
                    <a:pt x="0" y="31"/>
                  </a:lnTo>
                  <a:lnTo>
                    <a:pt x="0" y="0"/>
                  </a:lnTo>
                  <a:lnTo>
                    <a:pt x="40" y="3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75" name="Freeform 184"/>
            <p:cNvSpPr>
              <a:spLocks/>
            </p:cNvSpPr>
            <p:nvPr/>
          </p:nvSpPr>
          <p:spPr bwMode="auto">
            <a:xfrm>
              <a:off x="4194175" y="5534864"/>
              <a:ext cx="50800" cy="98425"/>
            </a:xfrm>
            <a:custGeom>
              <a:avLst/>
              <a:gdLst>
                <a:gd name="T0" fmla="*/ 2147483647 w 32"/>
                <a:gd name="T1" fmla="*/ 2147483647 h 62"/>
                <a:gd name="T2" fmla="*/ 2147483647 w 32"/>
                <a:gd name="T3" fmla="*/ 2147483647 h 62"/>
                <a:gd name="T4" fmla="*/ 0 w 32"/>
                <a:gd name="T5" fmla="*/ 2147483647 h 62"/>
                <a:gd name="T6" fmla="*/ 0 w 32"/>
                <a:gd name="T7" fmla="*/ 0 h 62"/>
                <a:gd name="T8" fmla="*/ 2147483647 w 32"/>
                <a:gd name="T9" fmla="*/ 2147483647 h 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"/>
                <a:gd name="T16" fmla="*/ 0 h 62"/>
                <a:gd name="T17" fmla="*/ 32 w 32"/>
                <a:gd name="T18" fmla="*/ 62 h 6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" h="62">
                  <a:moveTo>
                    <a:pt x="32" y="31"/>
                  </a:moveTo>
                  <a:lnTo>
                    <a:pt x="32" y="62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2" y="31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76" name="Freeform 185"/>
            <p:cNvSpPr>
              <a:spLocks/>
            </p:cNvSpPr>
            <p:nvPr/>
          </p:nvSpPr>
          <p:spPr bwMode="auto">
            <a:xfrm>
              <a:off x="4137025" y="5479301"/>
              <a:ext cx="53975" cy="98425"/>
            </a:xfrm>
            <a:custGeom>
              <a:avLst/>
              <a:gdLst>
                <a:gd name="T0" fmla="*/ 2147483647 w 34"/>
                <a:gd name="T1" fmla="*/ 2147483647 h 62"/>
                <a:gd name="T2" fmla="*/ 2147483647 w 34"/>
                <a:gd name="T3" fmla="*/ 2147483647 h 62"/>
                <a:gd name="T4" fmla="*/ 0 w 34"/>
                <a:gd name="T5" fmla="*/ 2147483647 h 62"/>
                <a:gd name="T6" fmla="*/ 0 w 34"/>
                <a:gd name="T7" fmla="*/ 0 h 62"/>
                <a:gd name="T8" fmla="*/ 2147483647 w 34"/>
                <a:gd name="T9" fmla="*/ 2147483647 h 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62"/>
                <a:gd name="T17" fmla="*/ 34 w 34"/>
                <a:gd name="T18" fmla="*/ 62 h 6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62">
                  <a:moveTo>
                    <a:pt x="34" y="34"/>
                  </a:moveTo>
                  <a:lnTo>
                    <a:pt x="34" y="62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34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77" name="Freeform 186"/>
            <p:cNvSpPr>
              <a:spLocks/>
            </p:cNvSpPr>
            <p:nvPr/>
          </p:nvSpPr>
          <p:spPr bwMode="auto">
            <a:xfrm>
              <a:off x="4249738" y="5017339"/>
              <a:ext cx="60325" cy="85725"/>
            </a:xfrm>
            <a:custGeom>
              <a:avLst/>
              <a:gdLst>
                <a:gd name="T0" fmla="*/ 2147483647 w 38"/>
                <a:gd name="T1" fmla="*/ 2147483647 h 54"/>
                <a:gd name="T2" fmla="*/ 2147483647 w 38"/>
                <a:gd name="T3" fmla="*/ 2147483647 h 54"/>
                <a:gd name="T4" fmla="*/ 0 w 38"/>
                <a:gd name="T5" fmla="*/ 2147483647 h 54"/>
                <a:gd name="T6" fmla="*/ 0 w 38"/>
                <a:gd name="T7" fmla="*/ 0 h 54"/>
                <a:gd name="T8" fmla="*/ 2147483647 w 38"/>
                <a:gd name="T9" fmla="*/ 2147483647 h 5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8"/>
                <a:gd name="T16" fmla="*/ 0 h 54"/>
                <a:gd name="T17" fmla="*/ 38 w 38"/>
                <a:gd name="T18" fmla="*/ 54 h 5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8" h="54">
                  <a:moveTo>
                    <a:pt x="38" y="23"/>
                  </a:moveTo>
                  <a:lnTo>
                    <a:pt x="38" y="54"/>
                  </a:lnTo>
                  <a:lnTo>
                    <a:pt x="0" y="31"/>
                  </a:lnTo>
                  <a:lnTo>
                    <a:pt x="0" y="0"/>
                  </a:lnTo>
                  <a:lnTo>
                    <a:pt x="38" y="23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78" name="Freeform 187"/>
            <p:cNvSpPr>
              <a:spLocks/>
            </p:cNvSpPr>
            <p:nvPr/>
          </p:nvSpPr>
          <p:spPr bwMode="auto">
            <a:xfrm>
              <a:off x="4292600" y="5101476"/>
              <a:ext cx="19050" cy="60325"/>
            </a:xfrm>
            <a:custGeom>
              <a:avLst/>
              <a:gdLst>
                <a:gd name="T0" fmla="*/ 2147483647 w 12"/>
                <a:gd name="T1" fmla="*/ 2147483647 h 38"/>
                <a:gd name="T2" fmla="*/ 2147483647 w 12"/>
                <a:gd name="T3" fmla="*/ 2147483647 h 38"/>
                <a:gd name="T4" fmla="*/ 0 w 12"/>
                <a:gd name="T5" fmla="*/ 2147483647 h 38"/>
                <a:gd name="T6" fmla="*/ 0 w 12"/>
                <a:gd name="T7" fmla="*/ 0 h 38"/>
                <a:gd name="T8" fmla="*/ 2147483647 w 12"/>
                <a:gd name="T9" fmla="*/ 2147483647 h 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"/>
                <a:gd name="T16" fmla="*/ 0 h 38"/>
                <a:gd name="T17" fmla="*/ 12 w 12"/>
                <a:gd name="T18" fmla="*/ 38 h 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" h="38">
                  <a:moveTo>
                    <a:pt x="12" y="8"/>
                  </a:moveTo>
                  <a:lnTo>
                    <a:pt x="12" y="38"/>
                  </a:lnTo>
                  <a:lnTo>
                    <a:pt x="0" y="30"/>
                  </a:lnTo>
                  <a:lnTo>
                    <a:pt x="0" y="0"/>
                  </a:lnTo>
                  <a:lnTo>
                    <a:pt x="12" y="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79" name="Freeform 188"/>
            <p:cNvSpPr>
              <a:spLocks/>
            </p:cNvSpPr>
            <p:nvPr/>
          </p:nvSpPr>
          <p:spPr bwMode="auto">
            <a:xfrm>
              <a:off x="4249738" y="5245939"/>
              <a:ext cx="60325" cy="92075"/>
            </a:xfrm>
            <a:custGeom>
              <a:avLst/>
              <a:gdLst>
                <a:gd name="T0" fmla="*/ 2147483647 w 38"/>
                <a:gd name="T1" fmla="*/ 2147483647 h 58"/>
                <a:gd name="T2" fmla="*/ 2147483647 w 38"/>
                <a:gd name="T3" fmla="*/ 2147483647 h 58"/>
                <a:gd name="T4" fmla="*/ 0 w 38"/>
                <a:gd name="T5" fmla="*/ 2147483647 h 58"/>
                <a:gd name="T6" fmla="*/ 0 w 38"/>
                <a:gd name="T7" fmla="*/ 0 h 58"/>
                <a:gd name="T8" fmla="*/ 2147483647 w 38"/>
                <a:gd name="T9" fmla="*/ 2147483647 h 5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8"/>
                <a:gd name="T16" fmla="*/ 0 h 58"/>
                <a:gd name="T17" fmla="*/ 38 w 38"/>
                <a:gd name="T18" fmla="*/ 58 h 5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8" h="58">
                  <a:moveTo>
                    <a:pt x="38" y="27"/>
                  </a:moveTo>
                  <a:lnTo>
                    <a:pt x="38" y="58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8" y="27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80" name="Rectangle 189"/>
            <p:cNvSpPr>
              <a:spLocks noChangeArrowheads="1"/>
            </p:cNvSpPr>
            <p:nvPr/>
          </p:nvSpPr>
          <p:spPr bwMode="auto">
            <a:xfrm>
              <a:off x="4310063" y="5528514"/>
              <a:ext cx="28575" cy="50800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81" name="Freeform 190"/>
            <p:cNvSpPr>
              <a:spLocks/>
            </p:cNvSpPr>
            <p:nvPr/>
          </p:nvSpPr>
          <p:spPr bwMode="auto">
            <a:xfrm>
              <a:off x="4048125" y="4787151"/>
              <a:ext cx="441325" cy="125413"/>
            </a:xfrm>
            <a:custGeom>
              <a:avLst/>
              <a:gdLst>
                <a:gd name="T0" fmla="*/ 0 w 278"/>
                <a:gd name="T1" fmla="*/ 0 h 79"/>
                <a:gd name="T2" fmla="*/ 2147483647 w 278"/>
                <a:gd name="T3" fmla="*/ 2147483647 h 79"/>
                <a:gd name="T4" fmla="*/ 2147483647 w 278"/>
                <a:gd name="T5" fmla="*/ 2147483647 h 79"/>
                <a:gd name="T6" fmla="*/ 2147483647 w 278"/>
                <a:gd name="T7" fmla="*/ 2147483647 h 79"/>
                <a:gd name="T8" fmla="*/ 0 w 278"/>
                <a:gd name="T9" fmla="*/ 0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8"/>
                <a:gd name="T16" fmla="*/ 0 h 79"/>
                <a:gd name="T17" fmla="*/ 278 w 278"/>
                <a:gd name="T18" fmla="*/ 79 h 7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8" h="79">
                  <a:moveTo>
                    <a:pt x="0" y="0"/>
                  </a:moveTo>
                  <a:lnTo>
                    <a:pt x="119" y="6"/>
                  </a:lnTo>
                  <a:lnTo>
                    <a:pt x="278" y="75"/>
                  </a:lnTo>
                  <a:lnTo>
                    <a:pt x="168" y="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82" name="Freeform 191"/>
            <p:cNvSpPr>
              <a:spLocks/>
            </p:cNvSpPr>
            <p:nvPr/>
          </p:nvSpPr>
          <p:spPr bwMode="auto">
            <a:xfrm>
              <a:off x="4316413" y="4903039"/>
              <a:ext cx="171450" cy="93662"/>
            </a:xfrm>
            <a:custGeom>
              <a:avLst/>
              <a:gdLst>
                <a:gd name="T0" fmla="*/ 2147483647 w 108"/>
                <a:gd name="T1" fmla="*/ 2147483647 h 59"/>
                <a:gd name="T2" fmla="*/ 2147483647 w 108"/>
                <a:gd name="T3" fmla="*/ 0 h 59"/>
                <a:gd name="T4" fmla="*/ 2147483647 w 108"/>
                <a:gd name="T5" fmla="*/ 2147483647 h 59"/>
                <a:gd name="T6" fmla="*/ 0 w 108"/>
                <a:gd name="T7" fmla="*/ 2147483647 h 59"/>
                <a:gd name="T8" fmla="*/ 2147483647 w 108"/>
                <a:gd name="T9" fmla="*/ 2147483647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8"/>
                <a:gd name="T16" fmla="*/ 0 h 59"/>
                <a:gd name="T17" fmla="*/ 108 w 108"/>
                <a:gd name="T18" fmla="*/ 59 h 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8" h="59">
                  <a:moveTo>
                    <a:pt x="1" y="1"/>
                  </a:moveTo>
                  <a:lnTo>
                    <a:pt x="108" y="0"/>
                  </a:lnTo>
                  <a:lnTo>
                    <a:pt x="108" y="59"/>
                  </a:lnTo>
                  <a:lnTo>
                    <a:pt x="0" y="5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083" name="Freeform 192"/>
            <p:cNvSpPr>
              <a:spLocks/>
            </p:cNvSpPr>
            <p:nvPr/>
          </p:nvSpPr>
          <p:spPr bwMode="auto">
            <a:xfrm>
              <a:off x="4049713" y="4787151"/>
              <a:ext cx="273050" cy="207963"/>
            </a:xfrm>
            <a:custGeom>
              <a:avLst/>
              <a:gdLst>
                <a:gd name="T0" fmla="*/ 0 w 172"/>
                <a:gd name="T1" fmla="*/ 0 h 131"/>
                <a:gd name="T2" fmla="*/ 0 w 172"/>
                <a:gd name="T3" fmla="*/ 2147483647 h 131"/>
                <a:gd name="T4" fmla="*/ 2147483647 w 172"/>
                <a:gd name="T5" fmla="*/ 2147483647 h 131"/>
                <a:gd name="T6" fmla="*/ 2147483647 w 172"/>
                <a:gd name="T7" fmla="*/ 2147483647 h 131"/>
                <a:gd name="T8" fmla="*/ 0 w 172"/>
                <a:gd name="T9" fmla="*/ 0 h 1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2"/>
                <a:gd name="T16" fmla="*/ 0 h 131"/>
                <a:gd name="T17" fmla="*/ 172 w 172"/>
                <a:gd name="T18" fmla="*/ 131 h 13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2" h="131">
                  <a:moveTo>
                    <a:pt x="0" y="0"/>
                  </a:moveTo>
                  <a:lnTo>
                    <a:pt x="0" y="45"/>
                  </a:lnTo>
                  <a:lnTo>
                    <a:pt x="172" y="131"/>
                  </a:lnTo>
                  <a:lnTo>
                    <a:pt x="172" y="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0A0A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163854" name="Rectangle 198"/>
          <p:cNvSpPr>
            <a:spLocks noChangeArrowheads="1"/>
          </p:cNvSpPr>
          <p:nvPr/>
        </p:nvSpPr>
        <p:spPr bwMode="auto">
          <a:xfrm>
            <a:off x="4164013" y="4121150"/>
            <a:ext cx="41275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300" dirty="0">
                <a:solidFill>
                  <a:srgbClr val="000000"/>
                </a:solidFill>
              </a:rPr>
              <a:t> </a:t>
            </a:r>
            <a:endParaRPr lang="en-US" dirty="0"/>
          </a:p>
        </p:txBody>
      </p:sp>
      <p:sp>
        <p:nvSpPr>
          <p:cNvPr id="163855" name="Line 334"/>
          <p:cNvSpPr>
            <a:spLocks noChangeShapeType="1"/>
          </p:cNvSpPr>
          <p:nvPr/>
        </p:nvSpPr>
        <p:spPr bwMode="auto">
          <a:xfrm>
            <a:off x="3389313" y="4148138"/>
            <a:ext cx="434975" cy="1587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63856" name="Freeform 346"/>
          <p:cNvSpPr>
            <a:spLocks/>
          </p:cNvSpPr>
          <p:nvPr/>
        </p:nvSpPr>
        <p:spPr bwMode="auto">
          <a:xfrm>
            <a:off x="4945063" y="3524250"/>
            <a:ext cx="1901825" cy="1141413"/>
          </a:xfrm>
          <a:custGeom>
            <a:avLst/>
            <a:gdLst>
              <a:gd name="T0" fmla="*/ 2147483647 w 1198"/>
              <a:gd name="T1" fmla="*/ 2147483647 h 719"/>
              <a:gd name="T2" fmla="*/ 2147483647 w 1198"/>
              <a:gd name="T3" fmla="*/ 0 h 719"/>
              <a:gd name="T4" fmla="*/ 2147483647 w 1198"/>
              <a:gd name="T5" fmla="*/ 2147483647 h 719"/>
              <a:gd name="T6" fmla="*/ 2147483647 w 1198"/>
              <a:gd name="T7" fmla="*/ 2147483647 h 719"/>
              <a:gd name="T8" fmla="*/ 2147483647 w 1198"/>
              <a:gd name="T9" fmla="*/ 2147483647 h 719"/>
              <a:gd name="T10" fmla="*/ 2147483647 w 1198"/>
              <a:gd name="T11" fmla="*/ 2147483647 h 719"/>
              <a:gd name="T12" fmla="*/ 2147483647 w 1198"/>
              <a:gd name="T13" fmla="*/ 2147483647 h 719"/>
              <a:gd name="T14" fmla="*/ 2147483647 w 1198"/>
              <a:gd name="T15" fmla="*/ 2147483647 h 719"/>
              <a:gd name="T16" fmla="*/ 2147483647 w 1198"/>
              <a:gd name="T17" fmla="*/ 2147483647 h 719"/>
              <a:gd name="T18" fmla="*/ 2147483647 w 1198"/>
              <a:gd name="T19" fmla="*/ 2147483647 h 719"/>
              <a:gd name="T20" fmla="*/ 2147483647 w 1198"/>
              <a:gd name="T21" fmla="*/ 2147483647 h 719"/>
              <a:gd name="T22" fmla="*/ 2147483647 w 1198"/>
              <a:gd name="T23" fmla="*/ 2147483647 h 719"/>
              <a:gd name="T24" fmla="*/ 2147483647 w 1198"/>
              <a:gd name="T25" fmla="*/ 2147483647 h 719"/>
              <a:gd name="T26" fmla="*/ 2147483647 w 1198"/>
              <a:gd name="T27" fmla="*/ 2147483647 h 719"/>
              <a:gd name="T28" fmla="*/ 2147483647 w 1198"/>
              <a:gd name="T29" fmla="*/ 2147483647 h 719"/>
              <a:gd name="T30" fmla="*/ 2147483647 w 1198"/>
              <a:gd name="T31" fmla="*/ 2147483647 h 719"/>
              <a:gd name="T32" fmla="*/ 2147483647 w 1198"/>
              <a:gd name="T33" fmla="*/ 2147483647 h 719"/>
              <a:gd name="T34" fmla="*/ 2147483647 w 1198"/>
              <a:gd name="T35" fmla="*/ 2147483647 h 719"/>
              <a:gd name="T36" fmla="*/ 2147483647 w 1198"/>
              <a:gd name="T37" fmla="*/ 2147483647 h 719"/>
              <a:gd name="T38" fmla="*/ 2147483647 w 1198"/>
              <a:gd name="T39" fmla="*/ 2147483647 h 719"/>
              <a:gd name="T40" fmla="*/ 2147483647 w 1198"/>
              <a:gd name="T41" fmla="*/ 2147483647 h 719"/>
              <a:gd name="T42" fmla="*/ 2147483647 w 1198"/>
              <a:gd name="T43" fmla="*/ 2147483647 h 719"/>
              <a:gd name="T44" fmla="*/ 0 w 1198"/>
              <a:gd name="T45" fmla="*/ 2147483647 h 719"/>
              <a:gd name="T46" fmla="*/ 2147483647 w 1198"/>
              <a:gd name="T47" fmla="*/ 2147483647 h 719"/>
              <a:gd name="T48" fmla="*/ 2147483647 w 1198"/>
              <a:gd name="T49" fmla="*/ 2147483647 h 719"/>
              <a:gd name="T50" fmla="*/ 2147483647 w 1198"/>
              <a:gd name="T51" fmla="*/ 2147483647 h 719"/>
              <a:gd name="T52" fmla="*/ 2147483647 w 1198"/>
              <a:gd name="T53" fmla="*/ 2147483647 h 719"/>
              <a:gd name="T54" fmla="*/ 2147483647 w 1198"/>
              <a:gd name="T55" fmla="*/ 2147483647 h 719"/>
              <a:gd name="T56" fmla="*/ 2147483647 w 1198"/>
              <a:gd name="T57" fmla="*/ 2147483647 h 719"/>
              <a:gd name="T58" fmla="*/ 2147483647 w 1198"/>
              <a:gd name="T59" fmla="*/ 2147483647 h 719"/>
              <a:gd name="T60" fmla="*/ 2147483647 w 1198"/>
              <a:gd name="T61" fmla="*/ 2147483647 h 719"/>
              <a:gd name="T62" fmla="*/ 2147483647 w 1198"/>
              <a:gd name="T63" fmla="*/ 2147483647 h 719"/>
              <a:gd name="T64" fmla="*/ 2147483647 w 1198"/>
              <a:gd name="T65" fmla="*/ 2147483647 h 719"/>
              <a:gd name="T66" fmla="*/ 2147483647 w 1198"/>
              <a:gd name="T67" fmla="*/ 2147483647 h 719"/>
              <a:gd name="T68" fmla="*/ 2147483647 w 1198"/>
              <a:gd name="T69" fmla="*/ 2147483647 h 719"/>
              <a:gd name="T70" fmla="*/ 2147483647 w 1198"/>
              <a:gd name="T71" fmla="*/ 2147483647 h 719"/>
              <a:gd name="T72" fmla="*/ 2147483647 w 1198"/>
              <a:gd name="T73" fmla="*/ 2147483647 h 719"/>
              <a:gd name="T74" fmla="*/ 2147483647 w 1198"/>
              <a:gd name="T75" fmla="*/ 2147483647 h 719"/>
              <a:gd name="T76" fmla="*/ 2147483647 w 1198"/>
              <a:gd name="T77" fmla="*/ 2147483647 h 719"/>
              <a:gd name="T78" fmla="*/ 2147483647 w 1198"/>
              <a:gd name="T79" fmla="*/ 2147483647 h 719"/>
              <a:gd name="T80" fmla="*/ 2147483647 w 1198"/>
              <a:gd name="T81" fmla="*/ 2147483647 h 719"/>
              <a:gd name="T82" fmla="*/ 2147483647 w 1198"/>
              <a:gd name="T83" fmla="*/ 2147483647 h 719"/>
              <a:gd name="T84" fmla="*/ 2147483647 w 1198"/>
              <a:gd name="T85" fmla="*/ 2147483647 h 719"/>
              <a:gd name="T86" fmla="*/ 2147483647 w 1198"/>
              <a:gd name="T87" fmla="*/ 2147483647 h 719"/>
              <a:gd name="T88" fmla="*/ 2147483647 w 1198"/>
              <a:gd name="T89" fmla="*/ 2147483647 h 719"/>
              <a:gd name="T90" fmla="*/ 2147483647 w 1198"/>
              <a:gd name="T91" fmla="*/ 2147483647 h 719"/>
              <a:gd name="T92" fmla="*/ 2147483647 w 1198"/>
              <a:gd name="T93" fmla="*/ 2147483647 h 719"/>
              <a:gd name="T94" fmla="*/ 2147483647 w 1198"/>
              <a:gd name="T95" fmla="*/ 2147483647 h 719"/>
              <a:gd name="T96" fmla="*/ 2147483647 w 1198"/>
              <a:gd name="T97" fmla="*/ 2147483647 h 719"/>
              <a:gd name="T98" fmla="*/ 2147483647 w 1198"/>
              <a:gd name="T99" fmla="*/ 2147483647 h 719"/>
              <a:gd name="T100" fmla="*/ 2147483647 w 1198"/>
              <a:gd name="T101" fmla="*/ 2147483647 h 719"/>
              <a:gd name="T102" fmla="*/ 2147483647 w 1198"/>
              <a:gd name="T103" fmla="*/ 2147483647 h 719"/>
              <a:gd name="T104" fmla="*/ 2147483647 w 1198"/>
              <a:gd name="T105" fmla="*/ 2147483647 h 719"/>
              <a:gd name="T106" fmla="*/ 2147483647 w 1198"/>
              <a:gd name="T107" fmla="*/ 2147483647 h 719"/>
              <a:gd name="T108" fmla="*/ 2147483647 w 1198"/>
              <a:gd name="T109" fmla="*/ 2147483647 h 719"/>
              <a:gd name="T110" fmla="*/ 2147483647 w 1198"/>
              <a:gd name="T111" fmla="*/ 2147483647 h 719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w 1198"/>
              <a:gd name="T169" fmla="*/ 0 h 719"/>
              <a:gd name="T170" fmla="*/ 1198 w 1198"/>
              <a:gd name="T171" fmla="*/ 719 h 719"/>
            </a:gdLst>
            <a:ahLst/>
            <a:cxnLst>
              <a:cxn ang="T112">
                <a:pos x="T0" y="T1"/>
              </a:cxn>
              <a:cxn ang="T113">
                <a:pos x="T2" y="T3"/>
              </a:cxn>
              <a:cxn ang="T114">
                <a:pos x="T4" y="T5"/>
              </a:cxn>
              <a:cxn ang="T115">
                <a:pos x="T6" y="T7"/>
              </a:cxn>
              <a:cxn ang="T116">
                <a:pos x="T8" y="T9"/>
              </a:cxn>
              <a:cxn ang="T117">
                <a:pos x="T10" y="T11"/>
              </a:cxn>
              <a:cxn ang="T118">
                <a:pos x="T12" y="T13"/>
              </a:cxn>
              <a:cxn ang="T119">
                <a:pos x="T14" y="T15"/>
              </a:cxn>
              <a:cxn ang="T120">
                <a:pos x="T16" y="T17"/>
              </a:cxn>
              <a:cxn ang="T121">
                <a:pos x="T18" y="T19"/>
              </a:cxn>
              <a:cxn ang="T122">
                <a:pos x="T20" y="T21"/>
              </a:cxn>
              <a:cxn ang="T123">
                <a:pos x="T22" y="T23"/>
              </a:cxn>
              <a:cxn ang="T124">
                <a:pos x="T24" y="T25"/>
              </a:cxn>
              <a:cxn ang="T125">
                <a:pos x="T26" y="T27"/>
              </a:cxn>
              <a:cxn ang="T126">
                <a:pos x="T28" y="T29"/>
              </a:cxn>
              <a:cxn ang="T127">
                <a:pos x="T30" y="T31"/>
              </a:cxn>
              <a:cxn ang="T128">
                <a:pos x="T32" y="T33"/>
              </a:cxn>
              <a:cxn ang="T129">
                <a:pos x="T34" y="T35"/>
              </a:cxn>
              <a:cxn ang="T130">
                <a:pos x="T36" y="T37"/>
              </a:cxn>
              <a:cxn ang="T131">
                <a:pos x="T38" y="T39"/>
              </a:cxn>
              <a:cxn ang="T132">
                <a:pos x="T40" y="T41"/>
              </a:cxn>
              <a:cxn ang="T133">
                <a:pos x="T42" y="T43"/>
              </a:cxn>
              <a:cxn ang="T134">
                <a:pos x="T44" y="T45"/>
              </a:cxn>
              <a:cxn ang="T135">
                <a:pos x="T46" y="T47"/>
              </a:cxn>
              <a:cxn ang="T136">
                <a:pos x="T48" y="T49"/>
              </a:cxn>
              <a:cxn ang="T137">
                <a:pos x="T50" y="T51"/>
              </a:cxn>
              <a:cxn ang="T138">
                <a:pos x="T52" y="T53"/>
              </a:cxn>
              <a:cxn ang="T139">
                <a:pos x="T54" y="T55"/>
              </a:cxn>
              <a:cxn ang="T140">
                <a:pos x="T56" y="T57"/>
              </a:cxn>
              <a:cxn ang="T141">
                <a:pos x="T58" y="T59"/>
              </a:cxn>
              <a:cxn ang="T142">
                <a:pos x="T60" y="T61"/>
              </a:cxn>
              <a:cxn ang="T143">
                <a:pos x="T62" y="T63"/>
              </a:cxn>
              <a:cxn ang="T144">
                <a:pos x="T64" y="T65"/>
              </a:cxn>
              <a:cxn ang="T145">
                <a:pos x="T66" y="T67"/>
              </a:cxn>
              <a:cxn ang="T146">
                <a:pos x="T68" y="T69"/>
              </a:cxn>
              <a:cxn ang="T147">
                <a:pos x="T70" y="T71"/>
              </a:cxn>
              <a:cxn ang="T148">
                <a:pos x="T72" y="T73"/>
              </a:cxn>
              <a:cxn ang="T149">
                <a:pos x="T74" y="T75"/>
              </a:cxn>
              <a:cxn ang="T150">
                <a:pos x="T76" y="T77"/>
              </a:cxn>
              <a:cxn ang="T151">
                <a:pos x="T78" y="T79"/>
              </a:cxn>
              <a:cxn ang="T152">
                <a:pos x="T80" y="T81"/>
              </a:cxn>
              <a:cxn ang="T153">
                <a:pos x="T82" y="T83"/>
              </a:cxn>
              <a:cxn ang="T154">
                <a:pos x="T84" y="T85"/>
              </a:cxn>
              <a:cxn ang="T155">
                <a:pos x="T86" y="T87"/>
              </a:cxn>
              <a:cxn ang="T156">
                <a:pos x="T88" y="T89"/>
              </a:cxn>
              <a:cxn ang="T157">
                <a:pos x="T90" y="T91"/>
              </a:cxn>
              <a:cxn ang="T158">
                <a:pos x="T92" y="T93"/>
              </a:cxn>
              <a:cxn ang="T159">
                <a:pos x="T94" y="T95"/>
              </a:cxn>
              <a:cxn ang="T160">
                <a:pos x="T96" y="T97"/>
              </a:cxn>
              <a:cxn ang="T161">
                <a:pos x="T98" y="T99"/>
              </a:cxn>
              <a:cxn ang="T162">
                <a:pos x="T100" y="T101"/>
              </a:cxn>
              <a:cxn ang="T163">
                <a:pos x="T102" y="T103"/>
              </a:cxn>
              <a:cxn ang="T164">
                <a:pos x="T104" y="T105"/>
              </a:cxn>
              <a:cxn ang="T165">
                <a:pos x="T106" y="T107"/>
              </a:cxn>
              <a:cxn ang="T166">
                <a:pos x="T108" y="T109"/>
              </a:cxn>
              <a:cxn ang="T167">
                <a:pos x="T110" y="T111"/>
              </a:cxn>
            </a:cxnLst>
            <a:rect l="T168" t="T169" r="T170" b="T171"/>
            <a:pathLst>
              <a:path w="1198" h="719">
                <a:moveTo>
                  <a:pt x="1160" y="13"/>
                </a:moveTo>
                <a:lnTo>
                  <a:pt x="1154" y="9"/>
                </a:lnTo>
                <a:lnTo>
                  <a:pt x="1149" y="5"/>
                </a:lnTo>
                <a:lnTo>
                  <a:pt x="1142" y="3"/>
                </a:lnTo>
                <a:lnTo>
                  <a:pt x="1137" y="2"/>
                </a:lnTo>
                <a:lnTo>
                  <a:pt x="1130" y="0"/>
                </a:lnTo>
                <a:lnTo>
                  <a:pt x="1123" y="0"/>
                </a:lnTo>
                <a:lnTo>
                  <a:pt x="1116" y="0"/>
                </a:lnTo>
                <a:lnTo>
                  <a:pt x="1107" y="2"/>
                </a:lnTo>
                <a:lnTo>
                  <a:pt x="1099" y="3"/>
                </a:lnTo>
                <a:lnTo>
                  <a:pt x="1091" y="5"/>
                </a:lnTo>
                <a:lnTo>
                  <a:pt x="1082" y="7"/>
                </a:lnTo>
                <a:lnTo>
                  <a:pt x="1074" y="10"/>
                </a:lnTo>
                <a:lnTo>
                  <a:pt x="1064" y="13"/>
                </a:lnTo>
                <a:lnTo>
                  <a:pt x="1055" y="17"/>
                </a:lnTo>
                <a:lnTo>
                  <a:pt x="1036" y="24"/>
                </a:lnTo>
                <a:lnTo>
                  <a:pt x="1016" y="32"/>
                </a:lnTo>
                <a:lnTo>
                  <a:pt x="997" y="40"/>
                </a:lnTo>
                <a:lnTo>
                  <a:pt x="977" y="49"/>
                </a:lnTo>
                <a:lnTo>
                  <a:pt x="956" y="56"/>
                </a:lnTo>
                <a:lnTo>
                  <a:pt x="936" y="65"/>
                </a:lnTo>
                <a:lnTo>
                  <a:pt x="925" y="67"/>
                </a:lnTo>
                <a:lnTo>
                  <a:pt x="915" y="70"/>
                </a:lnTo>
                <a:lnTo>
                  <a:pt x="904" y="73"/>
                </a:lnTo>
                <a:lnTo>
                  <a:pt x="895" y="75"/>
                </a:lnTo>
                <a:lnTo>
                  <a:pt x="885" y="76"/>
                </a:lnTo>
                <a:lnTo>
                  <a:pt x="875" y="77"/>
                </a:lnTo>
                <a:lnTo>
                  <a:pt x="866" y="77"/>
                </a:lnTo>
                <a:lnTo>
                  <a:pt x="855" y="79"/>
                </a:lnTo>
                <a:lnTo>
                  <a:pt x="837" y="77"/>
                </a:lnTo>
                <a:lnTo>
                  <a:pt x="817" y="76"/>
                </a:lnTo>
                <a:lnTo>
                  <a:pt x="798" y="75"/>
                </a:lnTo>
                <a:lnTo>
                  <a:pt x="778" y="73"/>
                </a:lnTo>
                <a:lnTo>
                  <a:pt x="758" y="70"/>
                </a:lnTo>
                <a:lnTo>
                  <a:pt x="739" y="67"/>
                </a:lnTo>
                <a:lnTo>
                  <a:pt x="719" y="65"/>
                </a:lnTo>
                <a:lnTo>
                  <a:pt x="698" y="61"/>
                </a:lnTo>
                <a:lnTo>
                  <a:pt x="677" y="59"/>
                </a:lnTo>
                <a:lnTo>
                  <a:pt x="655" y="58"/>
                </a:lnTo>
                <a:lnTo>
                  <a:pt x="632" y="56"/>
                </a:lnTo>
                <a:lnTo>
                  <a:pt x="610" y="56"/>
                </a:lnTo>
                <a:lnTo>
                  <a:pt x="599" y="56"/>
                </a:lnTo>
                <a:lnTo>
                  <a:pt x="586" y="56"/>
                </a:lnTo>
                <a:lnTo>
                  <a:pt x="574" y="58"/>
                </a:lnTo>
                <a:lnTo>
                  <a:pt x="562" y="59"/>
                </a:lnTo>
                <a:lnTo>
                  <a:pt x="550" y="61"/>
                </a:lnTo>
                <a:lnTo>
                  <a:pt x="537" y="63"/>
                </a:lnTo>
                <a:lnTo>
                  <a:pt x="524" y="65"/>
                </a:lnTo>
                <a:lnTo>
                  <a:pt x="510" y="68"/>
                </a:lnTo>
                <a:lnTo>
                  <a:pt x="495" y="70"/>
                </a:lnTo>
                <a:lnTo>
                  <a:pt x="480" y="73"/>
                </a:lnTo>
                <a:lnTo>
                  <a:pt x="464" y="76"/>
                </a:lnTo>
                <a:lnTo>
                  <a:pt x="448" y="79"/>
                </a:lnTo>
                <a:lnTo>
                  <a:pt x="432" y="82"/>
                </a:lnTo>
                <a:lnTo>
                  <a:pt x="415" y="86"/>
                </a:lnTo>
                <a:lnTo>
                  <a:pt x="398" y="89"/>
                </a:lnTo>
                <a:lnTo>
                  <a:pt x="380" y="93"/>
                </a:lnTo>
                <a:lnTo>
                  <a:pt x="345" y="100"/>
                </a:lnTo>
                <a:lnTo>
                  <a:pt x="310" y="108"/>
                </a:lnTo>
                <a:lnTo>
                  <a:pt x="274" y="117"/>
                </a:lnTo>
                <a:lnTo>
                  <a:pt x="240" y="128"/>
                </a:lnTo>
                <a:lnTo>
                  <a:pt x="223" y="132"/>
                </a:lnTo>
                <a:lnTo>
                  <a:pt x="206" y="138"/>
                </a:lnTo>
                <a:lnTo>
                  <a:pt x="190" y="144"/>
                </a:lnTo>
                <a:lnTo>
                  <a:pt x="175" y="150"/>
                </a:lnTo>
                <a:lnTo>
                  <a:pt x="159" y="156"/>
                </a:lnTo>
                <a:lnTo>
                  <a:pt x="145" y="163"/>
                </a:lnTo>
                <a:lnTo>
                  <a:pt x="131" y="169"/>
                </a:lnTo>
                <a:lnTo>
                  <a:pt x="117" y="176"/>
                </a:lnTo>
                <a:lnTo>
                  <a:pt x="104" y="183"/>
                </a:lnTo>
                <a:lnTo>
                  <a:pt x="92" y="191"/>
                </a:lnTo>
                <a:lnTo>
                  <a:pt x="82" y="198"/>
                </a:lnTo>
                <a:lnTo>
                  <a:pt x="71" y="206"/>
                </a:lnTo>
                <a:lnTo>
                  <a:pt x="62" y="214"/>
                </a:lnTo>
                <a:lnTo>
                  <a:pt x="54" y="222"/>
                </a:lnTo>
                <a:lnTo>
                  <a:pt x="47" y="232"/>
                </a:lnTo>
                <a:lnTo>
                  <a:pt x="40" y="241"/>
                </a:lnTo>
                <a:lnTo>
                  <a:pt x="34" y="250"/>
                </a:lnTo>
                <a:lnTo>
                  <a:pt x="28" y="262"/>
                </a:lnTo>
                <a:lnTo>
                  <a:pt x="23" y="273"/>
                </a:lnTo>
                <a:lnTo>
                  <a:pt x="19" y="284"/>
                </a:lnTo>
                <a:lnTo>
                  <a:pt x="14" y="297"/>
                </a:lnTo>
                <a:lnTo>
                  <a:pt x="10" y="310"/>
                </a:lnTo>
                <a:lnTo>
                  <a:pt x="8" y="323"/>
                </a:lnTo>
                <a:lnTo>
                  <a:pt x="6" y="336"/>
                </a:lnTo>
                <a:lnTo>
                  <a:pt x="3" y="350"/>
                </a:lnTo>
                <a:lnTo>
                  <a:pt x="2" y="364"/>
                </a:lnTo>
                <a:lnTo>
                  <a:pt x="1" y="378"/>
                </a:lnTo>
                <a:lnTo>
                  <a:pt x="0" y="391"/>
                </a:lnTo>
                <a:lnTo>
                  <a:pt x="0" y="406"/>
                </a:lnTo>
                <a:lnTo>
                  <a:pt x="0" y="420"/>
                </a:lnTo>
                <a:lnTo>
                  <a:pt x="0" y="434"/>
                </a:lnTo>
                <a:lnTo>
                  <a:pt x="1" y="448"/>
                </a:lnTo>
                <a:lnTo>
                  <a:pt x="2" y="461"/>
                </a:lnTo>
                <a:lnTo>
                  <a:pt x="5" y="475"/>
                </a:lnTo>
                <a:lnTo>
                  <a:pt x="6" y="489"/>
                </a:lnTo>
                <a:lnTo>
                  <a:pt x="8" y="502"/>
                </a:lnTo>
                <a:lnTo>
                  <a:pt x="12" y="514"/>
                </a:lnTo>
                <a:lnTo>
                  <a:pt x="14" y="526"/>
                </a:lnTo>
                <a:lnTo>
                  <a:pt x="17" y="539"/>
                </a:lnTo>
                <a:lnTo>
                  <a:pt x="21" y="551"/>
                </a:lnTo>
                <a:lnTo>
                  <a:pt x="24" y="561"/>
                </a:lnTo>
                <a:lnTo>
                  <a:pt x="28" y="572"/>
                </a:lnTo>
                <a:lnTo>
                  <a:pt x="33" y="582"/>
                </a:lnTo>
                <a:lnTo>
                  <a:pt x="37" y="590"/>
                </a:lnTo>
                <a:lnTo>
                  <a:pt x="42" y="600"/>
                </a:lnTo>
                <a:lnTo>
                  <a:pt x="47" y="607"/>
                </a:lnTo>
                <a:lnTo>
                  <a:pt x="51" y="615"/>
                </a:lnTo>
                <a:lnTo>
                  <a:pt x="57" y="621"/>
                </a:lnTo>
                <a:lnTo>
                  <a:pt x="63" y="627"/>
                </a:lnTo>
                <a:lnTo>
                  <a:pt x="70" y="632"/>
                </a:lnTo>
                <a:lnTo>
                  <a:pt x="77" y="638"/>
                </a:lnTo>
                <a:lnTo>
                  <a:pt x="85" y="643"/>
                </a:lnTo>
                <a:lnTo>
                  <a:pt x="92" y="648"/>
                </a:lnTo>
                <a:lnTo>
                  <a:pt x="101" y="651"/>
                </a:lnTo>
                <a:lnTo>
                  <a:pt x="110" y="656"/>
                </a:lnTo>
                <a:lnTo>
                  <a:pt x="119" y="659"/>
                </a:lnTo>
                <a:lnTo>
                  <a:pt x="128" y="662"/>
                </a:lnTo>
                <a:lnTo>
                  <a:pt x="138" y="665"/>
                </a:lnTo>
                <a:lnTo>
                  <a:pt x="159" y="670"/>
                </a:lnTo>
                <a:lnTo>
                  <a:pt x="180" y="673"/>
                </a:lnTo>
                <a:lnTo>
                  <a:pt x="202" y="677"/>
                </a:lnTo>
                <a:lnTo>
                  <a:pt x="225" y="680"/>
                </a:lnTo>
                <a:lnTo>
                  <a:pt x="248" y="683"/>
                </a:lnTo>
                <a:lnTo>
                  <a:pt x="272" y="685"/>
                </a:lnTo>
                <a:lnTo>
                  <a:pt x="295" y="686"/>
                </a:lnTo>
                <a:lnTo>
                  <a:pt x="319" y="689"/>
                </a:lnTo>
                <a:lnTo>
                  <a:pt x="342" y="692"/>
                </a:lnTo>
                <a:lnTo>
                  <a:pt x="365" y="696"/>
                </a:lnTo>
                <a:lnTo>
                  <a:pt x="377" y="697"/>
                </a:lnTo>
                <a:lnTo>
                  <a:pt x="389" y="698"/>
                </a:lnTo>
                <a:lnTo>
                  <a:pt x="401" y="700"/>
                </a:lnTo>
                <a:lnTo>
                  <a:pt x="413" y="701"/>
                </a:lnTo>
                <a:lnTo>
                  <a:pt x="439" y="704"/>
                </a:lnTo>
                <a:lnTo>
                  <a:pt x="466" y="707"/>
                </a:lnTo>
                <a:lnTo>
                  <a:pt x="492" y="710"/>
                </a:lnTo>
                <a:lnTo>
                  <a:pt x="520" y="711"/>
                </a:lnTo>
                <a:lnTo>
                  <a:pt x="576" y="714"/>
                </a:lnTo>
                <a:lnTo>
                  <a:pt x="604" y="715"/>
                </a:lnTo>
                <a:lnTo>
                  <a:pt x="631" y="717"/>
                </a:lnTo>
                <a:lnTo>
                  <a:pt x="658" y="718"/>
                </a:lnTo>
                <a:lnTo>
                  <a:pt x="684" y="719"/>
                </a:lnTo>
                <a:lnTo>
                  <a:pt x="695" y="719"/>
                </a:lnTo>
                <a:lnTo>
                  <a:pt x="708" y="719"/>
                </a:lnTo>
                <a:lnTo>
                  <a:pt x="720" y="719"/>
                </a:lnTo>
                <a:lnTo>
                  <a:pt x="732" y="719"/>
                </a:lnTo>
                <a:lnTo>
                  <a:pt x="742" y="719"/>
                </a:lnTo>
                <a:lnTo>
                  <a:pt x="753" y="719"/>
                </a:lnTo>
                <a:lnTo>
                  <a:pt x="763" y="719"/>
                </a:lnTo>
                <a:lnTo>
                  <a:pt x="773" y="719"/>
                </a:lnTo>
                <a:lnTo>
                  <a:pt x="782" y="719"/>
                </a:lnTo>
                <a:lnTo>
                  <a:pt x="791" y="719"/>
                </a:lnTo>
                <a:lnTo>
                  <a:pt x="801" y="719"/>
                </a:lnTo>
                <a:lnTo>
                  <a:pt x="809" y="718"/>
                </a:lnTo>
                <a:lnTo>
                  <a:pt x="816" y="718"/>
                </a:lnTo>
                <a:lnTo>
                  <a:pt x="824" y="718"/>
                </a:lnTo>
                <a:lnTo>
                  <a:pt x="839" y="717"/>
                </a:lnTo>
                <a:lnTo>
                  <a:pt x="852" y="715"/>
                </a:lnTo>
                <a:lnTo>
                  <a:pt x="865" y="713"/>
                </a:lnTo>
                <a:lnTo>
                  <a:pt x="876" y="712"/>
                </a:lnTo>
                <a:lnTo>
                  <a:pt x="888" y="710"/>
                </a:lnTo>
                <a:lnTo>
                  <a:pt x="900" y="707"/>
                </a:lnTo>
                <a:lnTo>
                  <a:pt x="910" y="705"/>
                </a:lnTo>
                <a:lnTo>
                  <a:pt x="931" y="700"/>
                </a:lnTo>
                <a:lnTo>
                  <a:pt x="943" y="697"/>
                </a:lnTo>
                <a:lnTo>
                  <a:pt x="953" y="693"/>
                </a:lnTo>
                <a:lnTo>
                  <a:pt x="965" y="691"/>
                </a:lnTo>
                <a:lnTo>
                  <a:pt x="977" y="687"/>
                </a:lnTo>
                <a:lnTo>
                  <a:pt x="990" y="683"/>
                </a:lnTo>
                <a:lnTo>
                  <a:pt x="1002" y="679"/>
                </a:lnTo>
                <a:lnTo>
                  <a:pt x="1015" y="676"/>
                </a:lnTo>
                <a:lnTo>
                  <a:pt x="1029" y="672"/>
                </a:lnTo>
                <a:lnTo>
                  <a:pt x="1056" y="665"/>
                </a:lnTo>
                <a:lnTo>
                  <a:pt x="1070" y="662"/>
                </a:lnTo>
                <a:lnTo>
                  <a:pt x="1083" y="657"/>
                </a:lnTo>
                <a:lnTo>
                  <a:pt x="1096" y="652"/>
                </a:lnTo>
                <a:lnTo>
                  <a:pt x="1109" y="647"/>
                </a:lnTo>
                <a:lnTo>
                  <a:pt x="1120" y="641"/>
                </a:lnTo>
                <a:lnTo>
                  <a:pt x="1132" y="635"/>
                </a:lnTo>
                <a:lnTo>
                  <a:pt x="1142" y="627"/>
                </a:lnTo>
                <a:lnTo>
                  <a:pt x="1152" y="620"/>
                </a:lnTo>
                <a:lnTo>
                  <a:pt x="1160" y="610"/>
                </a:lnTo>
                <a:lnTo>
                  <a:pt x="1165" y="606"/>
                </a:lnTo>
                <a:lnTo>
                  <a:pt x="1168" y="601"/>
                </a:lnTo>
                <a:lnTo>
                  <a:pt x="1174" y="590"/>
                </a:lnTo>
                <a:lnTo>
                  <a:pt x="1180" y="579"/>
                </a:lnTo>
                <a:lnTo>
                  <a:pt x="1184" y="567"/>
                </a:lnTo>
                <a:lnTo>
                  <a:pt x="1188" y="554"/>
                </a:lnTo>
                <a:lnTo>
                  <a:pt x="1191" y="541"/>
                </a:lnTo>
                <a:lnTo>
                  <a:pt x="1194" y="527"/>
                </a:lnTo>
                <a:lnTo>
                  <a:pt x="1195" y="513"/>
                </a:lnTo>
                <a:lnTo>
                  <a:pt x="1196" y="498"/>
                </a:lnTo>
                <a:lnTo>
                  <a:pt x="1197" y="483"/>
                </a:lnTo>
                <a:lnTo>
                  <a:pt x="1197" y="467"/>
                </a:lnTo>
                <a:lnTo>
                  <a:pt x="1197" y="450"/>
                </a:lnTo>
                <a:lnTo>
                  <a:pt x="1197" y="433"/>
                </a:lnTo>
                <a:lnTo>
                  <a:pt x="1197" y="415"/>
                </a:lnTo>
                <a:lnTo>
                  <a:pt x="1197" y="398"/>
                </a:lnTo>
                <a:lnTo>
                  <a:pt x="1197" y="380"/>
                </a:lnTo>
                <a:lnTo>
                  <a:pt x="1196" y="361"/>
                </a:lnTo>
                <a:lnTo>
                  <a:pt x="1196" y="352"/>
                </a:lnTo>
                <a:lnTo>
                  <a:pt x="1196" y="343"/>
                </a:lnTo>
                <a:lnTo>
                  <a:pt x="1196" y="331"/>
                </a:lnTo>
                <a:lnTo>
                  <a:pt x="1196" y="321"/>
                </a:lnTo>
                <a:lnTo>
                  <a:pt x="1197" y="309"/>
                </a:lnTo>
                <a:lnTo>
                  <a:pt x="1197" y="297"/>
                </a:lnTo>
                <a:lnTo>
                  <a:pt x="1197" y="284"/>
                </a:lnTo>
                <a:lnTo>
                  <a:pt x="1197" y="271"/>
                </a:lnTo>
                <a:lnTo>
                  <a:pt x="1198" y="246"/>
                </a:lnTo>
                <a:lnTo>
                  <a:pt x="1198" y="219"/>
                </a:lnTo>
                <a:lnTo>
                  <a:pt x="1198" y="192"/>
                </a:lnTo>
                <a:lnTo>
                  <a:pt x="1197" y="166"/>
                </a:lnTo>
                <a:lnTo>
                  <a:pt x="1196" y="141"/>
                </a:lnTo>
                <a:lnTo>
                  <a:pt x="1196" y="128"/>
                </a:lnTo>
                <a:lnTo>
                  <a:pt x="1195" y="116"/>
                </a:lnTo>
                <a:lnTo>
                  <a:pt x="1194" y="103"/>
                </a:lnTo>
                <a:lnTo>
                  <a:pt x="1191" y="93"/>
                </a:lnTo>
                <a:lnTo>
                  <a:pt x="1190" y="81"/>
                </a:lnTo>
                <a:lnTo>
                  <a:pt x="1188" y="70"/>
                </a:lnTo>
                <a:lnTo>
                  <a:pt x="1186" y="61"/>
                </a:lnTo>
                <a:lnTo>
                  <a:pt x="1183" y="52"/>
                </a:lnTo>
                <a:lnTo>
                  <a:pt x="1180" y="44"/>
                </a:lnTo>
                <a:lnTo>
                  <a:pt x="1176" y="35"/>
                </a:lnTo>
                <a:lnTo>
                  <a:pt x="1173" y="28"/>
                </a:lnTo>
                <a:lnTo>
                  <a:pt x="1169" y="23"/>
                </a:lnTo>
                <a:lnTo>
                  <a:pt x="1165" y="17"/>
                </a:lnTo>
                <a:lnTo>
                  <a:pt x="1160" y="13"/>
                </a:lnTo>
                <a:close/>
              </a:path>
            </a:pathLst>
          </a:custGeom>
          <a:gradFill rotWithShape="1">
            <a:gsLst>
              <a:gs pos="0">
                <a:srgbClr val="00CCFF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63857" name="Line 347"/>
          <p:cNvSpPr>
            <a:spLocks noChangeShapeType="1"/>
          </p:cNvSpPr>
          <p:nvPr/>
        </p:nvSpPr>
        <p:spPr bwMode="auto">
          <a:xfrm flipV="1">
            <a:off x="4451350" y="4130675"/>
            <a:ext cx="490538" cy="3175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63858" name="Rectangle 350"/>
          <p:cNvSpPr>
            <a:spLocks noChangeArrowheads="1"/>
          </p:cNvSpPr>
          <p:nvPr/>
        </p:nvSpPr>
        <p:spPr bwMode="auto">
          <a:xfrm>
            <a:off x="3508375" y="5219700"/>
            <a:ext cx="4762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500" dirty="0">
                <a:solidFill>
                  <a:srgbClr val="000000"/>
                </a:solidFill>
              </a:rPr>
              <a:t> </a:t>
            </a:r>
            <a:endParaRPr lang="en-US" dirty="0"/>
          </a:p>
        </p:txBody>
      </p:sp>
      <p:sp>
        <p:nvSpPr>
          <p:cNvPr id="163859" name="Rectangle 352"/>
          <p:cNvSpPr>
            <a:spLocks noChangeArrowheads="1"/>
          </p:cNvSpPr>
          <p:nvPr/>
        </p:nvSpPr>
        <p:spPr bwMode="auto">
          <a:xfrm>
            <a:off x="3332163" y="5432425"/>
            <a:ext cx="4762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500" dirty="0">
                <a:solidFill>
                  <a:srgbClr val="000000"/>
                </a:solidFill>
              </a:rPr>
              <a:t> </a:t>
            </a:r>
            <a:endParaRPr lang="en-US" dirty="0"/>
          </a:p>
        </p:txBody>
      </p:sp>
      <p:sp>
        <p:nvSpPr>
          <p:cNvPr id="163860" name="Rectangle 353"/>
          <p:cNvSpPr>
            <a:spLocks noChangeArrowheads="1"/>
          </p:cNvSpPr>
          <p:nvPr/>
        </p:nvSpPr>
        <p:spPr bwMode="auto">
          <a:xfrm>
            <a:off x="5167313" y="5162550"/>
            <a:ext cx="1449387" cy="5397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63861" name="Rectangle 355"/>
          <p:cNvSpPr>
            <a:spLocks noChangeArrowheads="1"/>
          </p:cNvSpPr>
          <p:nvPr/>
        </p:nvSpPr>
        <p:spPr bwMode="auto">
          <a:xfrm>
            <a:off x="6210300" y="5219700"/>
            <a:ext cx="4762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500" dirty="0">
                <a:solidFill>
                  <a:srgbClr val="000000"/>
                </a:solidFill>
              </a:rPr>
              <a:t> </a:t>
            </a:r>
            <a:endParaRPr lang="en-US" dirty="0"/>
          </a:p>
        </p:txBody>
      </p:sp>
      <p:sp>
        <p:nvSpPr>
          <p:cNvPr id="163862" name="Rectangle 357"/>
          <p:cNvSpPr>
            <a:spLocks noChangeArrowheads="1"/>
          </p:cNvSpPr>
          <p:nvPr/>
        </p:nvSpPr>
        <p:spPr bwMode="auto">
          <a:xfrm>
            <a:off x="6218238" y="5432425"/>
            <a:ext cx="4762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500" dirty="0">
                <a:solidFill>
                  <a:srgbClr val="000000"/>
                </a:solidFill>
              </a:rPr>
              <a:t> </a:t>
            </a:r>
            <a:endParaRPr lang="en-US" dirty="0"/>
          </a:p>
        </p:txBody>
      </p:sp>
      <p:sp>
        <p:nvSpPr>
          <p:cNvPr id="163863" name="Freeform 358"/>
          <p:cNvSpPr>
            <a:spLocks noEditPoints="1"/>
          </p:cNvSpPr>
          <p:nvPr/>
        </p:nvSpPr>
        <p:spPr bwMode="auto">
          <a:xfrm>
            <a:off x="3463925" y="5394325"/>
            <a:ext cx="609600" cy="93663"/>
          </a:xfrm>
          <a:custGeom>
            <a:avLst/>
            <a:gdLst>
              <a:gd name="T0" fmla="*/ 2147483647 w 384"/>
              <a:gd name="T1" fmla="*/ 2147483647 h 59"/>
              <a:gd name="T2" fmla="*/ 2147483647 w 384"/>
              <a:gd name="T3" fmla="*/ 2147483647 h 59"/>
              <a:gd name="T4" fmla="*/ 2147483647 w 384"/>
              <a:gd name="T5" fmla="*/ 2147483647 h 59"/>
              <a:gd name="T6" fmla="*/ 2147483647 w 384"/>
              <a:gd name="T7" fmla="*/ 2147483647 h 59"/>
              <a:gd name="T8" fmla="*/ 2147483647 w 384"/>
              <a:gd name="T9" fmla="*/ 2147483647 h 59"/>
              <a:gd name="T10" fmla="*/ 2147483647 w 384"/>
              <a:gd name="T11" fmla="*/ 2147483647 h 59"/>
              <a:gd name="T12" fmla="*/ 2147483647 w 384"/>
              <a:gd name="T13" fmla="*/ 2147483647 h 59"/>
              <a:gd name="T14" fmla="*/ 2147483647 w 384"/>
              <a:gd name="T15" fmla="*/ 2147483647 h 59"/>
              <a:gd name="T16" fmla="*/ 2147483647 w 384"/>
              <a:gd name="T17" fmla="*/ 2147483647 h 59"/>
              <a:gd name="T18" fmla="*/ 2147483647 w 384"/>
              <a:gd name="T19" fmla="*/ 2147483647 h 59"/>
              <a:gd name="T20" fmla="*/ 2147483647 w 384"/>
              <a:gd name="T21" fmla="*/ 2147483647 h 59"/>
              <a:gd name="T22" fmla="*/ 2147483647 w 384"/>
              <a:gd name="T23" fmla="*/ 2147483647 h 59"/>
              <a:gd name="T24" fmla="*/ 2147483647 w 384"/>
              <a:gd name="T25" fmla="*/ 2147483647 h 59"/>
              <a:gd name="T26" fmla="*/ 2147483647 w 384"/>
              <a:gd name="T27" fmla="*/ 2147483647 h 59"/>
              <a:gd name="T28" fmla="*/ 0 w 384"/>
              <a:gd name="T29" fmla="*/ 2147483647 h 59"/>
              <a:gd name="T30" fmla="*/ 2147483647 w 384"/>
              <a:gd name="T31" fmla="*/ 2147483647 h 59"/>
              <a:gd name="T32" fmla="*/ 2147483647 w 384"/>
              <a:gd name="T33" fmla="*/ 2147483647 h 59"/>
              <a:gd name="T34" fmla="*/ 2147483647 w 384"/>
              <a:gd name="T35" fmla="*/ 2147483647 h 59"/>
              <a:gd name="T36" fmla="*/ 2147483647 w 384"/>
              <a:gd name="T37" fmla="*/ 2147483647 h 59"/>
              <a:gd name="T38" fmla="*/ 2147483647 w 384"/>
              <a:gd name="T39" fmla="*/ 2147483647 h 59"/>
              <a:gd name="T40" fmla="*/ 2147483647 w 384"/>
              <a:gd name="T41" fmla="*/ 0 h 59"/>
              <a:gd name="T42" fmla="*/ 2147483647 w 384"/>
              <a:gd name="T43" fmla="*/ 2147483647 h 59"/>
              <a:gd name="T44" fmla="*/ 2147483647 w 384"/>
              <a:gd name="T45" fmla="*/ 2147483647 h 59"/>
              <a:gd name="T46" fmla="*/ 2147483647 w 384"/>
              <a:gd name="T47" fmla="*/ 0 h 59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w 384"/>
              <a:gd name="T73" fmla="*/ 0 h 59"/>
              <a:gd name="T74" fmla="*/ 384 w 384"/>
              <a:gd name="T75" fmla="*/ 59 h 59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T72" t="T73" r="T74" b="T75"/>
            <a:pathLst>
              <a:path w="384" h="59">
                <a:moveTo>
                  <a:pt x="4" y="26"/>
                </a:moveTo>
                <a:lnTo>
                  <a:pt x="335" y="26"/>
                </a:lnTo>
                <a:lnTo>
                  <a:pt x="337" y="26"/>
                </a:lnTo>
                <a:lnTo>
                  <a:pt x="338" y="26"/>
                </a:lnTo>
                <a:lnTo>
                  <a:pt x="339" y="27"/>
                </a:lnTo>
                <a:lnTo>
                  <a:pt x="339" y="30"/>
                </a:lnTo>
                <a:lnTo>
                  <a:pt x="339" y="31"/>
                </a:lnTo>
                <a:lnTo>
                  <a:pt x="338" y="32"/>
                </a:lnTo>
                <a:lnTo>
                  <a:pt x="337" y="33"/>
                </a:lnTo>
                <a:lnTo>
                  <a:pt x="335" y="33"/>
                </a:lnTo>
                <a:lnTo>
                  <a:pt x="4" y="33"/>
                </a:lnTo>
                <a:lnTo>
                  <a:pt x="3" y="33"/>
                </a:lnTo>
                <a:lnTo>
                  <a:pt x="2" y="32"/>
                </a:lnTo>
                <a:lnTo>
                  <a:pt x="2" y="31"/>
                </a:lnTo>
                <a:lnTo>
                  <a:pt x="0" y="30"/>
                </a:lnTo>
                <a:lnTo>
                  <a:pt x="2" y="27"/>
                </a:lnTo>
                <a:lnTo>
                  <a:pt x="2" y="26"/>
                </a:lnTo>
                <a:lnTo>
                  <a:pt x="3" y="26"/>
                </a:lnTo>
                <a:lnTo>
                  <a:pt x="4" y="26"/>
                </a:lnTo>
                <a:close/>
                <a:moveTo>
                  <a:pt x="326" y="0"/>
                </a:moveTo>
                <a:lnTo>
                  <a:pt x="384" y="30"/>
                </a:lnTo>
                <a:lnTo>
                  <a:pt x="326" y="59"/>
                </a:lnTo>
                <a:lnTo>
                  <a:pt x="326" y="0"/>
                </a:lnTo>
                <a:close/>
              </a:path>
            </a:pathLst>
          </a:custGeom>
          <a:solidFill>
            <a:srgbClr val="000000"/>
          </a:solidFill>
          <a:ln w="15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163864" name="Freeform 359"/>
          <p:cNvSpPr>
            <a:spLocks noEditPoints="1"/>
          </p:cNvSpPr>
          <p:nvPr/>
        </p:nvSpPr>
        <p:spPr bwMode="auto">
          <a:xfrm>
            <a:off x="1208088" y="5394325"/>
            <a:ext cx="868362" cy="74613"/>
          </a:xfrm>
          <a:custGeom>
            <a:avLst/>
            <a:gdLst>
              <a:gd name="T0" fmla="*/ 2147483647 w 384"/>
              <a:gd name="T1" fmla="*/ 2147483647 h 59"/>
              <a:gd name="T2" fmla="*/ 2147483647 w 384"/>
              <a:gd name="T3" fmla="*/ 2147483647 h 59"/>
              <a:gd name="T4" fmla="*/ 2147483647 w 384"/>
              <a:gd name="T5" fmla="*/ 2147483647 h 59"/>
              <a:gd name="T6" fmla="*/ 2147483647 w 384"/>
              <a:gd name="T7" fmla="*/ 2147483647 h 59"/>
              <a:gd name="T8" fmla="*/ 2147483647 w 384"/>
              <a:gd name="T9" fmla="*/ 2147483647 h 59"/>
              <a:gd name="T10" fmla="*/ 2147483647 w 384"/>
              <a:gd name="T11" fmla="*/ 2147483647 h 59"/>
              <a:gd name="T12" fmla="*/ 2147483647 w 384"/>
              <a:gd name="T13" fmla="*/ 2147483647 h 59"/>
              <a:gd name="T14" fmla="*/ 2147483647 w 384"/>
              <a:gd name="T15" fmla="*/ 2147483647 h 59"/>
              <a:gd name="T16" fmla="*/ 2147483647 w 384"/>
              <a:gd name="T17" fmla="*/ 2147483647 h 59"/>
              <a:gd name="T18" fmla="*/ 2147483647 w 384"/>
              <a:gd name="T19" fmla="*/ 2147483647 h 59"/>
              <a:gd name="T20" fmla="*/ 2147483647 w 384"/>
              <a:gd name="T21" fmla="*/ 2147483647 h 59"/>
              <a:gd name="T22" fmla="*/ 2147483647 w 384"/>
              <a:gd name="T23" fmla="*/ 2147483647 h 59"/>
              <a:gd name="T24" fmla="*/ 2147483647 w 384"/>
              <a:gd name="T25" fmla="*/ 2147483647 h 59"/>
              <a:gd name="T26" fmla="*/ 2147483647 w 384"/>
              <a:gd name="T27" fmla="*/ 2147483647 h 59"/>
              <a:gd name="T28" fmla="*/ 2147483647 w 384"/>
              <a:gd name="T29" fmla="*/ 2147483647 h 59"/>
              <a:gd name="T30" fmla="*/ 2147483647 w 384"/>
              <a:gd name="T31" fmla="*/ 2147483647 h 59"/>
              <a:gd name="T32" fmla="*/ 2147483647 w 384"/>
              <a:gd name="T33" fmla="*/ 2147483647 h 59"/>
              <a:gd name="T34" fmla="*/ 2147483647 w 384"/>
              <a:gd name="T35" fmla="*/ 2147483647 h 59"/>
              <a:gd name="T36" fmla="*/ 2147483647 w 384"/>
              <a:gd name="T37" fmla="*/ 2147483647 h 59"/>
              <a:gd name="T38" fmla="*/ 2147483647 w 384"/>
              <a:gd name="T39" fmla="*/ 2147483647 h 59"/>
              <a:gd name="T40" fmla="*/ 2147483647 w 384"/>
              <a:gd name="T41" fmla="*/ 2147483647 h 59"/>
              <a:gd name="T42" fmla="*/ 0 w 384"/>
              <a:gd name="T43" fmla="*/ 2147483647 h 59"/>
              <a:gd name="T44" fmla="*/ 2147483647 w 384"/>
              <a:gd name="T45" fmla="*/ 0 h 59"/>
              <a:gd name="T46" fmla="*/ 2147483647 w 384"/>
              <a:gd name="T47" fmla="*/ 2147483647 h 59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w 384"/>
              <a:gd name="T73" fmla="*/ 0 h 59"/>
              <a:gd name="T74" fmla="*/ 384 w 384"/>
              <a:gd name="T75" fmla="*/ 59 h 59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T72" t="T73" r="T74" b="T75"/>
            <a:pathLst>
              <a:path w="384" h="59">
                <a:moveTo>
                  <a:pt x="381" y="33"/>
                </a:moveTo>
                <a:lnTo>
                  <a:pt x="49" y="33"/>
                </a:lnTo>
                <a:lnTo>
                  <a:pt x="48" y="33"/>
                </a:lnTo>
                <a:lnTo>
                  <a:pt x="47" y="32"/>
                </a:lnTo>
                <a:lnTo>
                  <a:pt x="46" y="31"/>
                </a:lnTo>
                <a:lnTo>
                  <a:pt x="46" y="30"/>
                </a:lnTo>
                <a:lnTo>
                  <a:pt x="46" y="28"/>
                </a:lnTo>
                <a:lnTo>
                  <a:pt x="47" y="27"/>
                </a:lnTo>
                <a:lnTo>
                  <a:pt x="48" y="26"/>
                </a:lnTo>
                <a:lnTo>
                  <a:pt x="49" y="26"/>
                </a:lnTo>
                <a:lnTo>
                  <a:pt x="381" y="26"/>
                </a:lnTo>
                <a:lnTo>
                  <a:pt x="382" y="26"/>
                </a:lnTo>
                <a:lnTo>
                  <a:pt x="383" y="26"/>
                </a:lnTo>
                <a:lnTo>
                  <a:pt x="384" y="27"/>
                </a:lnTo>
                <a:lnTo>
                  <a:pt x="384" y="30"/>
                </a:lnTo>
                <a:lnTo>
                  <a:pt x="384" y="31"/>
                </a:lnTo>
                <a:lnTo>
                  <a:pt x="383" y="32"/>
                </a:lnTo>
                <a:lnTo>
                  <a:pt x="382" y="33"/>
                </a:lnTo>
                <a:lnTo>
                  <a:pt x="381" y="33"/>
                </a:lnTo>
                <a:close/>
                <a:moveTo>
                  <a:pt x="59" y="59"/>
                </a:moveTo>
                <a:lnTo>
                  <a:pt x="0" y="30"/>
                </a:lnTo>
                <a:lnTo>
                  <a:pt x="59" y="0"/>
                </a:lnTo>
                <a:lnTo>
                  <a:pt x="59" y="59"/>
                </a:lnTo>
                <a:close/>
              </a:path>
            </a:pathLst>
          </a:custGeom>
          <a:solidFill>
            <a:srgbClr val="000000"/>
          </a:solidFill>
          <a:ln w="15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163865" name="Freeform 360"/>
          <p:cNvSpPr>
            <a:spLocks noEditPoints="1"/>
          </p:cNvSpPr>
          <p:nvPr/>
        </p:nvSpPr>
        <p:spPr bwMode="auto">
          <a:xfrm>
            <a:off x="6176963" y="5394325"/>
            <a:ext cx="1069975" cy="74613"/>
          </a:xfrm>
          <a:custGeom>
            <a:avLst/>
            <a:gdLst>
              <a:gd name="T0" fmla="*/ 2147483647 w 384"/>
              <a:gd name="T1" fmla="*/ 2147483647 h 59"/>
              <a:gd name="T2" fmla="*/ 2147483647 w 384"/>
              <a:gd name="T3" fmla="*/ 2147483647 h 59"/>
              <a:gd name="T4" fmla="*/ 2147483647 w 384"/>
              <a:gd name="T5" fmla="*/ 2147483647 h 59"/>
              <a:gd name="T6" fmla="*/ 2147483647 w 384"/>
              <a:gd name="T7" fmla="*/ 2147483647 h 59"/>
              <a:gd name="T8" fmla="*/ 2147483647 w 384"/>
              <a:gd name="T9" fmla="*/ 2147483647 h 59"/>
              <a:gd name="T10" fmla="*/ 2147483647 w 384"/>
              <a:gd name="T11" fmla="*/ 2147483647 h 59"/>
              <a:gd name="T12" fmla="*/ 2147483647 w 384"/>
              <a:gd name="T13" fmla="*/ 2147483647 h 59"/>
              <a:gd name="T14" fmla="*/ 2147483647 w 384"/>
              <a:gd name="T15" fmla="*/ 2147483647 h 59"/>
              <a:gd name="T16" fmla="*/ 2147483647 w 384"/>
              <a:gd name="T17" fmla="*/ 2147483647 h 59"/>
              <a:gd name="T18" fmla="*/ 2147483647 w 384"/>
              <a:gd name="T19" fmla="*/ 2147483647 h 59"/>
              <a:gd name="T20" fmla="*/ 2147483647 w 384"/>
              <a:gd name="T21" fmla="*/ 2147483647 h 59"/>
              <a:gd name="T22" fmla="*/ 2147483647 w 384"/>
              <a:gd name="T23" fmla="*/ 2147483647 h 59"/>
              <a:gd name="T24" fmla="*/ 2147483647 w 384"/>
              <a:gd name="T25" fmla="*/ 2147483647 h 59"/>
              <a:gd name="T26" fmla="*/ 0 w 384"/>
              <a:gd name="T27" fmla="*/ 2147483647 h 59"/>
              <a:gd name="T28" fmla="*/ 0 w 384"/>
              <a:gd name="T29" fmla="*/ 2147483647 h 59"/>
              <a:gd name="T30" fmla="*/ 0 w 384"/>
              <a:gd name="T31" fmla="*/ 2147483647 h 59"/>
              <a:gd name="T32" fmla="*/ 2147483647 w 384"/>
              <a:gd name="T33" fmla="*/ 2147483647 h 59"/>
              <a:gd name="T34" fmla="*/ 2147483647 w 384"/>
              <a:gd name="T35" fmla="*/ 2147483647 h 59"/>
              <a:gd name="T36" fmla="*/ 2147483647 w 384"/>
              <a:gd name="T37" fmla="*/ 2147483647 h 59"/>
              <a:gd name="T38" fmla="*/ 2147483647 w 384"/>
              <a:gd name="T39" fmla="*/ 2147483647 h 59"/>
              <a:gd name="T40" fmla="*/ 2147483647 w 384"/>
              <a:gd name="T41" fmla="*/ 0 h 59"/>
              <a:gd name="T42" fmla="*/ 2147483647 w 384"/>
              <a:gd name="T43" fmla="*/ 2147483647 h 59"/>
              <a:gd name="T44" fmla="*/ 2147483647 w 384"/>
              <a:gd name="T45" fmla="*/ 2147483647 h 59"/>
              <a:gd name="T46" fmla="*/ 2147483647 w 384"/>
              <a:gd name="T47" fmla="*/ 0 h 59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w 384"/>
              <a:gd name="T73" fmla="*/ 0 h 59"/>
              <a:gd name="T74" fmla="*/ 384 w 384"/>
              <a:gd name="T75" fmla="*/ 59 h 59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T72" t="T73" r="T74" b="T75"/>
            <a:pathLst>
              <a:path w="384" h="59">
                <a:moveTo>
                  <a:pt x="4" y="26"/>
                </a:moveTo>
                <a:lnTo>
                  <a:pt x="335" y="26"/>
                </a:lnTo>
                <a:lnTo>
                  <a:pt x="336" y="26"/>
                </a:lnTo>
                <a:lnTo>
                  <a:pt x="337" y="27"/>
                </a:lnTo>
                <a:lnTo>
                  <a:pt x="338" y="28"/>
                </a:lnTo>
                <a:lnTo>
                  <a:pt x="338" y="30"/>
                </a:lnTo>
                <a:lnTo>
                  <a:pt x="338" y="31"/>
                </a:lnTo>
                <a:lnTo>
                  <a:pt x="337" y="32"/>
                </a:lnTo>
                <a:lnTo>
                  <a:pt x="336" y="33"/>
                </a:lnTo>
                <a:lnTo>
                  <a:pt x="335" y="33"/>
                </a:lnTo>
                <a:lnTo>
                  <a:pt x="4" y="33"/>
                </a:lnTo>
                <a:lnTo>
                  <a:pt x="2" y="33"/>
                </a:lnTo>
                <a:lnTo>
                  <a:pt x="1" y="32"/>
                </a:lnTo>
                <a:lnTo>
                  <a:pt x="0" y="31"/>
                </a:lnTo>
                <a:lnTo>
                  <a:pt x="0" y="30"/>
                </a:lnTo>
                <a:lnTo>
                  <a:pt x="0" y="27"/>
                </a:lnTo>
                <a:lnTo>
                  <a:pt x="1" y="26"/>
                </a:lnTo>
                <a:lnTo>
                  <a:pt x="2" y="26"/>
                </a:lnTo>
                <a:lnTo>
                  <a:pt x="4" y="26"/>
                </a:lnTo>
                <a:close/>
                <a:moveTo>
                  <a:pt x="326" y="0"/>
                </a:moveTo>
                <a:lnTo>
                  <a:pt x="384" y="30"/>
                </a:lnTo>
                <a:lnTo>
                  <a:pt x="326" y="59"/>
                </a:lnTo>
                <a:lnTo>
                  <a:pt x="326" y="0"/>
                </a:lnTo>
                <a:close/>
              </a:path>
            </a:pathLst>
          </a:custGeom>
          <a:solidFill>
            <a:srgbClr val="000000"/>
          </a:solidFill>
          <a:ln w="15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163866" name="Freeform 361"/>
          <p:cNvSpPr>
            <a:spLocks noEditPoints="1"/>
          </p:cNvSpPr>
          <p:nvPr/>
        </p:nvSpPr>
        <p:spPr bwMode="auto">
          <a:xfrm>
            <a:off x="4513263" y="5394325"/>
            <a:ext cx="831850" cy="93663"/>
          </a:xfrm>
          <a:custGeom>
            <a:avLst/>
            <a:gdLst>
              <a:gd name="T0" fmla="*/ 2147483647 w 671"/>
              <a:gd name="T1" fmla="*/ 2147483647 h 59"/>
              <a:gd name="T2" fmla="*/ 2147483647 w 671"/>
              <a:gd name="T3" fmla="*/ 2147483647 h 59"/>
              <a:gd name="T4" fmla="*/ 2147483647 w 671"/>
              <a:gd name="T5" fmla="*/ 2147483647 h 59"/>
              <a:gd name="T6" fmla="*/ 2147483647 w 671"/>
              <a:gd name="T7" fmla="*/ 2147483647 h 59"/>
              <a:gd name="T8" fmla="*/ 2147483647 w 671"/>
              <a:gd name="T9" fmla="*/ 2147483647 h 59"/>
              <a:gd name="T10" fmla="*/ 2147483647 w 671"/>
              <a:gd name="T11" fmla="*/ 2147483647 h 59"/>
              <a:gd name="T12" fmla="*/ 2147483647 w 671"/>
              <a:gd name="T13" fmla="*/ 2147483647 h 59"/>
              <a:gd name="T14" fmla="*/ 2147483647 w 671"/>
              <a:gd name="T15" fmla="*/ 2147483647 h 59"/>
              <a:gd name="T16" fmla="*/ 2147483647 w 671"/>
              <a:gd name="T17" fmla="*/ 2147483647 h 59"/>
              <a:gd name="T18" fmla="*/ 2147483647 w 671"/>
              <a:gd name="T19" fmla="*/ 2147483647 h 59"/>
              <a:gd name="T20" fmla="*/ 2147483647 w 671"/>
              <a:gd name="T21" fmla="*/ 2147483647 h 59"/>
              <a:gd name="T22" fmla="*/ 2147483647 w 671"/>
              <a:gd name="T23" fmla="*/ 2147483647 h 59"/>
              <a:gd name="T24" fmla="*/ 2147483647 w 671"/>
              <a:gd name="T25" fmla="*/ 2147483647 h 59"/>
              <a:gd name="T26" fmla="*/ 2147483647 w 671"/>
              <a:gd name="T27" fmla="*/ 2147483647 h 59"/>
              <a:gd name="T28" fmla="*/ 2147483647 w 671"/>
              <a:gd name="T29" fmla="*/ 2147483647 h 59"/>
              <a:gd name="T30" fmla="*/ 2147483647 w 671"/>
              <a:gd name="T31" fmla="*/ 2147483647 h 59"/>
              <a:gd name="T32" fmla="*/ 2147483647 w 671"/>
              <a:gd name="T33" fmla="*/ 2147483647 h 59"/>
              <a:gd name="T34" fmla="*/ 2147483647 w 671"/>
              <a:gd name="T35" fmla="*/ 2147483647 h 59"/>
              <a:gd name="T36" fmla="*/ 2147483647 w 671"/>
              <a:gd name="T37" fmla="*/ 2147483647 h 59"/>
              <a:gd name="T38" fmla="*/ 2147483647 w 671"/>
              <a:gd name="T39" fmla="*/ 2147483647 h 59"/>
              <a:gd name="T40" fmla="*/ 2147483647 w 671"/>
              <a:gd name="T41" fmla="*/ 2147483647 h 59"/>
              <a:gd name="T42" fmla="*/ 0 w 671"/>
              <a:gd name="T43" fmla="*/ 2147483647 h 59"/>
              <a:gd name="T44" fmla="*/ 2147483647 w 671"/>
              <a:gd name="T45" fmla="*/ 0 h 59"/>
              <a:gd name="T46" fmla="*/ 2147483647 w 671"/>
              <a:gd name="T47" fmla="*/ 2147483647 h 59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w 671"/>
              <a:gd name="T73" fmla="*/ 0 h 59"/>
              <a:gd name="T74" fmla="*/ 671 w 671"/>
              <a:gd name="T75" fmla="*/ 59 h 59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T72" t="T73" r="T74" b="T75"/>
            <a:pathLst>
              <a:path w="671" h="59">
                <a:moveTo>
                  <a:pt x="668" y="33"/>
                </a:moveTo>
                <a:lnTo>
                  <a:pt x="49" y="33"/>
                </a:lnTo>
                <a:lnTo>
                  <a:pt x="48" y="33"/>
                </a:lnTo>
                <a:lnTo>
                  <a:pt x="47" y="32"/>
                </a:lnTo>
                <a:lnTo>
                  <a:pt x="45" y="31"/>
                </a:lnTo>
                <a:lnTo>
                  <a:pt x="45" y="30"/>
                </a:lnTo>
                <a:lnTo>
                  <a:pt x="45" y="28"/>
                </a:lnTo>
                <a:lnTo>
                  <a:pt x="47" y="27"/>
                </a:lnTo>
                <a:lnTo>
                  <a:pt x="48" y="26"/>
                </a:lnTo>
                <a:lnTo>
                  <a:pt x="49" y="26"/>
                </a:lnTo>
                <a:lnTo>
                  <a:pt x="668" y="26"/>
                </a:lnTo>
                <a:lnTo>
                  <a:pt x="669" y="26"/>
                </a:lnTo>
                <a:lnTo>
                  <a:pt x="670" y="26"/>
                </a:lnTo>
                <a:lnTo>
                  <a:pt x="671" y="27"/>
                </a:lnTo>
                <a:lnTo>
                  <a:pt x="671" y="30"/>
                </a:lnTo>
                <a:lnTo>
                  <a:pt x="671" y="31"/>
                </a:lnTo>
                <a:lnTo>
                  <a:pt x="670" y="32"/>
                </a:lnTo>
                <a:lnTo>
                  <a:pt x="669" y="33"/>
                </a:lnTo>
                <a:lnTo>
                  <a:pt x="668" y="33"/>
                </a:lnTo>
                <a:close/>
                <a:moveTo>
                  <a:pt x="58" y="59"/>
                </a:moveTo>
                <a:lnTo>
                  <a:pt x="0" y="30"/>
                </a:lnTo>
                <a:lnTo>
                  <a:pt x="58" y="0"/>
                </a:lnTo>
                <a:lnTo>
                  <a:pt x="58" y="59"/>
                </a:lnTo>
                <a:close/>
              </a:path>
            </a:pathLst>
          </a:custGeom>
          <a:solidFill>
            <a:srgbClr val="000000"/>
          </a:solidFill>
          <a:ln w="15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163867" name="Text Box 365"/>
          <p:cNvSpPr txBox="1">
            <a:spLocks noChangeArrowheads="1"/>
          </p:cNvSpPr>
          <p:nvPr/>
        </p:nvSpPr>
        <p:spPr bwMode="auto">
          <a:xfrm>
            <a:off x="1971675" y="5113338"/>
            <a:ext cx="150653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1800" dirty="0">
                <a:latin typeface="Arial" charset="0"/>
                <a:cs typeface="Arial" charset="0"/>
              </a:rPr>
              <a:t>administered</a:t>
            </a:r>
          </a:p>
          <a:p>
            <a:pPr algn="ctr"/>
            <a:r>
              <a:rPr lang="en-US" sz="1800" dirty="0">
                <a:latin typeface="Arial" charset="0"/>
                <a:cs typeface="Arial" charset="0"/>
              </a:rPr>
              <a:t>network</a:t>
            </a:r>
          </a:p>
        </p:txBody>
      </p:sp>
      <p:sp>
        <p:nvSpPr>
          <p:cNvPr id="163868" name="Text Box 366"/>
          <p:cNvSpPr txBox="1">
            <a:spLocks noChangeArrowheads="1"/>
          </p:cNvSpPr>
          <p:nvPr/>
        </p:nvSpPr>
        <p:spPr bwMode="auto">
          <a:xfrm>
            <a:off x="5216525" y="5108575"/>
            <a:ext cx="10033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1800" dirty="0">
                <a:latin typeface="Arial" charset="0"/>
                <a:cs typeface="Arial" charset="0"/>
              </a:rPr>
              <a:t>public</a:t>
            </a:r>
          </a:p>
          <a:p>
            <a:pPr algn="ctr"/>
            <a:r>
              <a:rPr lang="en-US" sz="1800" dirty="0">
                <a:latin typeface="Arial" charset="0"/>
                <a:cs typeface="Arial" charset="0"/>
              </a:rPr>
              <a:t>Inter</a:t>
            </a:r>
            <a:r>
              <a:rPr lang="en-US" sz="1800" dirty="0"/>
              <a:t>net</a:t>
            </a:r>
          </a:p>
        </p:txBody>
      </p:sp>
      <p:sp>
        <p:nvSpPr>
          <p:cNvPr id="163869" name="Text Box 367"/>
          <p:cNvSpPr txBox="1">
            <a:spLocks noChangeArrowheads="1"/>
          </p:cNvSpPr>
          <p:nvPr/>
        </p:nvSpPr>
        <p:spPr bwMode="auto">
          <a:xfrm>
            <a:off x="3844925" y="5948363"/>
            <a:ext cx="12192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2400" i="1" dirty="0">
                <a:solidFill>
                  <a:srgbClr val="000099"/>
                </a:solidFill>
                <a:latin typeface="Arial" charset="0"/>
                <a:cs typeface="Arial" charset="0"/>
              </a:rPr>
              <a:t>firewall</a:t>
            </a:r>
          </a:p>
        </p:txBody>
      </p:sp>
      <p:pic>
        <p:nvPicPr>
          <p:cNvPr id="163870" name="Picture 24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030288"/>
            <a:ext cx="2170113" cy="17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3871" name="Group 332"/>
          <p:cNvGrpSpPr>
            <a:grpSpLocks/>
          </p:cNvGrpSpPr>
          <p:nvPr/>
        </p:nvGrpSpPr>
        <p:grpSpPr bwMode="auto">
          <a:xfrm>
            <a:off x="3749675" y="3932238"/>
            <a:ext cx="765175" cy="376237"/>
            <a:chOff x="2356" y="1300"/>
            <a:chExt cx="555" cy="194"/>
          </a:xfrm>
        </p:grpSpPr>
        <p:sp>
          <p:nvSpPr>
            <p:cNvPr id="163965" name="Oval 407"/>
            <p:cNvSpPr>
              <a:spLocks noChangeArrowheads="1"/>
            </p:cNvSpPr>
            <p:nvPr/>
          </p:nvSpPr>
          <p:spPr bwMode="auto">
            <a:xfrm>
              <a:off x="2357" y="1385"/>
              <a:ext cx="551" cy="109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 dirty="0">
                <a:latin typeface="Times New Roman" charset="0"/>
              </a:endParaRPr>
            </a:p>
          </p:txBody>
        </p:sp>
        <p:sp>
          <p:nvSpPr>
            <p:cNvPr id="163966" name="Rectangle 410"/>
            <p:cNvSpPr>
              <a:spLocks noChangeArrowheads="1"/>
            </p:cNvSpPr>
            <p:nvPr/>
          </p:nvSpPr>
          <p:spPr bwMode="auto">
            <a:xfrm>
              <a:off x="2357" y="1374"/>
              <a:ext cx="554" cy="66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 dirty="0">
                <a:latin typeface="Times New Roman" charset="0"/>
              </a:endParaRPr>
            </a:p>
          </p:txBody>
        </p:sp>
        <p:sp>
          <p:nvSpPr>
            <p:cNvPr id="163967" name="Oval 411"/>
            <p:cNvSpPr>
              <a:spLocks noChangeArrowheads="1"/>
            </p:cNvSpPr>
            <p:nvPr/>
          </p:nvSpPr>
          <p:spPr bwMode="auto">
            <a:xfrm>
              <a:off x="2356" y="1300"/>
              <a:ext cx="551" cy="127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 dirty="0">
                <a:latin typeface="Times New Roman" charset="0"/>
              </a:endParaRPr>
            </a:p>
          </p:txBody>
        </p:sp>
        <p:grpSp>
          <p:nvGrpSpPr>
            <p:cNvPr id="163968" name="Group 329"/>
            <p:cNvGrpSpPr>
              <a:grpSpLocks/>
            </p:cNvGrpSpPr>
            <p:nvPr/>
          </p:nvGrpSpPr>
          <p:grpSpPr bwMode="auto"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163971" name="Freeform 326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63972" name="Freeform 327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424" name="Line 330"/>
            <p:cNvSpPr>
              <a:spLocks noChangeShapeType="1"/>
            </p:cNvSpPr>
            <p:nvPr/>
          </p:nvSpPr>
          <p:spPr bwMode="auto">
            <a:xfrm>
              <a:off x="2357" y="1361"/>
              <a:ext cx="0" cy="8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Arial" charset="0"/>
              </a:endParaRPr>
            </a:p>
          </p:txBody>
        </p:sp>
        <p:sp>
          <p:nvSpPr>
            <p:cNvPr id="425" name="Line 331"/>
            <p:cNvSpPr>
              <a:spLocks noChangeShapeType="1"/>
            </p:cNvSpPr>
            <p:nvPr/>
          </p:nvSpPr>
          <p:spPr bwMode="auto">
            <a:xfrm>
              <a:off x="2908" y="1363"/>
              <a:ext cx="0" cy="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Arial" charset="0"/>
              </a:endParaRPr>
            </a:p>
          </p:txBody>
        </p:sp>
      </p:grpSp>
      <p:grpSp>
        <p:nvGrpSpPr>
          <p:cNvPr id="163872" name="Group 906"/>
          <p:cNvGrpSpPr>
            <a:grpSpLocks/>
          </p:cNvGrpSpPr>
          <p:nvPr/>
        </p:nvGrpSpPr>
        <p:grpSpPr bwMode="auto">
          <a:xfrm>
            <a:off x="3968750" y="3448050"/>
            <a:ext cx="296863" cy="541338"/>
            <a:chOff x="4140" y="429"/>
            <a:chExt cx="1425" cy="2396"/>
          </a:xfrm>
        </p:grpSpPr>
        <p:sp>
          <p:nvSpPr>
            <p:cNvPr id="163933" name="Freeform 907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1 w 354"/>
                <a:gd name="T1" fmla="*/ 0 h 2742"/>
                <a:gd name="T2" fmla="*/ 116 w 354"/>
                <a:gd name="T3" fmla="*/ 137 h 2742"/>
                <a:gd name="T4" fmla="*/ 114 w 354"/>
                <a:gd name="T5" fmla="*/ 1057 h 2742"/>
                <a:gd name="T6" fmla="*/ 0 w 354"/>
                <a:gd name="T7" fmla="*/ 1105 h 2742"/>
                <a:gd name="T8" fmla="*/ 21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87" name="Rectangle 908"/>
            <p:cNvSpPr>
              <a:spLocks noChangeArrowheads="1"/>
            </p:cNvSpPr>
            <p:nvPr/>
          </p:nvSpPr>
          <p:spPr bwMode="auto">
            <a:xfrm>
              <a:off x="4209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63935" name="Freeform 909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0 w 211"/>
                <a:gd name="T3" fmla="*/ 88 h 2537"/>
                <a:gd name="T4" fmla="*/ 2 w 211"/>
                <a:gd name="T5" fmla="*/ 1007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3936" name="Freeform 910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2 h 226"/>
                <a:gd name="T4" fmla="*/ 108 w 328"/>
                <a:gd name="T5" fmla="*/ 92 h 226"/>
                <a:gd name="T6" fmla="*/ 0 w 328"/>
                <a:gd name="T7" fmla="*/ 4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90" name="Rectangle 911"/>
            <p:cNvSpPr>
              <a:spLocks noChangeArrowheads="1"/>
            </p:cNvSpPr>
            <p:nvPr/>
          </p:nvSpPr>
          <p:spPr bwMode="auto">
            <a:xfrm>
              <a:off x="4216" y="689"/>
              <a:ext cx="587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grpSp>
          <p:nvGrpSpPr>
            <p:cNvPr id="163938" name="Group 912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16" name="AutoShape 913"/>
              <p:cNvSpPr>
                <a:spLocks noChangeArrowheads="1"/>
              </p:cNvSpPr>
              <p:nvPr/>
            </p:nvSpPr>
            <p:spPr bwMode="auto">
              <a:xfrm>
                <a:off x="615" y="2568"/>
                <a:ext cx="723" cy="12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417" name="AutoShape 914"/>
              <p:cNvSpPr>
                <a:spLocks noChangeArrowheads="1"/>
              </p:cNvSpPr>
              <p:nvPr/>
            </p:nvSpPr>
            <p:spPr bwMode="auto">
              <a:xfrm>
                <a:off x="634" y="2581"/>
                <a:ext cx="694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392" name="Rectangle 915"/>
            <p:cNvSpPr>
              <a:spLocks noChangeArrowheads="1"/>
            </p:cNvSpPr>
            <p:nvPr/>
          </p:nvSpPr>
          <p:spPr bwMode="auto">
            <a:xfrm>
              <a:off x="4224" y="1019"/>
              <a:ext cx="594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grpSp>
          <p:nvGrpSpPr>
            <p:cNvPr id="163940" name="Group 916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14" name="AutoShape 917"/>
              <p:cNvSpPr>
                <a:spLocks noChangeArrowheads="1"/>
              </p:cNvSpPr>
              <p:nvPr/>
            </p:nvSpPr>
            <p:spPr bwMode="auto">
              <a:xfrm>
                <a:off x="617" y="2565"/>
                <a:ext cx="723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415" name="AutoShape 918"/>
              <p:cNvSpPr>
                <a:spLocks noChangeArrowheads="1"/>
              </p:cNvSpPr>
              <p:nvPr/>
            </p:nvSpPr>
            <p:spPr bwMode="auto">
              <a:xfrm>
                <a:off x="627" y="2580"/>
                <a:ext cx="704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394" name="Rectangle 919"/>
            <p:cNvSpPr>
              <a:spLocks noChangeArrowheads="1"/>
            </p:cNvSpPr>
            <p:nvPr/>
          </p:nvSpPr>
          <p:spPr bwMode="auto">
            <a:xfrm>
              <a:off x="4216" y="1364"/>
              <a:ext cx="594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395" name="Rectangle 920"/>
            <p:cNvSpPr>
              <a:spLocks noChangeArrowheads="1"/>
            </p:cNvSpPr>
            <p:nvPr/>
          </p:nvSpPr>
          <p:spPr bwMode="auto">
            <a:xfrm>
              <a:off x="4224" y="1659"/>
              <a:ext cx="602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grpSp>
          <p:nvGrpSpPr>
            <p:cNvPr id="163943" name="Group 921"/>
            <p:cNvGrpSpPr>
              <a:grpSpLocks/>
            </p:cNvGrpSpPr>
            <p:nvPr/>
          </p:nvGrpSpPr>
          <p:grpSpPr bwMode="auto">
            <a:xfrm>
              <a:off x="4733" y="1630"/>
              <a:ext cx="586" cy="151"/>
              <a:chOff x="611" y="2571"/>
              <a:chExt cx="730" cy="139"/>
            </a:xfrm>
          </p:grpSpPr>
          <p:sp>
            <p:nvSpPr>
              <p:cNvPr id="412" name="AutoShape 922"/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1" cy="136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413" name="AutoShape 923"/>
              <p:cNvSpPr>
                <a:spLocks noChangeArrowheads="1"/>
              </p:cNvSpPr>
              <p:nvPr/>
            </p:nvSpPr>
            <p:spPr bwMode="auto">
              <a:xfrm>
                <a:off x="632" y="2591"/>
                <a:ext cx="693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163944" name="Freeform 924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1 h 226"/>
                <a:gd name="T4" fmla="*/ 108 w 328"/>
                <a:gd name="T5" fmla="*/ 90 h 226"/>
                <a:gd name="T6" fmla="*/ 0 w 328"/>
                <a:gd name="T7" fmla="*/ 3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163945" name="Group 925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10" name="AutoShape 926"/>
              <p:cNvSpPr>
                <a:spLocks noChangeArrowheads="1"/>
              </p:cNvSpPr>
              <p:nvPr/>
            </p:nvSpPr>
            <p:spPr bwMode="auto">
              <a:xfrm>
                <a:off x="618" y="2569"/>
                <a:ext cx="712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411" name="AutoShape 927"/>
              <p:cNvSpPr>
                <a:spLocks noChangeArrowheads="1"/>
              </p:cNvSpPr>
              <p:nvPr/>
            </p:nvSpPr>
            <p:spPr bwMode="auto">
              <a:xfrm>
                <a:off x="637" y="2583"/>
                <a:ext cx="683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399" name="Rectangle 928"/>
            <p:cNvSpPr>
              <a:spLocks noChangeArrowheads="1"/>
            </p:cNvSpPr>
            <p:nvPr/>
          </p:nvSpPr>
          <p:spPr bwMode="auto">
            <a:xfrm>
              <a:off x="5253" y="429"/>
              <a:ext cx="69" cy="2291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63947" name="Freeform 929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6 w 296"/>
                <a:gd name="T3" fmla="*/ 57 h 256"/>
                <a:gd name="T4" fmla="*/ 98 w 296"/>
                <a:gd name="T5" fmla="*/ 102 h 256"/>
                <a:gd name="T6" fmla="*/ 0 w 296"/>
                <a:gd name="T7" fmla="*/ 39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3948" name="Freeform 930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01 w 304"/>
                <a:gd name="T3" fmla="*/ 66 h 288"/>
                <a:gd name="T4" fmla="*/ 95 w 304"/>
                <a:gd name="T5" fmla="*/ 116 h 288"/>
                <a:gd name="T6" fmla="*/ 2 w 304"/>
                <a:gd name="T7" fmla="*/ 5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02" name="Oval 931"/>
            <p:cNvSpPr>
              <a:spLocks noChangeArrowheads="1"/>
            </p:cNvSpPr>
            <p:nvPr/>
          </p:nvSpPr>
          <p:spPr bwMode="auto">
            <a:xfrm>
              <a:off x="5519" y="2607"/>
              <a:ext cx="46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63950" name="Freeform 932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43 h 240"/>
                <a:gd name="T2" fmla="*/ 2 w 306"/>
                <a:gd name="T3" fmla="*/ 97 h 240"/>
                <a:gd name="T4" fmla="*/ 101 w 306"/>
                <a:gd name="T5" fmla="*/ 44 h 240"/>
                <a:gd name="T6" fmla="*/ 98 w 306"/>
                <a:gd name="T7" fmla="*/ 0 h 240"/>
                <a:gd name="T8" fmla="*/ 0 w 306"/>
                <a:gd name="T9" fmla="*/ 4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04" name="AutoShape 933"/>
            <p:cNvSpPr>
              <a:spLocks noChangeArrowheads="1"/>
            </p:cNvSpPr>
            <p:nvPr/>
          </p:nvSpPr>
          <p:spPr bwMode="auto">
            <a:xfrm>
              <a:off x="4140" y="2684"/>
              <a:ext cx="1196" cy="141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405" name="AutoShape 934"/>
            <p:cNvSpPr>
              <a:spLocks noChangeArrowheads="1"/>
            </p:cNvSpPr>
            <p:nvPr/>
          </p:nvSpPr>
          <p:spPr bwMode="auto">
            <a:xfrm>
              <a:off x="4209" y="2713"/>
              <a:ext cx="1067" cy="77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406" name="Oval 935"/>
            <p:cNvSpPr>
              <a:spLocks noChangeArrowheads="1"/>
            </p:cNvSpPr>
            <p:nvPr/>
          </p:nvSpPr>
          <p:spPr bwMode="auto">
            <a:xfrm>
              <a:off x="4308" y="2382"/>
              <a:ext cx="160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407" name="Oval 936"/>
            <p:cNvSpPr>
              <a:spLocks noChangeArrowheads="1"/>
            </p:cNvSpPr>
            <p:nvPr/>
          </p:nvSpPr>
          <p:spPr bwMode="auto">
            <a:xfrm>
              <a:off x="4483" y="2382"/>
              <a:ext cx="160" cy="14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en-US" dirty="0">
                <a:solidFill>
                  <a:srgbClr val="FF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408" name="Oval 937"/>
            <p:cNvSpPr>
              <a:spLocks noChangeArrowheads="1"/>
            </p:cNvSpPr>
            <p:nvPr/>
          </p:nvSpPr>
          <p:spPr bwMode="auto">
            <a:xfrm>
              <a:off x="4666" y="2382"/>
              <a:ext cx="152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409" name="Rectangle 938"/>
            <p:cNvSpPr>
              <a:spLocks noChangeArrowheads="1"/>
            </p:cNvSpPr>
            <p:nvPr/>
          </p:nvSpPr>
          <p:spPr bwMode="auto">
            <a:xfrm>
              <a:off x="5062" y="1834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</p:grpSp>
      <p:grpSp>
        <p:nvGrpSpPr>
          <p:cNvPr id="163873" name="Group 2"/>
          <p:cNvGrpSpPr>
            <a:grpSpLocks/>
          </p:cNvGrpSpPr>
          <p:nvPr/>
        </p:nvGrpSpPr>
        <p:grpSpPr bwMode="auto">
          <a:xfrm>
            <a:off x="1128713" y="3273425"/>
            <a:ext cx="2365375" cy="1590675"/>
            <a:chOff x="-2187762" y="3855945"/>
            <a:chExt cx="2365375" cy="1590114"/>
          </a:xfrm>
        </p:grpSpPr>
        <p:sp>
          <p:nvSpPr>
            <p:cNvPr id="358" name="Line 20"/>
            <p:cNvSpPr>
              <a:spLocks noChangeShapeType="1"/>
            </p:cNvSpPr>
            <p:nvPr/>
          </p:nvSpPr>
          <p:spPr bwMode="auto">
            <a:xfrm flipH="1">
              <a:off x="-1732150" y="4232050"/>
              <a:ext cx="5556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59" name="Line 21"/>
            <p:cNvSpPr>
              <a:spLocks noChangeShapeType="1"/>
            </p:cNvSpPr>
            <p:nvPr/>
          </p:nvSpPr>
          <p:spPr bwMode="auto">
            <a:xfrm flipH="1">
              <a:off x="-1344800" y="4279659"/>
              <a:ext cx="271463" cy="31421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60" name="Line 22"/>
            <p:cNvSpPr>
              <a:spLocks noChangeShapeType="1"/>
            </p:cNvSpPr>
            <p:nvPr/>
          </p:nvSpPr>
          <p:spPr bwMode="auto">
            <a:xfrm>
              <a:off x="-925700" y="4308223"/>
              <a:ext cx="73025" cy="29517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163879" name="Group 44"/>
            <p:cNvGrpSpPr>
              <a:grpSpLocks/>
            </p:cNvGrpSpPr>
            <p:nvPr/>
          </p:nvGrpSpPr>
          <p:grpSpPr bwMode="auto">
            <a:xfrm>
              <a:off x="-2187762" y="4034772"/>
              <a:ext cx="568325" cy="481012"/>
              <a:chOff x="-44" y="1473"/>
              <a:chExt cx="981" cy="1105"/>
            </a:xfrm>
          </p:grpSpPr>
          <p:pic>
            <p:nvPicPr>
              <p:cNvPr id="163931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63932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296 w 356"/>
                  <a:gd name="T3" fmla="*/ 69 h 368"/>
                  <a:gd name="T4" fmla="*/ 1537 w 356"/>
                  <a:gd name="T5" fmla="*/ 1447 h 368"/>
                  <a:gd name="T6" fmla="*/ 339 w 356"/>
                  <a:gd name="T7" fmla="*/ 181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63880" name="Group 44"/>
            <p:cNvGrpSpPr>
              <a:grpSpLocks/>
            </p:cNvGrpSpPr>
            <p:nvPr/>
          </p:nvGrpSpPr>
          <p:grpSpPr bwMode="auto">
            <a:xfrm>
              <a:off x="-1252724" y="4523722"/>
              <a:ext cx="568325" cy="481012"/>
              <a:chOff x="-44" y="1473"/>
              <a:chExt cx="981" cy="1105"/>
            </a:xfrm>
          </p:grpSpPr>
          <p:pic>
            <p:nvPicPr>
              <p:cNvPr id="163929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63930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296 w 356"/>
                  <a:gd name="T3" fmla="*/ 69 h 368"/>
                  <a:gd name="T4" fmla="*/ 1537 w 356"/>
                  <a:gd name="T5" fmla="*/ 1447 h 368"/>
                  <a:gd name="T6" fmla="*/ 339 w 356"/>
                  <a:gd name="T7" fmla="*/ 181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sp>
          <p:nvSpPr>
            <p:cNvPr id="370" name="Line 21"/>
            <p:cNvSpPr>
              <a:spLocks noChangeShapeType="1"/>
            </p:cNvSpPr>
            <p:nvPr/>
          </p:nvSpPr>
          <p:spPr bwMode="auto">
            <a:xfrm>
              <a:off x="-706625" y="4238398"/>
              <a:ext cx="377825" cy="30469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71" name="Line 22"/>
            <p:cNvSpPr>
              <a:spLocks noChangeShapeType="1"/>
            </p:cNvSpPr>
            <p:nvPr/>
          </p:nvSpPr>
          <p:spPr bwMode="auto">
            <a:xfrm flipH="1">
              <a:off x="-474850" y="4733523"/>
              <a:ext cx="120650" cy="29358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72" name="Line 22"/>
            <p:cNvSpPr>
              <a:spLocks noChangeShapeType="1"/>
            </p:cNvSpPr>
            <p:nvPr/>
          </p:nvSpPr>
          <p:spPr bwMode="auto">
            <a:xfrm>
              <a:off x="-70037" y="4744631"/>
              <a:ext cx="73025" cy="29517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73" name="Line 20"/>
            <p:cNvSpPr>
              <a:spLocks noChangeShapeType="1"/>
            </p:cNvSpPr>
            <p:nvPr/>
          </p:nvSpPr>
          <p:spPr bwMode="auto">
            <a:xfrm flipH="1">
              <a:off x="-873312" y="4192376"/>
              <a:ext cx="5556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163885" name="Group 44"/>
            <p:cNvGrpSpPr>
              <a:grpSpLocks/>
            </p:cNvGrpSpPr>
            <p:nvPr/>
          </p:nvGrpSpPr>
          <p:grpSpPr bwMode="auto">
            <a:xfrm>
              <a:off x="-847912" y="4896784"/>
              <a:ext cx="568325" cy="481013"/>
              <a:chOff x="-44" y="1473"/>
              <a:chExt cx="981" cy="1105"/>
            </a:xfrm>
          </p:grpSpPr>
          <p:pic>
            <p:nvPicPr>
              <p:cNvPr id="163927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63928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296 w 356"/>
                  <a:gd name="T3" fmla="*/ 69 h 368"/>
                  <a:gd name="T4" fmla="*/ 1537 w 356"/>
                  <a:gd name="T5" fmla="*/ 1447 h 368"/>
                  <a:gd name="T6" fmla="*/ 339 w 356"/>
                  <a:gd name="T7" fmla="*/ 181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63886" name="Group 44"/>
            <p:cNvGrpSpPr>
              <a:grpSpLocks/>
            </p:cNvGrpSpPr>
            <p:nvPr/>
          </p:nvGrpSpPr>
          <p:grpSpPr bwMode="auto">
            <a:xfrm>
              <a:off x="-390712" y="4965047"/>
              <a:ext cx="568325" cy="481012"/>
              <a:chOff x="-44" y="1473"/>
              <a:chExt cx="981" cy="1105"/>
            </a:xfrm>
          </p:grpSpPr>
          <p:pic>
            <p:nvPicPr>
              <p:cNvPr id="163925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63926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296 w 356"/>
                  <a:gd name="T3" fmla="*/ 69 h 368"/>
                  <a:gd name="T4" fmla="*/ 1537 w 356"/>
                  <a:gd name="T5" fmla="*/ 1447 h 368"/>
                  <a:gd name="T6" fmla="*/ 339 w 356"/>
                  <a:gd name="T7" fmla="*/ 181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pic>
          <p:nvPicPr>
            <p:cNvPr id="380" name="Picture 3"/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300350" y="4079704"/>
              <a:ext cx="677863" cy="3015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pic>
          <p:nvPicPr>
            <p:cNvPr id="381" name="Picture 3"/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549462" y="4495482"/>
              <a:ext cx="677862" cy="3015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grpSp>
          <p:nvGrpSpPr>
            <p:cNvPr id="163889" name="Group 44"/>
            <p:cNvGrpSpPr>
              <a:grpSpLocks/>
            </p:cNvGrpSpPr>
            <p:nvPr/>
          </p:nvGrpSpPr>
          <p:grpSpPr bwMode="auto">
            <a:xfrm>
              <a:off x="-568325" y="3855945"/>
              <a:ext cx="568325" cy="481013"/>
              <a:chOff x="-44" y="1473"/>
              <a:chExt cx="981" cy="1105"/>
            </a:xfrm>
          </p:grpSpPr>
          <p:pic>
            <p:nvPicPr>
              <p:cNvPr id="163923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63924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296 w 356"/>
                  <a:gd name="T3" fmla="*/ 69 h 368"/>
                  <a:gd name="T4" fmla="*/ 1537 w 356"/>
                  <a:gd name="T5" fmla="*/ 1447 h 368"/>
                  <a:gd name="T6" fmla="*/ 339 w 356"/>
                  <a:gd name="T7" fmla="*/ 181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63890" name="Group 906"/>
            <p:cNvGrpSpPr>
              <a:grpSpLocks/>
            </p:cNvGrpSpPr>
            <p:nvPr/>
          </p:nvGrpSpPr>
          <p:grpSpPr bwMode="auto">
            <a:xfrm>
              <a:off x="-1598706" y="4467413"/>
              <a:ext cx="285924" cy="537882"/>
              <a:chOff x="4140" y="429"/>
              <a:chExt cx="1425" cy="2396"/>
            </a:xfrm>
          </p:grpSpPr>
          <p:sp>
            <p:nvSpPr>
              <p:cNvPr id="163891" name="Freeform 907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1 w 354"/>
                  <a:gd name="T1" fmla="*/ 0 h 2742"/>
                  <a:gd name="T2" fmla="*/ 116 w 354"/>
                  <a:gd name="T3" fmla="*/ 137 h 2742"/>
                  <a:gd name="T4" fmla="*/ 114 w 354"/>
                  <a:gd name="T5" fmla="*/ 1057 h 2742"/>
                  <a:gd name="T6" fmla="*/ 0 w 354"/>
                  <a:gd name="T7" fmla="*/ 1105 h 2742"/>
                  <a:gd name="T8" fmla="*/ 21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31" name="Rectangle 908"/>
              <p:cNvSpPr>
                <a:spLocks noChangeArrowheads="1"/>
              </p:cNvSpPr>
              <p:nvPr/>
            </p:nvSpPr>
            <p:spPr bwMode="auto">
              <a:xfrm>
                <a:off x="4211" y="427"/>
                <a:ext cx="1036" cy="2283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163893" name="Freeform 909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70 w 211"/>
                  <a:gd name="T3" fmla="*/ 88 h 2537"/>
                  <a:gd name="T4" fmla="*/ 2 w 211"/>
                  <a:gd name="T5" fmla="*/ 1007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63894" name="Freeform 910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09 w 328"/>
                  <a:gd name="T3" fmla="*/ 52 h 226"/>
                  <a:gd name="T4" fmla="*/ 108 w 328"/>
                  <a:gd name="T5" fmla="*/ 92 h 226"/>
                  <a:gd name="T6" fmla="*/ 0 w 328"/>
                  <a:gd name="T7" fmla="*/ 41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34" name="Rectangle 911"/>
              <p:cNvSpPr>
                <a:spLocks noChangeArrowheads="1"/>
              </p:cNvSpPr>
              <p:nvPr/>
            </p:nvSpPr>
            <p:spPr bwMode="auto">
              <a:xfrm>
                <a:off x="4211" y="688"/>
                <a:ext cx="593" cy="49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grpSp>
            <p:nvGrpSpPr>
              <p:cNvPr id="163896" name="Group 912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460" name="AutoShape 913"/>
                <p:cNvSpPr>
                  <a:spLocks noChangeArrowheads="1"/>
                </p:cNvSpPr>
                <p:nvPr/>
              </p:nvSpPr>
              <p:spPr bwMode="auto">
                <a:xfrm>
                  <a:off x="614" y="2567"/>
                  <a:ext cx="721" cy="12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461" name="AutoShape 914"/>
                <p:cNvSpPr>
                  <a:spLocks noChangeArrowheads="1"/>
                </p:cNvSpPr>
                <p:nvPr/>
              </p:nvSpPr>
              <p:spPr bwMode="auto">
                <a:xfrm>
                  <a:off x="633" y="2581"/>
                  <a:ext cx="691" cy="102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</p:grpSp>
          <p:sp>
            <p:nvSpPr>
              <p:cNvPr id="436" name="Rectangle 915"/>
              <p:cNvSpPr>
                <a:spLocks noChangeArrowheads="1"/>
              </p:cNvSpPr>
              <p:nvPr/>
            </p:nvSpPr>
            <p:spPr bwMode="auto">
              <a:xfrm>
                <a:off x="4227" y="1021"/>
                <a:ext cx="593" cy="4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grpSp>
            <p:nvGrpSpPr>
              <p:cNvPr id="163898" name="Group 916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458" name="AutoShape 917"/>
                <p:cNvSpPr>
                  <a:spLocks noChangeArrowheads="1"/>
                </p:cNvSpPr>
                <p:nvPr/>
              </p:nvSpPr>
              <p:spPr bwMode="auto">
                <a:xfrm>
                  <a:off x="616" y="2566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459" name="AutoShape 918"/>
                <p:cNvSpPr>
                  <a:spLocks noChangeArrowheads="1"/>
                </p:cNvSpPr>
                <p:nvPr/>
              </p:nvSpPr>
              <p:spPr bwMode="auto">
                <a:xfrm>
                  <a:off x="626" y="2581"/>
                  <a:ext cx="701" cy="11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</p:grpSp>
          <p:sp>
            <p:nvSpPr>
              <p:cNvPr id="438" name="Rectangle 919"/>
              <p:cNvSpPr>
                <a:spLocks noChangeArrowheads="1"/>
              </p:cNvSpPr>
              <p:nvPr/>
            </p:nvSpPr>
            <p:spPr bwMode="auto">
              <a:xfrm>
                <a:off x="4211" y="1360"/>
                <a:ext cx="601" cy="4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439" name="Rectangle 920"/>
              <p:cNvSpPr>
                <a:spLocks noChangeArrowheads="1"/>
              </p:cNvSpPr>
              <p:nvPr/>
            </p:nvSpPr>
            <p:spPr bwMode="auto">
              <a:xfrm>
                <a:off x="4227" y="1657"/>
                <a:ext cx="593" cy="4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grpSp>
            <p:nvGrpSpPr>
              <p:cNvPr id="163901" name="Group 921"/>
              <p:cNvGrpSpPr>
                <a:grpSpLocks/>
              </p:cNvGrpSpPr>
              <p:nvPr/>
            </p:nvGrpSpPr>
            <p:grpSpPr bwMode="auto">
              <a:xfrm>
                <a:off x="4733" y="1630"/>
                <a:ext cx="586" cy="151"/>
                <a:chOff x="611" y="2571"/>
                <a:chExt cx="730" cy="139"/>
              </a:xfrm>
            </p:grpSpPr>
            <p:sp>
              <p:nvSpPr>
                <p:cNvPr id="456" name="AutoShape 922"/>
                <p:cNvSpPr>
                  <a:spLocks noChangeArrowheads="1"/>
                </p:cNvSpPr>
                <p:nvPr/>
              </p:nvSpPr>
              <p:spPr bwMode="auto">
                <a:xfrm>
                  <a:off x="611" y="2570"/>
                  <a:ext cx="729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457" name="AutoShape 923"/>
                <p:cNvSpPr>
                  <a:spLocks noChangeArrowheads="1"/>
                </p:cNvSpPr>
                <p:nvPr/>
              </p:nvSpPr>
              <p:spPr bwMode="auto">
                <a:xfrm>
                  <a:off x="631" y="2589"/>
                  <a:ext cx="690" cy="10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</p:grpSp>
          <p:sp>
            <p:nvSpPr>
              <p:cNvPr id="163902" name="Freeform 924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09 w 328"/>
                  <a:gd name="T3" fmla="*/ 51 h 226"/>
                  <a:gd name="T4" fmla="*/ 108 w 328"/>
                  <a:gd name="T5" fmla="*/ 90 h 226"/>
                  <a:gd name="T6" fmla="*/ 0 w 328"/>
                  <a:gd name="T7" fmla="*/ 39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grpSp>
            <p:nvGrpSpPr>
              <p:cNvPr id="163903" name="Group 925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454" name="AutoShape 926"/>
                <p:cNvSpPr>
                  <a:spLocks noChangeArrowheads="1"/>
                </p:cNvSpPr>
                <p:nvPr/>
              </p:nvSpPr>
              <p:spPr bwMode="auto">
                <a:xfrm>
                  <a:off x="616" y="2566"/>
                  <a:ext cx="710" cy="141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455" name="AutoShape 927"/>
                <p:cNvSpPr>
                  <a:spLocks noChangeArrowheads="1"/>
                </p:cNvSpPr>
                <p:nvPr/>
              </p:nvSpPr>
              <p:spPr bwMode="auto">
                <a:xfrm>
                  <a:off x="636" y="2580"/>
                  <a:ext cx="680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</p:grpSp>
          <p:sp>
            <p:nvSpPr>
              <p:cNvPr id="443" name="Rectangle 928"/>
              <p:cNvSpPr>
                <a:spLocks noChangeArrowheads="1"/>
              </p:cNvSpPr>
              <p:nvPr/>
            </p:nvSpPr>
            <p:spPr bwMode="auto">
              <a:xfrm>
                <a:off x="5247" y="427"/>
                <a:ext cx="71" cy="2290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163905" name="Freeform 929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96 w 296"/>
                  <a:gd name="T3" fmla="*/ 57 h 256"/>
                  <a:gd name="T4" fmla="*/ 98 w 296"/>
                  <a:gd name="T5" fmla="*/ 102 h 256"/>
                  <a:gd name="T6" fmla="*/ 0 w 296"/>
                  <a:gd name="T7" fmla="*/ 39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63906" name="Freeform 930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01 w 304"/>
                  <a:gd name="T3" fmla="*/ 66 h 288"/>
                  <a:gd name="T4" fmla="*/ 95 w 304"/>
                  <a:gd name="T5" fmla="*/ 116 h 288"/>
                  <a:gd name="T6" fmla="*/ 2 w 304"/>
                  <a:gd name="T7" fmla="*/ 5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6" name="Oval 931"/>
              <p:cNvSpPr>
                <a:spLocks noChangeArrowheads="1"/>
              </p:cNvSpPr>
              <p:nvPr/>
            </p:nvSpPr>
            <p:spPr bwMode="auto">
              <a:xfrm>
                <a:off x="5516" y="2604"/>
                <a:ext cx="47" cy="99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163908" name="Freeform 932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43 h 240"/>
                  <a:gd name="T2" fmla="*/ 2 w 306"/>
                  <a:gd name="T3" fmla="*/ 97 h 240"/>
                  <a:gd name="T4" fmla="*/ 101 w 306"/>
                  <a:gd name="T5" fmla="*/ 44 h 240"/>
                  <a:gd name="T6" fmla="*/ 98 w 306"/>
                  <a:gd name="T7" fmla="*/ 0 h 240"/>
                  <a:gd name="T8" fmla="*/ 0 w 306"/>
                  <a:gd name="T9" fmla="*/ 43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8" name="AutoShape 933"/>
              <p:cNvSpPr>
                <a:spLocks noChangeArrowheads="1"/>
              </p:cNvSpPr>
              <p:nvPr/>
            </p:nvSpPr>
            <p:spPr bwMode="auto">
              <a:xfrm>
                <a:off x="4140" y="2682"/>
                <a:ext cx="1195" cy="141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449" name="AutoShape 934"/>
              <p:cNvSpPr>
                <a:spLocks noChangeArrowheads="1"/>
              </p:cNvSpPr>
              <p:nvPr/>
            </p:nvSpPr>
            <p:spPr bwMode="auto">
              <a:xfrm>
                <a:off x="4211" y="2710"/>
                <a:ext cx="1060" cy="7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450" name="Oval 935"/>
              <p:cNvSpPr>
                <a:spLocks noChangeArrowheads="1"/>
              </p:cNvSpPr>
              <p:nvPr/>
            </p:nvSpPr>
            <p:spPr bwMode="auto">
              <a:xfrm>
                <a:off x="4306" y="2385"/>
                <a:ext cx="158" cy="13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451" name="Oval 936"/>
              <p:cNvSpPr>
                <a:spLocks noChangeArrowheads="1"/>
              </p:cNvSpPr>
              <p:nvPr/>
            </p:nvSpPr>
            <p:spPr bwMode="auto">
              <a:xfrm>
                <a:off x="4488" y="2385"/>
                <a:ext cx="158" cy="141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1" hangingPunct="1">
                  <a:defRPr/>
                </a:pPr>
                <a:endParaRPr lang="en-US" dirty="0">
                  <a:solidFill>
                    <a:srgbClr val="FF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452" name="Oval 937"/>
              <p:cNvSpPr>
                <a:spLocks noChangeArrowheads="1"/>
              </p:cNvSpPr>
              <p:nvPr/>
            </p:nvSpPr>
            <p:spPr bwMode="auto">
              <a:xfrm>
                <a:off x="4662" y="2378"/>
                <a:ext cx="158" cy="141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453" name="Rectangle 938"/>
              <p:cNvSpPr>
                <a:spLocks noChangeArrowheads="1"/>
              </p:cNvSpPr>
              <p:nvPr/>
            </p:nvSpPr>
            <p:spPr bwMode="auto">
              <a:xfrm>
                <a:off x="5057" y="1834"/>
                <a:ext cx="87" cy="756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</p:grpSp>
      <p:sp>
        <p:nvSpPr>
          <p:cNvPr id="163874" name="TextBox 4"/>
          <p:cNvSpPr txBox="1">
            <a:spLocks noChangeArrowheads="1"/>
          </p:cNvSpPr>
          <p:nvPr/>
        </p:nvSpPr>
        <p:spPr bwMode="auto">
          <a:xfrm>
            <a:off x="1463675" y="5648325"/>
            <a:ext cx="24447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2400" i="1" dirty="0">
                <a:solidFill>
                  <a:srgbClr val="CC0000"/>
                </a:solidFill>
                <a:latin typeface="Gill Sans MT" charset="0"/>
                <a:cs typeface="Gill Sans MT" charset="0"/>
              </a:rPr>
              <a:t>trusted “good guys” </a:t>
            </a:r>
          </a:p>
        </p:txBody>
      </p:sp>
      <p:sp>
        <p:nvSpPr>
          <p:cNvPr id="163875" name="TextBox 464"/>
          <p:cNvSpPr txBox="1">
            <a:spLocks noChangeArrowheads="1"/>
          </p:cNvSpPr>
          <p:nvPr/>
        </p:nvSpPr>
        <p:spPr bwMode="auto">
          <a:xfrm>
            <a:off x="5038725" y="5680075"/>
            <a:ext cx="26177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2400" i="1" dirty="0">
                <a:solidFill>
                  <a:srgbClr val="CC0000"/>
                </a:solidFill>
                <a:latin typeface="Gill Sans MT" charset="0"/>
                <a:cs typeface="Gill Sans MT" charset="0"/>
              </a:rPr>
              <a:t>untrusted “bad guys” </a:t>
            </a:r>
          </a:p>
        </p:txBody>
      </p:sp>
      <p:sp>
        <p:nvSpPr>
          <p:cNvPr id="247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53</a:t>
            </a:fld>
            <a:endParaRPr lang="en-US" sz="1200" dirty="0">
              <a:latin typeface="Tahoma" charset="0"/>
            </a:endParaRPr>
          </a:p>
        </p:txBody>
      </p:sp>
      <p:sp>
        <p:nvSpPr>
          <p:cNvPr id="248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212361667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3"/>
          <p:cNvSpPr>
            <a:spLocks noGrp="1" noChangeArrowheads="1"/>
          </p:cNvSpPr>
          <p:nvPr>
            <p:ph type="title"/>
          </p:nvPr>
        </p:nvSpPr>
        <p:spPr>
          <a:xfrm>
            <a:off x="474663" y="180975"/>
            <a:ext cx="7772400" cy="1143000"/>
          </a:xfrm>
        </p:spPr>
        <p:txBody>
          <a:bodyPr/>
          <a:lstStyle/>
          <a:p>
            <a:r>
              <a:rPr lang="en-US" dirty="0">
                <a:latin typeface="Gill Sans MT" charset="0"/>
              </a:rPr>
              <a:t>Firewalls: why</a:t>
            </a:r>
          </a:p>
        </p:txBody>
      </p:sp>
      <p:sp>
        <p:nvSpPr>
          <p:cNvPr id="121860" name="Rectangle 6"/>
          <p:cNvSpPr>
            <a:spLocks noChangeArrowheads="1"/>
          </p:cNvSpPr>
          <p:nvPr/>
        </p:nvSpPr>
        <p:spPr bwMode="auto">
          <a:xfrm>
            <a:off x="363538" y="1357313"/>
            <a:ext cx="8421687" cy="459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5000"/>
              <a:buFont typeface="ZapfDingbats" charset="0"/>
              <a:buNone/>
              <a:defRPr/>
            </a:pPr>
            <a:r>
              <a:rPr lang="en-US" sz="2400" dirty="0">
                <a:solidFill>
                  <a:srgbClr val="000099"/>
                </a:solidFill>
                <a:latin typeface="Gill Sans MT"/>
                <a:cs typeface="Gill Sans MT"/>
              </a:rPr>
              <a:t>prevent denial of service attacks:</a:t>
            </a:r>
          </a:p>
          <a:p>
            <a:pPr marL="800100" lvl="1" indent="-342900"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400" dirty="0">
                <a:latin typeface="Gill Sans MT"/>
                <a:cs typeface="Gill Sans MT"/>
              </a:rPr>
              <a:t>SYN flooding: attacker establishes many bogus TCP connections, no resources left for </a:t>
            </a:r>
            <a:r>
              <a:rPr lang="ja-JP" altLang="en-US" sz="2400" dirty="0">
                <a:latin typeface="Gill Sans MT"/>
                <a:cs typeface="Gill Sans MT"/>
              </a:rPr>
              <a:t>“</a:t>
            </a:r>
            <a:r>
              <a:rPr lang="en-US" sz="2400" dirty="0">
                <a:latin typeface="Gill Sans MT"/>
                <a:cs typeface="Gill Sans MT"/>
              </a:rPr>
              <a:t>real</a:t>
            </a:r>
            <a:r>
              <a:rPr lang="ja-JP" altLang="en-US" sz="2400" dirty="0">
                <a:latin typeface="Gill Sans MT"/>
                <a:cs typeface="Gill Sans MT"/>
              </a:rPr>
              <a:t>”</a:t>
            </a:r>
            <a:r>
              <a:rPr lang="en-US" sz="2400" dirty="0">
                <a:latin typeface="Gill Sans MT"/>
                <a:cs typeface="Gill Sans MT"/>
              </a:rPr>
              <a:t> connections</a:t>
            </a:r>
          </a:p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5000"/>
              <a:buFont typeface="ZapfDingbats" charset="0"/>
              <a:buNone/>
              <a:defRPr/>
            </a:pPr>
            <a:r>
              <a:rPr lang="en-US" sz="2400" dirty="0">
                <a:solidFill>
                  <a:srgbClr val="000099"/>
                </a:solidFill>
                <a:latin typeface="Gill Sans MT"/>
                <a:cs typeface="Gill Sans MT"/>
              </a:rPr>
              <a:t>prevent illegal modification/access of internal data</a:t>
            </a:r>
          </a:p>
          <a:p>
            <a:pPr marL="800100" lvl="1" indent="-342900">
              <a:spcBef>
                <a:spcPct val="20000"/>
              </a:spcBef>
              <a:buClr>
                <a:srgbClr val="000090"/>
              </a:buClr>
              <a:buSzPct val="100000"/>
              <a:buFont typeface="Wingdings" charset="2"/>
              <a:buChar char="§"/>
              <a:defRPr/>
            </a:pPr>
            <a:r>
              <a:rPr lang="en-US" sz="2400" dirty="0">
                <a:latin typeface="Gill Sans MT"/>
                <a:cs typeface="Gill Sans MT"/>
              </a:rPr>
              <a:t>e.g., attacker replaces CIA</a:t>
            </a:r>
            <a:r>
              <a:rPr lang="ja-JP" altLang="en-US" sz="2400" dirty="0">
                <a:latin typeface="Gill Sans MT"/>
                <a:cs typeface="Gill Sans MT"/>
              </a:rPr>
              <a:t>’</a:t>
            </a:r>
            <a:r>
              <a:rPr lang="en-US" sz="2400" dirty="0">
                <a:latin typeface="Gill Sans MT"/>
                <a:cs typeface="Gill Sans MT"/>
              </a:rPr>
              <a:t>s homepage with something else</a:t>
            </a:r>
          </a:p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5000"/>
              <a:buFont typeface="ZapfDingbats" charset="0"/>
              <a:buNone/>
              <a:defRPr/>
            </a:pPr>
            <a:r>
              <a:rPr lang="en-US" sz="2400" dirty="0">
                <a:solidFill>
                  <a:srgbClr val="000099"/>
                </a:solidFill>
                <a:latin typeface="Gill Sans MT"/>
                <a:cs typeface="Gill Sans MT"/>
              </a:rPr>
              <a:t>allow only authorized access to inside network</a:t>
            </a:r>
          </a:p>
          <a:p>
            <a:pPr marL="800100" lvl="1" indent="-342900">
              <a:spcBef>
                <a:spcPct val="20000"/>
              </a:spcBef>
              <a:buClr>
                <a:srgbClr val="000090"/>
              </a:buClr>
              <a:buSzPct val="100000"/>
              <a:buFont typeface="Wingdings" charset="2"/>
              <a:buChar char="§"/>
              <a:defRPr/>
            </a:pPr>
            <a:r>
              <a:rPr lang="en-US" sz="2400" dirty="0">
                <a:latin typeface="Gill Sans MT"/>
                <a:cs typeface="Gill Sans MT"/>
              </a:rPr>
              <a:t> set of authenticated users/hosts</a:t>
            </a:r>
          </a:p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5000"/>
              <a:buFont typeface="ZapfDingbats" charset="0"/>
              <a:buNone/>
              <a:defRPr/>
            </a:pPr>
            <a:r>
              <a:rPr lang="en-US" sz="2400" dirty="0">
                <a:solidFill>
                  <a:srgbClr val="000099"/>
                </a:solidFill>
                <a:latin typeface="Gill Sans MT"/>
                <a:cs typeface="Gill Sans MT"/>
              </a:rPr>
              <a:t>three types of firewalls:</a:t>
            </a:r>
          </a:p>
          <a:p>
            <a:pPr marL="800100" lvl="1" indent="-342900">
              <a:spcBef>
                <a:spcPct val="20000"/>
              </a:spcBef>
              <a:buClr>
                <a:srgbClr val="000090"/>
              </a:buClr>
              <a:buSzPct val="100000"/>
              <a:buFont typeface="Wingdings" charset="2"/>
              <a:buChar char="§"/>
              <a:defRPr/>
            </a:pPr>
            <a:r>
              <a:rPr lang="en-US" sz="2400" dirty="0">
                <a:latin typeface="Gill Sans MT"/>
                <a:cs typeface="Gill Sans MT"/>
              </a:rPr>
              <a:t>stateless packet filters</a:t>
            </a:r>
          </a:p>
          <a:p>
            <a:pPr marL="800100" lvl="1" indent="-342900">
              <a:spcBef>
                <a:spcPct val="20000"/>
              </a:spcBef>
              <a:buClr>
                <a:srgbClr val="000090"/>
              </a:buClr>
              <a:buSzPct val="100000"/>
              <a:buFont typeface="Wingdings" charset="2"/>
              <a:buChar char="§"/>
              <a:defRPr/>
            </a:pPr>
            <a:r>
              <a:rPr lang="en-US" sz="2400" dirty="0">
                <a:latin typeface="Gill Sans MT"/>
                <a:cs typeface="Gill Sans MT"/>
              </a:rPr>
              <a:t>stateful packet filters</a:t>
            </a:r>
          </a:p>
          <a:p>
            <a:pPr marL="800100" lvl="1" indent="-342900">
              <a:spcBef>
                <a:spcPct val="20000"/>
              </a:spcBef>
              <a:buClr>
                <a:srgbClr val="000090"/>
              </a:buClr>
              <a:buSzPct val="100000"/>
              <a:buFont typeface="Wingdings" charset="2"/>
              <a:buChar char="§"/>
              <a:defRPr/>
            </a:pPr>
            <a:r>
              <a:rPr lang="en-US" sz="2400" dirty="0">
                <a:latin typeface="Gill Sans MT"/>
                <a:cs typeface="Gill Sans MT"/>
              </a:rPr>
              <a:t>application gateways</a:t>
            </a:r>
          </a:p>
        </p:txBody>
      </p:sp>
      <p:pic>
        <p:nvPicPr>
          <p:cNvPr id="165892" name="Picture 24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788" y="1000125"/>
            <a:ext cx="3144837" cy="174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54</a:t>
            </a:fld>
            <a:endParaRPr lang="en-US" sz="1200" dirty="0">
              <a:latin typeface="Tahoma" charset="0"/>
            </a:endParaRPr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58012953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7" name="Freeform 17"/>
          <p:cNvSpPr>
            <a:spLocks/>
          </p:cNvSpPr>
          <p:nvPr/>
        </p:nvSpPr>
        <p:spPr bwMode="auto">
          <a:xfrm>
            <a:off x="1095375" y="1584325"/>
            <a:ext cx="3648075" cy="1806575"/>
          </a:xfrm>
          <a:custGeom>
            <a:avLst/>
            <a:gdLst>
              <a:gd name="T0" fmla="*/ 2147483647 w 1672"/>
              <a:gd name="T1" fmla="*/ 2147483647 h 977"/>
              <a:gd name="T2" fmla="*/ 2147483647 w 1672"/>
              <a:gd name="T3" fmla="*/ 2147483647 h 977"/>
              <a:gd name="T4" fmla="*/ 2147483647 w 1672"/>
              <a:gd name="T5" fmla="*/ 2147483647 h 977"/>
              <a:gd name="T6" fmla="*/ 2147483647 w 1672"/>
              <a:gd name="T7" fmla="*/ 2147483647 h 977"/>
              <a:gd name="T8" fmla="*/ 2147483647 w 1672"/>
              <a:gd name="T9" fmla="*/ 2147483647 h 977"/>
              <a:gd name="T10" fmla="*/ 2147483647 w 1672"/>
              <a:gd name="T11" fmla="*/ 2147483647 h 977"/>
              <a:gd name="T12" fmla="*/ 2147483647 w 1672"/>
              <a:gd name="T13" fmla="*/ 2147483647 h 977"/>
              <a:gd name="T14" fmla="*/ 2147483647 w 1672"/>
              <a:gd name="T15" fmla="*/ 2147483647 h 977"/>
              <a:gd name="T16" fmla="*/ 2147483647 w 1672"/>
              <a:gd name="T17" fmla="*/ 2147483647 h 977"/>
              <a:gd name="T18" fmla="*/ 2147483647 w 1672"/>
              <a:gd name="T19" fmla="*/ 2147483647 h 977"/>
              <a:gd name="T20" fmla="*/ 2147483647 w 1672"/>
              <a:gd name="T21" fmla="*/ 2147483647 h 977"/>
              <a:gd name="T22" fmla="*/ 2147483647 w 1672"/>
              <a:gd name="T23" fmla="*/ 2147483647 h 977"/>
              <a:gd name="T24" fmla="*/ 2147483647 w 1672"/>
              <a:gd name="T25" fmla="*/ 2147483647 h 977"/>
              <a:gd name="T26" fmla="*/ 2147483647 w 1672"/>
              <a:gd name="T27" fmla="*/ 2147483647 h 977"/>
              <a:gd name="T28" fmla="*/ 2147483647 w 1672"/>
              <a:gd name="T29" fmla="*/ 2147483647 h 977"/>
              <a:gd name="T30" fmla="*/ 2147483647 w 1672"/>
              <a:gd name="T31" fmla="*/ 2147483647 h 977"/>
              <a:gd name="T32" fmla="*/ 2147483647 w 1672"/>
              <a:gd name="T33" fmla="*/ 2147483647 h 977"/>
              <a:gd name="T34" fmla="*/ 2147483647 w 1672"/>
              <a:gd name="T35" fmla="*/ 2147483647 h 977"/>
              <a:gd name="T36" fmla="*/ 2147483647 w 1672"/>
              <a:gd name="T37" fmla="*/ 2147483647 h 977"/>
              <a:gd name="T38" fmla="*/ 2147483647 w 1672"/>
              <a:gd name="T39" fmla="*/ 2147483647 h 977"/>
              <a:gd name="T40" fmla="*/ 2147483647 w 1672"/>
              <a:gd name="T41" fmla="*/ 2147483647 h 977"/>
              <a:gd name="T42" fmla="*/ 2147483647 w 1672"/>
              <a:gd name="T43" fmla="*/ 2147483647 h 977"/>
              <a:gd name="T44" fmla="*/ 2147483647 w 1672"/>
              <a:gd name="T45" fmla="*/ 2147483647 h 977"/>
              <a:gd name="T46" fmla="*/ 2147483647 w 1672"/>
              <a:gd name="T47" fmla="*/ 2147483647 h 977"/>
              <a:gd name="T48" fmla="*/ 2147483647 w 1672"/>
              <a:gd name="T49" fmla="*/ 2147483647 h 977"/>
              <a:gd name="T50" fmla="*/ 2147483647 w 1672"/>
              <a:gd name="T51" fmla="*/ 2147483647 h 977"/>
              <a:gd name="T52" fmla="*/ 2147483647 w 1672"/>
              <a:gd name="T53" fmla="*/ 2147483647 h 977"/>
              <a:gd name="T54" fmla="*/ 2147483647 w 1672"/>
              <a:gd name="T55" fmla="*/ 2147483647 h 977"/>
              <a:gd name="T56" fmla="*/ 2147483647 w 1672"/>
              <a:gd name="T57" fmla="*/ 2147483647 h 977"/>
              <a:gd name="T58" fmla="*/ 2147483647 w 1672"/>
              <a:gd name="T59" fmla="*/ 2147483647 h 977"/>
              <a:gd name="T60" fmla="*/ 2147483647 w 1672"/>
              <a:gd name="T61" fmla="*/ 2147483647 h 977"/>
              <a:gd name="T62" fmla="*/ 2147483647 w 1672"/>
              <a:gd name="T63" fmla="*/ 2147483647 h 977"/>
              <a:gd name="T64" fmla="*/ 2147483647 w 1672"/>
              <a:gd name="T65" fmla="*/ 2147483647 h 977"/>
              <a:gd name="T66" fmla="*/ 2147483647 w 1672"/>
              <a:gd name="T67" fmla="*/ 2147483647 h 977"/>
              <a:gd name="T68" fmla="*/ 2147483647 w 1672"/>
              <a:gd name="T69" fmla="*/ 2147483647 h 977"/>
              <a:gd name="T70" fmla="*/ 2147483647 w 1672"/>
              <a:gd name="T71" fmla="*/ 2147483647 h 977"/>
              <a:gd name="T72" fmla="*/ 2147483647 w 1672"/>
              <a:gd name="T73" fmla="*/ 2147483647 h 977"/>
              <a:gd name="T74" fmla="*/ 2147483647 w 1672"/>
              <a:gd name="T75" fmla="*/ 2147483647 h 977"/>
              <a:gd name="T76" fmla="*/ 2147483647 w 1672"/>
              <a:gd name="T77" fmla="*/ 2147483647 h 977"/>
              <a:gd name="T78" fmla="*/ 2147483647 w 1672"/>
              <a:gd name="T79" fmla="*/ 2147483647 h 977"/>
              <a:gd name="T80" fmla="*/ 2147483647 w 1672"/>
              <a:gd name="T81" fmla="*/ 2147483647 h 977"/>
              <a:gd name="T82" fmla="*/ 2147483647 w 1672"/>
              <a:gd name="T83" fmla="*/ 2147483647 h 977"/>
              <a:gd name="T84" fmla="*/ 2147483647 w 1672"/>
              <a:gd name="T85" fmla="*/ 2147483647 h 977"/>
              <a:gd name="T86" fmla="*/ 2147483647 w 1672"/>
              <a:gd name="T87" fmla="*/ 2147483647 h 977"/>
              <a:gd name="T88" fmla="*/ 0 w 1672"/>
              <a:gd name="T89" fmla="*/ 2147483647 h 977"/>
              <a:gd name="T90" fmla="*/ 2147483647 w 1672"/>
              <a:gd name="T91" fmla="*/ 2147483647 h 977"/>
              <a:gd name="T92" fmla="*/ 2147483647 w 1672"/>
              <a:gd name="T93" fmla="*/ 2147483647 h 977"/>
              <a:gd name="T94" fmla="*/ 0 w 1672"/>
              <a:gd name="T95" fmla="*/ 2147483647 h 977"/>
              <a:gd name="T96" fmla="*/ 2147483647 w 1672"/>
              <a:gd name="T97" fmla="*/ 2147483647 h 977"/>
              <a:gd name="T98" fmla="*/ 2147483647 w 1672"/>
              <a:gd name="T99" fmla="*/ 2147483647 h 977"/>
              <a:gd name="T100" fmla="*/ 2147483647 w 1672"/>
              <a:gd name="T101" fmla="*/ 2147483647 h 977"/>
              <a:gd name="T102" fmla="*/ 2147483647 w 1672"/>
              <a:gd name="T103" fmla="*/ 2147483647 h 977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w 1672"/>
              <a:gd name="T157" fmla="*/ 0 h 977"/>
              <a:gd name="T158" fmla="*/ 1672 w 1672"/>
              <a:gd name="T159" fmla="*/ 977 h 977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T156" t="T157" r="T158" b="T159"/>
            <a:pathLst>
              <a:path w="1672" h="977">
                <a:moveTo>
                  <a:pt x="54" y="16"/>
                </a:moveTo>
                <a:lnTo>
                  <a:pt x="57" y="14"/>
                </a:lnTo>
                <a:lnTo>
                  <a:pt x="61" y="10"/>
                </a:lnTo>
                <a:lnTo>
                  <a:pt x="69" y="7"/>
                </a:lnTo>
                <a:lnTo>
                  <a:pt x="77" y="3"/>
                </a:lnTo>
                <a:lnTo>
                  <a:pt x="86" y="1"/>
                </a:lnTo>
                <a:lnTo>
                  <a:pt x="96" y="0"/>
                </a:lnTo>
                <a:lnTo>
                  <a:pt x="105" y="0"/>
                </a:lnTo>
                <a:lnTo>
                  <a:pt x="116" y="0"/>
                </a:lnTo>
                <a:lnTo>
                  <a:pt x="127" y="1"/>
                </a:lnTo>
                <a:lnTo>
                  <a:pt x="138" y="3"/>
                </a:lnTo>
                <a:lnTo>
                  <a:pt x="149" y="6"/>
                </a:lnTo>
                <a:lnTo>
                  <a:pt x="161" y="9"/>
                </a:lnTo>
                <a:lnTo>
                  <a:pt x="174" y="13"/>
                </a:lnTo>
                <a:lnTo>
                  <a:pt x="187" y="17"/>
                </a:lnTo>
                <a:lnTo>
                  <a:pt x="200" y="22"/>
                </a:lnTo>
                <a:lnTo>
                  <a:pt x="212" y="27"/>
                </a:lnTo>
                <a:lnTo>
                  <a:pt x="225" y="31"/>
                </a:lnTo>
                <a:lnTo>
                  <a:pt x="253" y="43"/>
                </a:lnTo>
                <a:lnTo>
                  <a:pt x="281" y="54"/>
                </a:lnTo>
                <a:lnTo>
                  <a:pt x="309" y="65"/>
                </a:lnTo>
                <a:lnTo>
                  <a:pt x="338" y="76"/>
                </a:lnTo>
                <a:lnTo>
                  <a:pt x="352" y="82"/>
                </a:lnTo>
                <a:lnTo>
                  <a:pt x="366" y="86"/>
                </a:lnTo>
                <a:lnTo>
                  <a:pt x="380" y="90"/>
                </a:lnTo>
                <a:lnTo>
                  <a:pt x="394" y="95"/>
                </a:lnTo>
                <a:lnTo>
                  <a:pt x="408" y="97"/>
                </a:lnTo>
                <a:lnTo>
                  <a:pt x="422" y="100"/>
                </a:lnTo>
                <a:lnTo>
                  <a:pt x="436" y="103"/>
                </a:lnTo>
                <a:lnTo>
                  <a:pt x="451" y="104"/>
                </a:lnTo>
                <a:lnTo>
                  <a:pt x="465" y="105"/>
                </a:lnTo>
                <a:lnTo>
                  <a:pt x="477" y="105"/>
                </a:lnTo>
                <a:lnTo>
                  <a:pt x="491" y="105"/>
                </a:lnTo>
                <a:lnTo>
                  <a:pt x="504" y="105"/>
                </a:lnTo>
                <a:lnTo>
                  <a:pt x="518" y="104"/>
                </a:lnTo>
                <a:lnTo>
                  <a:pt x="532" y="104"/>
                </a:lnTo>
                <a:lnTo>
                  <a:pt x="559" y="100"/>
                </a:lnTo>
                <a:lnTo>
                  <a:pt x="586" y="98"/>
                </a:lnTo>
                <a:lnTo>
                  <a:pt x="614" y="95"/>
                </a:lnTo>
                <a:lnTo>
                  <a:pt x="641" y="90"/>
                </a:lnTo>
                <a:lnTo>
                  <a:pt x="670" y="86"/>
                </a:lnTo>
                <a:lnTo>
                  <a:pt x="698" y="83"/>
                </a:lnTo>
                <a:lnTo>
                  <a:pt x="727" y="79"/>
                </a:lnTo>
                <a:lnTo>
                  <a:pt x="757" y="77"/>
                </a:lnTo>
                <a:lnTo>
                  <a:pt x="774" y="76"/>
                </a:lnTo>
                <a:lnTo>
                  <a:pt x="789" y="75"/>
                </a:lnTo>
                <a:lnTo>
                  <a:pt x="804" y="75"/>
                </a:lnTo>
                <a:lnTo>
                  <a:pt x="820" y="75"/>
                </a:lnTo>
                <a:lnTo>
                  <a:pt x="837" y="76"/>
                </a:lnTo>
                <a:lnTo>
                  <a:pt x="853" y="76"/>
                </a:lnTo>
                <a:lnTo>
                  <a:pt x="871" y="77"/>
                </a:lnTo>
                <a:lnTo>
                  <a:pt x="888" y="79"/>
                </a:lnTo>
                <a:lnTo>
                  <a:pt x="906" y="82"/>
                </a:lnTo>
                <a:lnTo>
                  <a:pt x="923" y="84"/>
                </a:lnTo>
                <a:lnTo>
                  <a:pt x="942" y="88"/>
                </a:lnTo>
                <a:lnTo>
                  <a:pt x="961" y="91"/>
                </a:lnTo>
                <a:lnTo>
                  <a:pt x="980" y="95"/>
                </a:lnTo>
                <a:lnTo>
                  <a:pt x="1003" y="98"/>
                </a:lnTo>
                <a:lnTo>
                  <a:pt x="1024" y="102"/>
                </a:lnTo>
                <a:lnTo>
                  <a:pt x="1046" y="106"/>
                </a:lnTo>
                <a:lnTo>
                  <a:pt x="1069" y="110"/>
                </a:lnTo>
                <a:lnTo>
                  <a:pt x="1092" y="114"/>
                </a:lnTo>
                <a:lnTo>
                  <a:pt x="1117" y="119"/>
                </a:lnTo>
                <a:lnTo>
                  <a:pt x="1141" y="124"/>
                </a:lnTo>
                <a:lnTo>
                  <a:pt x="1190" y="134"/>
                </a:lnTo>
                <a:lnTo>
                  <a:pt x="1239" y="146"/>
                </a:lnTo>
                <a:lnTo>
                  <a:pt x="1288" y="159"/>
                </a:lnTo>
                <a:lnTo>
                  <a:pt x="1313" y="166"/>
                </a:lnTo>
                <a:lnTo>
                  <a:pt x="1337" y="173"/>
                </a:lnTo>
                <a:lnTo>
                  <a:pt x="1361" y="180"/>
                </a:lnTo>
                <a:lnTo>
                  <a:pt x="1384" y="187"/>
                </a:lnTo>
                <a:lnTo>
                  <a:pt x="1406" y="195"/>
                </a:lnTo>
                <a:lnTo>
                  <a:pt x="1429" y="203"/>
                </a:lnTo>
                <a:lnTo>
                  <a:pt x="1450" y="211"/>
                </a:lnTo>
                <a:lnTo>
                  <a:pt x="1471" y="220"/>
                </a:lnTo>
                <a:lnTo>
                  <a:pt x="1490" y="229"/>
                </a:lnTo>
                <a:lnTo>
                  <a:pt x="1509" y="238"/>
                </a:lnTo>
                <a:lnTo>
                  <a:pt x="1527" y="248"/>
                </a:lnTo>
                <a:lnTo>
                  <a:pt x="1535" y="252"/>
                </a:lnTo>
                <a:lnTo>
                  <a:pt x="1543" y="258"/>
                </a:lnTo>
                <a:lnTo>
                  <a:pt x="1551" y="263"/>
                </a:lnTo>
                <a:lnTo>
                  <a:pt x="1558" y="267"/>
                </a:lnTo>
                <a:lnTo>
                  <a:pt x="1565" y="273"/>
                </a:lnTo>
                <a:lnTo>
                  <a:pt x="1572" y="279"/>
                </a:lnTo>
                <a:lnTo>
                  <a:pt x="1579" y="284"/>
                </a:lnTo>
                <a:lnTo>
                  <a:pt x="1585" y="290"/>
                </a:lnTo>
                <a:lnTo>
                  <a:pt x="1591" y="296"/>
                </a:lnTo>
                <a:lnTo>
                  <a:pt x="1597" y="301"/>
                </a:lnTo>
                <a:lnTo>
                  <a:pt x="1607" y="313"/>
                </a:lnTo>
                <a:lnTo>
                  <a:pt x="1616" y="326"/>
                </a:lnTo>
                <a:lnTo>
                  <a:pt x="1625" y="340"/>
                </a:lnTo>
                <a:lnTo>
                  <a:pt x="1633" y="355"/>
                </a:lnTo>
                <a:lnTo>
                  <a:pt x="1640" y="370"/>
                </a:lnTo>
                <a:lnTo>
                  <a:pt x="1647" y="385"/>
                </a:lnTo>
                <a:lnTo>
                  <a:pt x="1651" y="403"/>
                </a:lnTo>
                <a:lnTo>
                  <a:pt x="1656" y="419"/>
                </a:lnTo>
                <a:lnTo>
                  <a:pt x="1661" y="438"/>
                </a:lnTo>
                <a:lnTo>
                  <a:pt x="1664" y="456"/>
                </a:lnTo>
                <a:lnTo>
                  <a:pt x="1667" y="474"/>
                </a:lnTo>
                <a:lnTo>
                  <a:pt x="1669" y="493"/>
                </a:lnTo>
                <a:lnTo>
                  <a:pt x="1671" y="512"/>
                </a:lnTo>
                <a:lnTo>
                  <a:pt x="1671" y="530"/>
                </a:lnTo>
                <a:lnTo>
                  <a:pt x="1672" y="550"/>
                </a:lnTo>
                <a:lnTo>
                  <a:pt x="1671" y="569"/>
                </a:lnTo>
                <a:lnTo>
                  <a:pt x="1671" y="588"/>
                </a:lnTo>
                <a:lnTo>
                  <a:pt x="1670" y="607"/>
                </a:lnTo>
                <a:lnTo>
                  <a:pt x="1668" y="626"/>
                </a:lnTo>
                <a:lnTo>
                  <a:pt x="1665" y="645"/>
                </a:lnTo>
                <a:lnTo>
                  <a:pt x="1663" y="662"/>
                </a:lnTo>
                <a:lnTo>
                  <a:pt x="1660" y="680"/>
                </a:lnTo>
                <a:lnTo>
                  <a:pt x="1656" y="697"/>
                </a:lnTo>
                <a:lnTo>
                  <a:pt x="1651" y="715"/>
                </a:lnTo>
                <a:lnTo>
                  <a:pt x="1648" y="731"/>
                </a:lnTo>
                <a:lnTo>
                  <a:pt x="1643" y="747"/>
                </a:lnTo>
                <a:lnTo>
                  <a:pt x="1637" y="762"/>
                </a:lnTo>
                <a:lnTo>
                  <a:pt x="1632" y="776"/>
                </a:lnTo>
                <a:lnTo>
                  <a:pt x="1626" y="790"/>
                </a:lnTo>
                <a:lnTo>
                  <a:pt x="1620" y="803"/>
                </a:lnTo>
                <a:lnTo>
                  <a:pt x="1614" y="814"/>
                </a:lnTo>
                <a:lnTo>
                  <a:pt x="1607" y="825"/>
                </a:lnTo>
                <a:lnTo>
                  <a:pt x="1600" y="834"/>
                </a:lnTo>
                <a:lnTo>
                  <a:pt x="1592" y="843"/>
                </a:lnTo>
                <a:lnTo>
                  <a:pt x="1584" y="852"/>
                </a:lnTo>
                <a:lnTo>
                  <a:pt x="1574" y="859"/>
                </a:lnTo>
                <a:lnTo>
                  <a:pt x="1564" y="867"/>
                </a:lnTo>
                <a:lnTo>
                  <a:pt x="1553" y="873"/>
                </a:lnTo>
                <a:lnTo>
                  <a:pt x="1543" y="879"/>
                </a:lnTo>
                <a:lnTo>
                  <a:pt x="1531" y="884"/>
                </a:lnTo>
                <a:lnTo>
                  <a:pt x="1518" y="890"/>
                </a:lnTo>
                <a:lnTo>
                  <a:pt x="1506" y="895"/>
                </a:lnTo>
                <a:lnTo>
                  <a:pt x="1493" y="898"/>
                </a:lnTo>
                <a:lnTo>
                  <a:pt x="1479" y="902"/>
                </a:lnTo>
                <a:lnTo>
                  <a:pt x="1465" y="905"/>
                </a:lnTo>
                <a:lnTo>
                  <a:pt x="1451" y="909"/>
                </a:lnTo>
                <a:lnTo>
                  <a:pt x="1436" y="912"/>
                </a:lnTo>
                <a:lnTo>
                  <a:pt x="1420" y="915"/>
                </a:lnTo>
                <a:lnTo>
                  <a:pt x="1390" y="919"/>
                </a:lnTo>
                <a:lnTo>
                  <a:pt x="1358" y="923"/>
                </a:lnTo>
                <a:lnTo>
                  <a:pt x="1326" y="926"/>
                </a:lnTo>
                <a:lnTo>
                  <a:pt x="1293" y="930"/>
                </a:lnTo>
                <a:lnTo>
                  <a:pt x="1259" y="932"/>
                </a:lnTo>
                <a:lnTo>
                  <a:pt x="1227" y="936"/>
                </a:lnTo>
                <a:lnTo>
                  <a:pt x="1194" y="939"/>
                </a:lnTo>
                <a:lnTo>
                  <a:pt x="1162" y="944"/>
                </a:lnTo>
                <a:lnTo>
                  <a:pt x="1146" y="946"/>
                </a:lnTo>
                <a:lnTo>
                  <a:pt x="1130" y="949"/>
                </a:lnTo>
                <a:lnTo>
                  <a:pt x="1112" y="950"/>
                </a:lnTo>
                <a:lnTo>
                  <a:pt x="1095" y="952"/>
                </a:lnTo>
                <a:lnTo>
                  <a:pt x="1077" y="954"/>
                </a:lnTo>
                <a:lnTo>
                  <a:pt x="1059" y="956"/>
                </a:lnTo>
                <a:lnTo>
                  <a:pt x="1041" y="958"/>
                </a:lnTo>
                <a:lnTo>
                  <a:pt x="1022" y="959"/>
                </a:lnTo>
                <a:lnTo>
                  <a:pt x="984" y="963"/>
                </a:lnTo>
                <a:lnTo>
                  <a:pt x="945" y="966"/>
                </a:lnTo>
                <a:lnTo>
                  <a:pt x="907" y="969"/>
                </a:lnTo>
                <a:lnTo>
                  <a:pt x="867" y="970"/>
                </a:lnTo>
                <a:lnTo>
                  <a:pt x="829" y="972"/>
                </a:lnTo>
                <a:lnTo>
                  <a:pt x="791" y="973"/>
                </a:lnTo>
                <a:lnTo>
                  <a:pt x="773" y="974"/>
                </a:lnTo>
                <a:lnTo>
                  <a:pt x="754" y="974"/>
                </a:lnTo>
                <a:lnTo>
                  <a:pt x="736" y="976"/>
                </a:lnTo>
                <a:lnTo>
                  <a:pt x="718" y="976"/>
                </a:lnTo>
                <a:lnTo>
                  <a:pt x="701" y="976"/>
                </a:lnTo>
                <a:lnTo>
                  <a:pt x="684" y="977"/>
                </a:lnTo>
                <a:lnTo>
                  <a:pt x="668" y="977"/>
                </a:lnTo>
                <a:lnTo>
                  <a:pt x="651" y="977"/>
                </a:lnTo>
                <a:lnTo>
                  <a:pt x="636" y="977"/>
                </a:lnTo>
                <a:lnTo>
                  <a:pt x="621" y="977"/>
                </a:lnTo>
                <a:lnTo>
                  <a:pt x="607" y="977"/>
                </a:lnTo>
                <a:lnTo>
                  <a:pt x="593" y="977"/>
                </a:lnTo>
                <a:lnTo>
                  <a:pt x="580" y="976"/>
                </a:lnTo>
                <a:lnTo>
                  <a:pt x="567" y="976"/>
                </a:lnTo>
                <a:lnTo>
                  <a:pt x="556" y="976"/>
                </a:lnTo>
                <a:lnTo>
                  <a:pt x="544" y="974"/>
                </a:lnTo>
                <a:lnTo>
                  <a:pt x="532" y="974"/>
                </a:lnTo>
                <a:lnTo>
                  <a:pt x="522" y="974"/>
                </a:lnTo>
                <a:lnTo>
                  <a:pt x="511" y="973"/>
                </a:lnTo>
                <a:lnTo>
                  <a:pt x="502" y="972"/>
                </a:lnTo>
                <a:lnTo>
                  <a:pt x="493" y="972"/>
                </a:lnTo>
                <a:lnTo>
                  <a:pt x="483" y="971"/>
                </a:lnTo>
                <a:lnTo>
                  <a:pt x="474" y="970"/>
                </a:lnTo>
                <a:lnTo>
                  <a:pt x="465" y="969"/>
                </a:lnTo>
                <a:lnTo>
                  <a:pt x="448" y="966"/>
                </a:lnTo>
                <a:lnTo>
                  <a:pt x="432" y="964"/>
                </a:lnTo>
                <a:lnTo>
                  <a:pt x="417" y="960"/>
                </a:lnTo>
                <a:lnTo>
                  <a:pt x="401" y="958"/>
                </a:lnTo>
                <a:lnTo>
                  <a:pt x="372" y="950"/>
                </a:lnTo>
                <a:lnTo>
                  <a:pt x="357" y="946"/>
                </a:lnTo>
                <a:lnTo>
                  <a:pt x="342" y="942"/>
                </a:lnTo>
                <a:lnTo>
                  <a:pt x="326" y="937"/>
                </a:lnTo>
                <a:lnTo>
                  <a:pt x="308" y="932"/>
                </a:lnTo>
                <a:lnTo>
                  <a:pt x="291" y="928"/>
                </a:lnTo>
                <a:lnTo>
                  <a:pt x="273" y="923"/>
                </a:lnTo>
                <a:lnTo>
                  <a:pt x="254" y="918"/>
                </a:lnTo>
                <a:lnTo>
                  <a:pt x="236" y="914"/>
                </a:lnTo>
                <a:lnTo>
                  <a:pt x="216" y="908"/>
                </a:lnTo>
                <a:lnTo>
                  <a:pt x="197" y="903"/>
                </a:lnTo>
                <a:lnTo>
                  <a:pt x="179" y="897"/>
                </a:lnTo>
                <a:lnTo>
                  <a:pt x="160" y="891"/>
                </a:lnTo>
                <a:lnTo>
                  <a:pt x="142" y="886"/>
                </a:lnTo>
                <a:lnTo>
                  <a:pt x="125" y="877"/>
                </a:lnTo>
                <a:lnTo>
                  <a:pt x="109" y="870"/>
                </a:lnTo>
                <a:lnTo>
                  <a:pt x="92" y="861"/>
                </a:lnTo>
                <a:lnTo>
                  <a:pt x="85" y="856"/>
                </a:lnTo>
                <a:lnTo>
                  <a:pt x="78" y="852"/>
                </a:lnTo>
                <a:lnTo>
                  <a:pt x="71" y="846"/>
                </a:lnTo>
                <a:lnTo>
                  <a:pt x="64" y="841"/>
                </a:lnTo>
                <a:lnTo>
                  <a:pt x="58" y="835"/>
                </a:lnTo>
                <a:lnTo>
                  <a:pt x="53" y="828"/>
                </a:lnTo>
                <a:lnTo>
                  <a:pt x="47" y="822"/>
                </a:lnTo>
                <a:lnTo>
                  <a:pt x="42" y="815"/>
                </a:lnTo>
                <a:lnTo>
                  <a:pt x="37" y="808"/>
                </a:lnTo>
                <a:lnTo>
                  <a:pt x="34" y="801"/>
                </a:lnTo>
                <a:lnTo>
                  <a:pt x="29" y="793"/>
                </a:lnTo>
                <a:lnTo>
                  <a:pt x="26" y="786"/>
                </a:lnTo>
                <a:lnTo>
                  <a:pt x="22" y="778"/>
                </a:lnTo>
                <a:lnTo>
                  <a:pt x="20" y="770"/>
                </a:lnTo>
                <a:lnTo>
                  <a:pt x="14" y="752"/>
                </a:lnTo>
                <a:lnTo>
                  <a:pt x="9" y="735"/>
                </a:lnTo>
                <a:lnTo>
                  <a:pt x="7" y="716"/>
                </a:lnTo>
                <a:lnTo>
                  <a:pt x="5" y="696"/>
                </a:lnTo>
                <a:lnTo>
                  <a:pt x="2" y="675"/>
                </a:lnTo>
                <a:lnTo>
                  <a:pt x="1" y="654"/>
                </a:lnTo>
                <a:lnTo>
                  <a:pt x="1" y="633"/>
                </a:lnTo>
                <a:lnTo>
                  <a:pt x="0" y="611"/>
                </a:lnTo>
                <a:lnTo>
                  <a:pt x="0" y="588"/>
                </a:lnTo>
                <a:lnTo>
                  <a:pt x="1" y="564"/>
                </a:lnTo>
                <a:lnTo>
                  <a:pt x="1" y="540"/>
                </a:lnTo>
                <a:lnTo>
                  <a:pt x="2" y="515"/>
                </a:lnTo>
                <a:lnTo>
                  <a:pt x="2" y="491"/>
                </a:lnTo>
                <a:lnTo>
                  <a:pt x="2" y="478"/>
                </a:lnTo>
                <a:lnTo>
                  <a:pt x="2" y="464"/>
                </a:lnTo>
                <a:lnTo>
                  <a:pt x="2" y="450"/>
                </a:lnTo>
                <a:lnTo>
                  <a:pt x="2" y="435"/>
                </a:lnTo>
                <a:lnTo>
                  <a:pt x="1" y="418"/>
                </a:lnTo>
                <a:lnTo>
                  <a:pt x="1" y="402"/>
                </a:lnTo>
                <a:lnTo>
                  <a:pt x="1" y="385"/>
                </a:lnTo>
                <a:lnTo>
                  <a:pt x="0" y="368"/>
                </a:lnTo>
                <a:lnTo>
                  <a:pt x="0" y="350"/>
                </a:lnTo>
                <a:lnTo>
                  <a:pt x="0" y="333"/>
                </a:lnTo>
                <a:lnTo>
                  <a:pt x="0" y="297"/>
                </a:lnTo>
                <a:lnTo>
                  <a:pt x="0" y="260"/>
                </a:lnTo>
                <a:lnTo>
                  <a:pt x="0" y="224"/>
                </a:lnTo>
                <a:lnTo>
                  <a:pt x="1" y="207"/>
                </a:lnTo>
                <a:lnTo>
                  <a:pt x="2" y="189"/>
                </a:lnTo>
                <a:lnTo>
                  <a:pt x="4" y="173"/>
                </a:lnTo>
                <a:lnTo>
                  <a:pt x="5" y="156"/>
                </a:lnTo>
                <a:lnTo>
                  <a:pt x="7" y="140"/>
                </a:lnTo>
                <a:lnTo>
                  <a:pt x="8" y="125"/>
                </a:lnTo>
                <a:lnTo>
                  <a:pt x="12" y="110"/>
                </a:lnTo>
                <a:lnTo>
                  <a:pt x="14" y="96"/>
                </a:lnTo>
                <a:lnTo>
                  <a:pt x="18" y="82"/>
                </a:lnTo>
                <a:lnTo>
                  <a:pt x="21" y="70"/>
                </a:lnTo>
                <a:lnTo>
                  <a:pt x="26" y="58"/>
                </a:lnTo>
                <a:lnTo>
                  <a:pt x="29" y="48"/>
                </a:lnTo>
                <a:lnTo>
                  <a:pt x="35" y="37"/>
                </a:lnTo>
                <a:lnTo>
                  <a:pt x="37" y="34"/>
                </a:lnTo>
                <a:lnTo>
                  <a:pt x="41" y="29"/>
                </a:lnTo>
                <a:lnTo>
                  <a:pt x="43" y="26"/>
                </a:lnTo>
                <a:lnTo>
                  <a:pt x="47" y="22"/>
                </a:lnTo>
                <a:lnTo>
                  <a:pt x="50" y="19"/>
                </a:lnTo>
                <a:lnTo>
                  <a:pt x="54" y="16"/>
                </a:lnTo>
                <a:close/>
              </a:path>
            </a:pathLst>
          </a:custGeom>
          <a:solidFill>
            <a:srgbClr val="00CC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67938" name="Rectangle 198"/>
          <p:cNvSpPr>
            <a:spLocks noChangeArrowheads="1"/>
          </p:cNvSpPr>
          <p:nvPr/>
        </p:nvSpPr>
        <p:spPr bwMode="auto">
          <a:xfrm>
            <a:off x="4522788" y="2686050"/>
            <a:ext cx="41275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300" dirty="0">
                <a:solidFill>
                  <a:srgbClr val="000000"/>
                </a:solidFill>
              </a:rPr>
              <a:t> </a:t>
            </a:r>
            <a:endParaRPr lang="en-US" dirty="0"/>
          </a:p>
        </p:txBody>
      </p:sp>
      <p:sp>
        <p:nvSpPr>
          <p:cNvPr id="167939" name="Line 334"/>
          <p:cNvSpPr>
            <a:spLocks noChangeShapeType="1"/>
          </p:cNvSpPr>
          <p:nvPr/>
        </p:nvSpPr>
        <p:spPr bwMode="auto">
          <a:xfrm>
            <a:off x="3346450" y="2533650"/>
            <a:ext cx="836613" cy="180975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67940" name="Freeform 346"/>
          <p:cNvSpPr>
            <a:spLocks/>
          </p:cNvSpPr>
          <p:nvPr/>
        </p:nvSpPr>
        <p:spPr bwMode="auto">
          <a:xfrm>
            <a:off x="5821363" y="2239963"/>
            <a:ext cx="1901825" cy="1141412"/>
          </a:xfrm>
          <a:custGeom>
            <a:avLst/>
            <a:gdLst>
              <a:gd name="T0" fmla="*/ 2147483647 w 1198"/>
              <a:gd name="T1" fmla="*/ 2147483647 h 719"/>
              <a:gd name="T2" fmla="*/ 2147483647 w 1198"/>
              <a:gd name="T3" fmla="*/ 0 h 719"/>
              <a:gd name="T4" fmla="*/ 2147483647 w 1198"/>
              <a:gd name="T5" fmla="*/ 2147483647 h 719"/>
              <a:gd name="T6" fmla="*/ 2147483647 w 1198"/>
              <a:gd name="T7" fmla="*/ 2147483647 h 719"/>
              <a:gd name="T8" fmla="*/ 2147483647 w 1198"/>
              <a:gd name="T9" fmla="*/ 2147483647 h 719"/>
              <a:gd name="T10" fmla="*/ 2147483647 w 1198"/>
              <a:gd name="T11" fmla="*/ 2147483647 h 719"/>
              <a:gd name="T12" fmla="*/ 2147483647 w 1198"/>
              <a:gd name="T13" fmla="*/ 2147483647 h 719"/>
              <a:gd name="T14" fmla="*/ 2147483647 w 1198"/>
              <a:gd name="T15" fmla="*/ 2147483647 h 719"/>
              <a:gd name="T16" fmla="*/ 2147483647 w 1198"/>
              <a:gd name="T17" fmla="*/ 2147483647 h 719"/>
              <a:gd name="T18" fmla="*/ 2147483647 w 1198"/>
              <a:gd name="T19" fmla="*/ 2147483647 h 719"/>
              <a:gd name="T20" fmla="*/ 2147483647 w 1198"/>
              <a:gd name="T21" fmla="*/ 2147483647 h 719"/>
              <a:gd name="T22" fmla="*/ 2147483647 w 1198"/>
              <a:gd name="T23" fmla="*/ 2147483647 h 719"/>
              <a:gd name="T24" fmla="*/ 2147483647 w 1198"/>
              <a:gd name="T25" fmla="*/ 2147483647 h 719"/>
              <a:gd name="T26" fmla="*/ 2147483647 w 1198"/>
              <a:gd name="T27" fmla="*/ 2147483647 h 719"/>
              <a:gd name="T28" fmla="*/ 2147483647 w 1198"/>
              <a:gd name="T29" fmla="*/ 2147483647 h 719"/>
              <a:gd name="T30" fmla="*/ 2147483647 w 1198"/>
              <a:gd name="T31" fmla="*/ 2147483647 h 719"/>
              <a:gd name="T32" fmla="*/ 2147483647 w 1198"/>
              <a:gd name="T33" fmla="*/ 2147483647 h 719"/>
              <a:gd name="T34" fmla="*/ 2147483647 w 1198"/>
              <a:gd name="T35" fmla="*/ 2147483647 h 719"/>
              <a:gd name="T36" fmla="*/ 2147483647 w 1198"/>
              <a:gd name="T37" fmla="*/ 2147483647 h 719"/>
              <a:gd name="T38" fmla="*/ 2147483647 w 1198"/>
              <a:gd name="T39" fmla="*/ 2147483647 h 719"/>
              <a:gd name="T40" fmla="*/ 2147483647 w 1198"/>
              <a:gd name="T41" fmla="*/ 2147483647 h 719"/>
              <a:gd name="T42" fmla="*/ 2147483647 w 1198"/>
              <a:gd name="T43" fmla="*/ 2147483647 h 719"/>
              <a:gd name="T44" fmla="*/ 0 w 1198"/>
              <a:gd name="T45" fmla="*/ 2147483647 h 719"/>
              <a:gd name="T46" fmla="*/ 2147483647 w 1198"/>
              <a:gd name="T47" fmla="*/ 2147483647 h 719"/>
              <a:gd name="T48" fmla="*/ 2147483647 w 1198"/>
              <a:gd name="T49" fmla="*/ 2147483647 h 719"/>
              <a:gd name="T50" fmla="*/ 2147483647 w 1198"/>
              <a:gd name="T51" fmla="*/ 2147483647 h 719"/>
              <a:gd name="T52" fmla="*/ 2147483647 w 1198"/>
              <a:gd name="T53" fmla="*/ 2147483647 h 719"/>
              <a:gd name="T54" fmla="*/ 2147483647 w 1198"/>
              <a:gd name="T55" fmla="*/ 2147483647 h 719"/>
              <a:gd name="T56" fmla="*/ 2147483647 w 1198"/>
              <a:gd name="T57" fmla="*/ 2147483647 h 719"/>
              <a:gd name="T58" fmla="*/ 2147483647 w 1198"/>
              <a:gd name="T59" fmla="*/ 2147483647 h 719"/>
              <a:gd name="T60" fmla="*/ 2147483647 w 1198"/>
              <a:gd name="T61" fmla="*/ 2147483647 h 719"/>
              <a:gd name="T62" fmla="*/ 2147483647 w 1198"/>
              <a:gd name="T63" fmla="*/ 2147483647 h 719"/>
              <a:gd name="T64" fmla="*/ 2147483647 w 1198"/>
              <a:gd name="T65" fmla="*/ 2147483647 h 719"/>
              <a:gd name="T66" fmla="*/ 2147483647 w 1198"/>
              <a:gd name="T67" fmla="*/ 2147483647 h 719"/>
              <a:gd name="T68" fmla="*/ 2147483647 w 1198"/>
              <a:gd name="T69" fmla="*/ 2147483647 h 719"/>
              <a:gd name="T70" fmla="*/ 2147483647 w 1198"/>
              <a:gd name="T71" fmla="*/ 2147483647 h 719"/>
              <a:gd name="T72" fmla="*/ 2147483647 w 1198"/>
              <a:gd name="T73" fmla="*/ 2147483647 h 719"/>
              <a:gd name="T74" fmla="*/ 2147483647 w 1198"/>
              <a:gd name="T75" fmla="*/ 2147483647 h 719"/>
              <a:gd name="T76" fmla="*/ 2147483647 w 1198"/>
              <a:gd name="T77" fmla="*/ 2147483647 h 719"/>
              <a:gd name="T78" fmla="*/ 2147483647 w 1198"/>
              <a:gd name="T79" fmla="*/ 2147483647 h 719"/>
              <a:gd name="T80" fmla="*/ 2147483647 w 1198"/>
              <a:gd name="T81" fmla="*/ 2147483647 h 719"/>
              <a:gd name="T82" fmla="*/ 2147483647 w 1198"/>
              <a:gd name="T83" fmla="*/ 2147483647 h 719"/>
              <a:gd name="T84" fmla="*/ 2147483647 w 1198"/>
              <a:gd name="T85" fmla="*/ 2147483647 h 719"/>
              <a:gd name="T86" fmla="*/ 2147483647 w 1198"/>
              <a:gd name="T87" fmla="*/ 2147483647 h 719"/>
              <a:gd name="T88" fmla="*/ 2147483647 w 1198"/>
              <a:gd name="T89" fmla="*/ 2147483647 h 719"/>
              <a:gd name="T90" fmla="*/ 2147483647 w 1198"/>
              <a:gd name="T91" fmla="*/ 2147483647 h 719"/>
              <a:gd name="T92" fmla="*/ 2147483647 w 1198"/>
              <a:gd name="T93" fmla="*/ 2147483647 h 719"/>
              <a:gd name="T94" fmla="*/ 2147483647 w 1198"/>
              <a:gd name="T95" fmla="*/ 2147483647 h 719"/>
              <a:gd name="T96" fmla="*/ 2147483647 w 1198"/>
              <a:gd name="T97" fmla="*/ 2147483647 h 719"/>
              <a:gd name="T98" fmla="*/ 2147483647 w 1198"/>
              <a:gd name="T99" fmla="*/ 2147483647 h 719"/>
              <a:gd name="T100" fmla="*/ 2147483647 w 1198"/>
              <a:gd name="T101" fmla="*/ 2147483647 h 719"/>
              <a:gd name="T102" fmla="*/ 2147483647 w 1198"/>
              <a:gd name="T103" fmla="*/ 2147483647 h 719"/>
              <a:gd name="T104" fmla="*/ 2147483647 w 1198"/>
              <a:gd name="T105" fmla="*/ 2147483647 h 719"/>
              <a:gd name="T106" fmla="*/ 2147483647 w 1198"/>
              <a:gd name="T107" fmla="*/ 2147483647 h 719"/>
              <a:gd name="T108" fmla="*/ 2147483647 w 1198"/>
              <a:gd name="T109" fmla="*/ 2147483647 h 719"/>
              <a:gd name="T110" fmla="*/ 2147483647 w 1198"/>
              <a:gd name="T111" fmla="*/ 2147483647 h 719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w 1198"/>
              <a:gd name="T169" fmla="*/ 0 h 719"/>
              <a:gd name="T170" fmla="*/ 1198 w 1198"/>
              <a:gd name="T171" fmla="*/ 719 h 719"/>
            </a:gdLst>
            <a:ahLst/>
            <a:cxnLst>
              <a:cxn ang="T112">
                <a:pos x="T0" y="T1"/>
              </a:cxn>
              <a:cxn ang="T113">
                <a:pos x="T2" y="T3"/>
              </a:cxn>
              <a:cxn ang="T114">
                <a:pos x="T4" y="T5"/>
              </a:cxn>
              <a:cxn ang="T115">
                <a:pos x="T6" y="T7"/>
              </a:cxn>
              <a:cxn ang="T116">
                <a:pos x="T8" y="T9"/>
              </a:cxn>
              <a:cxn ang="T117">
                <a:pos x="T10" y="T11"/>
              </a:cxn>
              <a:cxn ang="T118">
                <a:pos x="T12" y="T13"/>
              </a:cxn>
              <a:cxn ang="T119">
                <a:pos x="T14" y="T15"/>
              </a:cxn>
              <a:cxn ang="T120">
                <a:pos x="T16" y="T17"/>
              </a:cxn>
              <a:cxn ang="T121">
                <a:pos x="T18" y="T19"/>
              </a:cxn>
              <a:cxn ang="T122">
                <a:pos x="T20" y="T21"/>
              </a:cxn>
              <a:cxn ang="T123">
                <a:pos x="T22" y="T23"/>
              </a:cxn>
              <a:cxn ang="T124">
                <a:pos x="T24" y="T25"/>
              </a:cxn>
              <a:cxn ang="T125">
                <a:pos x="T26" y="T27"/>
              </a:cxn>
              <a:cxn ang="T126">
                <a:pos x="T28" y="T29"/>
              </a:cxn>
              <a:cxn ang="T127">
                <a:pos x="T30" y="T31"/>
              </a:cxn>
              <a:cxn ang="T128">
                <a:pos x="T32" y="T33"/>
              </a:cxn>
              <a:cxn ang="T129">
                <a:pos x="T34" y="T35"/>
              </a:cxn>
              <a:cxn ang="T130">
                <a:pos x="T36" y="T37"/>
              </a:cxn>
              <a:cxn ang="T131">
                <a:pos x="T38" y="T39"/>
              </a:cxn>
              <a:cxn ang="T132">
                <a:pos x="T40" y="T41"/>
              </a:cxn>
              <a:cxn ang="T133">
                <a:pos x="T42" y="T43"/>
              </a:cxn>
              <a:cxn ang="T134">
                <a:pos x="T44" y="T45"/>
              </a:cxn>
              <a:cxn ang="T135">
                <a:pos x="T46" y="T47"/>
              </a:cxn>
              <a:cxn ang="T136">
                <a:pos x="T48" y="T49"/>
              </a:cxn>
              <a:cxn ang="T137">
                <a:pos x="T50" y="T51"/>
              </a:cxn>
              <a:cxn ang="T138">
                <a:pos x="T52" y="T53"/>
              </a:cxn>
              <a:cxn ang="T139">
                <a:pos x="T54" y="T55"/>
              </a:cxn>
              <a:cxn ang="T140">
                <a:pos x="T56" y="T57"/>
              </a:cxn>
              <a:cxn ang="T141">
                <a:pos x="T58" y="T59"/>
              </a:cxn>
              <a:cxn ang="T142">
                <a:pos x="T60" y="T61"/>
              </a:cxn>
              <a:cxn ang="T143">
                <a:pos x="T62" y="T63"/>
              </a:cxn>
              <a:cxn ang="T144">
                <a:pos x="T64" y="T65"/>
              </a:cxn>
              <a:cxn ang="T145">
                <a:pos x="T66" y="T67"/>
              </a:cxn>
              <a:cxn ang="T146">
                <a:pos x="T68" y="T69"/>
              </a:cxn>
              <a:cxn ang="T147">
                <a:pos x="T70" y="T71"/>
              </a:cxn>
              <a:cxn ang="T148">
                <a:pos x="T72" y="T73"/>
              </a:cxn>
              <a:cxn ang="T149">
                <a:pos x="T74" y="T75"/>
              </a:cxn>
              <a:cxn ang="T150">
                <a:pos x="T76" y="T77"/>
              </a:cxn>
              <a:cxn ang="T151">
                <a:pos x="T78" y="T79"/>
              </a:cxn>
              <a:cxn ang="T152">
                <a:pos x="T80" y="T81"/>
              </a:cxn>
              <a:cxn ang="T153">
                <a:pos x="T82" y="T83"/>
              </a:cxn>
              <a:cxn ang="T154">
                <a:pos x="T84" y="T85"/>
              </a:cxn>
              <a:cxn ang="T155">
                <a:pos x="T86" y="T87"/>
              </a:cxn>
              <a:cxn ang="T156">
                <a:pos x="T88" y="T89"/>
              </a:cxn>
              <a:cxn ang="T157">
                <a:pos x="T90" y="T91"/>
              </a:cxn>
              <a:cxn ang="T158">
                <a:pos x="T92" y="T93"/>
              </a:cxn>
              <a:cxn ang="T159">
                <a:pos x="T94" y="T95"/>
              </a:cxn>
              <a:cxn ang="T160">
                <a:pos x="T96" y="T97"/>
              </a:cxn>
              <a:cxn ang="T161">
                <a:pos x="T98" y="T99"/>
              </a:cxn>
              <a:cxn ang="T162">
                <a:pos x="T100" y="T101"/>
              </a:cxn>
              <a:cxn ang="T163">
                <a:pos x="T102" y="T103"/>
              </a:cxn>
              <a:cxn ang="T164">
                <a:pos x="T104" y="T105"/>
              </a:cxn>
              <a:cxn ang="T165">
                <a:pos x="T106" y="T107"/>
              </a:cxn>
              <a:cxn ang="T166">
                <a:pos x="T108" y="T109"/>
              </a:cxn>
              <a:cxn ang="T167">
                <a:pos x="T110" y="T111"/>
              </a:cxn>
            </a:cxnLst>
            <a:rect l="T168" t="T169" r="T170" b="T171"/>
            <a:pathLst>
              <a:path w="1198" h="719">
                <a:moveTo>
                  <a:pt x="1160" y="13"/>
                </a:moveTo>
                <a:lnTo>
                  <a:pt x="1154" y="9"/>
                </a:lnTo>
                <a:lnTo>
                  <a:pt x="1149" y="5"/>
                </a:lnTo>
                <a:lnTo>
                  <a:pt x="1142" y="3"/>
                </a:lnTo>
                <a:lnTo>
                  <a:pt x="1137" y="2"/>
                </a:lnTo>
                <a:lnTo>
                  <a:pt x="1130" y="0"/>
                </a:lnTo>
                <a:lnTo>
                  <a:pt x="1123" y="0"/>
                </a:lnTo>
                <a:lnTo>
                  <a:pt x="1116" y="0"/>
                </a:lnTo>
                <a:lnTo>
                  <a:pt x="1107" y="2"/>
                </a:lnTo>
                <a:lnTo>
                  <a:pt x="1099" y="3"/>
                </a:lnTo>
                <a:lnTo>
                  <a:pt x="1091" y="5"/>
                </a:lnTo>
                <a:lnTo>
                  <a:pt x="1082" y="7"/>
                </a:lnTo>
                <a:lnTo>
                  <a:pt x="1074" y="10"/>
                </a:lnTo>
                <a:lnTo>
                  <a:pt x="1064" y="13"/>
                </a:lnTo>
                <a:lnTo>
                  <a:pt x="1055" y="17"/>
                </a:lnTo>
                <a:lnTo>
                  <a:pt x="1036" y="24"/>
                </a:lnTo>
                <a:lnTo>
                  <a:pt x="1016" y="32"/>
                </a:lnTo>
                <a:lnTo>
                  <a:pt x="997" y="40"/>
                </a:lnTo>
                <a:lnTo>
                  <a:pt x="977" y="49"/>
                </a:lnTo>
                <a:lnTo>
                  <a:pt x="956" y="56"/>
                </a:lnTo>
                <a:lnTo>
                  <a:pt x="936" y="65"/>
                </a:lnTo>
                <a:lnTo>
                  <a:pt x="925" y="67"/>
                </a:lnTo>
                <a:lnTo>
                  <a:pt x="915" y="70"/>
                </a:lnTo>
                <a:lnTo>
                  <a:pt x="904" y="73"/>
                </a:lnTo>
                <a:lnTo>
                  <a:pt x="895" y="75"/>
                </a:lnTo>
                <a:lnTo>
                  <a:pt x="885" y="76"/>
                </a:lnTo>
                <a:lnTo>
                  <a:pt x="875" y="77"/>
                </a:lnTo>
                <a:lnTo>
                  <a:pt x="866" y="77"/>
                </a:lnTo>
                <a:lnTo>
                  <a:pt x="855" y="79"/>
                </a:lnTo>
                <a:lnTo>
                  <a:pt x="837" y="77"/>
                </a:lnTo>
                <a:lnTo>
                  <a:pt x="817" y="76"/>
                </a:lnTo>
                <a:lnTo>
                  <a:pt x="798" y="75"/>
                </a:lnTo>
                <a:lnTo>
                  <a:pt x="778" y="73"/>
                </a:lnTo>
                <a:lnTo>
                  <a:pt x="758" y="70"/>
                </a:lnTo>
                <a:lnTo>
                  <a:pt x="739" y="67"/>
                </a:lnTo>
                <a:lnTo>
                  <a:pt x="719" y="65"/>
                </a:lnTo>
                <a:lnTo>
                  <a:pt x="698" y="61"/>
                </a:lnTo>
                <a:lnTo>
                  <a:pt x="677" y="59"/>
                </a:lnTo>
                <a:lnTo>
                  <a:pt x="655" y="58"/>
                </a:lnTo>
                <a:lnTo>
                  <a:pt x="632" y="56"/>
                </a:lnTo>
                <a:lnTo>
                  <a:pt x="610" y="56"/>
                </a:lnTo>
                <a:lnTo>
                  <a:pt x="599" y="56"/>
                </a:lnTo>
                <a:lnTo>
                  <a:pt x="586" y="56"/>
                </a:lnTo>
                <a:lnTo>
                  <a:pt x="574" y="58"/>
                </a:lnTo>
                <a:lnTo>
                  <a:pt x="562" y="59"/>
                </a:lnTo>
                <a:lnTo>
                  <a:pt x="550" y="61"/>
                </a:lnTo>
                <a:lnTo>
                  <a:pt x="537" y="63"/>
                </a:lnTo>
                <a:lnTo>
                  <a:pt x="524" y="65"/>
                </a:lnTo>
                <a:lnTo>
                  <a:pt x="510" y="68"/>
                </a:lnTo>
                <a:lnTo>
                  <a:pt x="495" y="70"/>
                </a:lnTo>
                <a:lnTo>
                  <a:pt x="480" y="73"/>
                </a:lnTo>
                <a:lnTo>
                  <a:pt x="464" y="76"/>
                </a:lnTo>
                <a:lnTo>
                  <a:pt x="448" y="79"/>
                </a:lnTo>
                <a:lnTo>
                  <a:pt x="432" y="82"/>
                </a:lnTo>
                <a:lnTo>
                  <a:pt x="415" y="86"/>
                </a:lnTo>
                <a:lnTo>
                  <a:pt x="398" y="89"/>
                </a:lnTo>
                <a:lnTo>
                  <a:pt x="380" y="93"/>
                </a:lnTo>
                <a:lnTo>
                  <a:pt x="345" y="100"/>
                </a:lnTo>
                <a:lnTo>
                  <a:pt x="310" y="108"/>
                </a:lnTo>
                <a:lnTo>
                  <a:pt x="274" y="117"/>
                </a:lnTo>
                <a:lnTo>
                  <a:pt x="240" y="128"/>
                </a:lnTo>
                <a:lnTo>
                  <a:pt x="223" y="132"/>
                </a:lnTo>
                <a:lnTo>
                  <a:pt x="206" y="138"/>
                </a:lnTo>
                <a:lnTo>
                  <a:pt x="190" y="144"/>
                </a:lnTo>
                <a:lnTo>
                  <a:pt x="175" y="150"/>
                </a:lnTo>
                <a:lnTo>
                  <a:pt x="159" y="156"/>
                </a:lnTo>
                <a:lnTo>
                  <a:pt x="145" y="163"/>
                </a:lnTo>
                <a:lnTo>
                  <a:pt x="131" y="169"/>
                </a:lnTo>
                <a:lnTo>
                  <a:pt x="117" y="176"/>
                </a:lnTo>
                <a:lnTo>
                  <a:pt x="104" y="183"/>
                </a:lnTo>
                <a:lnTo>
                  <a:pt x="92" y="191"/>
                </a:lnTo>
                <a:lnTo>
                  <a:pt x="82" y="198"/>
                </a:lnTo>
                <a:lnTo>
                  <a:pt x="71" y="206"/>
                </a:lnTo>
                <a:lnTo>
                  <a:pt x="62" y="214"/>
                </a:lnTo>
                <a:lnTo>
                  <a:pt x="54" y="222"/>
                </a:lnTo>
                <a:lnTo>
                  <a:pt x="47" y="232"/>
                </a:lnTo>
                <a:lnTo>
                  <a:pt x="40" y="241"/>
                </a:lnTo>
                <a:lnTo>
                  <a:pt x="34" y="250"/>
                </a:lnTo>
                <a:lnTo>
                  <a:pt x="28" y="262"/>
                </a:lnTo>
                <a:lnTo>
                  <a:pt x="23" y="273"/>
                </a:lnTo>
                <a:lnTo>
                  <a:pt x="19" y="284"/>
                </a:lnTo>
                <a:lnTo>
                  <a:pt x="14" y="297"/>
                </a:lnTo>
                <a:lnTo>
                  <a:pt x="10" y="310"/>
                </a:lnTo>
                <a:lnTo>
                  <a:pt x="8" y="323"/>
                </a:lnTo>
                <a:lnTo>
                  <a:pt x="6" y="336"/>
                </a:lnTo>
                <a:lnTo>
                  <a:pt x="3" y="350"/>
                </a:lnTo>
                <a:lnTo>
                  <a:pt x="2" y="364"/>
                </a:lnTo>
                <a:lnTo>
                  <a:pt x="1" y="378"/>
                </a:lnTo>
                <a:lnTo>
                  <a:pt x="0" y="391"/>
                </a:lnTo>
                <a:lnTo>
                  <a:pt x="0" y="406"/>
                </a:lnTo>
                <a:lnTo>
                  <a:pt x="0" y="420"/>
                </a:lnTo>
                <a:lnTo>
                  <a:pt x="0" y="434"/>
                </a:lnTo>
                <a:lnTo>
                  <a:pt x="1" y="448"/>
                </a:lnTo>
                <a:lnTo>
                  <a:pt x="2" y="461"/>
                </a:lnTo>
                <a:lnTo>
                  <a:pt x="5" y="475"/>
                </a:lnTo>
                <a:lnTo>
                  <a:pt x="6" y="489"/>
                </a:lnTo>
                <a:lnTo>
                  <a:pt x="8" y="502"/>
                </a:lnTo>
                <a:lnTo>
                  <a:pt x="12" y="514"/>
                </a:lnTo>
                <a:lnTo>
                  <a:pt x="14" y="526"/>
                </a:lnTo>
                <a:lnTo>
                  <a:pt x="17" y="539"/>
                </a:lnTo>
                <a:lnTo>
                  <a:pt x="21" y="551"/>
                </a:lnTo>
                <a:lnTo>
                  <a:pt x="24" y="561"/>
                </a:lnTo>
                <a:lnTo>
                  <a:pt x="28" y="572"/>
                </a:lnTo>
                <a:lnTo>
                  <a:pt x="33" y="582"/>
                </a:lnTo>
                <a:lnTo>
                  <a:pt x="37" y="590"/>
                </a:lnTo>
                <a:lnTo>
                  <a:pt x="42" y="600"/>
                </a:lnTo>
                <a:lnTo>
                  <a:pt x="47" y="607"/>
                </a:lnTo>
                <a:lnTo>
                  <a:pt x="51" y="615"/>
                </a:lnTo>
                <a:lnTo>
                  <a:pt x="57" y="621"/>
                </a:lnTo>
                <a:lnTo>
                  <a:pt x="63" y="627"/>
                </a:lnTo>
                <a:lnTo>
                  <a:pt x="70" y="632"/>
                </a:lnTo>
                <a:lnTo>
                  <a:pt x="77" y="638"/>
                </a:lnTo>
                <a:lnTo>
                  <a:pt x="85" y="643"/>
                </a:lnTo>
                <a:lnTo>
                  <a:pt x="92" y="648"/>
                </a:lnTo>
                <a:lnTo>
                  <a:pt x="101" y="651"/>
                </a:lnTo>
                <a:lnTo>
                  <a:pt x="110" y="656"/>
                </a:lnTo>
                <a:lnTo>
                  <a:pt x="119" y="659"/>
                </a:lnTo>
                <a:lnTo>
                  <a:pt x="128" y="662"/>
                </a:lnTo>
                <a:lnTo>
                  <a:pt x="138" y="665"/>
                </a:lnTo>
                <a:lnTo>
                  <a:pt x="159" y="670"/>
                </a:lnTo>
                <a:lnTo>
                  <a:pt x="180" y="673"/>
                </a:lnTo>
                <a:lnTo>
                  <a:pt x="202" y="677"/>
                </a:lnTo>
                <a:lnTo>
                  <a:pt x="225" y="680"/>
                </a:lnTo>
                <a:lnTo>
                  <a:pt x="248" y="683"/>
                </a:lnTo>
                <a:lnTo>
                  <a:pt x="272" y="685"/>
                </a:lnTo>
                <a:lnTo>
                  <a:pt x="295" y="686"/>
                </a:lnTo>
                <a:lnTo>
                  <a:pt x="319" y="689"/>
                </a:lnTo>
                <a:lnTo>
                  <a:pt x="342" y="692"/>
                </a:lnTo>
                <a:lnTo>
                  <a:pt x="365" y="696"/>
                </a:lnTo>
                <a:lnTo>
                  <a:pt x="377" y="697"/>
                </a:lnTo>
                <a:lnTo>
                  <a:pt x="389" y="698"/>
                </a:lnTo>
                <a:lnTo>
                  <a:pt x="401" y="700"/>
                </a:lnTo>
                <a:lnTo>
                  <a:pt x="413" y="701"/>
                </a:lnTo>
                <a:lnTo>
                  <a:pt x="439" y="704"/>
                </a:lnTo>
                <a:lnTo>
                  <a:pt x="466" y="707"/>
                </a:lnTo>
                <a:lnTo>
                  <a:pt x="492" y="710"/>
                </a:lnTo>
                <a:lnTo>
                  <a:pt x="520" y="711"/>
                </a:lnTo>
                <a:lnTo>
                  <a:pt x="576" y="714"/>
                </a:lnTo>
                <a:lnTo>
                  <a:pt x="604" y="715"/>
                </a:lnTo>
                <a:lnTo>
                  <a:pt x="631" y="717"/>
                </a:lnTo>
                <a:lnTo>
                  <a:pt x="658" y="718"/>
                </a:lnTo>
                <a:lnTo>
                  <a:pt x="684" y="719"/>
                </a:lnTo>
                <a:lnTo>
                  <a:pt x="695" y="719"/>
                </a:lnTo>
                <a:lnTo>
                  <a:pt x="708" y="719"/>
                </a:lnTo>
                <a:lnTo>
                  <a:pt x="720" y="719"/>
                </a:lnTo>
                <a:lnTo>
                  <a:pt x="732" y="719"/>
                </a:lnTo>
                <a:lnTo>
                  <a:pt x="742" y="719"/>
                </a:lnTo>
                <a:lnTo>
                  <a:pt x="753" y="719"/>
                </a:lnTo>
                <a:lnTo>
                  <a:pt x="763" y="719"/>
                </a:lnTo>
                <a:lnTo>
                  <a:pt x="773" y="719"/>
                </a:lnTo>
                <a:lnTo>
                  <a:pt x="782" y="719"/>
                </a:lnTo>
                <a:lnTo>
                  <a:pt x="791" y="719"/>
                </a:lnTo>
                <a:lnTo>
                  <a:pt x="801" y="719"/>
                </a:lnTo>
                <a:lnTo>
                  <a:pt x="809" y="718"/>
                </a:lnTo>
                <a:lnTo>
                  <a:pt x="816" y="718"/>
                </a:lnTo>
                <a:lnTo>
                  <a:pt x="824" y="718"/>
                </a:lnTo>
                <a:lnTo>
                  <a:pt x="839" y="717"/>
                </a:lnTo>
                <a:lnTo>
                  <a:pt x="852" y="715"/>
                </a:lnTo>
                <a:lnTo>
                  <a:pt x="865" y="713"/>
                </a:lnTo>
                <a:lnTo>
                  <a:pt x="876" y="712"/>
                </a:lnTo>
                <a:lnTo>
                  <a:pt x="888" y="710"/>
                </a:lnTo>
                <a:lnTo>
                  <a:pt x="900" y="707"/>
                </a:lnTo>
                <a:lnTo>
                  <a:pt x="910" y="705"/>
                </a:lnTo>
                <a:lnTo>
                  <a:pt x="931" y="700"/>
                </a:lnTo>
                <a:lnTo>
                  <a:pt x="943" y="697"/>
                </a:lnTo>
                <a:lnTo>
                  <a:pt x="953" y="693"/>
                </a:lnTo>
                <a:lnTo>
                  <a:pt x="965" y="691"/>
                </a:lnTo>
                <a:lnTo>
                  <a:pt x="977" y="687"/>
                </a:lnTo>
                <a:lnTo>
                  <a:pt x="990" y="683"/>
                </a:lnTo>
                <a:lnTo>
                  <a:pt x="1002" y="679"/>
                </a:lnTo>
                <a:lnTo>
                  <a:pt x="1015" y="676"/>
                </a:lnTo>
                <a:lnTo>
                  <a:pt x="1029" y="672"/>
                </a:lnTo>
                <a:lnTo>
                  <a:pt x="1056" y="665"/>
                </a:lnTo>
                <a:lnTo>
                  <a:pt x="1070" y="662"/>
                </a:lnTo>
                <a:lnTo>
                  <a:pt x="1083" y="657"/>
                </a:lnTo>
                <a:lnTo>
                  <a:pt x="1096" y="652"/>
                </a:lnTo>
                <a:lnTo>
                  <a:pt x="1109" y="647"/>
                </a:lnTo>
                <a:lnTo>
                  <a:pt x="1120" y="641"/>
                </a:lnTo>
                <a:lnTo>
                  <a:pt x="1132" y="635"/>
                </a:lnTo>
                <a:lnTo>
                  <a:pt x="1142" y="627"/>
                </a:lnTo>
                <a:lnTo>
                  <a:pt x="1152" y="620"/>
                </a:lnTo>
                <a:lnTo>
                  <a:pt x="1160" y="610"/>
                </a:lnTo>
                <a:lnTo>
                  <a:pt x="1165" y="606"/>
                </a:lnTo>
                <a:lnTo>
                  <a:pt x="1168" y="601"/>
                </a:lnTo>
                <a:lnTo>
                  <a:pt x="1174" y="590"/>
                </a:lnTo>
                <a:lnTo>
                  <a:pt x="1180" y="579"/>
                </a:lnTo>
                <a:lnTo>
                  <a:pt x="1184" y="567"/>
                </a:lnTo>
                <a:lnTo>
                  <a:pt x="1188" y="554"/>
                </a:lnTo>
                <a:lnTo>
                  <a:pt x="1191" y="541"/>
                </a:lnTo>
                <a:lnTo>
                  <a:pt x="1194" y="527"/>
                </a:lnTo>
                <a:lnTo>
                  <a:pt x="1195" y="513"/>
                </a:lnTo>
                <a:lnTo>
                  <a:pt x="1196" y="498"/>
                </a:lnTo>
                <a:lnTo>
                  <a:pt x="1197" y="483"/>
                </a:lnTo>
                <a:lnTo>
                  <a:pt x="1197" y="467"/>
                </a:lnTo>
                <a:lnTo>
                  <a:pt x="1197" y="450"/>
                </a:lnTo>
                <a:lnTo>
                  <a:pt x="1197" y="433"/>
                </a:lnTo>
                <a:lnTo>
                  <a:pt x="1197" y="415"/>
                </a:lnTo>
                <a:lnTo>
                  <a:pt x="1197" y="398"/>
                </a:lnTo>
                <a:lnTo>
                  <a:pt x="1197" y="380"/>
                </a:lnTo>
                <a:lnTo>
                  <a:pt x="1196" y="361"/>
                </a:lnTo>
                <a:lnTo>
                  <a:pt x="1196" y="352"/>
                </a:lnTo>
                <a:lnTo>
                  <a:pt x="1196" y="343"/>
                </a:lnTo>
                <a:lnTo>
                  <a:pt x="1196" y="331"/>
                </a:lnTo>
                <a:lnTo>
                  <a:pt x="1196" y="321"/>
                </a:lnTo>
                <a:lnTo>
                  <a:pt x="1197" y="309"/>
                </a:lnTo>
                <a:lnTo>
                  <a:pt x="1197" y="297"/>
                </a:lnTo>
                <a:lnTo>
                  <a:pt x="1197" y="284"/>
                </a:lnTo>
                <a:lnTo>
                  <a:pt x="1197" y="271"/>
                </a:lnTo>
                <a:lnTo>
                  <a:pt x="1198" y="246"/>
                </a:lnTo>
                <a:lnTo>
                  <a:pt x="1198" y="219"/>
                </a:lnTo>
                <a:lnTo>
                  <a:pt x="1198" y="192"/>
                </a:lnTo>
                <a:lnTo>
                  <a:pt x="1197" y="166"/>
                </a:lnTo>
                <a:lnTo>
                  <a:pt x="1196" y="141"/>
                </a:lnTo>
                <a:lnTo>
                  <a:pt x="1196" y="128"/>
                </a:lnTo>
                <a:lnTo>
                  <a:pt x="1195" y="116"/>
                </a:lnTo>
                <a:lnTo>
                  <a:pt x="1194" y="103"/>
                </a:lnTo>
                <a:lnTo>
                  <a:pt x="1191" y="93"/>
                </a:lnTo>
                <a:lnTo>
                  <a:pt x="1190" y="81"/>
                </a:lnTo>
                <a:lnTo>
                  <a:pt x="1188" y="70"/>
                </a:lnTo>
                <a:lnTo>
                  <a:pt x="1186" y="61"/>
                </a:lnTo>
                <a:lnTo>
                  <a:pt x="1183" y="52"/>
                </a:lnTo>
                <a:lnTo>
                  <a:pt x="1180" y="44"/>
                </a:lnTo>
                <a:lnTo>
                  <a:pt x="1176" y="35"/>
                </a:lnTo>
                <a:lnTo>
                  <a:pt x="1173" y="28"/>
                </a:lnTo>
                <a:lnTo>
                  <a:pt x="1169" y="23"/>
                </a:lnTo>
                <a:lnTo>
                  <a:pt x="1165" y="17"/>
                </a:lnTo>
                <a:lnTo>
                  <a:pt x="1160" y="13"/>
                </a:lnTo>
                <a:close/>
              </a:path>
            </a:pathLst>
          </a:custGeom>
          <a:gradFill rotWithShape="1">
            <a:gsLst>
              <a:gs pos="0">
                <a:srgbClr val="00CCFF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67941" name="Line 347"/>
          <p:cNvSpPr>
            <a:spLocks noChangeShapeType="1"/>
          </p:cNvSpPr>
          <p:nvPr/>
        </p:nvSpPr>
        <p:spPr bwMode="auto">
          <a:xfrm>
            <a:off x="4810125" y="2698750"/>
            <a:ext cx="1042988" cy="9525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grpSp>
        <p:nvGrpSpPr>
          <p:cNvPr id="167942" name="Group 332"/>
          <p:cNvGrpSpPr>
            <a:grpSpLocks/>
          </p:cNvGrpSpPr>
          <p:nvPr/>
        </p:nvGrpSpPr>
        <p:grpSpPr bwMode="auto">
          <a:xfrm>
            <a:off x="4108450" y="2497138"/>
            <a:ext cx="765175" cy="376237"/>
            <a:chOff x="2356" y="1300"/>
            <a:chExt cx="555" cy="194"/>
          </a:xfrm>
        </p:grpSpPr>
        <p:sp>
          <p:nvSpPr>
            <p:cNvPr id="168048" name="Oval 407"/>
            <p:cNvSpPr>
              <a:spLocks noChangeArrowheads="1"/>
            </p:cNvSpPr>
            <p:nvPr/>
          </p:nvSpPr>
          <p:spPr bwMode="auto">
            <a:xfrm>
              <a:off x="2357" y="1385"/>
              <a:ext cx="551" cy="109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 dirty="0">
                <a:latin typeface="Times New Roman" charset="0"/>
              </a:endParaRPr>
            </a:p>
          </p:txBody>
        </p:sp>
        <p:sp>
          <p:nvSpPr>
            <p:cNvPr id="168049" name="Rectangle 410"/>
            <p:cNvSpPr>
              <a:spLocks noChangeArrowheads="1"/>
            </p:cNvSpPr>
            <p:nvPr/>
          </p:nvSpPr>
          <p:spPr bwMode="auto">
            <a:xfrm>
              <a:off x="2357" y="1374"/>
              <a:ext cx="554" cy="66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 dirty="0">
                <a:latin typeface="Times New Roman" charset="0"/>
              </a:endParaRPr>
            </a:p>
          </p:txBody>
        </p:sp>
        <p:sp>
          <p:nvSpPr>
            <p:cNvPr id="168050" name="Oval 411"/>
            <p:cNvSpPr>
              <a:spLocks noChangeArrowheads="1"/>
            </p:cNvSpPr>
            <p:nvPr/>
          </p:nvSpPr>
          <p:spPr bwMode="auto">
            <a:xfrm>
              <a:off x="2356" y="1300"/>
              <a:ext cx="551" cy="127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 dirty="0">
                <a:latin typeface="Times New Roman" charset="0"/>
              </a:endParaRPr>
            </a:p>
          </p:txBody>
        </p:sp>
        <p:grpSp>
          <p:nvGrpSpPr>
            <p:cNvPr id="168051" name="Group 329"/>
            <p:cNvGrpSpPr>
              <a:grpSpLocks/>
            </p:cNvGrpSpPr>
            <p:nvPr/>
          </p:nvGrpSpPr>
          <p:grpSpPr bwMode="auto"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168054" name="Freeform 326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68055" name="Freeform 327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231" name="Line 330"/>
            <p:cNvSpPr>
              <a:spLocks noChangeShapeType="1"/>
            </p:cNvSpPr>
            <p:nvPr/>
          </p:nvSpPr>
          <p:spPr bwMode="auto">
            <a:xfrm>
              <a:off x="2357" y="1361"/>
              <a:ext cx="0" cy="8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Arial" charset="0"/>
              </a:endParaRPr>
            </a:p>
          </p:txBody>
        </p:sp>
        <p:sp>
          <p:nvSpPr>
            <p:cNvPr id="232" name="Line 331"/>
            <p:cNvSpPr>
              <a:spLocks noChangeShapeType="1"/>
            </p:cNvSpPr>
            <p:nvPr/>
          </p:nvSpPr>
          <p:spPr bwMode="auto">
            <a:xfrm>
              <a:off x="2908" y="1363"/>
              <a:ext cx="0" cy="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Arial" charset="0"/>
              </a:endParaRPr>
            </a:p>
          </p:txBody>
        </p:sp>
      </p:grpSp>
      <p:grpSp>
        <p:nvGrpSpPr>
          <p:cNvPr id="167943" name="Group 906"/>
          <p:cNvGrpSpPr>
            <a:grpSpLocks/>
          </p:cNvGrpSpPr>
          <p:nvPr/>
        </p:nvGrpSpPr>
        <p:grpSpPr bwMode="auto">
          <a:xfrm>
            <a:off x="4327525" y="2014538"/>
            <a:ext cx="296863" cy="539750"/>
            <a:chOff x="4140" y="429"/>
            <a:chExt cx="1425" cy="2396"/>
          </a:xfrm>
        </p:grpSpPr>
        <p:sp>
          <p:nvSpPr>
            <p:cNvPr id="168016" name="Freeform 907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1 w 354"/>
                <a:gd name="T1" fmla="*/ 0 h 2742"/>
                <a:gd name="T2" fmla="*/ 116 w 354"/>
                <a:gd name="T3" fmla="*/ 137 h 2742"/>
                <a:gd name="T4" fmla="*/ 114 w 354"/>
                <a:gd name="T5" fmla="*/ 1057 h 2742"/>
                <a:gd name="T6" fmla="*/ 0 w 354"/>
                <a:gd name="T7" fmla="*/ 1105 h 2742"/>
                <a:gd name="T8" fmla="*/ 21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7" name="Rectangle 908"/>
            <p:cNvSpPr>
              <a:spLocks noChangeArrowheads="1"/>
            </p:cNvSpPr>
            <p:nvPr/>
          </p:nvSpPr>
          <p:spPr bwMode="auto">
            <a:xfrm>
              <a:off x="4209" y="429"/>
              <a:ext cx="1044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68018" name="Freeform 909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0 w 211"/>
                <a:gd name="T3" fmla="*/ 88 h 2537"/>
                <a:gd name="T4" fmla="*/ 2 w 211"/>
                <a:gd name="T5" fmla="*/ 1007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8019" name="Freeform 910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2 h 226"/>
                <a:gd name="T4" fmla="*/ 108 w 328"/>
                <a:gd name="T5" fmla="*/ 92 h 226"/>
                <a:gd name="T6" fmla="*/ 0 w 328"/>
                <a:gd name="T7" fmla="*/ 4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40" name="Rectangle 911"/>
            <p:cNvSpPr>
              <a:spLocks noChangeArrowheads="1"/>
            </p:cNvSpPr>
            <p:nvPr/>
          </p:nvSpPr>
          <p:spPr bwMode="auto">
            <a:xfrm>
              <a:off x="4216" y="690"/>
              <a:ext cx="587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grpSp>
          <p:nvGrpSpPr>
            <p:cNvPr id="168021" name="Group 912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66" name="AutoShape 913"/>
              <p:cNvSpPr>
                <a:spLocks noChangeArrowheads="1"/>
              </p:cNvSpPr>
              <p:nvPr/>
            </p:nvSpPr>
            <p:spPr bwMode="auto">
              <a:xfrm>
                <a:off x="615" y="2569"/>
                <a:ext cx="723" cy="12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267" name="AutoShape 914"/>
              <p:cNvSpPr>
                <a:spLocks noChangeArrowheads="1"/>
              </p:cNvSpPr>
              <p:nvPr/>
            </p:nvSpPr>
            <p:spPr bwMode="auto">
              <a:xfrm>
                <a:off x="634" y="2582"/>
                <a:ext cx="694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242" name="Rectangle 915"/>
            <p:cNvSpPr>
              <a:spLocks noChangeArrowheads="1"/>
            </p:cNvSpPr>
            <p:nvPr/>
          </p:nvSpPr>
          <p:spPr bwMode="auto">
            <a:xfrm>
              <a:off x="4224" y="1021"/>
              <a:ext cx="594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grpSp>
          <p:nvGrpSpPr>
            <p:cNvPr id="168023" name="Group 916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64" name="AutoShape 917"/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265" name="AutoShape 918"/>
              <p:cNvSpPr>
                <a:spLocks noChangeArrowheads="1"/>
              </p:cNvSpPr>
              <p:nvPr/>
            </p:nvSpPr>
            <p:spPr bwMode="auto">
              <a:xfrm>
                <a:off x="627" y="2581"/>
                <a:ext cx="704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244" name="Rectangle 919"/>
            <p:cNvSpPr>
              <a:spLocks noChangeArrowheads="1"/>
            </p:cNvSpPr>
            <p:nvPr/>
          </p:nvSpPr>
          <p:spPr bwMode="auto">
            <a:xfrm>
              <a:off x="4216" y="1359"/>
              <a:ext cx="594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245" name="Rectangle 920"/>
            <p:cNvSpPr>
              <a:spLocks noChangeArrowheads="1"/>
            </p:cNvSpPr>
            <p:nvPr/>
          </p:nvSpPr>
          <p:spPr bwMode="auto">
            <a:xfrm>
              <a:off x="4224" y="1655"/>
              <a:ext cx="602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grpSp>
          <p:nvGrpSpPr>
            <p:cNvPr id="168026" name="Group 921"/>
            <p:cNvGrpSpPr>
              <a:grpSpLocks/>
            </p:cNvGrpSpPr>
            <p:nvPr/>
          </p:nvGrpSpPr>
          <p:grpSpPr bwMode="auto">
            <a:xfrm>
              <a:off x="4733" y="1630"/>
              <a:ext cx="586" cy="151"/>
              <a:chOff x="611" y="2571"/>
              <a:chExt cx="730" cy="139"/>
            </a:xfrm>
          </p:grpSpPr>
          <p:sp>
            <p:nvSpPr>
              <p:cNvPr id="262" name="AutoShape 922"/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31" cy="143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263" name="AutoShape 923"/>
              <p:cNvSpPr>
                <a:spLocks noChangeArrowheads="1"/>
              </p:cNvSpPr>
              <p:nvPr/>
            </p:nvSpPr>
            <p:spPr bwMode="auto">
              <a:xfrm>
                <a:off x="632" y="2588"/>
                <a:ext cx="693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168027" name="Freeform 924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1 h 226"/>
                <a:gd name="T4" fmla="*/ 108 w 328"/>
                <a:gd name="T5" fmla="*/ 90 h 226"/>
                <a:gd name="T6" fmla="*/ 0 w 328"/>
                <a:gd name="T7" fmla="*/ 3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168028" name="Group 925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60" name="AutoShape 926"/>
              <p:cNvSpPr>
                <a:spLocks noChangeArrowheads="1"/>
              </p:cNvSpPr>
              <p:nvPr/>
            </p:nvSpPr>
            <p:spPr bwMode="auto">
              <a:xfrm>
                <a:off x="618" y="2565"/>
                <a:ext cx="712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261" name="AutoShape 927"/>
              <p:cNvSpPr>
                <a:spLocks noChangeArrowheads="1"/>
              </p:cNvSpPr>
              <p:nvPr/>
            </p:nvSpPr>
            <p:spPr bwMode="auto">
              <a:xfrm>
                <a:off x="637" y="2579"/>
                <a:ext cx="683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249" name="Rectangle 928"/>
            <p:cNvSpPr>
              <a:spLocks noChangeArrowheads="1"/>
            </p:cNvSpPr>
            <p:nvPr/>
          </p:nvSpPr>
          <p:spPr bwMode="auto">
            <a:xfrm>
              <a:off x="5253" y="429"/>
              <a:ext cx="69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68030" name="Freeform 929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6 w 296"/>
                <a:gd name="T3" fmla="*/ 57 h 256"/>
                <a:gd name="T4" fmla="*/ 98 w 296"/>
                <a:gd name="T5" fmla="*/ 102 h 256"/>
                <a:gd name="T6" fmla="*/ 0 w 296"/>
                <a:gd name="T7" fmla="*/ 39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8031" name="Freeform 930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01 w 304"/>
                <a:gd name="T3" fmla="*/ 66 h 288"/>
                <a:gd name="T4" fmla="*/ 95 w 304"/>
                <a:gd name="T5" fmla="*/ 116 h 288"/>
                <a:gd name="T6" fmla="*/ 2 w 304"/>
                <a:gd name="T7" fmla="*/ 5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2" name="Oval 931"/>
            <p:cNvSpPr>
              <a:spLocks noChangeArrowheads="1"/>
            </p:cNvSpPr>
            <p:nvPr/>
          </p:nvSpPr>
          <p:spPr bwMode="auto">
            <a:xfrm>
              <a:off x="5519" y="2607"/>
              <a:ext cx="46" cy="99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68033" name="Freeform 932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43 h 240"/>
                <a:gd name="T2" fmla="*/ 2 w 306"/>
                <a:gd name="T3" fmla="*/ 97 h 240"/>
                <a:gd name="T4" fmla="*/ 101 w 306"/>
                <a:gd name="T5" fmla="*/ 44 h 240"/>
                <a:gd name="T6" fmla="*/ 98 w 306"/>
                <a:gd name="T7" fmla="*/ 0 h 240"/>
                <a:gd name="T8" fmla="*/ 0 w 306"/>
                <a:gd name="T9" fmla="*/ 4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4" name="AutoShape 933"/>
            <p:cNvSpPr>
              <a:spLocks noChangeArrowheads="1"/>
            </p:cNvSpPr>
            <p:nvPr/>
          </p:nvSpPr>
          <p:spPr bwMode="auto">
            <a:xfrm>
              <a:off x="4140" y="2684"/>
              <a:ext cx="1196" cy="141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255" name="AutoShape 934"/>
            <p:cNvSpPr>
              <a:spLocks noChangeArrowheads="1"/>
            </p:cNvSpPr>
            <p:nvPr/>
          </p:nvSpPr>
          <p:spPr bwMode="auto">
            <a:xfrm>
              <a:off x="4209" y="2712"/>
              <a:ext cx="1067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256" name="Oval 935"/>
            <p:cNvSpPr>
              <a:spLocks noChangeArrowheads="1"/>
            </p:cNvSpPr>
            <p:nvPr/>
          </p:nvSpPr>
          <p:spPr bwMode="auto">
            <a:xfrm>
              <a:off x="4308" y="2388"/>
              <a:ext cx="160" cy="13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257" name="Oval 936"/>
            <p:cNvSpPr>
              <a:spLocks noChangeArrowheads="1"/>
            </p:cNvSpPr>
            <p:nvPr/>
          </p:nvSpPr>
          <p:spPr bwMode="auto">
            <a:xfrm>
              <a:off x="4483" y="2388"/>
              <a:ext cx="160" cy="14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en-US" dirty="0">
                <a:solidFill>
                  <a:srgbClr val="FF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258" name="Oval 937"/>
            <p:cNvSpPr>
              <a:spLocks noChangeArrowheads="1"/>
            </p:cNvSpPr>
            <p:nvPr/>
          </p:nvSpPr>
          <p:spPr bwMode="auto">
            <a:xfrm>
              <a:off x="4666" y="2381"/>
              <a:ext cx="152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259" name="Rectangle 938"/>
            <p:cNvSpPr>
              <a:spLocks noChangeArrowheads="1"/>
            </p:cNvSpPr>
            <p:nvPr/>
          </p:nvSpPr>
          <p:spPr bwMode="auto">
            <a:xfrm>
              <a:off x="5062" y="1831"/>
              <a:ext cx="84" cy="761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</p:grpSp>
      <p:grpSp>
        <p:nvGrpSpPr>
          <p:cNvPr id="167944" name="Group 267"/>
          <p:cNvGrpSpPr>
            <a:grpSpLocks/>
          </p:cNvGrpSpPr>
          <p:nvPr/>
        </p:nvGrpSpPr>
        <p:grpSpPr bwMode="auto">
          <a:xfrm>
            <a:off x="1069975" y="1752600"/>
            <a:ext cx="2365375" cy="1589088"/>
            <a:chOff x="-2187762" y="3855945"/>
            <a:chExt cx="2365375" cy="1590114"/>
          </a:xfrm>
        </p:grpSpPr>
        <p:sp>
          <p:nvSpPr>
            <p:cNvPr id="269" name="Line 20"/>
            <p:cNvSpPr>
              <a:spLocks noChangeShapeType="1"/>
            </p:cNvSpPr>
            <p:nvPr/>
          </p:nvSpPr>
          <p:spPr bwMode="auto">
            <a:xfrm flipH="1">
              <a:off x="-1732149" y="4230837"/>
              <a:ext cx="5556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70" name="Line 21"/>
            <p:cNvSpPr>
              <a:spLocks noChangeShapeType="1"/>
            </p:cNvSpPr>
            <p:nvPr/>
          </p:nvSpPr>
          <p:spPr bwMode="auto">
            <a:xfrm flipH="1">
              <a:off x="-1344799" y="4278493"/>
              <a:ext cx="271462" cy="314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71" name="Line 22"/>
            <p:cNvSpPr>
              <a:spLocks noChangeShapeType="1"/>
            </p:cNvSpPr>
            <p:nvPr/>
          </p:nvSpPr>
          <p:spPr bwMode="auto">
            <a:xfrm>
              <a:off x="-925699" y="4307086"/>
              <a:ext cx="73025" cy="2954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167962" name="Group 44"/>
            <p:cNvGrpSpPr>
              <a:grpSpLocks/>
            </p:cNvGrpSpPr>
            <p:nvPr/>
          </p:nvGrpSpPr>
          <p:grpSpPr bwMode="auto">
            <a:xfrm>
              <a:off x="-2187762" y="4034772"/>
              <a:ext cx="568325" cy="481012"/>
              <a:chOff x="-44" y="1473"/>
              <a:chExt cx="981" cy="1105"/>
            </a:xfrm>
          </p:grpSpPr>
          <p:pic>
            <p:nvPicPr>
              <p:cNvPr id="168014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68015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296 w 356"/>
                  <a:gd name="T3" fmla="*/ 69 h 368"/>
                  <a:gd name="T4" fmla="*/ 1537 w 356"/>
                  <a:gd name="T5" fmla="*/ 1447 h 368"/>
                  <a:gd name="T6" fmla="*/ 339 w 356"/>
                  <a:gd name="T7" fmla="*/ 181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67963" name="Group 44"/>
            <p:cNvGrpSpPr>
              <a:grpSpLocks/>
            </p:cNvGrpSpPr>
            <p:nvPr/>
          </p:nvGrpSpPr>
          <p:grpSpPr bwMode="auto">
            <a:xfrm>
              <a:off x="-1252724" y="4523722"/>
              <a:ext cx="568325" cy="481012"/>
              <a:chOff x="-44" y="1473"/>
              <a:chExt cx="981" cy="1105"/>
            </a:xfrm>
          </p:grpSpPr>
          <p:pic>
            <p:nvPicPr>
              <p:cNvPr id="168012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68013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296 w 356"/>
                  <a:gd name="T3" fmla="*/ 69 h 368"/>
                  <a:gd name="T4" fmla="*/ 1537 w 356"/>
                  <a:gd name="T5" fmla="*/ 1447 h 368"/>
                  <a:gd name="T6" fmla="*/ 339 w 356"/>
                  <a:gd name="T7" fmla="*/ 181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sp>
          <p:nvSpPr>
            <p:cNvPr id="274" name="Line 21"/>
            <p:cNvSpPr>
              <a:spLocks noChangeShapeType="1"/>
            </p:cNvSpPr>
            <p:nvPr/>
          </p:nvSpPr>
          <p:spPr bwMode="auto">
            <a:xfrm>
              <a:off x="-706624" y="4237191"/>
              <a:ext cx="377825" cy="3049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75" name="Line 22"/>
            <p:cNvSpPr>
              <a:spLocks noChangeShapeType="1"/>
            </p:cNvSpPr>
            <p:nvPr/>
          </p:nvSpPr>
          <p:spPr bwMode="auto">
            <a:xfrm flipH="1">
              <a:off x="-474849" y="4732811"/>
              <a:ext cx="120650" cy="29387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76" name="Line 22"/>
            <p:cNvSpPr>
              <a:spLocks noChangeShapeType="1"/>
            </p:cNvSpPr>
            <p:nvPr/>
          </p:nvSpPr>
          <p:spPr bwMode="auto">
            <a:xfrm>
              <a:off x="-70037" y="4743931"/>
              <a:ext cx="73025" cy="2954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77" name="Line 20"/>
            <p:cNvSpPr>
              <a:spLocks noChangeShapeType="1"/>
            </p:cNvSpPr>
            <p:nvPr/>
          </p:nvSpPr>
          <p:spPr bwMode="auto">
            <a:xfrm flipH="1">
              <a:off x="-873312" y="4192712"/>
              <a:ext cx="5556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167968" name="Group 44"/>
            <p:cNvGrpSpPr>
              <a:grpSpLocks/>
            </p:cNvGrpSpPr>
            <p:nvPr/>
          </p:nvGrpSpPr>
          <p:grpSpPr bwMode="auto">
            <a:xfrm>
              <a:off x="-847912" y="4896784"/>
              <a:ext cx="568325" cy="481013"/>
              <a:chOff x="-44" y="1473"/>
              <a:chExt cx="981" cy="1105"/>
            </a:xfrm>
          </p:grpSpPr>
          <p:pic>
            <p:nvPicPr>
              <p:cNvPr id="168010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68011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296 w 356"/>
                  <a:gd name="T3" fmla="*/ 69 h 368"/>
                  <a:gd name="T4" fmla="*/ 1537 w 356"/>
                  <a:gd name="T5" fmla="*/ 1447 h 368"/>
                  <a:gd name="T6" fmla="*/ 339 w 356"/>
                  <a:gd name="T7" fmla="*/ 181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67969" name="Group 44"/>
            <p:cNvGrpSpPr>
              <a:grpSpLocks/>
            </p:cNvGrpSpPr>
            <p:nvPr/>
          </p:nvGrpSpPr>
          <p:grpSpPr bwMode="auto">
            <a:xfrm>
              <a:off x="-390712" y="4965047"/>
              <a:ext cx="568325" cy="481012"/>
              <a:chOff x="-44" y="1473"/>
              <a:chExt cx="981" cy="1105"/>
            </a:xfrm>
          </p:grpSpPr>
          <p:pic>
            <p:nvPicPr>
              <p:cNvPr id="168008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68009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296 w 356"/>
                  <a:gd name="T3" fmla="*/ 69 h 368"/>
                  <a:gd name="T4" fmla="*/ 1537 w 356"/>
                  <a:gd name="T5" fmla="*/ 1447 h 368"/>
                  <a:gd name="T6" fmla="*/ 339 w 356"/>
                  <a:gd name="T7" fmla="*/ 181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pic>
          <p:nvPicPr>
            <p:cNvPr id="280" name="Picture 3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300349" y="4079928"/>
              <a:ext cx="677862" cy="300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pic>
          <p:nvPicPr>
            <p:cNvPr id="281" name="Picture 3"/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549462" y="4494532"/>
              <a:ext cx="677863" cy="3018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grpSp>
          <p:nvGrpSpPr>
            <p:cNvPr id="167972" name="Group 44"/>
            <p:cNvGrpSpPr>
              <a:grpSpLocks/>
            </p:cNvGrpSpPr>
            <p:nvPr/>
          </p:nvGrpSpPr>
          <p:grpSpPr bwMode="auto">
            <a:xfrm>
              <a:off x="-568325" y="3855945"/>
              <a:ext cx="568325" cy="481013"/>
              <a:chOff x="-44" y="1473"/>
              <a:chExt cx="981" cy="1105"/>
            </a:xfrm>
          </p:grpSpPr>
          <p:pic>
            <p:nvPicPr>
              <p:cNvPr id="168006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68007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296 w 356"/>
                  <a:gd name="T3" fmla="*/ 69 h 368"/>
                  <a:gd name="T4" fmla="*/ 1537 w 356"/>
                  <a:gd name="T5" fmla="*/ 1447 h 368"/>
                  <a:gd name="T6" fmla="*/ 339 w 356"/>
                  <a:gd name="T7" fmla="*/ 181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67973" name="Group 906"/>
            <p:cNvGrpSpPr>
              <a:grpSpLocks/>
            </p:cNvGrpSpPr>
            <p:nvPr/>
          </p:nvGrpSpPr>
          <p:grpSpPr bwMode="auto">
            <a:xfrm>
              <a:off x="-1598706" y="4467413"/>
              <a:ext cx="285924" cy="537882"/>
              <a:chOff x="4140" y="429"/>
              <a:chExt cx="1425" cy="2396"/>
            </a:xfrm>
          </p:grpSpPr>
          <p:sp>
            <p:nvSpPr>
              <p:cNvPr id="167974" name="Freeform 907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1 w 354"/>
                  <a:gd name="T1" fmla="*/ 0 h 2742"/>
                  <a:gd name="T2" fmla="*/ 116 w 354"/>
                  <a:gd name="T3" fmla="*/ 137 h 2742"/>
                  <a:gd name="T4" fmla="*/ 114 w 354"/>
                  <a:gd name="T5" fmla="*/ 1057 h 2742"/>
                  <a:gd name="T6" fmla="*/ 0 w 354"/>
                  <a:gd name="T7" fmla="*/ 1105 h 2742"/>
                  <a:gd name="T8" fmla="*/ 21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85" name="Rectangle 908"/>
              <p:cNvSpPr>
                <a:spLocks noChangeArrowheads="1"/>
              </p:cNvSpPr>
              <p:nvPr/>
            </p:nvSpPr>
            <p:spPr bwMode="auto">
              <a:xfrm>
                <a:off x="4211" y="430"/>
                <a:ext cx="1036" cy="2286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167976" name="Freeform 909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70 w 211"/>
                  <a:gd name="T3" fmla="*/ 88 h 2537"/>
                  <a:gd name="T4" fmla="*/ 2 w 211"/>
                  <a:gd name="T5" fmla="*/ 1007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67977" name="Freeform 910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09 w 328"/>
                  <a:gd name="T3" fmla="*/ 52 h 226"/>
                  <a:gd name="T4" fmla="*/ 108 w 328"/>
                  <a:gd name="T5" fmla="*/ 92 h 226"/>
                  <a:gd name="T6" fmla="*/ 0 w 328"/>
                  <a:gd name="T7" fmla="*/ 41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88" name="Rectangle 911"/>
              <p:cNvSpPr>
                <a:spLocks noChangeArrowheads="1"/>
              </p:cNvSpPr>
              <p:nvPr/>
            </p:nvSpPr>
            <p:spPr bwMode="auto">
              <a:xfrm>
                <a:off x="4211" y="691"/>
                <a:ext cx="593" cy="50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grpSp>
            <p:nvGrpSpPr>
              <p:cNvPr id="167979" name="Group 912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314" name="AutoShape 913"/>
                <p:cNvSpPr>
                  <a:spLocks noChangeArrowheads="1"/>
                </p:cNvSpPr>
                <p:nvPr/>
              </p:nvSpPr>
              <p:spPr bwMode="auto">
                <a:xfrm>
                  <a:off x="614" y="2570"/>
                  <a:ext cx="721" cy="12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15" name="AutoShape 914"/>
                <p:cNvSpPr>
                  <a:spLocks noChangeArrowheads="1"/>
                </p:cNvSpPr>
                <p:nvPr/>
              </p:nvSpPr>
              <p:spPr bwMode="auto">
                <a:xfrm>
                  <a:off x="633" y="2584"/>
                  <a:ext cx="691" cy="102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</p:grpSp>
          <p:sp>
            <p:nvSpPr>
              <p:cNvPr id="290" name="Rectangle 915"/>
              <p:cNvSpPr>
                <a:spLocks noChangeArrowheads="1"/>
              </p:cNvSpPr>
              <p:nvPr/>
            </p:nvSpPr>
            <p:spPr bwMode="auto">
              <a:xfrm>
                <a:off x="4227" y="1024"/>
                <a:ext cx="593" cy="4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grpSp>
            <p:nvGrpSpPr>
              <p:cNvPr id="167981" name="Group 916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312" name="AutoShape 917"/>
                <p:cNvSpPr>
                  <a:spLocks noChangeArrowheads="1"/>
                </p:cNvSpPr>
                <p:nvPr/>
              </p:nvSpPr>
              <p:spPr bwMode="auto">
                <a:xfrm>
                  <a:off x="616" y="2570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13" name="AutoShape 918"/>
                <p:cNvSpPr>
                  <a:spLocks noChangeArrowheads="1"/>
                </p:cNvSpPr>
                <p:nvPr/>
              </p:nvSpPr>
              <p:spPr bwMode="auto">
                <a:xfrm>
                  <a:off x="626" y="2584"/>
                  <a:ext cx="701" cy="11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</p:grpSp>
          <p:sp>
            <p:nvSpPr>
              <p:cNvPr id="292" name="Rectangle 919"/>
              <p:cNvSpPr>
                <a:spLocks noChangeArrowheads="1"/>
              </p:cNvSpPr>
              <p:nvPr/>
            </p:nvSpPr>
            <p:spPr bwMode="auto">
              <a:xfrm>
                <a:off x="4211" y="1364"/>
                <a:ext cx="601" cy="4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293" name="Rectangle 920"/>
              <p:cNvSpPr>
                <a:spLocks noChangeArrowheads="1"/>
              </p:cNvSpPr>
              <p:nvPr/>
            </p:nvSpPr>
            <p:spPr bwMode="auto">
              <a:xfrm>
                <a:off x="4227" y="1661"/>
                <a:ext cx="593" cy="4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grpSp>
            <p:nvGrpSpPr>
              <p:cNvPr id="167984" name="Group 921"/>
              <p:cNvGrpSpPr>
                <a:grpSpLocks/>
              </p:cNvGrpSpPr>
              <p:nvPr/>
            </p:nvGrpSpPr>
            <p:grpSpPr bwMode="auto">
              <a:xfrm>
                <a:off x="4733" y="1630"/>
                <a:ext cx="586" cy="151"/>
                <a:chOff x="611" y="2571"/>
                <a:chExt cx="730" cy="139"/>
              </a:xfrm>
            </p:grpSpPr>
            <p:sp>
              <p:nvSpPr>
                <p:cNvPr id="310" name="AutoShape 922"/>
                <p:cNvSpPr>
                  <a:spLocks noChangeArrowheads="1"/>
                </p:cNvSpPr>
                <p:nvPr/>
              </p:nvSpPr>
              <p:spPr bwMode="auto">
                <a:xfrm>
                  <a:off x="611" y="2573"/>
                  <a:ext cx="729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11" name="AutoShape 923"/>
                <p:cNvSpPr>
                  <a:spLocks noChangeArrowheads="1"/>
                </p:cNvSpPr>
                <p:nvPr/>
              </p:nvSpPr>
              <p:spPr bwMode="auto">
                <a:xfrm>
                  <a:off x="631" y="2593"/>
                  <a:ext cx="690" cy="10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</p:grpSp>
          <p:sp>
            <p:nvSpPr>
              <p:cNvPr id="167985" name="Freeform 924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09 w 328"/>
                  <a:gd name="T3" fmla="*/ 51 h 226"/>
                  <a:gd name="T4" fmla="*/ 108 w 328"/>
                  <a:gd name="T5" fmla="*/ 90 h 226"/>
                  <a:gd name="T6" fmla="*/ 0 w 328"/>
                  <a:gd name="T7" fmla="*/ 39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grpSp>
            <p:nvGrpSpPr>
              <p:cNvPr id="167986" name="Group 925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308" name="AutoShape 926"/>
                <p:cNvSpPr>
                  <a:spLocks noChangeArrowheads="1"/>
                </p:cNvSpPr>
                <p:nvPr/>
              </p:nvSpPr>
              <p:spPr bwMode="auto">
                <a:xfrm>
                  <a:off x="616" y="2569"/>
                  <a:ext cx="710" cy="142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09" name="AutoShape 927"/>
                <p:cNvSpPr>
                  <a:spLocks noChangeArrowheads="1"/>
                </p:cNvSpPr>
                <p:nvPr/>
              </p:nvSpPr>
              <p:spPr bwMode="auto">
                <a:xfrm>
                  <a:off x="636" y="2583"/>
                  <a:ext cx="680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</p:grpSp>
          <p:sp>
            <p:nvSpPr>
              <p:cNvPr id="297" name="Rectangle 928"/>
              <p:cNvSpPr>
                <a:spLocks noChangeArrowheads="1"/>
              </p:cNvSpPr>
              <p:nvPr/>
            </p:nvSpPr>
            <p:spPr bwMode="auto">
              <a:xfrm>
                <a:off x="5247" y="430"/>
                <a:ext cx="71" cy="2293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167988" name="Freeform 929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96 w 296"/>
                  <a:gd name="T3" fmla="*/ 57 h 256"/>
                  <a:gd name="T4" fmla="*/ 98 w 296"/>
                  <a:gd name="T5" fmla="*/ 102 h 256"/>
                  <a:gd name="T6" fmla="*/ 0 w 296"/>
                  <a:gd name="T7" fmla="*/ 39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67989" name="Freeform 930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01 w 304"/>
                  <a:gd name="T3" fmla="*/ 66 h 288"/>
                  <a:gd name="T4" fmla="*/ 95 w 304"/>
                  <a:gd name="T5" fmla="*/ 116 h 288"/>
                  <a:gd name="T6" fmla="*/ 2 w 304"/>
                  <a:gd name="T7" fmla="*/ 5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300" name="Oval 931"/>
              <p:cNvSpPr>
                <a:spLocks noChangeArrowheads="1"/>
              </p:cNvSpPr>
              <p:nvPr/>
            </p:nvSpPr>
            <p:spPr bwMode="auto">
              <a:xfrm>
                <a:off x="5516" y="2609"/>
                <a:ext cx="47" cy="99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167991" name="Freeform 932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43 h 240"/>
                  <a:gd name="T2" fmla="*/ 2 w 306"/>
                  <a:gd name="T3" fmla="*/ 97 h 240"/>
                  <a:gd name="T4" fmla="*/ 101 w 306"/>
                  <a:gd name="T5" fmla="*/ 44 h 240"/>
                  <a:gd name="T6" fmla="*/ 98 w 306"/>
                  <a:gd name="T7" fmla="*/ 0 h 240"/>
                  <a:gd name="T8" fmla="*/ 0 w 306"/>
                  <a:gd name="T9" fmla="*/ 43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302" name="AutoShape 933"/>
              <p:cNvSpPr>
                <a:spLocks noChangeArrowheads="1"/>
              </p:cNvSpPr>
              <p:nvPr/>
            </p:nvSpPr>
            <p:spPr bwMode="auto">
              <a:xfrm>
                <a:off x="4140" y="2687"/>
                <a:ext cx="1195" cy="142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303" name="AutoShape 934"/>
              <p:cNvSpPr>
                <a:spLocks noChangeArrowheads="1"/>
              </p:cNvSpPr>
              <p:nvPr/>
            </p:nvSpPr>
            <p:spPr bwMode="auto">
              <a:xfrm>
                <a:off x="4211" y="2715"/>
                <a:ext cx="1060" cy="7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304" name="Oval 935"/>
              <p:cNvSpPr>
                <a:spLocks noChangeArrowheads="1"/>
              </p:cNvSpPr>
              <p:nvPr/>
            </p:nvSpPr>
            <p:spPr bwMode="auto">
              <a:xfrm>
                <a:off x="4306" y="2390"/>
                <a:ext cx="158" cy="13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305" name="Oval 936"/>
              <p:cNvSpPr>
                <a:spLocks noChangeArrowheads="1"/>
              </p:cNvSpPr>
              <p:nvPr/>
            </p:nvSpPr>
            <p:spPr bwMode="auto">
              <a:xfrm>
                <a:off x="4488" y="2390"/>
                <a:ext cx="158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1" hangingPunct="1">
                  <a:defRPr/>
                </a:pPr>
                <a:endParaRPr lang="en-US" dirty="0">
                  <a:solidFill>
                    <a:srgbClr val="FF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306" name="Oval 937"/>
              <p:cNvSpPr>
                <a:spLocks noChangeArrowheads="1"/>
              </p:cNvSpPr>
              <p:nvPr/>
            </p:nvSpPr>
            <p:spPr bwMode="auto">
              <a:xfrm>
                <a:off x="4662" y="2383"/>
                <a:ext cx="158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307" name="Rectangle 938"/>
              <p:cNvSpPr>
                <a:spLocks noChangeArrowheads="1"/>
              </p:cNvSpPr>
              <p:nvPr/>
            </p:nvSpPr>
            <p:spPr bwMode="auto">
              <a:xfrm>
                <a:off x="5057" y="1838"/>
                <a:ext cx="87" cy="757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</p:grpSp>
      <p:pic>
        <p:nvPicPr>
          <p:cNvPr id="167945" name="Picture 19" descr="underline_base"/>
          <p:cNvPicPr>
            <a:picLocks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550" y="1004888"/>
            <a:ext cx="5605463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7947" name="Oval 355"/>
          <p:cNvSpPr>
            <a:spLocks noChangeArrowheads="1"/>
          </p:cNvSpPr>
          <p:nvPr/>
        </p:nvSpPr>
        <p:spPr bwMode="auto">
          <a:xfrm>
            <a:off x="4954588" y="1614488"/>
            <a:ext cx="1435100" cy="40798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67948" name="Rectangle 2"/>
          <p:cNvSpPr>
            <a:spLocks noGrp="1" noChangeArrowheads="1"/>
          </p:cNvSpPr>
          <p:nvPr>
            <p:ph type="title"/>
          </p:nvPr>
        </p:nvSpPr>
        <p:spPr>
          <a:xfrm>
            <a:off x="409575" y="200025"/>
            <a:ext cx="7772400" cy="1143000"/>
          </a:xfrm>
        </p:spPr>
        <p:txBody>
          <a:bodyPr/>
          <a:lstStyle/>
          <a:p>
            <a:r>
              <a:rPr lang="en-US" dirty="0">
                <a:latin typeface="Gill Sans MT" charset="0"/>
              </a:rPr>
              <a:t>Stateless packet filtering</a:t>
            </a:r>
          </a:p>
        </p:txBody>
      </p:sp>
      <p:sp>
        <p:nvSpPr>
          <p:cNvPr id="16794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77838" y="3711575"/>
            <a:ext cx="7512050" cy="287972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 dirty="0">
                <a:latin typeface="Gill Sans MT" charset="0"/>
              </a:rPr>
              <a:t>internal network connected to Internet via</a:t>
            </a:r>
            <a:r>
              <a:rPr lang="en-US" sz="2400" dirty="0">
                <a:solidFill>
                  <a:srgbClr val="FF0000"/>
                </a:solidFill>
                <a:latin typeface="Gill Sans MT" charset="0"/>
              </a:rPr>
              <a:t> </a:t>
            </a:r>
            <a:r>
              <a:rPr lang="en-US" sz="2400" i="1" dirty="0">
                <a:solidFill>
                  <a:srgbClr val="CC0000"/>
                </a:solidFill>
                <a:latin typeface="Gill Sans MT" charset="0"/>
              </a:rPr>
              <a:t>router firewall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latin typeface="Gill Sans MT" charset="0"/>
              </a:rPr>
              <a:t>router</a:t>
            </a:r>
            <a:r>
              <a:rPr lang="en-US" sz="2400" i="1" dirty="0">
                <a:solidFill>
                  <a:srgbClr val="CC0000"/>
                </a:solidFill>
                <a:latin typeface="Gill Sans MT" charset="0"/>
              </a:rPr>
              <a:t> filters packet-by-packet, </a:t>
            </a:r>
            <a:r>
              <a:rPr lang="en-US" sz="2400" dirty="0">
                <a:latin typeface="Gill Sans MT" charset="0"/>
              </a:rPr>
              <a:t>decision to forward/drop packet based on:</a:t>
            </a:r>
          </a:p>
          <a:p>
            <a:pPr lvl="1">
              <a:lnSpc>
                <a:spcPct val="90000"/>
              </a:lnSpc>
            </a:pPr>
            <a:r>
              <a:rPr lang="en-US" dirty="0">
                <a:latin typeface="Gill Sans MT" charset="0"/>
              </a:rPr>
              <a:t>source IP address, destination IP address</a:t>
            </a:r>
          </a:p>
          <a:p>
            <a:pPr lvl="1">
              <a:lnSpc>
                <a:spcPct val="90000"/>
              </a:lnSpc>
            </a:pPr>
            <a:r>
              <a:rPr lang="en-US" dirty="0">
                <a:latin typeface="Gill Sans MT" charset="0"/>
              </a:rPr>
              <a:t>TCP/UDP source and destination port numbers</a:t>
            </a:r>
          </a:p>
          <a:p>
            <a:pPr lvl="1">
              <a:lnSpc>
                <a:spcPct val="90000"/>
              </a:lnSpc>
            </a:pPr>
            <a:r>
              <a:rPr lang="en-US" dirty="0">
                <a:latin typeface="Gill Sans MT" charset="0"/>
              </a:rPr>
              <a:t>ICMP message type</a:t>
            </a:r>
          </a:p>
          <a:p>
            <a:pPr lvl="1">
              <a:lnSpc>
                <a:spcPct val="90000"/>
              </a:lnSpc>
            </a:pPr>
            <a:r>
              <a:rPr lang="en-US" dirty="0">
                <a:latin typeface="Gill Sans MT" charset="0"/>
              </a:rPr>
              <a:t>TCP SYN and ACK bits</a:t>
            </a:r>
          </a:p>
        </p:txBody>
      </p:sp>
      <p:sp>
        <p:nvSpPr>
          <p:cNvPr id="167950" name="Rectangle 349"/>
          <p:cNvSpPr>
            <a:spLocks noChangeArrowheads="1"/>
          </p:cNvSpPr>
          <p:nvPr/>
        </p:nvSpPr>
        <p:spPr bwMode="auto">
          <a:xfrm>
            <a:off x="4908550" y="2462213"/>
            <a:ext cx="493713" cy="889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67951" name="Line 350"/>
          <p:cNvSpPr>
            <a:spLocks noChangeShapeType="1"/>
          </p:cNvSpPr>
          <p:nvPr/>
        </p:nvSpPr>
        <p:spPr bwMode="auto">
          <a:xfrm flipH="1">
            <a:off x="4711700" y="2378075"/>
            <a:ext cx="50641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67952" name="Rectangle 351"/>
          <p:cNvSpPr>
            <a:spLocks noChangeArrowheads="1"/>
          </p:cNvSpPr>
          <p:nvPr/>
        </p:nvSpPr>
        <p:spPr bwMode="auto">
          <a:xfrm>
            <a:off x="3554413" y="2754313"/>
            <a:ext cx="493712" cy="889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67953" name="Line 352"/>
          <p:cNvSpPr>
            <a:spLocks noChangeShapeType="1"/>
          </p:cNvSpPr>
          <p:nvPr/>
        </p:nvSpPr>
        <p:spPr bwMode="auto">
          <a:xfrm flipH="1">
            <a:off x="3709988" y="2911475"/>
            <a:ext cx="5064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67954" name="Oval 356"/>
          <p:cNvSpPr>
            <a:spLocks noChangeArrowheads="1"/>
          </p:cNvSpPr>
          <p:nvPr/>
        </p:nvSpPr>
        <p:spPr bwMode="auto">
          <a:xfrm>
            <a:off x="4541838" y="1751013"/>
            <a:ext cx="815975" cy="19685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67955" name="Oval 357"/>
          <p:cNvSpPr>
            <a:spLocks noChangeArrowheads="1"/>
          </p:cNvSpPr>
          <p:nvPr/>
        </p:nvSpPr>
        <p:spPr bwMode="auto">
          <a:xfrm>
            <a:off x="4457700" y="1906588"/>
            <a:ext cx="350838" cy="15398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grpSp>
        <p:nvGrpSpPr>
          <p:cNvPr id="167956" name="Group 2"/>
          <p:cNvGrpSpPr>
            <a:grpSpLocks/>
          </p:cNvGrpSpPr>
          <p:nvPr/>
        </p:nvGrpSpPr>
        <p:grpSpPr bwMode="auto">
          <a:xfrm>
            <a:off x="5894388" y="958850"/>
            <a:ext cx="2897187" cy="1425575"/>
            <a:chOff x="5670550" y="1182688"/>
            <a:chExt cx="2897188" cy="1425575"/>
          </a:xfrm>
        </p:grpSpPr>
        <p:sp>
          <p:nvSpPr>
            <p:cNvPr id="167957" name="Oval 354"/>
            <p:cNvSpPr>
              <a:spLocks noChangeArrowheads="1"/>
            </p:cNvSpPr>
            <p:nvPr/>
          </p:nvSpPr>
          <p:spPr bwMode="auto">
            <a:xfrm>
              <a:off x="5670550" y="1182688"/>
              <a:ext cx="2897188" cy="140493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67958" name="Text Box 353"/>
            <p:cNvSpPr txBox="1">
              <a:spLocks noChangeArrowheads="1"/>
            </p:cNvSpPr>
            <p:nvPr/>
          </p:nvSpPr>
          <p:spPr bwMode="auto">
            <a:xfrm>
              <a:off x="5882437" y="1296988"/>
              <a:ext cx="2671762" cy="1311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dirty="0">
                  <a:latin typeface="Arial" charset="0"/>
                  <a:cs typeface="Arial" charset="0"/>
                </a:rPr>
                <a:t>Should arriving packet be allowed in? Departing packet let out?</a:t>
              </a:r>
            </a:p>
          </p:txBody>
        </p:sp>
      </p:grpSp>
      <p:sp>
        <p:nvSpPr>
          <p:cNvPr id="121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55</a:t>
            </a:fld>
            <a:endParaRPr lang="en-US" sz="1200" dirty="0">
              <a:latin typeface="Tahoma" charset="0"/>
            </a:endParaRPr>
          </a:p>
        </p:txBody>
      </p:sp>
      <p:sp>
        <p:nvSpPr>
          <p:cNvPr id="122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158921599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5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8262938" cy="1143000"/>
          </a:xfrm>
        </p:spPr>
        <p:txBody>
          <a:bodyPr/>
          <a:lstStyle/>
          <a:p>
            <a:r>
              <a:rPr lang="en-US" dirty="0">
                <a:latin typeface="Gill Sans MT" charset="0"/>
              </a:rPr>
              <a:t>Stateless packet filtering: example</a:t>
            </a:r>
          </a:p>
        </p:txBody>
      </p:sp>
      <p:pic>
        <p:nvPicPr>
          <p:cNvPr id="169986" name="Picture 15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025" y="1042988"/>
            <a:ext cx="7769225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9988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673100" y="1522413"/>
            <a:ext cx="7566025" cy="4183062"/>
          </a:xfrm>
        </p:spPr>
        <p:txBody>
          <a:bodyPr/>
          <a:lstStyle/>
          <a:p>
            <a:r>
              <a:rPr lang="en-US" sz="2400" i="1" dirty="0">
                <a:solidFill>
                  <a:srgbClr val="CC0000"/>
                </a:solidFill>
                <a:latin typeface="Gill Sans MT" charset="0"/>
              </a:rPr>
              <a:t>example 1: </a:t>
            </a:r>
            <a:r>
              <a:rPr lang="en-US" sz="2400" dirty="0">
                <a:latin typeface="Gill Sans MT" charset="0"/>
              </a:rPr>
              <a:t>block incoming and outgoing datagrams with IP protocol field = 17 and with either source or dest port = 23</a:t>
            </a:r>
          </a:p>
          <a:p>
            <a:pPr lvl="1"/>
            <a:r>
              <a:rPr lang="en-US" i="1" dirty="0">
                <a:solidFill>
                  <a:srgbClr val="000099"/>
                </a:solidFill>
                <a:latin typeface="Gill Sans MT" charset="0"/>
              </a:rPr>
              <a:t>result: </a:t>
            </a:r>
            <a:r>
              <a:rPr lang="en-US" dirty="0">
                <a:latin typeface="Gill Sans MT" charset="0"/>
              </a:rPr>
              <a:t>all incoming, outgoing UDP flows and telnet connections are blocked</a:t>
            </a:r>
          </a:p>
          <a:p>
            <a:r>
              <a:rPr lang="en-US" sz="2400" i="1" dirty="0">
                <a:solidFill>
                  <a:srgbClr val="CC0000"/>
                </a:solidFill>
                <a:latin typeface="Gill Sans MT" charset="0"/>
              </a:rPr>
              <a:t>example 2: </a:t>
            </a:r>
            <a:r>
              <a:rPr lang="en-US" sz="2400" dirty="0">
                <a:latin typeface="Gill Sans MT" charset="0"/>
              </a:rPr>
              <a:t>block inbound TCP segments with ACK=0.</a:t>
            </a:r>
          </a:p>
          <a:p>
            <a:pPr lvl="1"/>
            <a:r>
              <a:rPr lang="en-US" i="1" dirty="0">
                <a:solidFill>
                  <a:srgbClr val="000099"/>
                </a:solidFill>
                <a:latin typeface="Gill Sans MT" charset="0"/>
              </a:rPr>
              <a:t>result: </a:t>
            </a:r>
            <a:r>
              <a:rPr lang="en-US" dirty="0">
                <a:latin typeface="Gill Sans MT" charset="0"/>
              </a:rPr>
              <a:t>prevents external clients from making TCP connections with internal clients, but allows internal clients to connect to outside.</a:t>
            </a:r>
          </a:p>
        </p:txBody>
      </p:sp>
      <p:sp>
        <p:nvSpPr>
          <p:cNvPr id="6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56</a:t>
            </a:fld>
            <a:endParaRPr lang="en-US" sz="1200" dirty="0">
              <a:latin typeface="Tahoma" charset="0"/>
            </a:endParaRPr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31572200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033" name="Picture 6" descr="underline_bas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13" y="1023938"/>
            <a:ext cx="82280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35196" name="Group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9546987"/>
              </p:ext>
            </p:extLst>
          </p:nvPr>
        </p:nvGraphicFramePr>
        <p:xfrm>
          <a:off x="711200" y="1490663"/>
          <a:ext cx="7854950" cy="4732337"/>
        </p:xfrm>
        <a:graphic>
          <a:graphicData uri="http://schemas.openxmlformats.org/drawingml/2006/table">
            <a:tbl>
              <a:tblPr/>
              <a:tblGrid>
                <a:gridCol w="39290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58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013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charset="0"/>
                        <a:buNone/>
                        <a:tabLst/>
                      </a:pPr>
                      <a:r>
                        <a:rPr kumimoji="0" lang="en-US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Arial"/>
                          <a:ea typeface="ＭＳ Ｐゴシック" charset="0"/>
                          <a:cs typeface="Arial"/>
                        </a:rPr>
                        <a:t>Policy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/>
                          <a:ea typeface="ＭＳ Ｐゴシック" charset="0"/>
                          <a:cs typeface="Arial"/>
                        </a:rPr>
                        <a:t>Firewall Setting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9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Arial"/>
                          <a:ea typeface="ＭＳ Ｐゴシック" charset="0"/>
                          <a:cs typeface="Arial"/>
                        </a:rPr>
                        <a:t>No outside Web access.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Arial"/>
                        <a:ea typeface="ＭＳ Ｐゴシック" charset="0"/>
                        <a:cs typeface="Arial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/>
                          <a:ea typeface="ＭＳ Ｐゴシック" charset="0"/>
                          <a:cs typeface="Arial"/>
                        </a:rPr>
                        <a:t>Drop all outgoing packets to any IP address, port 80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latin typeface="Arial"/>
                        <a:ea typeface="ＭＳ Ｐゴシック" charset="0"/>
                        <a:cs typeface="Arial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596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Arial"/>
                          <a:ea typeface="ＭＳ Ｐゴシック" charset="0"/>
                          <a:cs typeface="Arial"/>
                        </a:rPr>
                        <a:t>No incoming TCP connections, except those for institution</a:t>
                      </a:r>
                      <a:r>
                        <a:rPr kumimoji="0" lang="ja-JP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Arial"/>
                          <a:ea typeface="ＭＳ Ｐゴシック" charset="0"/>
                          <a:cs typeface="Arial"/>
                        </a:rPr>
                        <a:t>’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Arial"/>
                          <a:ea typeface="ＭＳ Ｐゴシック" charset="0"/>
                          <a:cs typeface="Arial"/>
                        </a:rPr>
                        <a:t>s public Web server only.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Arial"/>
                        <a:ea typeface="ＭＳ Ｐゴシック" charset="0"/>
                        <a:cs typeface="Arial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/>
                          <a:ea typeface="ＭＳ Ｐゴシック" charset="0"/>
                          <a:cs typeface="Arial"/>
                        </a:rPr>
                        <a:t>Drop all incoming TCP SYN packets to any IP except 130.207.244.203, port 80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29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Arial"/>
                          <a:ea typeface="ＭＳ Ｐゴシック" charset="0"/>
                          <a:cs typeface="Arial"/>
                        </a:rPr>
                        <a:t>Prevent Web-radios from eating up the available bandwidth.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Arial"/>
                        <a:ea typeface="ＭＳ Ｐゴシック" charset="0"/>
                        <a:cs typeface="Arial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/>
                          <a:ea typeface="ＭＳ Ｐゴシック" charset="0"/>
                          <a:cs typeface="Arial"/>
                        </a:rPr>
                        <a:t>Drop all incoming UDP packets - except DNS and router broadcasts.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latin typeface="Arial"/>
                        <a:ea typeface="ＭＳ Ｐゴシック" charset="0"/>
                        <a:cs typeface="Arial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51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Arial"/>
                          <a:ea typeface="ＭＳ Ｐゴシック" charset="0"/>
                          <a:cs typeface="Arial"/>
                        </a:rPr>
                        <a:t>Prevent your network from being used for a smurf DoS attack.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Arial"/>
                        <a:ea typeface="ＭＳ Ｐゴシック" charset="0"/>
                        <a:cs typeface="Arial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/>
                          <a:ea typeface="ＭＳ Ｐゴシック" charset="0"/>
                          <a:cs typeface="Arial"/>
                        </a:rPr>
                        <a:t>Drop all ICMP packets going to a </a:t>
                      </a:r>
                      <a:r>
                        <a:rPr kumimoji="0" lang="ja-JP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/>
                          <a:ea typeface="ＭＳ Ｐゴシック" charset="0"/>
                          <a:cs typeface="Arial"/>
                        </a:rPr>
                        <a:t>“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/>
                          <a:ea typeface="ＭＳ Ｐゴシック" charset="0"/>
                          <a:cs typeface="Arial"/>
                        </a:rPr>
                        <a:t>broadcast</a:t>
                      </a:r>
                      <a:r>
                        <a:rPr kumimoji="0" lang="ja-JP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/>
                          <a:ea typeface="ＭＳ Ｐゴシック" charset="0"/>
                          <a:cs typeface="Arial"/>
                        </a:rPr>
                        <a:t>”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/>
                          <a:ea typeface="ＭＳ Ｐゴシック" charset="0"/>
                          <a:cs typeface="Arial"/>
                        </a:rPr>
                        <a:t> address (e.g. 130.207.255.255).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latin typeface="Arial"/>
                        <a:ea typeface="ＭＳ Ｐゴシック" charset="0"/>
                        <a:cs typeface="Arial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129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Arial"/>
                          <a:ea typeface="ＭＳ Ｐゴシック" charset="0"/>
                          <a:cs typeface="Arial"/>
                        </a:rPr>
                        <a:t>Prevent your network from being tracerouted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/>
                          <a:ea typeface="ＭＳ Ｐゴシック" charset="0"/>
                          <a:cs typeface="Arial"/>
                        </a:rPr>
                        <a:t>Drop all outgoing ICMP TTL expired traffic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latin typeface="Arial"/>
                        <a:ea typeface="ＭＳ Ｐゴシック" charset="0"/>
                        <a:cs typeface="Arial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2058" name="Rectangle 26"/>
          <p:cNvSpPr>
            <a:spLocks noGrp="1" noChangeArrowheads="1"/>
          </p:cNvSpPr>
          <p:nvPr>
            <p:ph type="title"/>
          </p:nvPr>
        </p:nvSpPr>
        <p:spPr>
          <a:xfrm>
            <a:off x="247650" y="228600"/>
            <a:ext cx="8786813" cy="1143000"/>
          </a:xfrm>
          <a:noFill/>
        </p:spPr>
        <p:txBody>
          <a:bodyPr/>
          <a:lstStyle/>
          <a:p>
            <a:r>
              <a:rPr lang="en-US" sz="4000" dirty="0">
                <a:latin typeface="Gill Sans MT" charset="0"/>
              </a:rPr>
              <a:t>Stateless packet filtering</a:t>
            </a:r>
            <a:r>
              <a:rPr lang="en-US" sz="3600" dirty="0">
                <a:latin typeface="Gill Sans MT" charset="0"/>
              </a:rPr>
              <a:t>: more examples</a:t>
            </a:r>
          </a:p>
        </p:txBody>
      </p:sp>
      <p:sp>
        <p:nvSpPr>
          <p:cNvPr id="6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57</a:t>
            </a:fld>
            <a:endParaRPr lang="en-US" sz="1200" dirty="0">
              <a:latin typeface="Tahoma" charset="0"/>
            </a:endParaRPr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138063717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6255" name="Group 6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6609107"/>
              </p:ext>
            </p:extLst>
          </p:nvPr>
        </p:nvGraphicFramePr>
        <p:xfrm>
          <a:off x="433388" y="2420938"/>
          <a:ext cx="8418512" cy="3903790"/>
        </p:xfrm>
        <a:graphic>
          <a:graphicData uri="http://schemas.openxmlformats.org/drawingml/2006/table">
            <a:tbl>
              <a:tblPr/>
              <a:tblGrid>
                <a:gridCol w="12280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97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94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30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150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97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4359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931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action</a:t>
                      </a:r>
                    </a:p>
                  </a:txBody>
                  <a:tcPr marL="91427" marR="91427" marT="44815" marB="448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source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address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dest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address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protocol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source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port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dest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port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flag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bit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31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allow</a:t>
                      </a:r>
                    </a:p>
                  </a:txBody>
                  <a:tcPr marL="91427" marR="91427" marT="44815" marB="448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222.22/16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outside of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222.22/16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TCP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&gt; 1023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80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any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912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allow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91427" marR="91427" marT="44815" marB="448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outside of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222.22/16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222.22/16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TCP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80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&gt; 1023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ACK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31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allow</a:t>
                      </a:r>
                    </a:p>
                  </a:txBody>
                  <a:tcPr marL="91427" marR="91427" marT="44815" marB="448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222.22/16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outside of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222.22/16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UDP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&gt; 1023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53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---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31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allow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91427" marR="91427" marT="44815" marB="448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outside of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222.22/16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222.22/16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UDP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53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&gt; 1023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----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212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deny</a:t>
                      </a:r>
                    </a:p>
                  </a:txBody>
                  <a:tcPr marL="91427" marR="91427" marT="44815" marB="448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all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all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all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all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all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all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4140" name="Rectangle 60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dirty="0">
                <a:latin typeface="Gill Sans MT" charset="0"/>
              </a:rPr>
              <a:t>Access Control Lists</a:t>
            </a:r>
          </a:p>
        </p:txBody>
      </p:sp>
      <p:sp>
        <p:nvSpPr>
          <p:cNvPr id="174141" name="Rectangle 61"/>
          <p:cNvSpPr>
            <a:spLocks noChangeArrowheads="1"/>
          </p:cNvSpPr>
          <p:nvPr/>
        </p:nvSpPr>
        <p:spPr bwMode="auto">
          <a:xfrm>
            <a:off x="522288" y="1244604"/>
            <a:ext cx="8209910" cy="101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20000"/>
              </a:spcBef>
              <a:buClr>
                <a:srgbClr val="000099"/>
              </a:buClr>
              <a:buSzPct val="75000"/>
            </a:pPr>
            <a:r>
              <a:rPr lang="en-US" sz="3200" i="1" dirty="0">
                <a:solidFill>
                  <a:srgbClr val="CC0000"/>
                </a:solidFill>
                <a:latin typeface="Gill Sans MT" charset="0"/>
                <a:cs typeface="Gill Sans MT" charset="0"/>
              </a:rPr>
              <a:t>ACL:</a:t>
            </a:r>
            <a:r>
              <a:rPr lang="en-US" sz="2400" dirty="0">
                <a:solidFill>
                  <a:srgbClr val="CC0000"/>
                </a:solidFill>
                <a:latin typeface="Gill Sans MT" charset="0"/>
                <a:cs typeface="Gill Sans MT" charset="0"/>
              </a:rPr>
              <a:t> </a:t>
            </a:r>
            <a:r>
              <a:rPr lang="en-US" sz="2400" dirty="0">
                <a:latin typeface="Gill Sans MT" charset="0"/>
                <a:cs typeface="Gill Sans MT" charset="0"/>
              </a:rPr>
              <a:t>table of rules, applied top to bottom to incoming packets: (action, condition) pairs: looks like OpenFlow forwarding (Ch. 4)!</a:t>
            </a:r>
          </a:p>
        </p:txBody>
      </p:sp>
      <p:pic>
        <p:nvPicPr>
          <p:cNvPr id="174142" name="Picture 21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075" y="1060450"/>
            <a:ext cx="50276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58</a:t>
            </a:fld>
            <a:endParaRPr lang="en-US" sz="1200" dirty="0">
              <a:latin typeface="Tahoma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209371166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129" name="Picture 20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000" y="1020763"/>
            <a:ext cx="54848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6131" name="Rectangle 3"/>
          <p:cNvSpPr>
            <a:spLocks noGrp="1" noChangeArrowheads="1"/>
          </p:cNvSpPr>
          <p:nvPr>
            <p:ph type="title"/>
          </p:nvPr>
        </p:nvSpPr>
        <p:spPr>
          <a:xfrm>
            <a:off x="409575" y="200025"/>
            <a:ext cx="7772400" cy="1143000"/>
          </a:xfrm>
        </p:spPr>
        <p:txBody>
          <a:bodyPr/>
          <a:lstStyle/>
          <a:p>
            <a:r>
              <a:rPr lang="en-US" dirty="0">
                <a:latin typeface="Gill Sans MT" charset="0"/>
              </a:rPr>
              <a:t>Stateful packet filtering</a:t>
            </a:r>
          </a:p>
        </p:txBody>
      </p:sp>
      <p:sp>
        <p:nvSpPr>
          <p:cNvPr id="176132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488950" y="1312863"/>
            <a:ext cx="7512050" cy="4592637"/>
          </a:xfrm>
        </p:spPr>
        <p:txBody>
          <a:bodyPr/>
          <a:lstStyle/>
          <a:p>
            <a:pPr marL="277813" indent="-277813"/>
            <a:r>
              <a:rPr lang="en-US" sz="2400" i="1" dirty="0">
                <a:solidFill>
                  <a:srgbClr val="CC0000"/>
                </a:solidFill>
                <a:latin typeface="Gill Sans MT" charset="0"/>
              </a:rPr>
              <a:t>stateless packet filter: </a:t>
            </a:r>
            <a:r>
              <a:rPr lang="en-US" sz="2400" dirty="0">
                <a:latin typeface="Gill Sans MT" charset="0"/>
              </a:rPr>
              <a:t>heavy handed tool</a:t>
            </a:r>
          </a:p>
          <a:p>
            <a:pPr lvl="1"/>
            <a:r>
              <a:rPr lang="en-US" sz="2200" dirty="0">
                <a:latin typeface="Gill Sans MT" charset="0"/>
              </a:rPr>
              <a:t>admits packets that </a:t>
            </a:r>
            <a:r>
              <a:rPr lang="ja-JP" altLang="en-US" sz="2200" dirty="0">
                <a:latin typeface="Gill Sans MT" charset="0"/>
              </a:rPr>
              <a:t>“</a:t>
            </a:r>
            <a:r>
              <a:rPr lang="en-US" altLang="ja-JP" sz="2200" dirty="0">
                <a:latin typeface="Gill Sans MT" charset="0"/>
              </a:rPr>
              <a:t>make no sense,</a:t>
            </a:r>
            <a:r>
              <a:rPr lang="ja-JP" altLang="en-US" sz="2200" dirty="0">
                <a:latin typeface="Gill Sans MT" charset="0"/>
              </a:rPr>
              <a:t>”</a:t>
            </a:r>
            <a:r>
              <a:rPr lang="en-US" altLang="ja-JP" sz="2200" dirty="0">
                <a:latin typeface="Gill Sans MT" charset="0"/>
              </a:rPr>
              <a:t> e.g., dest port = 80, ACK bit set, even though no TCP connection established:</a:t>
            </a:r>
            <a:endParaRPr lang="en-US" sz="2200" dirty="0">
              <a:latin typeface="Gill Sans MT" charset="0"/>
            </a:endParaRPr>
          </a:p>
        </p:txBody>
      </p:sp>
      <p:graphicFrame>
        <p:nvGraphicFramePr>
          <p:cNvPr id="137248" name="Group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047577"/>
              </p:ext>
            </p:extLst>
          </p:nvPr>
        </p:nvGraphicFramePr>
        <p:xfrm>
          <a:off x="895350" y="2743200"/>
          <a:ext cx="7643813" cy="1325751"/>
        </p:xfrm>
        <a:graphic>
          <a:graphicData uri="http://schemas.openxmlformats.org/drawingml/2006/table">
            <a:tbl>
              <a:tblPr/>
              <a:tblGrid>
                <a:gridCol w="111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87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28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160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4773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2671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action</a:t>
                      </a:r>
                    </a:p>
                  </a:txBody>
                  <a:tcPr marT="45229" marB="45229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source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address</a:t>
                      </a:r>
                    </a:p>
                  </a:txBody>
                  <a:tcPr marT="45229" marB="4522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dest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address</a:t>
                      </a:r>
                    </a:p>
                  </a:txBody>
                  <a:tcPr marT="45229" marB="4522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protocol</a:t>
                      </a:r>
                    </a:p>
                  </a:txBody>
                  <a:tcPr marT="45229" marB="4522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source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port</a:t>
                      </a:r>
                    </a:p>
                  </a:txBody>
                  <a:tcPr marT="45229" marB="4522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dest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port</a:t>
                      </a:r>
                    </a:p>
                  </a:txBody>
                  <a:tcPr marT="45229" marB="4522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flag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bit</a:t>
                      </a:r>
                    </a:p>
                  </a:txBody>
                  <a:tcPr marT="45229" marB="4522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884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allow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T="45229" marB="45229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outside of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222.22/16</a:t>
                      </a:r>
                    </a:p>
                  </a:txBody>
                  <a:tcPr marT="45229" marB="4522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222.22/16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T="45229" marB="4522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TCP</a:t>
                      </a:r>
                    </a:p>
                  </a:txBody>
                  <a:tcPr marT="45229" marB="4522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80</a:t>
                      </a:r>
                    </a:p>
                  </a:txBody>
                  <a:tcPr marT="45229" marB="4522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&gt; 1023</a:t>
                      </a:r>
                    </a:p>
                  </a:txBody>
                  <a:tcPr marT="45229" marB="4522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ACK</a:t>
                      </a:r>
                    </a:p>
                  </a:txBody>
                  <a:tcPr marT="45229" marB="4522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6159" name="Rectangle 283"/>
          <p:cNvSpPr>
            <a:spLocks noChangeArrowheads="1"/>
          </p:cNvSpPr>
          <p:nvPr/>
        </p:nvSpPr>
        <p:spPr bwMode="auto">
          <a:xfrm>
            <a:off x="641350" y="4329113"/>
            <a:ext cx="8262938" cy="165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38125" indent="-238125"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</a:pPr>
            <a:r>
              <a:rPr lang="en-US" sz="2400" i="1" dirty="0">
                <a:solidFill>
                  <a:srgbClr val="CC0000"/>
                </a:solidFill>
                <a:latin typeface="Gill Sans MT" charset="0"/>
                <a:cs typeface="Gill Sans MT" charset="0"/>
              </a:rPr>
              <a:t>stateful packet filter:</a:t>
            </a:r>
            <a:r>
              <a:rPr lang="en-US" sz="2400" dirty="0">
                <a:solidFill>
                  <a:srgbClr val="CC0000"/>
                </a:solidFill>
                <a:latin typeface="Gill Sans MT" charset="0"/>
                <a:cs typeface="Gill Sans MT" charset="0"/>
              </a:rPr>
              <a:t> </a:t>
            </a:r>
            <a:r>
              <a:rPr lang="en-US" sz="2400" dirty="0">
                <a:latin typeface="Gill Sans MT" charset="0"/>
                <a:cs typeface="Gill Sans MT" charset="0"/>
              </a:rPr>
              <a:t>track status of every TCP connection</a:t>
            </a:r>
          </a:p>
          <a:p>
            <a:pPr marL="695325" lvl="1" indent="-238125">
              <a:spcBef>
                <a:spcPct val="20000"/>
              </a:spcBef>
              <a:buClr>
                <a:srgbClr val="000099"/>
              </a:buClr>
              <a:buFont typeface="Arial"/>
              <a:buChar char="•"/>
            </a:pPr>
            <a:r>
              <a:rPr lang="en-US" sz="2400" dirty="0">
                <a:latin typeface="Gill Sans MT" charset="0"/>
                <a:cs typeface="Gill Sans MT" charset="0"/>
              </a:rPr>
              <a:t>track connection setup (SYN), teardown (FIN): determine whether incoming, outgoing packets </a:t>
            </a:r>
            <a:r>
              <a:rPr lang="ja-JP" altLang="en-US" sz="2400" dirty="0">
                <a:latin typeface="Gill Sans MT" charset="0"/>
                <a:cs typeface="Gill Sans MT" charset="0"/>
              </a:rPr>
              <a:t>“</a:t>
            </a:r>
            <a:r>
              <a:rPr lang="en-US" altLang="ja-JP" sz="2400" dirty="0">
                <a:latin typeface="Gill Sans MT" charset="0"/>
                <a:cs typeface="Gill Sans MT" charset="0"/>
              </a:rPr>
              <a:t>makes sense</a:t>
            </a:r>
            <a:r>
              <a:rPr lang="ja-JP" altLang="en-US" sz="2400" dirty="0">
                <a:latin typeface="Gill Sans MT" charset="0"/>
                <a:cs typeface="Gill Sans MT" charset="0"/>
              </a:rPr>
              <a:t>”</a:t>
            </a:r>
            <a:endParaRPr lang="en-US" altLang="ja-JP" sz="2400" dirty="0">
              <a:latin typeface="Gill Sans MT" charset="0"/>
              <a:cs typeface="Gill Sans MT" charset="0"/>
            </a:endParaRPr>
          </a:p>
          <a:p>
            <a:pPr marL="695325" lvl="1" indent="-238125">
              <a:spcBef>
                <a:spcPct val="20000"/>
              </a:spcBef>
              <a:buClr>
                <a:srgbClr val="000099"/>
              </a:buClr>
              <a:buFont typeface="Arial"/>
              <a:buChar char="•"/>
            </a:pPr>
            <a:r>
              <a:rPr lang="en-US" sz="2400" dirty="0">
                <a:latin typeface="Gill Sans MT" charset="0"/>
                <a:cs typeface="Gill Sans MT" charset="0"/>
              </a:rPr>
              <a:t>timeout inactive connections at firewall: no longer admit packets</a:t>
            </a:r>
          </a:p>
          <a:p>
            <a:pPr marL="695325" lvl="1" indent="-238125">
              <a:spcBef>
                <a:spcPct val="20000"/>
              </a:spcBef>
              <a:buClr>
                <a:schemeClr val="accent2"/>
              </a:buClr>
              <a:buSzPct val="75000"/>
              <a:buFont typeface="Arial"/>
              <a:buChar char="•"/>
            </a:pPr>
            <a:endParaRPr lang="en-US" dirty="0"/>
          </a:p>
        </p:txBody>
      </p:sp>
      <p:sp>
        <p:nvSpPr>
          <p:cNvPr id="8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59</a:t>
            </a:fld>
            <a:endParaRPr lang="en-US" sz="1200" dirty="0">
              <a:latin typeface="Tahoma" charset="0"/>
            </a:endParaRPr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85499497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177" name="Picture 20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000" y="1020763"/>
            <a:ext cx="54848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38312" name="Group 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9282299"/>
              </p:ext>
            </p:extLst>
          </p:nvPr>
        </p:nvGraphicFramePr>
        <p:xfrm>
          <a:off x="531813" y="2543175"/>
          <a:ext cx="8380412" cy="3735390"/>
        </p:xfrm>
        <a:graphic>
          <a:graphicData uri="http://schemas.openxmlformats.org/drawingml/2006/table">
            <a:tbl>
              <a:tblPr/>
              <a:tblGrid>
                <a:gridCol w="11731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4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5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29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55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6028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action</a:t>
                      </a:r>
                    </a:p>
                  </a:txBody>
                  <a:tcPr marT="44671" marB="4467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source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address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dest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address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proto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source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port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dest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port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flag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bit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check conxion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28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allow</a:t>
                      </a:r>
                    </a:p>
                  </a:txBody>
                  <a:tcPr marT="44671" marB="4467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222.22/16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outside of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222.22/16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TCP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&gt; 1023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80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any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156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allow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T="44671" marB="4467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outside of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222.22/16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222.22/16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TCP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80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&gt; 1023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ACK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2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/>
                          <a:cs typeface="Arial"/>
                        </a:rPr>
                        <a:t>x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28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allow</a:t>
                      </a:r>
                    </a:p>
                  </a:txBody>
                  <a:tcPr marT="44671" marB="4467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222.22/16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outside of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222.22/16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UDP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&gt; 1023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53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---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0021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allow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T="44671" marB="4467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outside of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222.22/16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222.22/16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UDP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53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&gt; 1023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----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2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/>
                          <a:cs typeface="Arial"/>
                        </a:rPr>
                        <a:t>x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endParaRPr kumimoji="0" lang="en-US" sz="23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274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deny</a:t>
                      </a:r>
                    </a:p>
                  </a:txBody>
                  <a:tcPr marT="44671" marB="4467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all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all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all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all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all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all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8244" name="Text Box 67"/>
          <p:cNvSpPr txBox="1">
            <a:spLocks noChangeArrowheads="1"/>
          </p:cNvSpPr>
          <p:nvPr/>
        </p:nvSpPr>
        <p:spPr bwMode="auto">
          <a:xfrm>
            <a:off x="1082675" y="1344613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endParaRPr lang="en-US" dirty="0"/>
          </a:p>
        </p:txBody>
      </p:sp>
      <p:sp>
        <p:nvSpPr>
          <p:cNvPr id="178245" name="Text Box 68"/>
          <p:cNvSpPr txBox="1">
            <a:spLocks noChangeArrowheads="1"/>
          </p:cNvSpPr>
          <p:nvPr/>
        </p:nvSpPr>
        <p:spPr bwMode="auto">
          <a:xfrm>
            <a:off x="1573213" y="5988050"/>
            <a:ext cx="184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178246" name="Rectangle 70"/>
          <p:cNvSpPr>
            <a:spLocks noGrp="1" noChangeArrowheads="1"/>
          </p:cNvSpPr>
          <p:nvPr>
            <p:ph type="title"/>
          </p:nvPr>
        </p:nvSpPr>
        <p:spPr>
          <a:xfrm>
            <a:off x="409575" y="200025"/>
            <a:ext cx="7772400" cy="1143000"/>
          </a:xfrm>
          <a:noFill/>
        </p:spPr>
        <p:txBody>
          <a:bodyPr/>
          <a:lstStyle/>
          <a:p>
            <a:r>
              <a:rPr lang="en-US" dirty="0">
                <a:latin typeface="Gill Sans MT" charset="0"/>
              </a:rPr>
              <a:t>Stateful packet filtering</a:t>
            </a:r>
          </a:p>
        </p:txBody>
      </p:sp>
      <p:sp>
        <p:nvSpPr>
          <p:cNvPr id="178247" name="Rectangle 71"/>
          <p:cNvSpPr>
            <a:spLocks noChangeArrowheads="1"/>
          </p:cNvSpPr>
          <p:nvPr/>
        </p:nvSpPr>
        <p:spPr bwMode="auto">
          <a:xfrm>
            <a:off x="488949" y="1416848"/>
            <a:ext cx="8342477" cy="11031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20000"/>
              </a:spcBef>
              <a:buClr>
                <a:srgbClr val="000099"/>
              </a:buClr>
              <a:buSzPct val="75000"/>
            </a:pPr>
            <a:r>
              <a:rPr lang="en-US" sz="2400" dirty="0">
                <a:latin typeface="Gill Sans MT" charset="0"/>
                <a:cs typeface="Gill Sans MT" charset="0"/>
              </a:rPr>
              <a:t>ACL augmented to indicate need to check connection state table before admitting packet</a:t>
            </a:r>
          </a:p>
        </p:txBody>
      </p:sp>
      <p:sp>
        <p:nvSpPr>
          <p:cNvPr id="9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60</a:t>
            </a:fld>
            <a:endParaRPr lang="en-US" sz="1200" dirty="0">
              <a:latin typeface="Tahoma" charset="0"/>
            </a:endParaRPr>
          </a:p>
        </p:txBody>
      </p:sp>
      <p:sp>
        <p:nvSpPr>
          <p:cNvPr id="10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70562418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273" name="Picture 21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438" y="1050925"/>
            <a:ext cx="50276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22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ill Sans MT" charset="0"/>
              </a:rPr>
              <a:t>Application gateways</a:t>
            </a:r>
          </a:p>
        </p:txBody>
      </p:sp>
      <p:sp>
        <p:nvSpPr>
          <p:cNvPr id="18227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96863" y="1490663"/>
            <a:ext cx="3886200" cy="2236787"/>
          </a:xfrm>
        </p:spPr>
        <p:txBody>
          <a:bodyPr/>
          <a:lstStyle/>
          <a:p>
            <a:r>
              <a:rPr lang="en-US" sz="2400" dirty="0">
                <a:latin typeface="Gill Sans MT" charset="0"/>
              </a:rPr>
              <a:t>filter packets on application data as well as on IP/TCP/UDP fields.</a:t>
            </a:r>
          </a:p>
          <a:p>
            <a:r>
              <a:rPr lang="en-US" sz="2400" i="1" dirty="0">
                <a:solidFill>
                  <a:srgbClr val="CC0000"/>
                </a:solidFill>
                <a:latin typeface="Gill Sans MT" charset="0"/>
              </a:rPr>
              <a:t>example: </a:t>
            </a:r>
            <a:r>
              <a:rPr lang="en-US" sz="2400" dirty="0">
                <a:latin typeface="Gill Sans MT" charset="0"/>
              </a:rPr>
              <a:t>allow select internal users to telnet outside</a:t>
            </a:r>
            <a:endParaRPr lang="en-US" sz="2000" dirty="0">
              <a:latin typeface="Gill Sans MT" charset="0"/>
            </a:endParaRPr>
          </a:p>
        </p:txBody>
      </p:sp>
      <p:sp>
        <p:nvSpPr>
          <p:cNvPr id="182277" name="Rectangle 110"/>
          <p:cNvSpPr>
            <a:spLocks noChangeArrowheads="1"/>
          </p:cNvSpPr>
          <p:nvPr/>
        </p:nvSpPr>
        <p:spPr bwMode="auto">
          <a:xfrm>
            <a:off x="649288" y="4278313"/>
            <a:ext cx="7642225" cy="199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5000"/>
              <a:buFont typeface="ZapfDingbats" charset="0"/>
              <a:buNone/>
            </a:pPr>
            <a:r>
              <a:rPr lang="en-US" sz="2400" dirty="0">
                <a:solidFill>
                  <a:srgbClr val="FF0000"/>
                </a:solidFill>
                <a:latin typeface="Gill Sans MT" charset="0"/>
                <a:cs typeface="Gill Sans MT" charset="0"/>
              </a:rPr>
              <a:t>1.</a:t>
            </a:r>
            <a:r>
              <a:rPr lang="en-US" sz="2400" dirty="0">
                <a:latin typeface="Gill Sans MT" charset="0"/>
                <a:cs typeface="Gill Sans MT" charset="0"/>
              </a:rPr>
              <a:t> require all telnet users to telnet through gateway.</a:t>
            </a:r>
          </a:p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5000"/>
              <a:buFont typeface="ZapfDingbats" charset="0"/>
              <a:buNone/>
            </a:pPr>
            <a:r>
              <a:rPr lang="en-US" sz="2400" dirty="0">
                <a:solidFill>
                  <a:srgbClr val="FF0000"/>
                </a:solidFill>
                <a:latin typeface="Gill Sans MT" charset="0"/>
                <a:cs typeface="Gill Sans MT" charset="0"/>
              </a:rPr>
              <a:t>2.</a:t>
            </a:r>
            <a:r>
              <a:rPr lang="en-US" sz="2400" dirty="0">
                <a:latin typeface="Gill Sans MT" charset="0"/>
                <a:cs typeface="Gill Sans MT" charset="0"/>
              </a:rPr>
              <a:t> for authorized users, gateway sets up telnet connection to dest host. Gateway relays data between 2 connections</a:t>
            </a:r>
          </a:p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5000"/>
              <a:buFont typeface="ZapfDingbats" charset="0"/>
              <a:buNone/>
            </a:pPr>
            <a:r>
              <a:rPr lang="en-US" sz="2400" dirty="0">
                <a:solidFill>
                  <a:srgbClr val="FF0000"/>
                </a:solidFill>
                <a:latin typeface="Gill Sans MT" charset="0"/>
                <a:cs typeface="Gill Sans MT" charset="0"/>
              </a:rPr>
              <a:t>3.</a:t>
            </a:r>
            <a:r>
              <a:rPr lang="en-US" sz="2400" dirty="0">
                <a:latin typeface="Gill Sans MT" charset="0"/>
                <a:cs typeface="Gill Sans MT" charset="0"/>
              </a:rPr>
              <a:t> router filter blocks all telnet connections not originating from gateway.</a:t>
            </a:r>
          </a:p>
        </p:txBody>
      </p:sp>
      <p:grpSp>
        <p:nvGrpSpPr>
          <p:cNvPr id="182278" name="Group 4"/>
          <p:cNvGrpSpPr>
            <a:grpSpLocks/>
          </p:cNvGrpSpPr>
          <p:nvPr/>
        </p:nvGrpSpPr>
        <p:grpSpPr bwMode="auto">
          <a:xfrm>
            <a:off x="3938588" y="1585913"/>
            <a:ext cx="4997450" cy="2270125"/>
            <a:chOff x="3983577" y="1287140"/>
            <a:chExt cx="4997021" cy="2269618"/>
          </a:xfrm>
        </p:grpSpPr>
        <p:sp>
          <p:nvSpPr>
            <p:cNvPr id="182279" name="Text Box 108"/>
            <p:cNvSpPr txBox="1">
              <a:spLocks noChangeArrowheads="1"/>
            </p:cNvSpPr>
            <p:nvPr/>
          </p:nvSpPr>
          <p:spPr bwMode="auto">
            <a:xfrm>
              <a:off x="5827059" y="1479548"/>
              <a:ext cx="936625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200" dirty="0">
                  <a:latin typeface="Arial" charset="0"/>
                  <a:cs typeface="Arial" charset="0"/>
                </a:rPr>
                <a:t>application</a:t>
              </a:r>
            </a:p>
            <a:p>
              <a:pPr algn="ctr"/>
              <a:r>
                <a:rPr lang="en-US" sz="1200" dirty="0">
                  <a:latin typeface="Arial" charset="0"/>
                  <a:cs typeface="Arial" charset="0"/>
                </a:rPr>
                <a:t>gateway</a:t>
              </a:r>
              <a:endParaRPr lang="en-US" sz="1800" dirty="0">
                <a:latin typeface="Arial" charset="0"/>
                <a:cs typeface="Arial" charset="0"/>
              </a:endParaRPr>
            </a:p>
          </p:txBody>
        </p:sp>
        <p:sp>
          <p:nvSpPr>
            <p:cNvPr id="182280" name="Freeform 17"/>
            <p:cNvSpPr>
              <a:spLocks/>
            </p:cNvSpPr>
            <p:nvPr/>
          </p:nvSpPr>
          <p:spPr bwMode="auto">
            <a:xfrm>
              <a:off x="4194135" y="1748877"/>
              <a:ext cx="3648681" cy="1807881"/>
            </a:xfrm>
            <a:custGeom>
              <a:avLst/>
              <a:gdLst/>
              <a:ahLst/>
              <a:cxnLst/>
              <a:rect l="0" t="0" r="r" b="b"/>
              <a:pathLst>
                <a:path w="10000" h="10000">
                  <a:moveTo>
                    <a:pt x="323" y="164"/>
                  </a:moveTo>
                  <a:lnTo>
                    <a:pt x="341" y="143"/>
                  </a:lnTo>
                  <a:cubicBezTo>
                    <a:pt x="349" y="129"/>
                    <a:pt x="357" y="116"/>
                    <a:pt x="365" y="102"/>
                  </a:cubicBezTo>
                  <a:lnTo>
                    <a:pt x="413" y="72"/>
                  </a:lnTo>
                  <a:cubicBezTo>
                    <a:pt x="429" y="58"/>
                    <a:pt x="445" y="45"/>
                    <a:pt x="461" y="31"/>
                  </a:cubicBezTo>
                  <a:lnTo>
                    <a:pt x="514" y="10"/>
                  </a:lnTo>
                  <a:cubicBezTo>
                    <a:pt x="534" y="7"/>
                    <a:pt x="554" y="3"/>
                    <a:pt x="574" y="0"/>
                  </a:cubicBezTo>
                  <a:lnTo>
                    <a:pt x="628" y="0"/>
                  </a:lnTo>
                  <a:lnTo>
                    <a:pt x="694" y="0"/>
                  </a:lnTo>
                  <a:cubicBezTo>
                    <a:pt x="716" y="3"/>
                    <a:pt x="738" y="7"/>
                    <a:pt x="760" y="10"/>
                  </a:cubicBezTo>
                  <a:lnTo>
                    <a:pt x="825" y="31"/>
                  </a:lnTo>
                  <a:lnTo>
                    <a:pt x="891" y="61"/>
                  </a:lnTo>
                  <a:cubicBezTo>
                    <a:pt x="915" y="71"/>
                    <a:pt x="939" y="82"/>
                    <a:pt x="963" y="92"/>
                  </a:cubicBezTo>
                  <a:cubicBezTo>
                    <a:pt x="989" y="106"/>
                    <a:pt x="1015" y="119"/>
                    <a:pt x="1041" y="133"/>
                  </a:cubicBezTo>
                  <a:lnTo>
                    <a:pt x="1118" y="174"/>
                  </a:lnTo>
                  <a:lnTo>
                    <a:pt x="1196" y="225"/>
                  </a:lnTo>
                  <a:lnTo>
                    <a:pt x="1268" y="276"/>
                  </a:lnTo>
                  <a:cubicBezTo>
                    <a:pt x="1294" y="290"/>
                    <a:pt x="1320" y="303"/>
                    <a:pt x="1346" y="317"/>
                  </a:cubicBezTo>
                  <a:lnTo>
                    <a:pt x="1513" y="440"/>
                  </a:lnTo>
                  <a:lnTo>
                    <a:pt x="1681" y="553"/>
                  </a:lnTo>
                  <a:lnTo>
                    <a:pt x="1848" y="665"/>
                  </a:lnTo>
                  <a:lnTo>
                    <a:pt x="2022" y="778"/>
                  </a:lnTo>
                  <a:cubicBezTo>
                    <a:pt x="2050" y="798"/>
                    <a:pt x="2077" y="819"/>
                    <a:pt x="2105" y="839"/>
                  </a:cubicBezTo>
                  <a:cubicBezTo>
                    <a:pt x="2133" y="853"/>
                    <a:pt x="2161" y="866"/>
                    <a:pt x="2189" y="880"/>
                  </a:cubicBezTo>
                  <a:cubicBezTo>
                    <a:pt x="2217" y="894"/>
                    <a:pt x="2245" y="907"/>
                    <a:pt x="2273" y="921"/>
                  </a:cubicBezTo>
                  <a:lnTo>
                    <a:pt x="2356" y="972"/>
                  </a:lnTo>
                  <a:lnTo>
                    <a:pt x="2440" y="993"/>
                  </a:lnTo>
                  <a:cubicBezTo>
                    <a:pt x="2468" y="1003"/>
                    <a:pt x="2496" y="1014"/>
                    <a:pt x="2524" y="1024"/>
                  </a:cubicBezTo>
                  <a:lnTo>
                    <a:pt x="2608" y="1054"/>
                  </a:lnTo>
                  <a:cubicBezTo>
                    <a:pt x="2638" y="1057"/>
                    <a:pt x="2667" y="1061"/>
                    <a:pt x="2697" y="1064"/>
                  </a:cubicBezTo>
                  <a:cubicBezTo>
                    <a:pt x="2725" y="1068"/>
                    <a:pt x="2753" y="1071"/>
                    <a:pt x="2781" y="1075"/>
                  </a:cubicBezTo>
                  <a:lnTo>
                    <a:pt x="2853" y="1075"/>
                  </a:lnTo>
                  <a:cubicBezTo>
                    <a:pt x="2881" y="1262"/>
                    <a:pt x="2909" y="1143"/>
                    <a:pt x="2937" y="1330"/>
                  </a:cubicBezTo>
                  <a:cubicBezTo>
                    <a:pt x="2963" y="1118"/>
                    <a:pt x="2988" y="1287"/>
                    <a:pt x="3014" y="1075"/>
                  </a:cubicBezTo>
                  <a:cubicBezTo>
                    <a:pt x="3042" y="1071"/>
                    <a:pt x="3070" y="1068"/>
                    <a:pt x="3098" y="1064"/>
                  </a:cubicBezTo>
                  <a:lnTo>
                    <a:pt x="3182" y="1064"/>
                  </a:lnTo>
                  <a:lnTo>
                    <a:pt x="3343" y="1024"/>
                  </a:lnTo>
                  <a:lnTo>
                    <a:pt x="3505" y="1003"/>
                  </a:lnTo>
                  <a:lnTo>
                    <a:pt x="3672" y="972"/>
                  </a:lnTo>
                  <a:lnTo>
                    <a:pt x="3834" y="921"/>
                  </a:lnTo>
                  <a:lnTo>
                    <a:pt x="4007" y="880"/>
                  </a:lnTo>
                  <a:lnTo>
                    <a:pt x="4175" y="850"/>
                  </a:lnTo>
                  <a:lnTo>
                    <a:pt x="4348" y="809"/>
                  </a:lnTo>
                  <a:lnTo>
                    <a:pt x="4528" y="788"/>
                  </a:lnTo>
                  <a:cubicBezTo>
                    <a:pt x="4562" y="785"/>
                    <a:pt x="4595" y="781"/>
                    <a:pt x="4629" y="778"/>
                  </a:cubicBezTo>
                  <a:cubicBezTo>
                    <a:pt x="4659" y="775"/>
                    <a:pt x="4689" y="771"/>
                    <a:pt x="4719" y="768"/>
                  </a:cubicBezTo>
                  <a:lnTo>
                    <a:pt x="4809" y="768"/>
                  </a:lnTo>
                  <a:lnTo>
                    <a:pt x="4904" y="768"/>
                  </a:lnTo>
                  <a:lnTo>
                    <a:pt x="5006" y="778"/>
                  </a:lnTo>
                  <a:lnTo>
                    <a:pt x="5102" y="778"/>
                  </a:lnTo>
                  <a:cubicBezTo>
                    <a:pt x="5138" y="781"/>
                    <a:pt x="5173" y="785"/>
                    <a:pt x="5209" y="788"/>
                  </a:cubicBezTo>
                  <a:lnTo>
                    <a:pt x="5311" y="809"/>
                  </a:lnTo>
                  <a:lnTo>
                    <a:pt x="5419" y="839"/>
                  </a:lnTo>
                  <a:lnTo>
                    <a:pt x="5520" y="860"/>
                  </a:lnTo>
                  <a:lnTo>
                    <a:pt x="5634" y="901"/>
                  </a:lnTo>
                  <a:lnTo>
                    <a:pt x="5748" y="931"/>
                  </a:lnTo>
                  <a:lnTo>
                    <a:pt x="5861" y="972"/>
                  </a:lnTo>
                  <a:lnTo>
                    <a:pt x="5999" y="1003"/>
                  </a:lnTo>
                  <a:lnTo>
                    <a:pt x="6124" y="1044"/>
                  </a:lnTo>
                  <a:lnTo>
                    <a:pt x="6256" y="1085"/>
                  </a:lnTo>
                  <a:lnTo>
                    <a:pt x="6394" y="1126"/>
                  </a:lnTo>
                  <a:lnTo>
                    <a:pt x="6531" y="1167"/>
                  </a:lnTo>
                  <a:lnTo>
                    <a:pt x="6681" y="1218"/>
                  </a:lnTo>
                  <a:lnTo>
                    <a:pt x="6824" y="1269"/>
                  </a:lnTo>
                  <a:lnTo>
                    <a:pt x="7117" y="1372"/>
                  </a:lnTo>
                  <a:lnTo>
                    <a:pt x="7410" y="1494"/>
                  </a:lnTo>
                  <a:lnTo>
                    <a:pt x="7703" y="1627"/>
                  </a:lnTo>
                  <a:lnTo>
                    <a:pt x="7853" y="1699"/>
                  </a:lnTo>
                  <a:lnTo>
                    <a:pt x="7996" y="1771"/>
                  </a:lnTo>
                  <a:lnTo>
                    <a:pt x="8140" y="1842"/>
                  </a:lnTo>
                  <a:lnTo>
                    <a:pt x="8278" y="1914"/>
                  </a:lnTo>
                  <a:cubicBezTo>
                    <a:pt x="8322" y="1941"/>
                    <a:pt x="8365" y="1969"/>
                    <a:pt x="8409" y="1996"/>
                  </a:cubicBezTo>
                  <a:lnTo>
                    <a:pt x="8547" y="2078"/>
                  </a:lnTo>
                  <a:cubicBezTo>
                    <a:pt x="8589" y="2105"/>
                    <a:pt x="8630" y="2133"/>
                    <a:pt x="8672" y="2160"/>
                  </a:cubicBezTo>
                  <a:lnTo>
                    <a:pt x="8798" y="2252"/>
                  </a:lnTo>
                  <a:lnTo>
                    <a:pt x="8911" y="2344"/>
                  </a:lnTo>
                  <a:lnTo>
                    <a:pt x="9025" y="2436"/>
                  </a:lnTo>
                  <a:lnTo>
                    <a:pt x="9133" y="2538"/>
                  </a:lnTo>
                  <a:cubicBezTo>
                    <a:pt x="9149" y="2552"/>
                    <a:pt x="9165" y="2565"/>
                    <a:pt x="9181" y="2579"/>
                  </a:cubicBezTo>
                  <a:lnTo>
                    <a:pt x="9228" y="2641"/>
                  </a:lnTo>
                  <a:lnTo>
                    <a:pt x="9276" y="2692"/>
                  </a:lnTo>
                  <a:cubicBezTo>
                    <a:pt x="9290" y="2706"/>
                    <a:pt x="9304" y="2719"/>
                    <a:pt x="9318" y="2733"/>
                  </a:cubicBezTo>
                  <a:cubicBezTo>
                    <a:pt x="9332" y="2753"/>
                    <a:pt x="9346" y="2774"/>
                    <a:pt x="9360" y="2794"/>
                  </a:cubicBezTo>
                  <a:cubicBezTo>
                    <a:pt x="9374" y="2815"/>
                    <a:pt x="9388" y="2835"/>
                    <a:pt x="9402" y="2856"/>
                  </a:cubicBezTo>
                  <a:lnTo>
                    <a:pt x="9444" y="2907"/>
                  </a:lnTo>
                  <a:cubicBezTo>
                    <a:pt x="9456" y="2927"/>
                    <a:pt x="9468" y="2948"/>
                    <a:pt x="9480" y="2968"/>
                  </a:cubicBezTo>
                  <a:cubicBezTo>
                    <a:pt x="9492" y="2989"/>
                    <a:pt x="9504" y="3009"/>
                    <a:pt x="9516" y="3030"/>
                  </a:cubicBezTo>
                  <a:cubicBezTo>
                    <a:pt x="9528" y="3047"/>
                    <a:pt x="9539" y="3064"/>
                    <a:pt x="9551" y="3081"/>
                  </a:cubicBezTo>
                  <a:lnTo>
                    <a:pt x="9611" y="3204"/>
                  </a:lnTo>
                  <a:cubicBezTo>
                    <a:pt x="9629" y="3248"/>
                    <a:pt x="9647" y="3293"/>
                    <a:pt x="9665" y="3337"/>
                  </a:cubicBezTo>
                  <a:cubicBezTo>
                    <a:pt x="9683" y="3385"/>
                    <a:pt x="9701" y="3432"/>
                    <a:pt x="9719" y="3480"/>
                  </a:cubicBezTo>
                  <a:cubicBezTo>
                    <a:pt x="9735" y="3531"/>
                    <a:pt x="9751" y="3583"/>
                    <a:pt x="9767" y="3634"/>
                  </a:cubicBezTo>
                  <a:lnTo>
                    <a:pt x="9809" y="3787"/>
                  </a:lnTo>
                  <a:cubicBezTo>
                    <a:pt x="9823" y="3838"/>
                    <a:pt x="9836" y="3890"/>
                    <a:pt x="9850" y="3941"/>
                  </a:cubicBezTo>
                  <a:cubicBezTo>
                    <a:pt x="9858" y="4002"/>
                    <a:pt x="9866" y="4064"/>
                    <a:pt x="9874" y="4125"/>
                  </a:cubicBezTo>
                  <a:cubicBezTo>
                    <a:pt x="9884" y="4180"/>
                    <a:pt x="9894" y="4234"/>
                    <a:pt x="9904" y="4289"/>
                  </a:cubicBezTo>
                  <a:cubicBezTo>
                    <a:pt x="9914" y="4354"/>
                    <a:pt x="9924" y="4418"/>
                    <a:pt x="9934" y="4483"/>
                  </a:cubicBezTo>
                  <a:cubicBezTo>
                    <a:pt x="9940" y="4544"/>
                    <a:pt x="9946" y="4606"/>
                    <a:pt x="9952" y="4667"/>
                  </a:cubicBezTo>
                  <a:cubicBezTo>
                    <a:pt x="9958" y="4729"/>
                    <a:pt x="9964" y="4790"/>
                    <a:pt x="9970" y="4852"/>
                  </a:cubicBezTo>
                  <a:cubicBezTo>
                    <a:pt x="9974" y="4917"/>
                    <a:pt x="9978" y="4981"/>
                    <a:pt x="9982" y="5046"/>
                  </a:cubicBezTo>
                  <a:lnTo>
                    <a:pt x="9994" y="5241"/>
                  </a:lnTo>
                  <a:lnTo>
                    <a:pt x="9994" y="5425"/>
                  </a:lnTo>
                  <a:lnTo>
                    <a:pt x="10000" y="5629"/>
                  </a:lnTo>
                  <a:lnTo>
                    <a:pt x="9994" y="5824"/>
                  </a:lnTo>
                  <a:lnTo>
                    <a:pt x="9994" y="6018"/>
                  </a:lnTo>
                  <a:lnTo>
                    <a:pt x="9988" y="6213"/>
                  </a:lnTo>
                  <a:cubicBezTo>
                    <a:pt x="9984" y="6278"/>
                    <a:pt x="9980" y="6342"/>
                    <a:pt x="9976" y="6407"/>
                  </a:cubicBezTo>
                  <a:lnTo>
                    <a:pt x="9958" y="6602"/>
                  </a:lnTo>
                  <a:lnTo>
                    <a:pt x="9946" y="6776"/>
                  </a:lnTo>
                  <a:cubicBezTo>
                    <a:pt x="9940" y="6837"/>
                    <a:pt x="9934" y="6899"/>
                    <a:pt x="9928" y="6960"/>
                  </a:cubicBezTo>
                  <a:lnTo>
                    <a:pt x="9904" y="7134"/>
                  </a:lnTo>
                  <a:cubicBezTo>
                    <a:pt x="9894" y="7195"/>
                    <a:pt x="9884" y="7257"/>
                    <a:pt x="9874" y="7318"/>
                  </a:cubicBezTo>
                  <a:cubicBezTo>
                    <a:pt x="9868" y="7373"/>
                    <a:pt x="9862" y="7427"/>
                    <a:pt x="9856" y="7482"/>
                  </a:cubicBezTo>
                  <a:cubicBezTo>
                    <a:pt x="9846" y="7537"/>
                    <a:pt x="9837" y="7591"/>
                    <a:pt x="9827" y="7646"/>
                  </a:cubicBezTo>
                  <a:lnTo>
                    <a:pt x="9791" y="7799"/>
                  </a:lnTo>
                  <a:lnTo>
                    <a:pt x="9761" y="7943"/>
                  </a:lnTo>
                  <a:cubicBezTo>
                    <a:pt x="9749" y="7991"/>
                    <a:pt x="9737" y="8038"/>
                    <a:pt x="9725" y="8086"/>
                  </a:cubicBezTo>
                  <a:cubicBezTo>
                    <a:pt x="9713" y="8130"/>
                    <a:pt x="9701" y="8175"/>
                    <a:pt x="9689" y="8219"/>
                  </a:cubicBezTo>
                  <a:cubicBezTo>
                    <a:pt x="9677" y="8257"/>
                    <a:pt x="9665" y="8294"/>
                    <a:pt x="9653" y="8332"/>
                  </a:cubicBezTo>
                  <a:cubicBezTo>
                    <a:pt x="9639" y="8369"/>
                    <a:pt x="9625" y="8407"/>
                    <a:pt x="9611" y="8444"/>
                  </a:cubicBezTo>
                  <a:cubicBezTo>
                    <a:pt x="9597" y="8475"/>
                    <a:pt x="9583" y="8505"/>
                    <a:pt x="9569" y="8536"/>
                  </a:cubicBezTo>
                  <a:cubicBezTo>
                    <a:pt x="9553" y="8567"/>
                    <a:pt x="9538" y="8597"/>
                    <a:pt x="9522" y="8628"/>
                  </a:cubicBezTo>
                  <a:lnTo>
                    <a:pt x="9474" y="8721"/>
                  </a:lnTo>
                  <a:cubicBezTo>
                    <a:pt x="9454" y="8745"/>
                    <a:pt x="9434" y="8768"/>
                    <a:pt x="9414" y="8792"/>
                  </a:cubicBezTo>
                  <a:cubicBezTo>
                    <a:pt x="9394" y="8819"/>
                    <a:pt x="9374" y="8847"/>
                    <a:pt x="9354" y="8874"/>
                  </a:cubicBezTo>
                  <a:cubicBezTo>
                    <a:pt x="9332" y="8895"/>
                    <a:pt x="9310" y="8915"/>
                    <a:pt x="9288" y="8936"/>
                  </a:cubicBezTo>
                  <a:cubicBezTo>
                    <a:pt x="9268" y="8956"/>
                    <a:pt x="9248" y="8977"/>
                    <a:pt x="9228" y="8997"/>
                  </a:cubicBezTo>
                  <a:lnTo>
                    <a:pt x="9157" y="9048"/>
                  </a:lnTo>
                  <a:cubicBezTo>
                    <a:pt x="9131" y="9069"/>
                    <a:pt x="9105" y="9089"/>
                    <a:pt x="9079" y="9110"/>
                  </a:cubicBezTo>
                  <a:lnTo>
                    <a:pt x="9007" y="9161"/>
                  </a:lnTo>
                  <a:lnTo>
                    <a:pt x="8929" y="9191"/>
                  </a:lnTo>
                  <a:lnTo>
                    <a:pt x="8846" y="9232"/>
                  </a:lnTo>
                  <a:cubicBezTo>
                    <a:pt x="8818" y="9242"/>
                    <a:pt x="8790" y="9253"/>
                    <a:pt x="8762" y="9263"/>
                  </a:cubicBezTo>
                  <a:cubicBezTo>
                    <a:pt x="8734" y="9277"/>
                    <a:pt x="8706" y="9290"/>
                    <a:pt x="8678" y="9304"/>
                  </a:cubicBezTo>
                  <a:cubicBezTo>
                    <a:pt x="8648" y="9314"/>
                    <a:pt x="8619" y="9325"/>
                    <a:pt x="8589" y="9335"/>
                  </a:cubicBezTo>
                  <a:lnTo>
                    <a:pt x="8493" y="9365"/>
                  </a:lnTo>
                  <a:lnTo>
                    <a:pt x="8313" y="9406"/>
                  </a:lnTo>
                  <a:lnTo>
                    <a:pt x="8122" y="9447"/>
                  </a:lnTo>
                  <a:lnTo>
                    <a:pt x="7931" y="9478"/>
                  </a:lnTo>
                  <a:lnTo>
                    <a:pt x="7733" y="9519"/>
                  </a:lnTo>
                  <a:lnTo>
                    <a:pt x="7530" y="9539"/>
                  </a:lnTo>
                  <a:lnTo>
                    <a:pt x="7339" y="9580"/>
                  </a:lnTo>
                  <a:lnTo>
                    <a:pt x="7141" y="9611"/>
                  </a:lnTo>
                  <a:lnTo>
                    <a:pt x="6950" y="9662"/>
                  </a:lnTo>
                  <a:lnTo>
                    <a:pt x="6854" y="9683"/>
                  </a:lnTo>
                  <a:lnTo>
                    <a:pt x="6758" y="9713"/>
                  </a:lnTo>
                  <a:lnTo>
                    <a:pt x="6651" y="9724"/>
                  </a:lnTo>
                  <a:lnTo>
                    <a:pt x="6549" y="9744"/>
                  </a:lnTo>
                  <a:lnTo>
                    <a:pt x="6441" y="9765"/>
                  </a:lnTo>
                  <a:lnTo>
                    <a:pt x="6334" y="9785"/>
                  </a:lnTo>
                  <a:lnTo>
                    <a:pt x="6226" y="9806"/>
                  </a:lnTo>
                  <a:lnTo>
                    <a:pt x="6112" y="9816"/>
                  </a:lnTo>
                  <a:lnTo>
                    <a:pt x="5885" y="9857"/>
                  </a:lnTo>
                  <a:lnTo>
                    <a:pt x="5652" y="9887"/>
                  </a:lnTo>
                  <a:lnTo>
                    <a:pt x="5425" y="9918"/>
                  </a:lnTo>
                  <a:lnTo>
                    <a:pt x="5185" y="9928"/>
                  </a:lnTo>
                  <a:lnTo>
                    <a:pt x="4958" y="9949"/>
                  </a:lnTo>
                  <a:lnTo>
                    <a:pt x="4731" y="9959"/>
                  </a:lnTo>
                  <a:lnTo>
                    <a:pt x="4623" y="9969"/>
                  </a:lnTo>
                  <a:lnTo>
                    <a:pt x="4510" y="9969"/>
                  </a:lnTo>
                  <a:lnTo>
                    <a:pt x="4402" y="9990"/>
                  </a:lnTo>
                  <a:lnTo>
                    <a:pt x="4294" y="9990"/>
                  </a:lnTo>
                  <a:lnTo>
                    <a:pt x="4193" y="9990"/>
                  </a:lnTo>
                  <a:lnTo>
                    <a:pt x="4091" y="10000"/>
                  </a:lnTo>
                  <a:lnTo>
                    <a:pt x="3995" y="10000"/>
                  </a:lnTo>
                  <a:lnTo>
                    <a:pt x="3894" y="10000"/>
                  </a:lnTo>
                  <a:lnTo>
                    <a:pt x="3804" y="10000"/>
                  </a:lnTo>
                  <a:lnTo>
                    <a:pt x="3714" y="10000"/>
                  </a:lnTo>
                  <a:lnTo>
                    <a:pt x="3630" y="10000"/>
                  </a:lnTo>
                  <a:lnTo>
                    <a:pt x="3547" y="10000"/>
                  </a:lnTo>
                  <a:cubicBezTo>
                    <a:pt x="3521" y="9997"/>
                    <a:pt x="3495" y="9993"/>
                    <a:pt x="3469" y="9990"/>
                  </a:cubicBezTo>
                  <a:lnTo>
                    <a:pt x="3391" y="9990"/>
                  </a:lnTo>
                  <a:lnTo>
                    <a:pt x="3325" y="9990"/>
                  </a:lnTo>
                  <a:lnTo>
                    <a:pt x="3254" y="9969"/>
                  </a:lnTo>
                  <a:lnTo>
                    <a:pt x="3182" y="9969"/>
                  </a:lnTo>
                  <a:lnTo>
                    <a:pt x="3122" y="9969"/>
                  </a:lnTo>
                  <a:cubicBezTo>
                    <a:pt x="3100" y="9966"/>
                    <a:pt x="3078" y="9962"/>
                    <a:pt x="3056" y="9959"/>
                  </a:cubicBezTo>
                  <a:cubicBezTo>
                    <a:pt x="3038" y="9956"/>
                    <a:pt x="3020" y="9952"/>
                    <a:pt x="3002" y="9949"/>
                  </a:cubicBezTo>
                  <a:lnTo>
                    <a:pt x="2949" y="9949"/>
                  </a:lnTo>
                  <a:cubicBezTo>
                    <a:pt x="2929" y="9946"/>
                    <a:pt x="2909" y="9942"/>
                    <a:pt x="2889" y="9939"/>
                  </a:cubicBezTo>
                  <a:cubicBezTo>
                    <a:pt x="2871" y="9935"/>
                    <a:pt x="2853" y="9932"/>
                    <a:pt x="2835" y="9928"/>
                  </a:cubicBezTo>
                  <a:cubicBezTo>
                    <a:pt x="2817" y="9925"/>
                    <a:pt x="2799" y="9921"/>
                    <a:pt x="2781" y="9918"/>
                  </a:cubicBezTo>
                  <a:lnTo>
                    <a:pt x="2679" y="9887"/>
                  </a:lnTo>
                  <a:lnTo>
                    <a:pt x="2584" y="9867"/>
                  </a:lnTo>
                  <a:cubicBezTo>
                    <a:pt x="2554" y="9853"/>
                    <a:pt x="2524" y="9840"/>
                    <a:pt x="2494" y="9826"/>
                  </a:cubicBezTo>
                  <a:cubicBezTo>
                    <a:pt x="2462" y="9819"/>
                    <a:pt x="2430" y="9813"/>
                    <a:pt x="2398" y="9806"/>
                  </a:cubicBezTo>
                  <a:lnTo>
                    <a:pt x="2225" y="9724"/>
                  </a:lnTo>
                  <a:cubicBezTo>
                    <a:pt x="2195" y="9710"/>
                    <a:pt x="2165" y="9697"/>
                    <a:pt x="2135" y="9683"/>
                  </a:cubicBezTo>
                  <a:cubicBezTo>
                    <a:pt x="2105" y="9669"/>
                    <a:pt x="2075" y="9656"/>
                    <a:pt x="2045" y="9642"/>
                  </a:cubicBezTo>
                  <a:lnTo>
                    <a:pt x="1950" y="9591"/>
                  </a:lnTo>
                  <a:lnTo>
                    <a:pt x="1842" y="9539"/>
                  </a:lnTo>
                  <a:lnTo>
                    <a:pt x="1740" y="9498"/>
                  </a:lnTo>
                  <a:lnTo>
                    <a:pt x="1633" y="9447"/>
                  </a:lnTo>
                  <a:lnTo>
                    <a:pt x="1519" y="9396"/>
                  </a:lnTo>
                  <a:lnTo>
                    <a:pt x="1411" y="9355"/>
                  </a:lnTo>
                  <a:cubicBezTo>
                    <a:pt x="1371" y="9335"/>
                    <a:pt x="1332" y="9314"/>
                    <a:pt x="1292" y="9294"/>
                  </a:cubicBezTo>
                  <a:lnTo>
                    <a:pt x="1178" y="9243"/>
                  </a:lnTo>
                  <a:lnTo>
                    <a:pt x="1071" y="9181"/>
                  </a:lnTo>
                  <a:lnTo>
                    <a:pt x="957" y="9120"/>
                  </a:lnTo>
                  <a:lnTo>
                    <a:pt x="849" y="9069"/>
                  </a:lnTo>
                  <a:lnTo>
                    <a:pt x="748" y="8976"/>
                  </a:lnTo>
                  <a:cubicBezTo>
                    <a:pt x="716" y="8952"/>
                    <a:pt x="684" y="8929"/>
                    <a:pt x="652" y="8905"/>
                  </a:cubicBezTo>
                  <a:lnTo>
                    <a:pt x="550" y="8813"/>
                  </a:lnTo>
                  <a:lnTo>
                    <a:pt x="508" y="8762"/>
                  </a:lnTo>
                  <a:lnTo>
                    <a:pt x="467" y="8721"/>
                  </a:lnTo>
                  <a:cubicBezTo>
                    <a:pt x="453" y="8700"/>
                    <a:pt x="439" y="8680"/>
                    <a:pt x="425" y="8659"/>
                  </a:cubicBezTo>
                  <a:lnTo>
                    <a:pt x="383" y="8608"/>
                  </a:lnTo>
                  <a:cubicBezTo>
                    <a:pt x="371" y="8588"/>
                    <a:pt x="359" y="8567"/>
                    <a:pt x="347" y="8547"/>
                  </a:cubicBezTo>
                  <a:lnTo>
                    <a:pt x="317" y="8475"/>
                  </a:lnTo>
                  <a:cubicBezTo>
                    <a:pt x="305" y="8455"/>
                    <a:pt x="293" y="8434"/>
                    <a:pt x="281" y="8414"/>
                  </a:cubicBezTo>
                  <a:lnTo>
                    <a:pt x="251" y="8342"/>
                  </a:lnTo>
                  <a:lnTo>
                    <a:pt x="221" y="8270"/>
                  </a:lnTo>
                  <a:cubicBezTo>
                    <a:pt x="215" y="8246"/>
                    <a:pt x="209" y="8223"/>
                    <a:pt x="203" y="8199"/>
                  </a:cubicBezTo>
                  <a:cubicBezTo>
                    <a:pt x="193" y="8172"/>
                    <a:pt x="183" y="8144"/>
                    <a:pt x="173" y="8117"/>
                  </a:cubicBezTo>
                  <a:cubicBezTo>
                    <a:pt x="167" y="8093"/>
                    <a:pt x="162" y="8069"/>
                    <a:pt x="156" y="8045"/>
                  </a:cubicBezTo>
                  <a:cubicBezTo>
                    <a:pt x="148" y="8018"/>
                    <a:pt x="140" y="7990"/>
                    <a:pt x="132" y="7963"/>
                  </a:cubicBezTo>
                  <a:cubicBezTo>
                    <a:pt x="128" y="7936"/>
                    <a:pt x="124" y="7908"/>
                    <a:pt x="120" y="7881"/>
                  </a:cubicBezTo>
                  <a:cubicBezTo>
                    <a:pt x="108" y="7820"/>
                    <a:pt x="96" y="7758"/>
                    <a:pt x="84" y="7697"/>
                  </a:cubicBezTo>
                  <a:lnTo>
                    <a:pt x="54" y="7523"/>
                  </a:lnTo>
                  <a:cubicBezTo>
                    <a:pt x="50" y="7458"/>
                    <a:pt x="46" y="7394"/>
                    <a:pt x="42" y="7329"/>
                  </a:cubicBezTo>
                  <a:cubicBezTo>
                    <a:pt x="38" y="7261"/>
                    <a:pt x="34" y="7192"/>
                    <a:pt x="30" y="7124"/>
                  </a:cubicBezTo>
                  <a:cubicBezTo>
                    <a:pt x="24" y="7052"/>
                    <a:pt x="18" y="6981"/>
                    <a:pt x="12" y="6909"/>
                  </a:cubicBezTo>
                  <a:cubicBezTo>
                    <a:pt x="10" y="6837"/>
                    <a:pt x="8" y="6766"/>
                    <a:pt x="6" y="6694"/>
                  </a:cubicBezTo>
                  <a:lnTo>
                    <a:pt x="6" y="6479"/>
                  </a:lnTo>
                  <a:lnTo>
                    <a:pt x="0" y="6254"/>
                  </a:lnTo>
                  <a:lnTo>
                    <a:pt x="0" y="6018"/>
                  </a:lnTo>
                  <a:cubicBezTo>
                    <a:pt x="2" y="5936"/>
                    <a:pt x="4" y="5855"/>
                    <a:pt x="6" y="5773"/>
                  </a:cubicBezTo>
                  <a:lnTo>
                    <a:pt x="6" y="5527"/>
                  </a:lnTo>
                  <a:cubicBezTo>
                    <a:pt x="8" y="5442"/>
                    <a:pt x="10" y="5356"/>
                    <a:pt x="12" y="5271"/>
                  </a:cubicBezTo>
                  <a:lnTo>
                    <a:pt x="12" y="5026"/>
                  </a:lnTo>
                  <a:lnTo>
                    <a:pt x="12" y="4893"/>
                  </a:lnTo>
                  <a:lnTo>
                    <a:pt x="12" y="4749"/>
                  </a:lnTo>
                  <a:lnTo>
                    <a:pt x="12" y="4606"/>
                  </a:lnTo>
                  <a:lnTo>
                    <a:pt x="12" y="4452"/>
                  </a:lnTo>
                  <a:lnTo>
                    <a:pt x="6" y="4278"/>
                  </a:lnTo>
                  <a:lnTo>
                    <a:pt x="6" y="4115"/>
                  </a:lnTo>
                  <a:lnTo>
                    <a:pt x="6" y="3941"/>
                  </a:lnTo>
                  <a:lnTo>
                    <a:pt x="0" y="3767"/>
                  </a:lnTo>
                  <a:lnTo>
                    <a:pt x="0" y="3582"/>
                  </a:lnTo>
                  <a:lnTo>
                    <a:pt x="0" y="3408"/>
                  </a:lnTo>
                  <a:lnTo>
                    <a:pt x="0" y="3040"/>
                  </a:lnTo>
                  <a:lnTo>
                    <a:pt x="0" y="2661"/>
                  </a:lnTo>
                  <a:lnTo>
                    <a:pt x="0" y="2293"/>
                  </a:lnTo>
                  <a:lnTo>
                    <a:pt x="6" y="2119"/>
                  </a:lnTo>
                  <a:cubicBezTo>
                    <a:pt x="8" y="2057"/>
                    <a:pt x="10" y="1996"/>
                    <a:pt x="12" y="1934"/>
                  </a:cubicBezTo>
                  <a:cubicBezTo>
                    <a:pt x="16" y="1880"/>
                    <a:pt x="20" y="1825"/>
                    <a:pt x="24" y="1771"/>
                  </a:cubicBezTo>
                  <a:lnTo>
                    <a:pt x="30" y="1597"/>
                  </a:lnTo>
                  <a:cubicBezTo>
                    <a:pt x="34" y="1542"/>
                    <a:pt x="38" y="1488"/>
                    <a:pt x="42" y="1433"/>
                  </a:cubicBezTo>
                  <a:cubicBezTo>
                    <a:pt x="44" y="1382"/>
                    <a:pt x="46" y="1330"/>
                    <a:pt x="48" y="1279"/>
                  </a:cubicBezTo>
                  <a:lnTo>
                    <a:pt x="72" y="1126"/>
                  </a:lnTo>
                  <a:cubicBezTo>
                    <a:pt x="76" y="1078"/>
                    <a:pt x="80" y="1031"/>
                    <a:pt x="84" y="983"/>
                  </a:cubicBezTo>
                  <a:lnTo>
                    <a:pt x="108" y="839"/>
                  </a:lnTo>
                  <a:lnTo>
                    <a:pt x="126" y="716"/>
                  </a:lnTo>
                  <a:cubicBezTo>
                    <a:pt x="136" y="675"/>
                    <a:pt x="146" y="635"/>
                    <a:pt x="156" y="594"/>
                  </a:cubicBezTo>
                  <a:cubicBezTo>
                    <a:pt x="162" y="560"/>
                    <a:pt x="167" y="525"/>
                    <a:pt x="173" y="491"/>
                  </a:cubicBezTo>
                  <a:cubicBezTo>
                    <a:pt x="185" y="454"/>
                    <a:pt x="197" y="416"/>
                    <a:pt x="209" y="379"/>
                  </a:cubicBezTo>
                  <a:cubicBezTo>
                    <a:pt x="213" y="369"/>
                    <a:pt x="217" y="358"/>
                    <a:pt x="221" y="348"/>
                  </a:cubicBezTo>
                  <a:lnTo>
                    <a:pt x="245" y="297"/>
                  </a:lnTo>
                  <a:cubicBezTo>
                    <a:pt x="249" y="287"/>
                    <a:pt x="253" y="276"/>
                    <a:pt x="257" y="266"/>
                  </a:cubicBezTo>
                  <a:cubicBezTo>
                    <a:pt x="265" y="252"/>
                    <a:pt x="273" y="239"/>
                    <a:pt x="281" y="225"/>
                  </a:cubicBezTo>
                  <a:cubicBezTo>
                    <a:pt x="287" y="215"/>
                    <a:pt x="293" y="204"/>
                    <a:pt x="299" y="194"/>
                  </a:cubicBezTo>
                  <a:lnTo>
                    <a:pt x="323" y="164"/>
                  </a:ln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2281" name="Rectangle 198"/>
            <p:cNvSpPr>
              <a:spLocks noChangeArrowheads="1"/>
            </p:cNvSpPr>
            <p:nvPr/>
          </p:nvSpPr>
          <p:spPr bwMode="auto">
            <a:xfrm>
              <a:off x="7622154" y="2851909"/>
              <a:ext cx="41275" cy="198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300" dirty="0">
                  <a:solidFill>
                    <a:srgbClr val="000000"/>
                  </a:solidFill>
                </a:rPr>
                <a:t> </a:t>
              </a:r>
              <a:endParaRPr lang="en-US" dirty="0"/>
            </a:p>
          </p:txBody>
        </p:sp>
        <p:sp>
          <p:nvSpPr>
            <p:cNvPr id="182282" name="Line 334"/>
            <p:cNvSpPr>
              <a:spLocks noChangeShapeType="1"/>
            </p:cNvSpPr>
            <p:nvPr/>
          </p:nvSpPr>
          <p:spPr bwMode="auto">
            <a:xfrm>
              <a:off x="6445410" y="2699091"/>
              <a:ext cx="837020" cy="181393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182283" name="Group 332"/>
            <p:cNvGrpSpPr>
              <a:grpSpLocks/>
            </p:cNvGrpSpPr>
            <p:nvPr/>
          </p:nvGrpSpPr>
          <p:grpSpPr bwMode="auto">
            <a:xfrm>
              <a:off x="6770832" y="2635170"/>
              <a:ext cx="764491" cy="376020"/>
              <a:chOff x="2356" y="1300"/>
              <a:chExt cx="555" cy="194"/>
            </a:xfrm>
          </p:grpSpPr>
          <p:sp>
            <p:nvSpPr>
              <p:cNvPr id="182380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2400" dirty="0">
                  <a:latin typeface="Times New Roman" charset="0"/>
                </a:endParaRPr>
              </a:p>
            </p:txBody>
          </p:sp>
          <p:sp>
            <p:nvSpPr>
              <p:cNvPr id="182381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2400" dirty="0">
                  <a:latin typeface="Times New Roman" charset="0"/>
                </a:endParaRPr>
              </a:p>
            </p:txBody>
          </p:sp>
          <p:sp>
            <p:nvSpPr>
              <p:cNvPr id="182382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2400" dirty="0">
                  <a:latin typeface="Times New Roman" charset="0"/>
                </a:endParaRPr>
              </a:p>
            </p:txBody>
          </p:sp>
          <p:grpSp>
            <p:nvGrpSpPr>
              <p:cNvPr id="182383" name="Group 329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182386" name="Freeform 326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182387" name="Freeform 327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</p:grpSp>
          <p:sp>
            <p:nvSpPr>
              <p:cNvPr id="120" name="Line 330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dirty="0">
                  <a:cs typeface="Arial" charset="0"/>
                </a:endParaRPr>
              </a:p>
            </p:txBody>
          </p:sp>
          <p:sp>
            <p:nvSpPr>
              <p:cNvPr id="121" name="Line 331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dirty="0">
                  <a:cs typeface="Arial" charset="0"/>
                </a:endParaRPr>
              </a:p>
            </p:txBody>
          </p:sp>
        </p:grpSp>
        <p:grpSp>
          <p:nvGrpSpPr>
            <p:cNvPr id="182284" name="Group 906"/>
            <p:cNvGrpSpPr>
              <a:grpSpLocks/>
            </p:cNvGrpSpPr>
            <p:nvPr/>
          </p:nvGrpSpPr>
          <p:grpSpPr bwMode="auto">
            <a:xfrm>
              <a:off x="7113844" y="2225617"/>
              <a:ext cx="297216" cy="540453"/>
              <a:chOff x="4140" y="429"/>
              <a:chExt cx="1425" cy="2396"/>
            </a:xfrm>
          </p:grpSpPr>
          <p:sp>
            <p:nvSpPr>
              <p:cNvPr id="182348" name="Freeform 907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1 w 354"/>
                  <a:gd name="T1" fmla="*/ 0 h 2742"/>
                  <a:gd name="T2" fmla="*/ 116 w 354"/>
                  <a:gd name="T3" fmla="*/ 137 h 2742"/>
                  <a:gd name="T4" fmla="*/ 114 w 354"/>
                  <a:gd name="T5" fmla="*/ 1057 h 2742"/>
                  <a:gd name="T6" fmla="*/ 0 w 354"/>
                  <a:gd name="T7" fmla="*/ 1105 h 2742"/>
                  <a:gd name="T8" fmla="*/ 21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6" name="Rectangle 908"/>
              <p:cNvSpPr>
                <a:spLocks noChangeArrowheads="1"/>
              </p:cNvSpPr>
              <p:nvPr/>
            </p:nvSpPr>
            <p:spPr bwMode="auto">
              <a:xfrm>
                <a:off x="4209" y="427"/>
                <a:ext cx="1043" cy="2287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182350" name="Freeform 909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70 w 211"/>
                  <a:gd name="T3" fmla="*/ 88 h 2537"/>
                  <a:gd name="T4" fmla="*/ 2 w 211"/>
                  <a:gd name="T5" fmla="*/ 1007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82351" name="Freeform 910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09 w 328"/>
                  <a:gd name="T3" fmla="*/ 52 h 226"/>
                  <a:gd name="T4" fmla="*/ 108 w 328"/>
                  <a:gd name="T5" fmla="*/ 92 h 226"/>
                  <a:gd name="T6" fmla="*/ 0 w 328"/>
                  <a:gd name="T7" fmla="*/ 41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9" name="Rectangle 911"/>
              <p:cNvSpPr>
                <a:spLocks noChangeArrowheads="1"/>
              </p:cNvSpPr>
              <p:nvPr/>
            </p:nvSpPr>
            <p:spPr bwMode="auto">
              <a:xfrm>
                <a:off x="4216" y="687"/>
                <a:ext cx="586" cy="49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grpSp>
            <p:nvGrpSpPr>
              <p:cNvPr id="182353" name="Group 912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155" name="AutoShape 913"/>
                <p:cNvSpPr>
                  <a:spLocks noChangeArrowheads="1"/>
                </p:cNvSpPr>
                <p:nvPr/>
              </p:nvSpPr>
              <p:spPr bwMode="auto">
                <a:xfrm>
                  <a:off x="614" y="2566"/>
                  <a:ext cx="722" cy="12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156" name="AutoShape 914"/>
                <p:cNvSpPr>
                  <a:spLocks noChangeArrowheads="1"/>
                </p:cNvSpPr>
                <p:nvPr/>
              </p:nvSpPr>
              <p:spPr bwMode="auto">
                <a:xfrm>
                  <a:off x="633" y="2580"/>
                  <a:ext cx="693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</p:grpSp>
          <p:sp>
            <p:nvSpPr>
              <p:cNvPr id="131" name="Rectangle 915"/>
              <p:cNvSpPr>
                <a:spLocks noChangeArrowheads="1"/>
              </p:cNvSpPr>
              <p:nvPr/>
            </p:nvSpPr>
            <p:spPr bwMode="auto">
              <a:xfrm>
                <a:off x="4224" y="1018"/>
                <a:ext cx="594" cy="49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grpSp>
            <p:nvGrpSpPr>
              <p:cNvPr id="182355" name="Group 916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153" name="AutoShape 917"/>
                <p:cNvSpPr>
                  <a:spLocks noChangeArrowheads="1"/>
                </p:cNvSpPr>
                <p:nvPr/>
              </p:nvSpPr>
              <p:spPr bwMode="auto">
                <a:xfrm>
                  <a:off x="616" y="2564"/>
                  <a:ext cx="722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154" name="AutoShape 918"/>
                <p:cNvSpPr>
                  <a:spLocks noChangeArrowheads="1"/>
                </p:cNvSpPr>
                <p:nvPr/>
              </p:nvSpPr>
              <p:spPr bwMode="auto">
                <a:xfrm>
                  <a:off x="626" y="2578"/>
                  <a:ext cx="703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</p:grpSp>
          <p:sp>
            <p:nvSpPr>
              <p:cNvPr id="133" name="Rectangle 919"/>
              <p:cNvSpPr>
                <a:spLocks noChangeArrowheads="1"/>
              </p:cNvSpPr>
              <p:nvPr/>
            </p:nvSpPr>
            <p:spPr bwMode="auto">
              <a:xfrm>
                <a:off x="4216" y="1363"/>
                <a:ext cx="594" cy="4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134" name="Rectangle 920"/>
              <p:cNvSpPr>
                <a:spLocks noChangeArrowheads="1"/>
              </p:cNvSpPr>
              <p:nvPr/>
            </p:nvSpPr>
            <p:spPr bwMode="auto">
              <a:xfrm>
                <a:off x="4224" y="1658"/>
                <a:ext cx="601" cy="4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grpSp>
            <p:nvGrpSpPr>
              <p:cNvPr id="182358" name="Group 921"/>
              <p:cNvGrpSpPr>
                <a:grpSpLocks/>
              </p:cNvGrpSpPr>
              <p:nvPr/>
            </p:nvGrpSpPr>
            <p:grpSpPr bwMode="auto">
              <a:xfrm>
                <a:off x="4733" y="1630"/>
                <a:ext cx="586" cy="151"/>
                <a:chOff x="611" y="2571"/>
                <a:chExt cx="730" cy="139"/>
              </a:xfrm>
            </p:grpSpPr>
            <p:sp>
              <p:nvSpPr>
                <p:cNvPr id="151" name="AutoShape 922"/>
                <p:cNvSpPr>
                  <a:spLocks noChangeArrowheads="1"/>
                </p:cNvSpPr>
                <p:nvPr/>
              </p:nvSpPr>
              <p:spPr bwMode="auto">
                <a:xfrm>
                  <a:off x="612" y="2571"/>
                  <a:ext cx="730" cy="13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152" name="AutoShape 923"/>
                <p:cNvSpPr>
                  <a:spLocks noChangeArrowheads="1"/>
                </p:cNvSpPr>
                <p:nvPr/>
              </p:nvSpPr>
              <p:spPr bwMode="auto">
                <a:xfrm>
                  <a:off x="631" y="2591"/>
                  <a:ext cx="692" cy="10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</p:grpSp>
          <p:sp>
            <p:nvSpPr>
              <p:cNvPr id="182359" name="Freeform 924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09 w 328"/>
                  <a:gd name="T3" fmla="*/ 51 h 226"/>
                  <a:gd name="T4" fmla="*/ 108 w 328"/>
                  <a:gd name="T5" fmla="*/ 90 h 226"/>
                  <a:gd name="T6" fmla="*/ 0 w 328"/>
                  <a:gd name="T7" fmla="*/ 39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grpSp>
            <p:nvGrpSpPr>
              <p:cNvPr id="182360" name="Group 925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49" name="AutoShape 926"/>
                <p:cNvSpPr>
                  <a:spLocks noChangeArrowheads="1"/>
                </p:cNvSpPr>
                <p:nvPr/>
              </p:nvSpPr>
              <p:spPr bwMode="auto">
                <a:xfrm>
                  <a:off x="617" y="2569"/>
                  <a:ext cx="711" cy="141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150" name="AutoShape 927"/>
                <p:cNvSpPr>
                  <a:spLocks noChangeArrowheads="1"/>
                </p:cNvSpPr>
                <p:nvPr/>
              </p:nvSpPr>
              <p:spPr bwMode="auto">
                <a:xfrm>
                  <a:off x="636" y="2583"/>
                  <a:ext cx="683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</p:grpSp>
          <p:sp>
            <p:nvSpPr>
              <p:cNvPr id="138" name="Rectangle 928"/>
              <p:cNvSpPr>
                <a:spLocks noChangeArrowheads="1"/>
              </p:cNvSpPr>
              <p:nvPr/>
            </p:nvSpPr>
            <p:spPr bwMode="auto">
              <a:xfrm>
                <a:off x="5251" y="427"/>
                <a:ext cx="68" cy="2294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182362" name="Freeform 929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96 w 296"/>
                  <a:gd name="T3" fmla="*/ 57 h 256"/>
                  <a:gd name="T4" fmla="*/ 98 w 296"/>
                  <a:gd name="T5" fmla="*/ 102 h 256"/>
                  <a:gd name="T6" fmla="*/ 0 w 296"/>
                  <a:gd name="T7" fmla="*/ 39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82363" name="Freeform 930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01 w 304"/>
                  <a:gd name="T3" fmla="*/ 66 h 288"/>
                  <a:gd name="T4" fmla="*/ 95 w 304"/>
                  <a:gd name="T5" fmla="*/ 116 h 288"/>
                  <a:gd name="T6" fmla="*/ 2 w 304"/>
                  <a:gd name="T7" fmla="*/ 5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41" name="Oval 931"/>
              <p:cNvSpPr>
                <a:spLocks noChangeArrowheads="1"/>
              </p:cNvSpPr>
              <p:nvPr/>
            </p:nvSpPr>
            <p:spPr bwMode="auto">
              <a:xfrm>
                <a:off x="5518" y="2608"/>
                <a:ext cx="46" cy="99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182365" name="Freeform 932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43 h 240"/>
                  <a:gd name="T2" fmla="*/ 2 w 306"/>
                  <a:gd name="T3" fmla="*/ 97 h 240"/>
                  <a:gd name="T4" fmla="*/ 101 w 306"/>
                  <a:gd name="T5" fmla="*/ 44 h 240"/>
                  <a:gd name="T6" fmla="*/ 98 w 306"/>
                  <a:gd name="T7" fmla="*/ 0 h 240"/>
                  <a:gd name="T8" fmla="*/ 0 w 306"/>
                  <a:gd name="T9" fmla="*/ 43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43" name="AutoShape 933"/>
              <p:cNvSpPr>
                <a:spLocks noChangeArrowheads="1"/>
              </p:cNvSpPr>
              <p:nvPr/>
            </p:nvSpPr>
            <p:spPr bwMode="auto">
              <a:xfrm>
                <a:off x="4140" y="2686"/>
                <a:ext cx="1195" cy="141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144" name="AutoShape 934"/>
              <p:cNvSpPr>
                <a:spLocks noChangeArrowheads="1"/>
              </p:cNvSpPr>
              <p:nvPr/>
            </p:nvSpPr>
            <p:spPr bwMode="auto">
              <a:xfrm>
                <a:off x="4209" y="2714"/>
                <a:ext cx="1065" cy="7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145" name="Oval 935"/>
              <p:cNvSpPr>
                <a:spLocks noChangeArrowheads="1"/>
              </p:cNvSpPr>
              <p:nvPr/>
            </p:nvSpPr>
            <p:spPr bwMode="auto">
              <a:xfrm>
                <a:off x="4308" y="2383"/>
                <a:ext cx="160" cy="141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146" name="Oval 936"/>
              <p:cNvSpPr>
                <a:spLocks noChangeArrowheads="1"/>
              </p:cNvSpPr>
              <p:nvPr/>
            </p:nvSpPr>
            <p:spPr bwMode="auto">
              <a:xfrm>
                <a:off x="4483" y="2383"/>
                <a:ext cx="160" cy="148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1" hangingPunct="1">
                  <a:defRPr/>
                </a:pPr>
                <a:endParaRPr lang="en-US" dirty="0">
                  <a:solidFill>
                    <a:srgbClr val="FF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147" name="Oval 937"/>
              <p:cNvSpPr>
                <a:spLocks noChangeArrowheads="1"/>
              </p:cNvSpPr>
              <p:nvPr/>
            </p:nvSpPr>
            <p:spPr bwMode="auto">
              <a:xfrm>
                <a:off x="4665" y="2383"/>
                <a:ext cx="152" cy="141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148" name="Rectangle 938"/>
              <p:cNvSpPr>
                <a:spLocks noChangeArrowheads="1"/>
              </p:cNvSpPr>
              <p:nvPr/>
            </p:nvSpPr>
            <p:spPr bwMode="auto">
              <a:xfrm>
                <a:off x="5061" y="1834"/>
                <a:ext cx="84" cy="760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158" name="Line 20"/>
            <p:cNvSpPr>
              <a:spLocks noChangeShapeType="1"/>
            </p:cNvSpPr>
            <p:nvPr/>
          </p:nvSpPr>
          <p:spPr bwMode="auto">
            <a:xfrm flipH="1">
              <a:off x="4624872" y="2293390"/>
              <a:ext cx="55557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159" name="Line 21"/>
            <p:cNvSpPr>
              <a:spLocks noChangeShapeType="1"/>
            </p:cNvSpPr>
            <p:nvPr/>
          </p:nvSpPr>
          <p:spPr bwMode="auto">
            <a:xfrm flipH="1">
              <a:off x="5012189" y="2341005"/>
              <a:ext cx="271439" cy="3142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160" name="Line 22"/>
            <p:cNvSpPr>
              <a:spLocks noChangeShapeType="1"/>
            </p:cNvSpPr>
            <p:nvPr/>
          </p:nvSpPr>
          <p:spPr bwMode="auto">
            <a:xfrm>
              <a:off x="5431253" y="2369573"/>
              <a:ext cx="73019" cy="2952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182288" name="Group 44"/>
            <p:cNvGrpSpPr>
              <a:grpSpLocks/>
            </p:cNvGrpSpPr>
            <p:nvPr/>
          </p:nvGrpSpPr>
          <p:grpSpPr bwMode="auto">
            <a:xfrm>
              <a:off x="4168820" y="2096244"/>
              <a:ext cx="568325" cy="481012"/>
              <a:chOff x="-44" y="1473"/>
              <a:chExt cx="981" cy="1105"/>
            </a:xfrm>
          </p:grpSpPr>
          <p:pic>
            <p:nvPicPr>
              <p:cNvPr id="182346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2347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296 w 356"/>
                  <a:gd name="T3" fmla="*/ 69 h 368"/>
                  <a:gd name="T4" fmla="*/ 1537 w 356"/>
                  <a:gd name="T5" fmla="*/ 1447 h 368"/>
                  <a:gd name="T6" fmla="*/ 339 w 356"/>
                  <a:gd name="T7" fmla="*/ 181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82289" name="Group 44"/>
            <p:cNvGrpSpPr>
              <a:grpSpLocks/>
            </p:cNvGrpSpPr>
            <p:nvPr/>
          </p:nvGrpSpPr>
          <p:grpSpPr bwMode="auto">
            <a:xfrm>
              <a:off x="5103858" y="2585194"/>
              <a:ext cx="568325" cy="481012"/>
              <a:chOff x="-44" y="1473"/>
              <a:chExt cx="981" cy="1105"/>
            </a:xfrm>
          </p:grpSpPr>
          <p:pic>
            <p:nvPicPr>
              <p:cNvPr id="182344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2345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296 w 356"/>
                  <a:gd name="T3" fmla="*/ 69 h 368"/>
                  <a:gd name="T4" fmla="*/ 1537 w 356"/>
                  <a:gd name="T5" fmla="*/ 1447 h 368"/>
                  <a:gd name="T6" fmla="*/ 339 w 356"/>
                  <a:gd name="T7" fmla="*/ 181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sp>
          <p:nvSpPr>
            <p:cNvPr id="163" name="Line 21"/>
            <p:cNvSpPr>
              <a:spLocks noChangeShapeType="1"/>
            </p:cNvSpPr>
            <p:nvPr/>
          </p:nvSpPr>
          <p:spPr bwMode="auto">
            <a:xfrm>
              <a:off x="5650309" y="2299739"/>
              <a:ext cx="377793" cy="3047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164" name="Line 22"/>
            <p:cNvSpPr>
              <a:spLocks noChangeShapeType="1"/>
            </p:cNvSpPr>
            <p:nvPr/>
          </p:nvSpPr>
          <p:spPr bwMode="auto">
            <a:xfrm flipH="1">
              <a:off x="5882064" y="2794928"/>
              <a:ext cx="120640" cy="29362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165" name="Line 22"/>
            <p:cNvSpPr>
              <a:spLocks noChangeShapeType="1"/>
            </p:cNvSpPr>
            <p:nvPr/>
          </p:nvSpPr>
          <p:spPr bwMode="auto">
            <a:xfrm>
              <a:off x="6286841" y="2806038"/>
              <a:ext cx="73019" cy="2952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166" name="Line 20"/>
            <p:cNvSpPr>
              <a:spLocks noChangeShapeType="1"/>
            </p:cNvSpPr>
            <p:nvPr/>
          </p:nvSpPr>
          <p:spPr bwMode="auto">
            <a:xfrm flipH="1">
              <a:off x="5482048" y="2253711"/>
              <a:ext cx="55557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182294" name="Group 44"/>
            <p:cNvGrpSpPr>
              <a:grpSpLocks/>
            </p:cNvGrpSpPr>
            <p:nvPr/>
          </p:nvGrpSpPr>
          <p:grpSpPr bwMode="auto">
            <a:xfrm>
              <a:off x="5508670" y="2958256"/>
              <a:ext cx="568325" cy="481013"/>
              <a:chOff x="-44" y="1473"/>
              <a:chExt cx="981" cy="1105"/>
            </a:xfrm>
          </p:grpSpPr>
          <p:pic>
            <p:nvPicPr>
              <p:cNvPr id="182342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2343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296 w 356"/>
                  <a:gd name="T3" fmla="*/ 69 h 368"/>
                  <a:gd name="T4" fmla="*/ 1537 w 356"/>
                  <a:gd name="T5" fmla="*/ 1447 h 368"/>
                  <a:gd name="T6" fmla="*/ 339 w 356"/>
                  <a:gd name="T7" fmla="*/ 181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82295" name="Group 44"/>
            <p:cNvGrpSpPr>
              <a:grpSpLocks/>
            </p:cNvGrpSpPr>
            <p:nvPr/>
          </p:nvGrpSpPr>
          <p:grpSpPr bwMode="auto">
            <a:xfrm>
              <a:off x="5965870" y="3026519"/>
              <a:ext cx="568325" cy="481012"/>
              <a:chOff x="-44" y="1473"/>
              <a:chExt cx="981" cy="1105"/>
            </a:xfrm>
          </p:grpSpPr>
          <p:pic>
            <p:nvPicPr>
              <p:cNvPr id="182340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2341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296 w 356"/>
                  <a:gd name="T3" fmla="*/ 69 h 368"/>
                  <a:gd name="T4" fmla="*/ 1537 w 356"/>
                  <a:gd name="T5" fmla="*/ 1447 h 368"/>
                  <a:gd name="T6" fmla="*/ 339 w 356"/>
                  <a:gd name="T7" fmla="*/ 181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pic>
          <p:nvPicPr>
            <p:cNvPr id="169" name="Picture 3"/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6635" y="2141024"/>
              <a:ext cx="677804" cy="30155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pic>
          <p:nvPicPr>
            <p:cNvPr id="170" name="Picture 3"/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07457" y="2556856"/>
              <a:ext cx="677805" cy="30155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grpSp>
          <p:nvGrpSpPr>
            <p:cNvPr id="182298" name="Group 44"/>
            <p:cNvGrpSpPr>
              <a:grpSpLocks/>
            </p:cNvGrpSpPr>
            <p:nvPr/>
          </p:nvGrpSpPr>
          <p:grpSpPr bwMode="auto">
            <a:xfrm>
              <a:off x="4563080" y="2530005"/>
              <a:ext cx="568325" cy="481013"/>
              <a:chOff x="-44" y="1473"/>
              <a:chExt cx="981" cy="1105"/>
            </a:xfrm>
          </p:grpSpPr>
          <p:pic>
            <p:nvPicPr>
              <p:cNvPr id="182338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2339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296 w 356"/>
                  <a:gd name="T3" fmla="*/ 69 h 368"/>
                  <a:gd name="T4" fmla="*/ 1537 w 356"/>
                  <a:gd name="T5" fmla="*/ 1447 h 368"/>
                  <a:gd name="T6" fmla="*/ 339 w 356"/>
                  <a:gd name="T7" fmla="*/ 181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82299" name="Group 906"/>
            <p:cNvGrpSpPr>
              <a:grpSpLocks/>
            </p:cNvGrpSpPr>
            <p:nvPr/>
          </p:nvGrpSpPr>
          <p:grpSpPr bwMode="auto">
            <a:xfrm>
              <a:off x="5953171" y="1976062"/>
              <a:ext cx="285924" cy="537882"/>
              <a:chOff x="4140" y="429"/>
              <a:chExt cx="1425" cy="2396"/>
            </a:xfrm>
          </p:grpSpPr>
          <p:sp>
            <p:nvSpPr>
              <p:cNvPr id="182306" name="Freeform 907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1 w 354"/>
                  <a:gd name="T1" fmla="*/ 0 h 2742"/>
                  <a:gd name="T2" fmla="*/ 116 w 354"/>
                  <a:gd name="T3" fmla="*/ 137 h 2742"/>
                  <a:gd name="T4" fmla="*/ 114 w 354"/>
                  <a:gd name="T5" fmla="*/ 1057 h 2742"/>
                  <a:gd name="T6" fmla="*/ 0 w 354"/>
                  <a:gd name="T7" fmla="*/ 1105 h 2742"/>
                  <a:gd name="T8" fmla="*/ 21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74" name="Rectangle 908"/>
              <p:cNvSpPr>
                <a:spLocks noChangeArrowheads="1"/>
              </p:cNvSpPr>
              <p:nvPr/>
            </p:nvSpPr>
            <p:spPr bwMode="auto">
              <a:xfrm>
                <a:off x="4213" y="429"/>
                <a:ext cx="1036" cy="2284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182308" name="Freeform 909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70 w 211"/>
                  <a:gd name="T3" fmla="*/ 88 h 2537"/>
                  <a:gd name="T4" fmla="*/ 2 w 211"/>
                  <a:gd name="T5" fmla="*/ 1007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82309" name="Freeform 910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09 w 328"/>
                  <a:gd name="T3" fmla="*/ 52 h 226"/>
                  <a:gd name="T4" fmla="*/ 108 w 328"/>
                  <a:gd name="T5" fmla="*/ 92 h 226"/>
                  <a:gd name="T6" fmla="*/ 0 w 328"/>
                  <a:gd name="T7" fmla="*/ 41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77" name="Rectangle 911"/>
              <p:cNvSpPr>
                <a:spLocks noChangeArrowheads="1"/>
              </p:cNvSpPr>
              <p:nvPr/>
            </p:nvSpPr>
            <p:spPr bwMode="auto">
              <a:xfrm>
                <a:off x="4213" y="690"/>
                <a:ext cx="593" cy="49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grpSp>
            <p:nvGrpSpPr>
              <p:cNvPr id="182311" name="Group 912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203" name="AutoShape 913"/>
                <p:cNvSpPr>
                  <a:spLocks noChangeArrowheads="1"/>
                </p:cNvSpPr>
                <p:nvPr/>
              </p:nvSpPr>
              <p:spPr bwMode="auto">
                <a:xfrm>
                  <a:off x="616" y="2569"/>
                  <a:ext cx="721" cy="12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204" name="AutoShape 914"/>
                <p:cNvSpPr>
                  <a:spLocks noChangeArrowheads="1"/>
                </p:cNvSpPr>
                <p:nvPr/>
              </p:nvSpPr>
              <p:spPr bwMode="auto">
                <a:xfrm>
                  <a:off x="636" y="2582"/>
                  <a:ext cx="691" cy="102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</p:grpSp>
          <p:sp>
            <p:nvSpPr>
              <p:cNvPr id="179" name="Rectangle 915"/>
              <p:cNvSpPr>
                <a:spLocks noChangeArrowheads="1"/>
              </p:cNvSpPr>
              <p:nvPr/>
            </p:nvSpPr>
            <p:spPr bwMode="auto">
              <a:xfrm>
                <a:off x="4229" y="1022"/>
                <a:ext cx="593" cy="4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grpSp>
            <p:nvGrpSpPr>
              <p:cNvPr id="182313" name="Group 916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201" name="AutoShape 917"/>
                <p:cNvSpPr>
                  <a:spLocks noChangeArrowheads="1"/>
                </p:cNvSpPr>
                <p:nvPr/>
              </p:nvSpPr>
              <p:spPr bwMode="auto">
                <a:xfrm>
                  <a:off x="619" y="2568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202" name="AutoShape 918"/>
                <p:cNvSpPr>
                  <a:spLocks noChangeArrowheads="1"/>
                </p:cNvSpPr>
                <p:nvPr/>
              </p:nvSpPr>
              <p:spPr bwMode="auto">
                <a:xfrm>
                  <a:off x="629" y="2583"/>
                  <a:ext cx="701" cy="11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</p:grpSp>
          <p:sp>
            <p:nvSpPr>
              <p:cNvPr id="181" name="Rectangle 919"/>
              <p:cNvSpPr>
                <a:spLocks noChangeArrowheads="1"/>
              </p:cNvSpPr>
              <p:nvPr/>
            </p:nvSpPr>
            <p:spPr bwMode="auto">
              <a:xfrm>
                <a:off x="4213" y="1362"/>
                <a:ext cx="601" cy="4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182" name="Rectangle 920"/>
              <p:cNvSpPr>
                <a:spLocks noChangeArrowheads="1"/>
              </p:cNvSpPr>
              <p:nvPr/>
            </p:nvSpPr>
            <p:spPr bwMode="auto">
              <a:xfrm>
                <a:off x="4229" y="1659"/>
                <a:ext cx="593" cy="4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grpSp>
            <p:nvGrpSpPr>
              <p:cNvPr id="182316" name="Group 921"/>
              <p:cNvGrpSpPr>
                <a:grpSpLocks/>
              </p:cNvGrpSpPr>
              <p:nvPr/>
            </p:nvGrpSpPr>
            <p:grpSpPr bwMode="auto">
              <a:xfrm>
                <a:off x="4733" y="1630"/>
                <a:ext cx="586" cy="151"/>
                <a:chOff x="611" y="2571"/>
                <a:chExt cx="730" cy="139"/>
              </a:xfrm>
            </p:grpSpPr>
            <p:sp>
              <p:nvSpPr>
                <p:cNvPr id="199" name="AutoShape 922"/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29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200" name="AutoShape 923"/>
                <p:cNvSpPr>
                  <a:spLocks noChangeArrowheads="1"/>
                </p:cNvSpPr>
                <p:nvPr/>
              </p:nvSpPr>
              <p:spPr bwMode="auto">
                <a:xfrm>
                  <a:off x="633" y="2591"/>
                  <a:ext cx="690" cy="10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</p:grpSp>
          <p:sp>
            <p:nvSpPr>
              <p:cNvPr id="182317" name="Freeform 924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09 w 328"/>
                  <a:gd name="T3" fmla="*/ 51 h 226"/>
                  <a:gd name="T4" fmla="*/ 108 w 328"/>
                  <a:gd name="T5" fmla="*/ 90 h 226"/>
                  <a:gd name="T6" fmla="*/ 0 w 328"/>
                  <a:gd name="T7" fmla="*/ 39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grpSp>
            <p:nvGrpSpPr>
              <p:cNvPr id="182318" name="Group 925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97" name="AutoShape 926"/>
                <p:cNvSpPr>
                  <a:spLocks noChangeArrowheads="1"/>
                </p:cNvSpPr>
                <p:nvPr/>
              </p:nvSpPr>
              <p:spPr bwMode="auto">
                <a:xfrm>
                  <a:off x="619" y="2567"/>
                  <a:ext cx="710" cy="141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198" name="AutoShape 927"/>
                <p:cNvSpPr>
                  <a:spLocks noChangeArrowheads="1"/>
                </p:cNvSpPr>
                <p:nvPr/>
              </p:nvSpPr>
              <p:spPr bwMode="auto">
                <a:xfrm>
                  <a:off x="639" y="2582"/>
                  <a:ext cx="680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</p:grpSp>
          <p:sp>
            <p:nvSpPr>
              <p:cNvPr id="186" name="Rectangle 928"/>
              <p:cNvSpPr>
                <a:spLocks noChangeArrowheads="1"/>
              </p:cNvSpPr>
              <p:nvPr/>
            </p:nvSpPr>
            <p:spPr bwMode="auto">
              <a:xfrm>
                <a:off x="5249" y="429"/>
                <a:ext cx="71" cy="2291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182320" name="Freeform 929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96 w 296"/>
                  <a:gd name="T3" fmla="*/ 57 h 256"/>
                  <a:gd name="T4" fmla="*/ 98 w 296"/>
                  <a:gd name="T5" fmla="*/ 102 h 256"/>
                  <a:gd name="T6" fmla="*/ 0 w 296"/>
                  <a:gd name="T7" fmla="*/ 39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82321" name="Freeform 930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01 w 304"/>
                  <a:gd name="T3" fmla="*/ 66 h 288"/>
                  <a:gd name="T4" fmla="*/ 95 w 304"/>
                  <a:gd name="T5" fmla="*/ 116 h 288"/>
                  <a:gd name="T6" fmla="*/ 2 w 304"/>
                  <a:gd name="T7" fmla="*/ 5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89" name="Oval 931"/>
              <p:cNvSpPr>
                <a:spLocks noChangeArrowheads="1"/>
              </p:cNvSpPr>
              <p:nvPr/>
            </p:nvSpPr>
            <p:spPr bwMode="auto">
              <a:xfrm>
                <a:off x="5518" y="2606"/>
                <a:ext cx="47" cy="99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182323" name="Freeform 932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43 h 240"/>
                  <a:gd name="T2" fmla="*/ 2 w 306"/>
                  <a:gd name="T3" fmla="*/ 97 h 240"/>
                  <a:gd name="T4" fmla="*/ 101 w 306"/>
                  <a:gd name="T5" fmla="*/ 44 h 240"/>
                  <a:gd name="T6" fmla="*/ 98 w 306"/>
                  <a:gd name="T7" fmla="*/ 0 h 240"/>
                  <a:gd name="T8" fmla="*/ 0 w 306"/>
                  <a:gd name="T9" fmla="*/ 43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91" name="AutoShape 933"/>
              <p:cNvSpPr>
                <a:spLocks noChangeArrowheads="1"/>
              </p:cNvSpPr>
              <p:nvPr/>
            </p:nvSpPr>
            <p:spPr bwMode="auto">
              <a:xfrm>
                <a:off x="4142" y="2684"/>
                <a:ext cx="1195" cy="141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192" name="AutoShape 934"/>
              <p:cNvSpPr>
                <a:spLocks noChangeArrowheads="1"/>
              </p:cNvSpPr>
              <p:nvPr/>
            </p:nvSpPr>
            <p:spPr bwMode="auto">
              <a:xfrm>
                <a:off x="4213" y="2712"/>
                <a:ext cx="1060" cy="7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193" name="Oval 935"/>
              <p:cNvSpPr>
                <a:spLocks noChangeArrowheads="1"/>
              </p:cNvSpPr>
              <p:nvPr/>
            </p:nvSpPr>
            <p:spPr bwMode="auto">
              <a:xfrm>
                <a:off x="4308" y="2387"/>
                <a:ext cx="158" cy="13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194" name="Oval 936"/>
              <p:cNvSpPr>
                <a:spLocks noChangeArrowheads="1"/>
              </p:cNvSpPr>
              <p:nvPr/>
            </p:nvSpPr>
            <p:spPr bwMode="auto">
              <a:xfrm>
                <a:off x="4490" y="2387"/>
                <a:ext cx="158" cy="141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1" hangingPunct="1">
                  <a:defRPr/>
                </a:pPr>
                <a:endParaRPr lang="en-US" dirty="0">
                  <a:solidFill>
                    <a:srgbClr val="FF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195" name="Oval 937"/>
              <p:cNvSpPr>
                <a:spLocks noChangeArrowheads="1"/>
              </p:cNvSpPr>
              <p:nvPr/>
            </p:nvSpPr>
            <p:spPr bwMode="auto">
              <a:xfrm>
                <a:off x="4664" y="2380"/>
                <a:ext cx="158" cy="141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196" name="Rectangle 938"/>
              <p:cNvSpPr>
                <a:spLocks noChangeArrowheads="1"/>
              </p:cNvSpPr>
              <p:nvPr/>
            </p:nvSpPr>
            <p:spPr bwMode="auto">
              <a:xfrm>
                <a:off x="5059" y="1835"/>
                <a:ext cx="87" cy="756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182300" name="Text Box 106"/>
            <p:cNvSpPr txBox="1">
              <a:spLocks noChangeArrowheads="1"/>
            </p:cNvSpPr>
            <p:nvPr/>
          </p:nvSpPr>
          <p:spPr bwMode="auto">
            <a:xfrm>
              <a:off x="3983577" y="1287140"/>
              <a:ext cx="1479892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400" dirty="0">
                  <a:latin typeface="Arial" charset="0"/>
                  <a:cs typeface="Arial" charset="0"/>
                </a:rPr>
                <a:t>host-to-gateway</a:t>
              </a:r>
            </a:p>
            <a:p>
              <a:r>
                <a:rPr lang="en-US" sz="1400" dirty="0">
                  <a:latin typeface="Arial" charset="0"/>
                  <a:cs typeface="Arial" charset="0"/>
                </a:rPr>
                <a:t>telnet session</a:t>
              </a:r>
              <a:endParaRPr lang="en-US" sz="1800" dirty="0">
                <a:latin typeface="Arial" charset="0"/>
                <a:cs typeface="Arial" charset="0"/>
              </a:endParaRPr>
            </a:p>
          </p:txBody>
        </p:sp>
        <p:sp>
          <p:nvSpPr>
            <p:cNvPr id="182301" name="Freeform 104"/>
            <p:cNvSpPr>
              <a:spLocks/>
            </p:cNvSpPr>
            <p:nvPr/>
          </p:nvSpPr>
          <p:spPr bwMode="auto">
            <a:xfrm>
              <a:off x="4712073" y="1670959"/>
              <a:ext cx="1239221" cy="414979"/>
            </a:xfrm>
            <a:custGeom>
              <a:avLst/>
              <a:gdLst>
                <a:gd name="T0" fmla="*/ 0 w 636"/>
                <a:gd name="T1" fmla="*/ 2147483647 h 144"/>
                <a:gd name="T2" fmla="*/ 2147483647 w 636"/>
                <a:gd name="T3" fmla="*/ 2147483647 h 144"/>
                <a:gd name="T4" fmla="*/ 0 60000 65536"/>
                <a:gd name="T5" fmla="*/ 0 60000 65536"/>
                <a:gd name="T6" fmla="*/ 0 w 636"/>
                <a:gd name="T7" fmla="*/ 0 h 144"/>
                <a:gd name="T8" fmla="*/ 636 w 636"/>
                <a:gd name="T9" fmla="*/ 144 h 14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636" h="144">
                  <a:moveTo>
                    <a:pt x="0" y="144"/>
                  </a:moveTo>
                  <a:cubicBezTo>
                    <a:pt x="180" y="6"/>
                    <a:pt x="450" y="0"/>
                    <a:pt x="636" y="114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82302" name="Freeform 105"/>
            <p:cNvSpPr>
              <a:spLocks/>
            </p:cNvSpPr>
            <p:nvPr/>
          </p:nvSpPr>
          <p:spPr bwMode="auto">
            <a:xfrm>
              <a:off x="6303749" y="2328195"/>
              <a:ext cx="2115113" cy="560360"/>
            </a:xfrm>
            <a:custGeom>
              <a:avLst/>
              <a:gdLst>
                <a:gd name="T0" fmla="*/ 0 w 9169"/>
                <a:gd name="T1" fmla="*/ 2512 h 9369"/>
                <a:gd name="T2" fmla="*/ 703115 w 9169"/>
                <a:gd name="T3" fmla="*/ 267650 h 9369"/>
                <a:gd name="T4" fmla="*/ 1297580 w 9169"/>
                <a:gd name="T5" fmla="*/ 331288 h 9369"/>
                <a:gd name="T6" fmla="*/ 2115113 w 9169"/>
                <a:gd name="T7" fmla="*/ 560360 h 936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169" h="9369">
                  <a:moveTo>
                    <a:pt x="0" y="42"/>
                  </a:moveTo>
                  <a:cubicBezTo>
                    <a:pt x="172" y="-490"/>
                    <a:pt x="1259" y="4154"/>
                    <a:pt x="3048" y="4475"/>
                  </a:cubicBezTo>
                  <a:cubicBezTo>
                    <a:pt x="4280" y="2061"/>
                    <a:pt x="4508" y="-199"/>
                    <a:pt x="5625" y="5539"/>
                  </a:cubicBezTo>
                  <a:cubicBezTo>
                    <a:pt x="6872" y="6531"/>
                    <a:pt x="7556" y="7648"/>
                    <a:pt x="9169" y="9369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82303" name="Text Box 109"/>
            <p:cNvSpPr txBox="1">
              <a:spLocks noChangeArrowheads="1"/>
            </p:cNvSpPr>
            <p:nvPr/>
          </p:nvSpPr>
          <p:spPr bwMode="auto">
            <a:xfrm>
              <a:off x="6718673" y="1953386"/>
              <a:ext cx="1223412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200" dirty="0">
                  <a:latin typeface="Arial" charset="0"/>
                  <a:cs typeface="Arial" charset="0"/>
                </a:rPr>
                <a:t>router and filter</a:t>
              </a:r>
              <a:endParaRPr lang="en-US" sz="1800" dirty="0">
                <a:latin typeface="Arial" charset="0"/>
                <a:cs typeface="Arial" charset="0"/>
              </a:endParaRPr>
            </a:p>
          </p:txBody>
        </p:sp>
        <p:sp>
          <p:nvSpPr>
            <p:cNvPr id="182304" name="Text Box 107"/>
            <p:cNvSpPr txBox="1">
              <a:spLocks noChangeArrowheads="1"/>
            </p:cNvSpPr>
            <p:nvPr/>
          </p:nvSpPr>
          <p:spPr bwMode="auto">
            <a:xfrm>
              <a:off x="7299153" y="2987956"/>
              <a:ext cx="1681445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400" dirty="0">
                  <a:latin typeface="Arial" charset="0"/>
                  <a:cs typeface="Arial" charset="0"/>
                </a:rPr>
                <a:t>gateway-to-remote </a:t>
              </a:r>
            </a:p>
            <a:p>
              <a:r>
                <a:rPr lang="en-US" sz="1400" dirty="0">
                  <a:latin typeface="Arial" charset="0"/>
                  <a:cs typeface="Arial" charset="0"/>
                </a:rPr>
                <a:t>host telnet session</a:t>
              </a:r>
              <a:endParaRPr lang="en-US" sz="1800" dirty="0">
                <a:latin typeface="Arial" charset="0"/>
                <a:cs typeface="Arial" charset="0"/>
              </a:endParaRPr>
            </a:p>
          </p:txBody>
        </p:sp>
        <p:sp>
          <p:nvSpPr>
            <p:cNvPr id="182305" name="Line 334"/>
            <p:cNvSpPr>
              <a:spLocks noChangeShapeType="1"/>
            </p:cNvSpPr>
            <p:nvPr/>
          </p:nvSpPr>
          <p:spPr bwMode="auto">
            <a:xfrm>
              <a:off x="7499671" y="2819280"/>
              <a:ext cx="837020" cy="181393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117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61</a:t>
            </a:fld>
            <a:endParaRPr lang="en-US" sz="1200" dirty="0">
              <a:latin typeface="Tahoma" charset="0"/>
            </a:endParaRPr>
          </a:p>
        </p:txBody>
      </p:sp>
      <p:sp>
        <p:nvSpPr>
          <p:cNvPr id="118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147378066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21" name="Picture 15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138" y="1063625"/>
            <a:ext cx="7769225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23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8034338" cy="1143000"/>
          </a:xfrm>
        </p:spPr>
        <p:txBody>
          <a:bodyPr/>
          <a:lstStyle/>
          <a:p>
            <a:r>
              <a:rPr lang="en-US" dirty="0">
                <a:latin typeface="Gill Sans MT" charset="0"/>
              </a:rPr>
              <a:t>Limitations of firewalls, gateways</a:t>
            </a:r>
          </a:p>
        </p:txBody>
      </p:sp>
      <p:sp>
        <p:nvSpPr>
          <p:cNvPr id="18432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60400" y="1504950"/>
            <a:ext cx="3879850" cy="4648200"/>
          </a:xfrm>
        </p:spPr>
        <p:txBody>
          <a:bodyPr/>
          <a:lstStyle/>
          <a:p>
            <a:r>
              <a:rPr lang="en-US" sz="2400" i="1" dirty="0">
                <a:solidFill>
                  <a:srgbClr val="CC0000"/>
                </a:solidFill>
                <a:latin typeface="Gill Sans MT" charset="0"/>
              </a:rPr>
              <a:t>IP spoofing: </a:t>
            </a:r>
            <a:r>
              <a:rPr lang="en-US" sz="2400" dirty="0">
                <a:latin typeface="Gill Sans MT" charset="0"/>
              </a:rPr>
              <a:t>router can</a:t>
            </a:r>
            <a:r>
              <a:rPr lang="ja-JP" altLang="en-US" sz="2400">
                <a:latin typeface="Gill Sans MT" charset="0"/>
              </a:rPr>
              <a:t>’</a:t>
            </a:r>
            <a:r>
              <a:rPr lang="en-US" altLang="ja-JP" sz="2400" dirty="0">
                <a:latin typeface="Gill Sans MT" charset="0"/>
              </a:rPr>
              <a:t>t know if data </a:t>
            </a:r>
            <a:r>
              <a:rPr lang="ja-JP" altLang="en-US" sz="2400">
                <a:latin typeface="Gill Sans MT" charset="0"/>
              </a:rPr>
              <a:t>“</a:t>
            </a:r>
            <a:r>
              <a:rPr lang="en-US" altLang="ja-JP" sz="2400" dirty="0">
                <a:latin typeface="Gill Sans MT" charset="0"/>
              </a:rPr>
              <a:t>really</a:t>
            </a:r>
            <a:r>
              <a:rPr lang="ja-JP" altLang="en-US" sz="2400">
                <a:latin typeface="Gill Sans MT" charset="0"/>
              </a:rPr>
              <a:t>”</a:t>
            </a:r>
            <a:r>
              <a:rPr lang="en-US" altLang="ja-JP" sz="2400" dirty="0">
                <a:latin typeface="Gill Sans MT" charset="0"/>
              </a:rPr>
              <a:t> comes from claimed source</a:t>
            </a:r>
          </a:p>
          <a:p>
            <a:r>
              <a:rPr lang="en-US" sz="2400" dirty="0">
                <a:latin typeface="Gill Sans MT" charset="0"/>
              </a:rPr>
              <a:t>if multiple app</a:t>
            </a:r>
            <a:r>
              <a:rPr lang="ja-JP" altLang="en-US" sz="2400">
                <a:latin typeface="Gill Sans MT" charset="0"/>
              </a:rPr>
              <a:t>’</a:t>
            </a:r>
            <a:r>
              <a:rPr lang="en-US" altLang="ja-JP" sz="2400" dirty="0">
                <a:latin typeface="Gill Sans MT" charset="0"/>
              </a:rPr>
              <a:t>s. need special treatment, each has own app. gateway</a:t>
            </a:r>
          </a:p>
          <a:p>
            <a:r>
              <a:rPr lang="en-US" sz="2400" dirty="0">
                <a:latin typeface="Gill Sans MT" charset="0"/>
              </a:rPr>
              <a:t>client software must know how to contact gateway.</a:t>
            </a:r>
          </a:p>
          <a:p>
            <a:pPr lvl="1"/>
            <a:r>
              <a:rPr lang="en-US" dirty="0">
                <a:latin typeface="Gill Sans MT" charset="0"/>
              </a:rPr>
              <a:t>e.g., must set IP address of proxy in Web browser</a:t>
            </a:r>
          </a:p>
        </p:txBody>
      </p:sp>
      <p:sp>
        <p:nvSpPr>
          <p:cNvPr id="184325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681538" y="1554163"/>
            <a:ext cx="3810000" cy="4648200"/>
          </a:xfrm>
        </p:spPr>
        <p:txBody>
          <a:bodyPr/>
          <a:lstStyle/>
          <a:p>
            <a:r>
              <a:rPr lang="en-US" sz="2400" dirty="0">
                <a:latin typeface="Gill Sans MT" charset="0"/>
              </a:rPr>
              <a:t>filters often use all or nothing policy for UDP</a:t>
            </a:r>
          </a:p>
          <a:p>
            <a:r>
              <a:rPr lang="en-US" sz="2400" i="1" dirty="0">
                <a:solidFill>
                  <a:srgbClr val="CC0000"/>
                </a:solidFill>
                <a:latin typeface="Gill Sans MT" charset="0"/>
              </a:rPr>
              <a:t>tradeoff:  </a:t>
            </a:r>
            <a:r>
              <a:rPr lang="en-US" sz="2400" dirty="0">
                <a:solidFill>
                  <a:srgbClr val="CC0000"/>
                </a:solidFill>
                <a:latin typeface="Gill Sans MT" charset="0"/>
              </a:rPr>
              <a:t>degree of communication with outside world, level of security</a:t>
            </a:r>
          </a:p>
          <a:p>
            <a:r>
              <a:rPr lang="en-US" sz="2400" dirty="0">
                <a:latin typeface="Gill Sans MT" charset="0"/>
              </a:rPr>
              <a:t>many highly protected sites still suffer from attacks</a:t>
            </a:r>
            <a:endParaRPr lang="en-US" sz="2000" dirty="0">
              <a:solidFill>
                <a:srgbClr val="FF0000"/>
              </a:solidFill>
              <a:latin typeface="Gill Sans MT" charset="0"/>
            </a:endParaRPr>
          </a:p>
        </p:txBody>
      </p:sp>
      <p:sp>
        <p:nvSpPr>
          <p:cNvPr id="7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62</a:t>
            </a:fld>
            <a:endParaRPr lang="en-US" sz="1200" dirty="0">
              <a:latin typeface="Tahoma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15951431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369" name="Picture 18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625" y="1049338"/>
            <a:ext cx="63992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63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ill Sans MT" charset="0"/>
              </a:rPr>
              <a:t>Intrusion detection systems</a:t>
            </a:r>
          </a:p>
        </p:txBody>
      </p:sp>
      <p:sp>
        <p:nvSpPr>
          <p:cNvPr id="1863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8475" y="1482725"/>
            <a:ext cx="7772400" cy="4870450"/>
          </a:xfrm>
        </p:spPr>
        <p:txBody>
          <a:bodyPr/>
          <a:lstStyle/>
          <a:p>
            <a:r>
              <a:rPr lang="en-US" dirty="0">
                <a:latin typeface="Gill Sans MT" charset="0"/>
              </a:rPr>
              <a:t>packet filtering:</a:t>
            </a:r>
          </a:p>
          <a:p>
            <a:pPr lvl="1"/>
            <a:r>
              <a:rPr lang="en-US" dirty="0">
                <a:latin typeface="Gill Sans MT" charset="0"/>
              </a:rPr>
              <a:t>operates on TCP/IP headers only</a:t>
            </a:r>
          </a:p>
          <a:p>
            <a:pPr lvl="1"/>
            <a:r>
              <a:rPr lang="en-US" dirty="0">
                <a:latin typeface="Gill Sans MT" charset="0"/>
              </a:rPr>
              <a:t>no correlation check among sessions </a:t>
            </a:r>
          </a:p>
          <a:p>
            <a:r>
              <a:rPr lang="en-US" i="1" dirty="0">
                <a:solidFill>
                  <a:srgbClr val="CC0000"/>
                </a:solidFill>
                <a:latin typeface="Gill Sans MT" charset="0"/>
              </a:rPr>
              <a:t>IDS: intrusion detection system</a:t>
            </a:r>
          </a:p>
          <a:p>
            <a:pPr lvl="1"/>
            <a:r>
              <a:rPr lang="en-US" i="1" dirty="0">
                <a:solidFill>
                  <a:srgbClr val="000099"/>
                </a:solidFill>
                <a:latin typeface="Gill Sans MT" charset="0"/>
              </a:rPr>
              <a:t>deep packet inspection:</a:t>
            </a:r>
            <a:r>
              <a:rPr lang="en-US" dirty="0">
                <a:latin typeface="Gill Sans MT" charset="0"/>
              </a:rPr>
              <a:t> look at packet contents (e.g., check character strings in packet against database of known virus, attack strings)</a:t>
            </a:r>
          </a:p>
          <a:p>
            <a:pPr lvl="1"/>
            <a:r>
              <a:rPr lang="en-US" dirty="0">
                <a:solidFill>
                  <a:srgbClr val="000099"/>
                </a:solidFill>
                <a:latin typeface="Gill Sans MT" charset="0"/>
              </a:rPr>
              <a:t>examine correlation</a:t>
            </a:r>
            <a:r>
              <a:rPr lang="en-US" dirty="0">
                <a:latin typeface="Gill Sans MT" charset="0"/>
              </a:rPr>
              <a:t> among multiple packets</a:t>
            </a:r>
          </a:p>
          <a:p>
            <a:pPr lvl="2"/>
            <a:r>
              <a:rPr lang="en-US" sz="2400" dirty="0">
                <a:latin typeface="Gill Sans MT" charset="0"/>
                <a:cs typeface="Gill Sans MT" charset="0"/>
              </a:rPr>
              <a:t>port scanning</a:t>
            </a:r>
          </a:p>
          <a:p>
            <a:pPr lvl="2"/>
            <a:r>
              <a:rPr lang="en-US" sz="2400" dirty="0">
                <a:latin typeface="Gill Sans MT" charset="0"/>
                <a:cs typeface="Gill Sans MT" charset="0"/>
              </a:rPr>
              <a:t>network mapping</a:t>
            </a:r>
          </a:p>
          <a:p>
            <a:pPr lvl="2"/>
            <a:r>
              <a:rPr lang="en-US" sz="2400" dirty="0">
                <a:latin typeface="Gill Sans MT" charset="0"/>
                <a:cs typeface="Gill Sans MT" charset="0"/>
              </a:rPr>
              <a:t>DoS attack</a:t>
            </a:r>
          </a:p>
        </p:txBody>
      </p:sp>
      <p:sp>
        <p:nvSpPr>
          <p:cNvPr id="6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63</a:t>
            </a:fld>
            <a:endParaRPr lang="en-US" sz="1200" dirty="0">
              <a:latin typeface="Tahoma" charset="0"/>
            </a:endParaRPr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65737576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369" name="Picture 18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625" y="1049338"/>
            <a:ext cx="63992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63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ill Sans MT" charset="0"/>
              </a:rPr>
              <a:t>Intrusion detection systems</a:t>
            </a:r>
          </a:p>
        </p:txBody>
      </p:sp>
      <p:sp>
        <p:nvSpPr>
          <p:cNvPr id="1863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8475" y="1482725"/>
            <a:ext cx="7772400" cy="4870450"/>
          </a:xfrm>
        </p:spPr>
        <p:txBody>
          <a:bodyPr/>
          <a:lstStyle/>
          <a:p>
            <a:r>
              <a:rPr lang="en-US" dirty="0">
                <a:latin typeface="Gill Sans MT" charset="0"/>
              </a:rPr>
              <a:t>Types of Intrusion Detection Systems:</a:t>
            </a:r>
          </a:p>
          <a:p>
            <a:endParaRPr lang="en-US" dirty="0">
              <a:latin typeface="Gill Sans MT" charset="0"/>
            </a:endParaRPr>
          </a:p>
          <a:p>
            <a:pPr lvl="1"/>
            <a:r>
              <a:rPr lang="en-US" dirty="0">
                <a:latin typeface="Gill Sans MT" charset="0"/>
              </a:rPr>
              <a:t>1. Network-based IDS (NIDS): Monitors network traffic for suspicious activity.</a:t>
            </a:r>
          </a:p>
          <a:p>
            <a:pPr lvl="1"/>
            <a:r>
              <a:rPr lang="en-US" dirty="0">
                <a:latin typeface="Gill Sans MT" charset="0"/>
              </a:rPr>
              <a:t>2. Host-based IDS (HIDS): Monitors individual hosts for suspicious activity.</a:t>
            </a:r>
          </a:p>
          <a:p>
            <a:pPr lvl="1"/>
            <a:r>
              <a:rPr lang="en-US" dirty="0">
                <a:latin typeface="Gill Sans MT" charset="0"/>
              </a:rPr>
              <a:t>3. Protocol-based IDS (PIDS): Analyzes network protocols for anomalies.</a:t>
            </a:r>
          </a:p>
          <a:p>
            <a:pPr lvl="1"/>
            <a:r>
              <a:rPr lang="en-US" dirty="0">
                <a:latin typeface="Gill Sans MT" charset="0"/>
              </a:rPr>
              <a:t>4. Application-based IDS (AIDS): Monitors specific applications for vulnerabilities.</a:t>
            </a:r>
          </a:p>
          <a:p>
            <a:pPr lvl="1"/>
            <a:r>
              <a:rPr lang="en-US" dirty="0">
                <a:latin typeface="Gill Sans MT" charset="0"/>
              </a:rPr>
              <a:t>5. Hybrid IDS: Combines multiple IDS types.</a:t>
            </a:r>
          </a:p>
        </p:txBody>
      </p:sp>
      <p:sp>
        <p:nvSpPr>
          <p:cNvPr id="6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64</a:t>
            </a:fld>
            <a:endParaRPr lang="en-US" sz="1200" dirty="0">
              <a:latin typeface="Tahoma" charset="0"/>
            </a:endParaRPr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318897998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369" name="Picture 18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625" y="1049338"/>
            <a:ext cx="63992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63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ill Sans MT" charset="0"/>
              </a:rPr>
              <a:t>Intrusion detection systems</a:t>
            </a:r>
          </a:p>
        </p:txBody>
      </p:sp>
      <p:sp>
        <p:nvSpPr>
          <p:cNvPr id="1863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8475" y="1482725"/>
            <a:ext cx="7772400" cy="4870450"/>
          </a:xfrm>
        </p:spPr>
        <p:txBody>
          <a:bodyPr/>
          <a:lstStyle/>
          <a:p>
            <a:r>
              <a:rPr lang="en-US" dirty="0">
                <a:latin typeface="Gill Sans MT" charset="0"/>
              </a:rPr>
              <a:t>IDS Detection Methods:</a:t>
            </a:r>
          </a:p>
          <a:p>
            <a:endParaRPr lang="en-US" dirty="0">
              <a:latin typeface="Gill Sans MT" charset="0"/>
            </a:endParaRPr>
          </a:p>
          <a:p>
            <a:pPr lvl="1"/>
            <a:r>
              <a:rPr lang="en-US" dirty="0">
                <a:latin typeface="Gill Sans MT" charset="0"/>
              </a:rPr>
              <a:t>1. Signature-based detection: Identifies known attack patterns.</a:t>
            </a:r>
          </a:p>
          <a:p>
            <a:pPr lvl="1"/>
            <a:r>
              <a:rPr lang="en-US" dirty="0">
                <a:latin typeface="Gill Sans MT" charset="0"/>
              </a:rPr>
              <a:t>2. Anomaly-based detection: Identifies unusual network behavior.</a:t>
            </a:r>
          </a:p>
          <a:p>
            <a:pPr lvl="1"/>
            <a:r>
              <a:rPr lang="en-US" dirty="0">
                <a:latin typeface="Gill Sans MT" charset="0"/>
              </a:rPr>
              <a:t>3. Behavioral detection: Analyzes system calls and API interactions.</a:t>
            </a:r>
          </a:p>
        </p:txBody>
      </p:sp>
      <p:sp>
        <p:nvSpPr>
          <p:cNvPr id="6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65</a:t>
            </a:fld>
            <a:endParaRPr lang="en-US" sz="1200" dirty="0">
              <a:latin typeface="Tahoma" charset="0"/>
            </a:endParaRPr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169594405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369" name="Picture 18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625" y="1049338"/>
            <a:ext cx="63992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63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ill Sans MT" charset="0"/>
              </a:rPr>
              <a:t>Intrusion detection systems</a:t>
            </a:r>
          </a:p>
        </p:txBody>
      </p:sp>
      <p:sp>
        <p:nvSpPr>
          <p:cNvPr id="1863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8475" y="1482725"/>
            <a:ext cx="7772400" cy="4870450"/>
          </a:xfrm>
        </p:spPr>
        <p:txBody>
          <a:bodyPr/>
          <a:lstStyle/>
          <a:p>
            <a:endParaRPr lang="en-US" dirty="0">
              <a:latin typeface="Gill Sans MT" charset="0"/>
            </a:endParaRPr>
          </a:p>
          <a:p>
            <a:r>
              <a:rPr lang="en-US" dirty="0">
                <a:latin typeface="Gill Sans MT" charset="0"/>
              </a:rPr>
              <a:t>IDS Components:</a:t>
            </a:r>
          </a:p>
          <a:p>
            <a:endParaRPr lang="en-US" dirty="0">
              <a:latin typeface="Gill Sans MT" charset="0"/>
            </a:endParaRPr>
          </a:p>
          <a:p>
            <a:pPr lvl="1"/>
            <a:r>
              <a:rPr lang="en-US" dirty="0">
                <a:latin typeface="Gill Sans MT" charset="0"/>
              </a:rPr>
              <a:t>1. Sensors: Collect network traffic data.</a:t>
            </a:r>
          </a:p>
          <a:p>
            <a:pPr lvl="1"/>
            <a:r>
              <a:rPr lang="en-US" dirty="0">
                <a:latin typeface="Gill Sans MT" charset="0"/>
              </a:rPr>
              <a:t>2. Analysis engine: Analyzes data for suspicious activity.</a:t>
            </a:r>
          </a:p>
          <a:p>
            <a:pPr lvl="1"/>
            <a:r>
              <a:rPr lang="en-US" dirty="0">
                <a:latin typeface="Gill Sans MT" charset="0"/>
              </a:rPr>
              <a:t>3. Alert system: Notifies administrators of potential threats.</a:t>
            </a:r>
          </a:p>
          <a:p>
            <a:endParaRPr lang="en-US" dirty="0">
              <a:latin typeface="Gill Sans MT" charset="0"/>
            </a:endParaRPr>
          </a:p>
        </p:txBody>
      </p:sp>
      <p:sp>
        <p:nvSpPr>
          <p:cNvPr id="6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66</a:t>
            </a:fld>
            <a:endParaRPr lang="en-US" sz="1200" dirty="0">
              <a:latin typeface="Tahoma" charset="0"/>
            </a:endParaRPr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176188016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369" name="Picture 18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625" y="1049338"/>
            <a:ext cx="63992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63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ill Sans MT" charset="0"/>
              </a:rPr>
              <a:t>Intrusion detection systems</a:t>
            </a:r>
          </a:p>
        </p:txBody>
      </p:sp>
      <p:sp>
        <p:nvSpPr>
          <p:cNvPr id="1863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8475" y="1482725"/>
            <a:ext cx="7772400" cy="4870450"/>
          </a:xfrm>
        </p:spPr>
        <p:txBody>
          <a:bodyPr/>
          <a:lstStyle/>
          <a:p>
            <a:r>
              <a:rPr lang="en-US" dirty="0">
                <a:latin typeface="Gill Sans MT" charset="0"/>
              </a:rPr>
              <a:t>IDS Response Options:</a:t>
            </a:r>
          </a:p>
          <a:p>
            <a:pPr lvl="1"/>
            <a:endParaRPr lang="en-US" dirty="0">
              <a:latin typeface="Gill Sans MT" charset="0"/>
            </a:endParaRPr>
          </a:p>
          <a:p>
            <a:pPr lvl="1"/>
            <a:r>
              <a:rPr lang="en-US" dirty="0">
                <a:latin typeface="Gill Sans MT" charset="0"/>
              </a:rPr>
              <a:t>1. Alerting: Notifies administrators.</a:t>
            </a:r>
          </a:p>
          <a:p>
            <a:pPr lvl="1"/>
            <a:r>
              <a:rPr lang="en-US" dirty="0">
                <a:latin typeface="Gill Sans MT" charset="0"/>
              </a:rPr>
              <a:t>2. Blocking: Blocks malicious traffic.</a:t>
            </a:r>
          </a:p>
          <a:p>
            <a:pPr lvl="1"/>
            <a:r>
              <a:rPr lang="en-US" dirty="0">
                <a:latin typeface="Gill Sans MT" charset="0"/>
              </a:rPr>
              <a:t>3. Logging: Records suspicious activity.</a:t>
            </a:r>
          </a:p>
        </p:txBody>
      </p:sp>
      <p:sp>
        <p:nvSpPr>
          <p:cNvPr id="6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67</a:t>
            </a:fld>
            <a:endParaRPr lang="en-US" sz="1200" dirty="0">
              <a:latin typeface="Tahoma" charset="0"/>
            </a:endParaRPr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104002783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369" name="Picture 18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625" y="1049338"/>
            <a:ext cx="63992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63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ill Sans MT" charset="0"/>
              </a:rPr>
              <a:t>Intrusion detection systems</a:t>
            </a:r>
          </a:p>
        </p:txBody>
      </p:sp>
      <p:sp>
        <p:nvSpPr>
          <p:cNvPr id="1863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8475" y="1482725"/>
            <a:ext cx="7772400" cy="4870450"/>
          </a:xfrm>
        </p:spPr>
        <p:txBody>
          <a:bodyPr/>
          <a:lstStyle/>
          <a:p>
            <a:r>
              <a:rPr lang="en-US" dirty="0">
                <a:latin typeface="Gill Sans MT" charset="0"/>
              </a:rPr>
              <a:t>IDS Benefits:</a:t>
            </a:r>
          </a:p>
          <a:p>
            <a:pPr lvl="1"/>
            <a:r>
              <a:rPr lang="en-US" dirty="0">
                <a:latin typeface="Gill Sans MT" charset="0"/>
              </a:rPr>
              <a:t>1. Improved security</a:t>
            </a:r>
          </a:p>
          <a:p>
            <a:pPr lvl="1"/>
            <a:r>
              <a:rPr lang="en-US" dirty="0">
                <a:latin typeface="Gill Sans MT" charset="0"/>
              </a:rPr>
              <a:t>2. Real-time threat detection</a:t>
            </a:r>
          </a:p>
          <a:p>
            <a:pPr lvl="1"/>
            <a:r>
              <a:rPr lang="en-US" dirty="0">
                <a:latin typeface="Gill Sans MT" charset="0"/>
              </a:rPr>
              <a:t>3. Compliance</a:t>
            </a:r>
          </a:p>
          <a:p>
            <a:pPr lvl="1"/>
            <a:r>
              <a:rPr lang="en-US" dirty="0">
                <a:latin typeface="Gill Sans MT" charset="0"/>
              </a:rPr>
              <a:t>4. Incident response</a:t>
            </a:r>
          </a:p>
          <a:p>
            <a:pPr marL="0" indent="0">
              <a:buNone/>
            </a:pPr>
            <a:endParaRPr lang="en-US" dirty="0">
              <a:latin typeface="Gill Sans MT" charset="0"/>
            </a:endParaRPr>
          </a:p>
          <a:p>
            <a:r>
              <a:rPr lang="en-US" dirty="0">
                <a:latin typeface="Gill Sans MT" charset="0"/>
              </a:rPr>
              <a:t>IDS Challenges:</a:t>
            </a:r>
          </a:p>
          <a:p>
            <a:pPr lvl="1"/>
            <a:r>
              <a:rPr lang="en-US" dirty="0">
                <a:latin typeface="Gill Sans MT" charset="0"/>
              </a:rPr>
              <a:t>1. False positives</a:t>
            </a:r>
          </a:p>
          <a:p>
            <a:pPr lvl="1"/>
            <a:r>
              <a:rPr lang="en-US" dirty="0">
                <a:latin typeface="Gill Sans MT" charset="0"/>
              </a:rPr>
              <a:t>2. False negatives</a:t>
            </a:r>
          </a:p>
          <a:p>
            <a:pPr lvl="1"/>
            <a:r>
              <a:rPr lang="en-US" dirty="0">
                <a:latin typeface="Gill Sans MT" charset="0"/>
              </a:rPr>
              <a:t>3. Resource intensive</a:t>
            </a:r>
          </a:p>
          <a:p>
            <a:pPr lvl="1"/>
            <a:r>
              <a:rPr lang="en-US" dirty="0">
                <a:latin typeface="Gill Sans MT" charset="0"/>
              </a:rPr>
              <a:t>4. Complexity</a:t>
            </a:r>
          </a:p>
        </p:txBody>
      </p:sp>
      <p:sp>
        <p:nvSpPr>
          <p:cNvPr id="6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68</a:t>
            </a:fld>
            <a:endParaRPr lang="en-US" sz="1200" dirty="0">
              <a:latin typeface="Tahoma" charset="0"/>
            </a:endParaRPr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89343697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417" name="Picture 18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625" y="1049338"/>
            <a:ext cx="63992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8419" name="Freeform 2"/>
          <p:cNvSpPr>
            <a:spLocks/>
          </p:cNvSpPr>
          <p:nvPr/>
        </p:nvSpPr>
        <p:spPr bwMode="auto">
          <a:xfrm>
            <a:off x="5554663" y="3381375"/>
            <a:ext cx="3324225" cy="1131888"/>
          </a:xfrm>
          <a:custGeom>
            <a:avLst/>
            <a:gdLst>
              <a:gd name="T0" fmla="*/ 2147483647 w 1198"/>
              <a:gd name="T1" fmla="*/ 2147483647 h 719"/>
              <a:gd name="T2" fmla="*/ 2147483647 w 1198"/>
              <a:gd name="T3" fmla="*/ 0 h 719"/>
              <a:gd name="T4" fmla="*/ 2147483647 w 1198"/>
              <a:gd name="T5" fmla="*/ 2147483647 h 719"/>
              <a:gd name="T6" fmla="*/ 2147483647 w 1198"/>
              <a:gd name="T7" fmla="*/ 2147483647 h 719"/>
              <a:gd name="T8" fmla="*/ 2147483647 w 1198"/>
              <a:gd name="T9" fmla="*/ 2147483647 h 719"/>
              <a:gd name="T10" fmla="*/ 2147483647 w 1198"/>
              <a:gd name="T11" fmla="*/ 2147483647 h 719"/>
              <a:gd name="T12" fmla="*/ 2147483647 w 1198"/>
              <a:gd name="T13" fmla="*/ 2147483647 h 719"/>
              <a:gd name="T14" fmla="*/ 2147483647 w 1198"/>
              <a:gd name="T15" fmla="*/ 2147483647 h 719"/>
              <a:gd name="T16" fmla="*/ 2147483647 w 1198"/>
              <a:gd name="T17" fmla="*/ 2147483647 h 719"/>
              <a:gd name="T18" fmla="*/ 2147483647 w 1198"/>
              <a:gd name="T19" fmla="*/ 2147483647 h 719"/>
              <a:gd name="T20" fmla="*/ 2147483647 w 1198"/>
              <a:gd name="T21" fmla="*/ 2147483647 h 719"/>
              <a:gd name="T22" fmla="*/ 2147483647 w 1198"/>
              <a:gd name="T23" fmla="*/ 2147483647 h 719"/>
              <a:gd name="T24" fmla="*/ 2147483647 w 1198"/>
              <a:gd name="T25" fmla="*/ 2147483647 h 719"/>
              <a:gd name="T26" fmla="*/ 2147483647 w 1198"/>
              <a:gd name="T27" fmla="*/ 2147483647 h 719"/>
              <a:gd name="T28" fmla="*/ 2147483647 w 1198"/>
              <a:gd name="T29" fmla="*/ 2147483647 h 719"/>
              <a:gd name="T30" fmla="*/ 2147483647 w 1198"/>
              <a:gd name="T31" fmla="*/ 2147483647 h 719"/>
              <a:gd name="T32" fmla="*/ 2147483647 w 1198"/>
              <a:gd name="T33" fmla="*/ 2147483647 h 719"/>
              <a:gd name="T34" fmla="*/ 2147483647 w 1198"/>
              <a:gd name="T35" fmla="*/ 2147483647 h 719"/>
              <a:gd name="T36" fmla="*/ 2147483647 w 1198"/>
              <a:gd name="T37" fmla="*/ 2147483647 h 719"/>
              <a:gd name="T38" fmla="*/ 2147483647 w 1198"/>
              <a:gd name="T39" fmla="*/ 2147483647 h 719"/>
              <a:gd name="T40" fmla="*/ 2147483647 w 1198"/>
              <a:gd name="T41" fmla="*/ 2147483647 h 719"/>
              <a:gd name="T42" fmla="*/ 2147483647 w 1198"/>
              <a:gd name="T43" fmla="*/ 2147483647 h 719"/>
              <a:gd name="T44" fmla="*/ 0 w 1198"/>
              <a:gd name="T45" fmla="*/ 2147483647 h 719"/>
              <a:gd name="T46" fmla="*/ 2147483647 w 1198"/>
              <a:gd name="T47" fmla="*/ 2147483647 h 719"/>
              <a:gd name="T48" fmla="*/ 2147483647 w 1198"/>
              <a:gd name="T49" fmla="*/ 2147483647 h 719"/>
              <a:gd name="T50" fmla="*/ 2147483647 w 1198"/>
              <a:gd name="T51" fmla="*/ 2147483647 h 719"/>
              <a:gd name="T52" fmla="*/ 2147483647 w 1198"/>
              <a:gd name="T53" fmla="*/ 2147483647 h 719"/>
              <a:gd name="T54" fmla="*/ 2147483647 w 1198"/>
              <a:gd name="T55" fmla="*/ 2147483647 h 719"/>
              <a:gd name="T56" fmla="*/ 2147483647 w 1198"/>
              <a:gd name="T57" fmla="*/ 2147483647 h 719"/>
              <a:gd name="T58" fmla="*/ 2147483647 w 1198"/>
              <a:gd name="T59" fmla="*/ 2147483647 h 719"/>
              <a:gd name="T60" fmla="*/ 2147483647 w 1198"/>
              <a:gd name="T61" fmla="*/ 2147483647 h 719"/>
              <a:gd name="T62" fmla="*/ 2147483647 w 1198"/>
              <a:gd name="T63" fmla="*/ 2147483647 h 719"/>
              <a:gd name="T64" fmla="*/ 2147483647 w 1198"/>
              <a:gd name="T65" fmla="*/ 2147483647 h 719"/>
              <a:gd name="T66" fmla="*/ 2147483647 w 1198"/>
              <a:gd name="T67" fmla="*/ 2147483647 h 719"/>
              <a:gd name="T68" fmla="*/ 2147483647 w 1198"/>
              <a:gd name="T69" fmla="*/ 2147483647 h 719"/>
              <a:gd name="T70" fmla="*/ 2147483647 w 1198"/>
              <a:gd name="T71" fmla="*/ 2147483647 h 719"/>
              <a:gd name="T72" fmla="*/ 2147483647 w 1198"/>
              <a:gd name="T73" fmla="*/ 2147483647 h 719"/>
              <a:gd name="T74" fmla="*/ 2147483647 w 1198"/>
              <a:gd name="T75" fmla="*/ 2147483647 h 719"/>
              <a:gd name="T76" fmla="*/ 2147483647 w 1198"/>
              <a:gd name="T77" fmla="*/ 2147483647 h 719"/>
              <a:gd name="T78" fmla="*/ 2147483647 w 1198"/>
              <a:gd name="T79" fmla="*/ 2147483647 h 719"/>
              <a:gd name="T80" fmla="*/ 2147483647 w 1198"/>
              <a:gd name="T81" fmla="*/ 2147483647 h 719"/>
              <a:gd name="T82" fmla="*/ 2147483647 w 1198"/>
              <a:gd name="T83" fmla="*/ 2147483647 h 719"/>
              <a:gd name="T84" fmla="*/ 2147483647 w 1198"/>
              <a:gd name="T85" fmla="*/ 2147483647 h 719"/>
              <a:gd name="T86" fmla="*/ 2147483647 w 1198"/>
              <a:gd name="T87" fmla="*/ 2147483647 h 719"/>
              <a:gd name="T88" fmla="*/ 2147483647 w 1198"/>
              <a:gd name="T89" fmla="*/ 2147483647 h 719"/>
              <a:gd name="T90" fmla="*/ 2147483647 w 1198"/>
              <a:gd name="T91" fmla="*/ 2147483647 h 719"/>
              <a:gd name="T92" fmla="*/ 2147483647 w 1198"/>
              <a:gd name="T93" fmla="*/ 2147483647 h 719"/>
              <a:gd name="T94" fmla="*/ 2147483647 w 1198"/>
              <a:gd name="T95" fmla="*/ 2147483647 h 719"/>
              <a:gd name="T96" fmla="*/ 2147483647 w 1198"/>
              <a:gd name="T97" fmla="*/ 2147483647 h 719"/>
              <a:gd name="T98" fmla="*/ 2147483647 w 1198"/>
              <a:gd name="T99" fmla="*/ 2147483647 h 719"/>
              <a:gd name="T100" fmla="*/ 2147483647 w 1198"/>
              <a:gd name="T101" fmla="*/ 2147483647 h 719"/>
              <a:gd name="T102" fmla="*/ 2147483647 w 1198"/>
              <a:gd name="T103" fmla="*/ 2147483647 h 719"/>
              <a:gd name="T104" fmla="*/ 2147483647 w 1198"/>
              <a:gd name="T105" fmla="*/ 2147483647 h 719"/>
              <a:gd name="T106" fmla="*/ 2147483647 w 1198"/>
              <a:gd name="T107" fmla="*/ 2147483647 h 719"/>
              <a:gd name="T108" fmla="*/ 2147483647 w 1198"/>
              <a:gd name="T109" fmla="*/ 2147483647 h 719"/>
              <a:gd name="T110" fmla="*/ 2147483647 w 1198"/>
              <a:gd name="T111" fmla="*/ 2147483647 h 719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w 1198"/>
              <a:gd name="T169" fmla="*/ 0 h 719"/>
              <a:gd name="T170" fmla="*/ 1198 w 1198"/>
              <a:gd name="T171" fmla="*/ 719 h 719"/>
            </a:gdLst>
            <a:ahLst/>
            <a:cxnLst>
              <a:cxn ang="T112">
                <a:pos x="T0" y="T1"/>
              </a:cxn>
              <a:cxn ang="T113">
                <a:pos x="T2" y="T3"/>
              </a:cxn>
              <a:cxn ang="T114">
                <a:pos x="T4" y="T5"/>
              </a:cxn>
              <a:cxn ang="T115">
                <a:pos x="T6" y="T7"/>
              </a:cxn>
              <a:cxn ang="T116">
                <a:pos x="T8" y="T9"/>
              </a:cxn>
              <a:cxn ang="T117">
                <a:pos x="T10" y="T11"/>
              </a:cxn>
              <a:cxn ang="T118">
                <a:pos x="T12" y="T13"/>
              </a:cxn>
              <a:cxn ang="T119">
                <a:pos x="T14" y="T15"/>
              </a:cxn>
              <a:cxn ang="T120">
                <a:pos x="T16" y="T17"/>
              </a:cxn>
              <a:cxn ang="T121">
                <a:pos x="T18" y="T19"/>
              </a:cxn>
              <a:cxn ang="T122">
                <a:pos x="T20" y="T21"/>
              </a:cxn>
              <a:cxn ang="T123">
                <a:pos x="T22" y="T23"/>
              </a:cxn>
              <a:cxn ang="T124">
                <a:pos x="T24" y="T25"/>
              </a:cxn>
              <a:cxn ang="T125">
                <a:pos x="T26" y="T27"/>
              </a:cxn>
              <a:cxn ang="T126">
                <a:pos x="T28" y="T29"/>
              </a:cxn>
              <a:cxn ang="T127">
                <a:pos x="T30" y="T31"/>
              </a:cxn>
              <a:cxn ang="T128">
                <a:pos x="T32" y="T33"/>
              </a:cxn>
              <a:cxn ang="T129">
                <a:pos x="T34" y="T35"/>
              </a:cxn>
              <a:cxn ang="T130">
                <a:pos x="T36" y="T37"/>
              </a:cxn>
              <a:cxn ang="T131">
                <a:pos x="T38" y="T39"/>
              </a:cxn>
              <a:cxn ang="T132">
                <a:pos x="T40" y="T41"/>
              </a:cxn>
              <a:cxn ang="T133">
                <a:pos x="T42" y="T43"/>
              </a:cxn>
              <a:cxn ang="T134">
                <a:pos x="T44" y="T45"/>
              </a:cxn>
              <a:cxn ang="T135">
                <a:pos x="T46" y="T47"/>
              </a:cxn>
              <a:cxn ang="T136">
                <a:pos x="T48" y="T49"/>
              </a:cxn>
              <a:cxn ang="T137">
                <a:pos x="T50" y="T51"/>
              </a:cxn>
              <a:cxn ang="T138">
                <a:pos x="T52" y="T53"/>
              </a:cxn>
              <a:cxn ang="T139">
                <a:pos x="T54" y="T55"/>
              </a:cxn>
              <a:cxn ang="T140">
                <a:pos x="T56" y="T57"/>
              </a:cxn>
              <a:cxn ang="T141">
                <a:pos x="T58" y="T59"/>
              </a:cxn>
              <a:cxn ang="T142">
                <a:pos x="T60" y="T61"/>
              </a:cxn>
              <a:cxn ang="T143">
                <a:pos x="T62" y="T63"/>
              </a:cxn>
              <a:cxn ang="T144">
                <a:pos x="T64" y="T65"/>
              </a:cxn>
              <a:cxn ang="T145">
                <a:pos x="T66" y="T67"/>
              </a:cxn>
              <a:cxn ang="T146">
                <a:pos x="T68" y="T69"/>
              </a:cxn>
              <a:cxn ang="T147">
                <a:pos x="T70" y="T71"/>
              </a:cxn>
              <a:cxn ang="T148">
                <a:pos x="T72" y="T73"/>
              </a:cxn>
              <a:cxn ang="T149">
                <a:pos x="T74" y="T75"/>
              </a:cxn>
              <a:cxn ang="T150">
                <a:pos x="T76" y="T77"/>
              </a:cxn>
              <a:cxn ang="T151">
                <a:pos x="T78" y="T79"/>
              </a:cxn>
              <a:cxn ang="T152">
                <a:pos x="T80" y="T81"/>
              </a:cxn>
              <a:cxn ang="T153">
                <a:pos x="T82" y="T83"/>
              </a:cxn>
              <a:cxn ang="T154">
                <a:pos x="T84" y="T85"/>
              </a:cxn>
              <a:cxn ang="T155">
                <a:pos x="T86" y="T87"/>
              </a:cxn>
              <a:cxn ang="T156">
                <a:pos x="T88" y="T89"/>
              </a:cxn>
              <a:cxn ang="T157">
                <a:pos x="T90" y="T91"/>
              </a:cxn>
              <a:cxn ang="T158">
                <a:pos x="T92" y="T93"/>
              </a:cxn>
              <a:cxn ang="T159">
                <a:pos x="T94" y="T95"/>
              </a:cxn>
              <a:cxn ang="T160">
                <a:pos x="T96" y="T97"/>
              </a:cxn>
              <a:cxn ang="T161">
                <a:pos x="T98" y="T99"/>
              </a:cxn>
              <a:cxn ang="T162">
                <a:pos x="T100" y="T101"/>
              </a:cxn>
              <a:cxn ang="T163">
                <a:pos x="T102" y="T103"/>
              </a:cxn>
              <a:cxn ang="T164">
                <a:pos x="T104" y="T105"/>
              </a:cxn>
              <a:cxn ang="T165">
                <a:pos x="T106" y="T107"/>
              </a:cxn>
              <a:cxn ang="T166">
                <a:pos x="T108" y="T109"/>
              </a:cxn>
              <a:cxn ang="T167">
                <a:pos x="T110" y="T111"/>
              </a:cxn>
            </a:cxnLst>
            <a:rect l="T168" t="T169" r="T170" b="T171"/>
            <a:pathLst>
              <a:path w="1198" h="719">
                <a:moveTo>
                  <a:pt x="1160" y="13"/>
                </a:moveTo>
                <a:lnTo>
                  <a:pt x="1154" y="9"/>
                </a:lnTo>
                <a:lnTo>
                  <a:pt x="1149" y="5"/>
                </a:lnTo>
                <a:lnTo>
                  <a:pt x="1142" y="3"/>
                </a:lnTo>
                <a:lnTo>
                  <a:pt x="1137" y="2"/>
                </a:lnTo>
                <a:lnTo>
                  <a:pt x="1130" y="0"/>
                </a:lnTo>
                <a:lnTo>
                  <a:pt x="1123" y="0"/>
                </a:lnTo>
                <a:lnTo>
                  <a:pt x="1116" y="0"/>
                </a:lnTo>
                <a:lnTo>
                  <a:pt x="1107" y="2"/>
                </a:lnTo>
                <a:lnTo>
                  <a:pt x="1099" y="3"/>
                </a:lnTo>
                <a:lnTo>
                  <a:pt x="1091" y="5"/>
                </a:lnTo>
                <a:lnTo>
                  <a:pt x="1082" y="7"/>
                </a:lnTo>
                <a:lnTo>
                  <a:pt x="1074" y="10"/>
                </a:lnTo>
                <a:lnTo>
                  <a:pt x="1064" y="13"/>
                </a:lnTo>
                <a:lnTo>
                  <a:pt x="1055" y="17"/>
                </a:lnTo>
                <a:lnTo>
                  <a:pt x="1036" y="24"/>
                </a:lnTo>
                <a:lnTo>
                  <a:pt x="1016" y="32"/>
                </a:lnTo>
                <a:lnTo>
                  <a:pt x="997" y="40"/>
                </a:lnTo>
                <a:lnTo>
                  <a:pt x="977" y="49"/>
                </a:lnTo>
                <a:lnTo>
                  <a:pt x="956" y="56"/>
                </a:lnTo>
                <a:lnTo>
                  <a:pt x="936" y="65"/>
                </a:lnTo>
                <a:lnTo>
                  <a:pt x="925" y="67"/>
                </a:lnTo>
                <a:lnTo>
                  <a:pt x="915" y="70"/>
                </a:lnTo>
                <a:lnTo>
                  <a:pt x="904" y="73"/>
                </a:lnTo>
                <a:lnTo>
                  <a:pt x="895" y="75"/>
                </a:lnTo>
                <a:lnTo>
                  <a:pt x="885" y="76"/>
                </a:lnTo>
                <a:lnTo>
                  <a:pt x="875" y="77"/>
                </a:lnTo>
                <a:lnTo>
                  <a:pt x="866" y="77"/>
                </a:lnTo>
                <a:lnTo>
                  <a:pt x="855" y="79"/>
                </a:lnTo>
                <a:lnTo>
                  <a:pt x="837" y="77"/>
                </a:lnTo>
                <a:lnTo>
                  <a:pt x="817" y="76"/>
                </a:lnTo>
                <a:lnTo>
                  <a:pt x="798" y="75"/>
                </a:lnTo>
                <a:lnTo>
                  <a:pt x="778" y="73"/>
                </a:lnTo>
                <a:lnTo>
                  <a:pt x="758" y="70"/>
                </a:lnTo>
                <a:lnTo>
                  <a:pt x="739" y="67"/>
                </a:lnTo>
                <a:lnTo>
                  <a:pt x="719" y="65"/>
                </a:lnTo>
                <a:lnTo>
                  <a:pt x="698" y="61"/>
                </a:lnTo>
                <a:lnTo>
                  <a:pt x="677" y="59"/>
                </a:lnTo>
                <a:lnTo>
                  <a:pt x="655" y="58"/>
                </a:lnTo>
                <a:lnTo>
                  <a:pt x="632" y="56"/>
                </a:lnTo>
                <a:lnTo>
                  <a:pt x="610" y="56"/>
                </a:lnTo>
                <a:lnTo>
                  <a:pt x="599" y="56"/>
                </a:lnTo>
                <a:lnTo>
                  <a:pt x="586" y="56"/>
                </a:lnTo>
                <a:lnTo>
                  <a:pt x="574" y="58"/>
                </a:lnTo>
                <a:lnTo>
                  <a:pt x="562" y="59"/>
                </a:lnTo>
                <a:lnTo>
                  <a:pt x="550" y="61"/>
                </a:lnTo>
                <a:lnTo>
                  <a:pt x="537" y="63"/>
                </a:lnTo>
                <a:lnTo>
                  <a:pt x="524" y="65"/>
                </a:lnTo>
                <a:lnTo>
                  <a:pt x="510" y="68"/>
                </a:lnTo>
                <a:lnTo>
                  <a:pt x="495" y="70"/>
                </a:lnTo>
                <a:lnTo>
                  <a:pt x="480" y="73"/>
                </a:lnTo>
                <a:lnTo>
                  <a:pt x="464" y="76"/>
                </a:lnTo>
                <a:lnTo>
                  <a:pt x="448" y="79"/>
                </a:lnTo>
                <a:lnTo>
                  <a:pt x="432" y="82"/>
                </a:lnTo>
                <a:lnTo>
                  <a:pt x="415" y="86"/>
                </a:lnTo>
                <a:lnTo>
                  <a:pt x="398" y="89"/>
                </a:lnTo>
                <a:lnTo>
                  <a:pt x="380" y="93"/>
                </a:lnTo>
                <a:lnTo>
                  <a:pt x="345" y="100"/>
                </a:lnTo>
                <a:lnTo>
                  <a:pt x="310" y="108"/>
                </a:lnTo>
                <a:lnTo>
                  <a:pt x="274" y="117"/>
                </a:lnTo>
                <a:lnTo>
                  <a:pt x="240" y="128"/>
                </a:lnTo>
                <a:lnTo>
                  <a:pt x="223" y="132"/>
                </a:lnTo>
                <a:lnTo>
                  <a:pt x="206" y="138"/>
                </a:lnTo>
                <a:lnTo>
                  <a:pt x="190" y="144"/>
                </a:lnTo>
                <a:lnTo>
                  <a:pt x="175" y="150"/>
                </a:lnTo>
                <a:lnTo>
                  <a:pt x="159" y="156"/>
                </a:lnTo>
                <a:lnTo>
                  <a:pt x="145" y="163"/>
                </a:lnTo>
                <a:lnTo>
                  <a:pt x="131" y="169"/>
                </a:lnTo>
                <a:lnTo>
                  <a:pt x="117" y="176"/>
                </a:lnTo>
                <a:lnTo>
                  <a:pt x="104" y="183"/>
                </a:lnTo>
                <a:lnTo>
                  <a:pt x="92" y="191"/>
                </a:lnTo>
                <a:lnTo>
                  <a:pt x="82" y="198"/>
                </a:lnTo>
                <a:lnTo>
                  <a:pt x="71" y="206"/>
                </a:lnTo>
                <a:lnTo>
                  <a:pt x="62" y="214"/>
                </a:lnTo>
                <a:lnTo>
                  <a:pt x="54" y="222"/>
                </a:lnTo>
                <a:lnTo>
                  <a:pt x="47" y="232"/>
                </a:lnTo>
                <a:lnTo>
                  <a:pt x="40" y="241"/>
                </a:lnTo>
                <a:lnTo>
                  <a:pt x="34" y="250"/>
                </a:lnTo>
                <a:lnTo>
                  <a:pt x="28" y="262"/>
                </a:lnTo>
                <a:lnTo>
                  <a:pt x="23" y="273"/>
                </a:lnTo>
                <a:lnTo>
                  <a:pt x="19" y="284"/>
                </a:lnTo>
                <a:lnTo>
                  <a:pt x="14" y="297"/>
                </a:lnTo>
                <a:lnTo>
                  <a:pt x="10" y="310"/>
                </a:lnTo>
                <a:lnTo>
                  <a:pt x="8" y="323"/>
                </a:lnTo>
                <a:lnTo>
                  <a:pt x="6" y="336"/>
                </a:lnTo>
                <a:lnTo>
                  <a:pt x="3" y="350"/>
                </a:lnTo>
                <a:lnTo>
                  <a:pt x="2" y="364"/>
                </a:lnTo>
                <a:lnTo>
                  <a:pt x="1" y="378"/>
                </a:lnTo>
                <a:lnTo>
                  <a:pt x="0" y="391"/>
                </a:lnTo>
                <a:lnTo>
                  <a:pt x="0" y="406"/>
                </a:lnTo>
                <a:lnTo>
                  <a:pt x="0" y="420"/>
                </a:lnTo>
                <a:lnTo>
                  <a:pt x="0" y="434"/>
                </a:lnTo>
                <a:lnTo>
                  <a:pt x="1" y="448"/>
                </a:lnTo>
                <a:lnTo>
                  <a:pt x="2" y="461"/>
                </a:lnTo>
                <a:lnTo>
                  <a:pt x="5" y="475"/>
                </a:lnTo>
                <a:lnTo>
                  <a:pt x="6" y="489"/>
                </a:lnTo>
                <a:lnTo>
                  <a:pt x="8" y="502"/>
                </a:lnTo>
                <a:lnTo>
                  <a:pt x="12" y="514"/>
                </a:lnTo>
                <a:lnTo>
                  <a:pt x="14" y="526"/>
                </a:lnTo>
                <a:lnTo>
                  <a:pt x="17" y="539"/>
                </a:lnTo>
                <a:lnTo>
                  <a:pt x="21" y="551"/>
                </a:lnTo>
                <a:lnTo>
                  <a:pt x="24" y="561"/>
                </a:lnTo>
                <a:lnTo>
                  <a:pt x="28" y="572"/>
                </a:lnTo>
                <a:lnTo>
                  <a:pt x="33" y="582"/>
                </a:lnTo>
                <a:lnTo>
                  <a:pt x="37" y="590"/>
                </a:lnTo>
                <a:lnTo>
                  <a:pt x="42" y="600"/>
                </a:lnTo>
                <a:lnTo>
                  <a:pt x="47" y="607"/>
                </a:lnTo>
                <a:lnTo>
                  <a:pt x="51" y="615"/>
                </a:lnTo>
                <a:lnTo>
                  <a:pt x="57" y="621"/>
                </a:lnTo>
                <a:lnTo>
                  <a:pt x="63" y="627"/>
                </a:lnTo>
                <a:lnTo>
                  <a:pt x="70" y="632"/>
                </a:lnTo>
                <a:lnTo>
                  <a:pt x="77" y="638"/>
                </a:lnTo>
                <a:lnTo>
                  <a:pt x="85" y="643"/>
                </a:lnTo>
                <a:lnTo>
                  <a:pt x="92" y="648"/>
                </a:lnTo>
                <a:lnTo>
                  <a:pt x="101" y="651"/>
                </a:lnTo>
                <a:lnTo>
                  <a:pt x="110" y="656"/>
                </a:lnTo>
                <a:lnTo>
                  <a:pt x="119" y="659"/>
                </a:lnTo>
                <a:lnTo>
                  <a:pt x="128" y="662"/>
                </a:lnTo>
                <a:lnTo>
                  <a:pt x="138" y="665"/>
                </a:lnTo>
                <a:lnTo>
                  <a:pt x="159" y="670"/>
                </a:lnTo>
                <a:lnTo>
                  <a:pt x="180" y="673"/>
                </a:lnTo>
                <a:lnTo>
                  <a:pt x="202" y="677"/>
                </a:lnTo>
                <a:lnTo>
                  <a:pt x="225" y="680"/>
                </a:lnTo>
                <a:lnTo>
                  <a:pt x="248" y="683"/>
                </a:lnTo>
                <a:lnTo>
                  <a:pt x="272" y="685"/>
                </a:lnTo>
                <a:lnTo>
                  <a:pt x="295" y="686"/>
                </a:lnTo>
                <a:lnTo>
                  <a:pt x="319" y="689"/>
                </a:lnTo>
                <a:lnTo>
                  <a:pt x="342" y="692"/>
                </a:lnTo>
                <a:lnTo>
                  <a:pt x="365" y="696"/>
                </a:lnTo>
                <a:lnTo>
                  <a:pt x="377" y="697"/>
                </a:lnTo>
                <a:lnTo>
                  <a:pt x="389" y="698"/>
                </a:lnTo>
                <a:lnTo>
                  <a:pt x="401" y="700"/>
                </a:lnTo>
                <a:lnTo>
                  <a:pt x="413" y="701"/>
                </a:lnTo>
                <a:lnTo>
                  <a:pt x="439" y="704"/>
                </a:lnTo>
                <a:lnTo>
                  <a:pt x="466" y="707"/>
                </a:lnTo>
                <a:lnTo>
                  <a:pt x="492" y="710"/>
                </a:lnTo>
                <a:lnTo>
                  <a:pt x="520" y="711"/>
                </a:lnTo>
                <a:lnTo>
                  <a:pt x="576" y="714"/>
                </a:lnTo>
                <a:lnTo>
                  <a:pt x="604" y="715"/>
                </a:lnTo>
                <a:lnTo>
                  <a:pt x="631" y="717"/>
                </a:lnTo>
                <a:lnTo>
                  <a:pt x="658" y="718"/>
                </a:lnTo>
                <a:lnTo>
                  <a:pt x="684" y="719"/>
                </a:lnTo>
                <a:lnTo>
                  <a:pt x="695" y="719"/>
                </a:lnTo>
                <a:lnTo>
                  <a:pt x="708" y="719"/>
                </a:lnTo>
                <a:lnTo>
                  <a:pt x="720" y="719"/>
                </a:lnTo>
                <a:lnTo>
                  <a:pt x="732" y="719"/>
                </a:lnTo>
                <a:lnTo>
                  <a:pt x="742" y="719"/>
                </a:lnTo>
                <a:lnTo>
                  <a:pt x="753" y="719"/>
                </a:lnTo>
                <a:lnTo>
                  <a:pt x="763" y="719"/>
                </a:lnTo>
                <a:lnTo>
                  <a:pt x="773" y="719"/>
                </a:lnTo>
                <a:lnTo>
                  <a:pt x="782" y="719"/>
                </a:lnTo>
                <a:lnTo>
                  <a:pt x="791" y="719"/>
                </a:lnTo>
                <a:lnTo>
                  <a:pt x="801" y="719"/>
                </a:lnTo>
                <a:lnTo>
                  <a:pt x="809" y="718"/>
                </a:lnTo>
                <a:lnTo>
                  <a:pt x="816" y="718"/>
                </a:lnTo>
                <a:lnTo>
                  <a:pt x="824" y="718"/>
                </a:lnTo>
                <a:lnTo>
                  <a:pt x="839" y="717"/>
                </a:lnTo>
                <a:lnTo>
                  <a:pt x="852" y="715"/>
                </a:lnTo>
                <a:lnTo>
                  <a:pt x="865" y="713"/>
                </a:lnTo>
                <a:lnTo>
                  <a:pt x="876" y="712"/>
                </a:lnTo>
                <a:lnTo>
                  <a:pt x="888" y="710"/>
                </a:lnTo>
                <a:lnTo>
                  <a:pt x="900" y="707"/>
                </a:lnTo>
                <a:lnTo>
                  <a:pt x="910" y="705"/>
                </a:lnTo>
                <a:lnTo>
                  <a:pt x="931" y="700"/>
                </a:lnTo>
                <a:lnTo>
                  <a:pt x="943" y="697"/>
                </a:lnTo>
                <a:lnTo>
                  <a:pt x="953" y="693"/>
                </a:lnTo>
                <a:lnTo>
                  <a:pt x="965" y="691"/>
                </a:lnTo>
                <a:lnTo>
                  <a:pt x="977" y="687"/>
                </a:lnTo>
                <a:lnTo>
                  <a:pt x="990" y="683"/>
                </a:lnTo>
                <a:lnTo>
                  <a:pt x="1002" y="679"/>
                </a:lnTo>
                <a:lnTo>
                  <a:pt x="1015" y="676"/>
                </a:lnTo>
                <a:lnTo>
                  <a:pt x="1029" y="672"/>
                </a:lnTo>
                <a:lnTo>
                  <a:pt x="1056" y="665"/>
                </a:lnTo>
                <a:lnTo>
                  <a:pt x="1070" y="662"/>
                </a:lnTo>
                <a:lnTo>
                  <a:pt x="1083" y="657"/>
                </a:lnTo>
                <a:lnTo>
                  <a:pt x="1096" y="652"/>
                </a:lnTo>
                <a:lnTo>
                  <a:pt x="1109" y="647"/>
                </a:lnTo>
                <a:lnTo>
                  <a:pt x="1120" y="641"/>
                </a:lnTo>
                <a:lnTo>
                  <a:pt x="1132" y="635"/>
                </a:lnTo>
                <a:lnTo>
                  <a:pt x="1142" y="627"/>
                </a:lnTo>
                <a:lnTo>
                  <a:pt x="1152" y="620"/>
                </a:lnTo>
                <a:lnTo>
                  <a:pt x="1160" y="610"/>
                </a:lnTo>
                <a:lnTo>
                  <a:pt x="1165" y="606"/>
                </a:lnTo>
                <a:lnTo>
                  <a:pt x="1168" y="601"/>
                </a:lnTo>
                <a:lnTo>
                  <a:pt x="1174" y="590"/>
                </a:lnTo>
                <a:lnTo>
                  <a:pt x="1180" y="579"/>
                </a:lnTo>
                <a:lnTo>
                  <a:pt x="1184" y="567"/>
                </a:lnTo>
                <a:lnTo>
                  <a:pt x="1188" y="554"/>
                </a:lnTo>
                <a:lnTo>
                  <a:pt x="1191" y="541"/>
                </a:lnTo>
                <a:lnTo>
                  <a:pt x="1194" y="527"/>
                </a:lnTo>
                <a:lnTo>
                  <a:pt x="1195" y="513"/>
                </a:lnTo>
                <a:lnTo>
                  <a:pt x="1196" y="498"/>
                </a:lnTo>
                <a:lnTo>
                  <a:pt x="1197" y="483"/>
                </a:lnTo>
                <a:lnTo>
                  <a:pt x="1197" y="467"/>
                </a:lnTo>
                <a:lnTo>
                  <a:pt x="1197" y="450"/>
                </a:lnTo>
                <a:lnTo>
                  <a:pt x="1197" y="433"/>
                </a:lnTo>
                <a:lnTo>
                  <a:pt x="1197" y="415"/>
                </a:lnTo>
                <a:lnTo>
                  <a:pt x="1197" y="398"/>
                </a:lnTo>
                <a:lnTo>
                  <a:pt x="1197" y="380"/>
                </a:lnTo>
                <a:lnTo>
                  <a:pt x="1196" y="361"/>
                </a:lnTo>
                <a:lnTo>
                  <a:pt x="1196" y="352"/>
                </a:lnTo>
                <a:lnTo>
                  <a:pt x="1196" y="343"/>
                </a:lnTo>
                <a:lnTo>
                  <a:pt x="1196" y="331"/>
                </a:lnTo>
                <a:lnTo>
                  <a:pt x="1196" y="321"/>
                </a:lnTo>
                <a:lnTo>
                  <a:pt x="1197" y="309"/>
                </a:lnTo>
                <a:lnTo>
                  <a:pt x="1197" y="297"/>
                </a:lnTo>
                <a:lnTo>
                  <a:pt x="1197" y="284"/>
                </a:lnTo>
                <a:lnTo>
                  <a:pt x="1197" y="271"/>
                </a:lnTo>
                <a:lnTo>
                  <a:pt x="1198" y="246"/>
                </a:lnTo>
                <a:lnTo>
                  <a:pt x="1198" y="219"/>
                </a:lnTo>
                <a:lnTo>
                  <a:pt x="1198" y="192"/>
                </a:lnTo>
                <a:lnTo>
                  <a:pt x="1197" y="166"/>
                </a:lnTo>
                <a:lnTo>
                  <a:pt x="1196" y="141"/>
                </a:lnTo>
                <a:lnTo>
                  <a:pt x="1196" y="128"/>
                </a:lnTo>
                <a:lnTo>
                  <a:pt x="1195" y="116"/>
                </a:lnTo>
                <a:lnTo>
                  <a:pt x="1194" y="103"/>
                </a:lnTo>
                <a:lnTo>
                  <a:pt x="1191" y="93"/>
                </a:lnTo>
                <a:lnTo>
                  <a:pt x="1190" y="81"/>
                </a:lnTo>
                <a:lnTo>
                  <a:pt x="1188" y="70"/>
                </a:lnTo>
                <a:lnTo>
                  <a:pt x="1186" y="61"/>
                </a:lnTo>
                <a:lnTo>
                  <a:pt x="1183" y="52"/>
                </a:lnTo>
                <a:lnTo>
                  <a:pt x="1180" y="44"/>
                </a:lnTo>
                <a:lnTo>
                  <a:pt x="1176" y="35"/>
                </a:lnTo>
                <a:lnTo>
                  <a:pt x="1173" y="28"/>
                </a:lnTo>
                <a:lnTo>
                  <a:pt x="1169" y="23"/>
                </a:lnTo>
                <a:lnTo>
                  <a:pt x="1165" y="17"/>
                </a:lnTo>
                <a:lnTo>
                  <a:pt x="1160" y="13"/>
                </a:lnTo>
                <a:close/>
              </a:path>
            </a:pathLst>
          </a:custGeom>
          <a:gradFill rotWithShape="1">
            <a:gsLst>
              <a:gs pos="0">
                <a:srgbClr val="CC99FF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8420" name="Freeform 4"/>
          <p:cNvSpPr>
            <a:spLocks/>
          </p:cNvSpPr>
          <p:nvPr/>
        </p:nvSpPr>
        <p:spPr bwMode="auto">
          <a:xfrm>
            <a:off x="3336925" y="4246563"/>
            <a:ext cx="2092325" cy="1847850"/>
          </a:xfrm>
          <a:custGeom>
            <a:avLst/>
            <a:gdLst>
              <a:gd name="T0" fmla="*/ 1141628 w 10000"/>
              <a:gd name="T1" fmla="*/ 0 h 9947"/>
              <a:gd name="T2" fmla="*/ 1229300 w 10000"/>
              <a:gd name="T3" fmla="*/ 25820 h 9947"/>
              <a:gd name="T4" fmla="*/ 1301698 w 10000"/>
              <a:gd name="T5" fmla="*/ 74303 h 9947"/>
              <a:gd name="T6" fmla="*/ 1376398 w 10000"/>
              <a:gd name="T7" fmla="*/ 98637 h 9947"/>
              <a:gd name="T8" fmla="*/ 1487715 w 10000"/>
              <a:gd name="T9" fmla="*/ 160680 h 9947"/>
              <a:gd name="T10" fmla="*/ 1562624 w 10000"/>
              <a:gd name="T11" fmla="*/ 234983 h 9947"/>
              <a:gd name="T12" fmla="*/ 1635859 w 10000"/>
              <a:gd name="T13" fmla="*/ 260617 h 9947"/>
              <a:gd name="T14" fmla="*/ 1746548 w 10000"/>
              <a:gd name="T15" fmla="*/ 346251 h 9947"/>
              <a:gd name="T16" fmla="*/ 1771866 w 10000"/>
              <a:gd name="T17" fmla="*/ 382659 h 9947"/>
              <a:gd name="T18" fmla="*/ 1846566 w 10000"/>
              <a:gd name="T19" fmla="*/ 433371 h 9947"/>
              <a:gd name="T20" fmla="*/ 1908502 w 10000"/>
              <a:gd name="T21" fmla="*/ 581234 h 9947"/>
              <a:gd name="T22" fmla="*/ 1957883 w 10000"/>
              <a:gd name="T23" fmla="*/ 655722 h 9947"/>
              <a:gd name="T24" fmla="*/ 2019610 w 10000"/>
              <a:gd name="T25" fmla="*/ 766991 h 9947"/>
              <a:gd name="T26" fmla="*/ 2030281 w 10000"/>
              <a:gd name="T27" fmla="*/ 803399 h 9947"/>
              <a:gd name="T28" fmla="*/ 2056227 w 10000"/>
              <a:gd name="T29" fmla="*/ 839807 h 9947"/>
              <a:gd name="T30" fmla="*/ 2092426 w 10000"/>
              <a:gd name="T31" fmla="*/ 989156 h 9947"/>
              <a:gd name="T32" fmla="*/ 2081336 w 10000"/>
              <a:gd name="T33" fmla="*/ 1446304 h 9947"/>
              <a:gd name="T34" fmla="*/ 1554045 w 10000"/>
              <a:gd name="T35" fmla="*/ 1835651 h 9947"/>
              <a:gd name="T36" fmla="*/ 595923 w 10000"/>
              <a:gd name="T37" fmla="*/ 1757447 h 9947"/>
              <a:gd name="T38" fmla="*/ 151910 w 10000"/>
              <a:gd name="T39" fmla="*/ 1492558 h 9947"/>
              <a:gd name="T40" fmla="*/ 66958 w 10000"/>
              <a:gd name="T41" fmla="*/ 819374 h 9947"/>
              <a:gd name="T42" fmla="*/ 170114 w 10000"/>
              <a:gd name="T43" fmla="*/ 462721 h 9947"/>
              <a:gd name="T44" fmla="*/ 462217 w 10000"/>
              <a:gd name="T45" fmla="*/ 234983 h 9947"/>
              <a:gd name="T46" fmla="*/ 684642 w 10000"/>
              <a:gd name="T47" fmla="*/ 147863 h 9947"/>
              <a:gd name="T48" fmla="*/ 759132 w 10000"/>
              <a:gd name="T49" fmla="*/ 111268 h 9947"/>
              <a:gd name="T50" fmla="*/ 981557 w 10000"/>
              <a:gd name="T51" fmla="*/ 49226 h 9947"/>
              <a:gd name="T52" fmla="*/ 1141628 w 10000"/>
              <a:gd name="T53" fmla="*/ 0 h 9947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</a:gdLst>
            <a:ahLst/>
            <a:cxnLst>
              <a:cxn ang="T54">
                <a:pos x="T0" y="T1"/>
              </a:cxn>
              <a:cxn ang="T55">
                <a:pos x="T2" y="T3"/>
              </a:cxn>
              <a:cxn ang="T56">
                <a:pos x="T4" y="T5"/>
              </a:cxn>
              <a:cxn ang="T57">
                <a:pos x="T6" y="T7"/>
              </a:cxn>
              <a:cxn ang="T58">
                <a:pos x="T8" y="T9"/>
              </a:cxn>
              <a:cxn ang="T59">
                <a:pos x="T10" y="T11"/>
              </a:cxn>
              <a:cxn ang="T60">
                <a:pos x="T12" y="T13"/>
              </a:cxn>
              <a:cxn ang="T61">
                <a:pos x="T14" y="T15"/>
              </a:cxn>
              <a:cxn ang="T62">
                <a:pos x="T16" y="T17"/>
              </a:cxn>
              <a:cxn ang="T63">
                <a:pos x="T18" y="T19"/>
              </a:cxn>
              <a:cxn ang="T64">
                <a:pos x="T20" y="T21"/>
              </a:cxn>
              <a:cxn ang="T65">
                <a:pos x="T22" y="T23"/>
              </a:cxn>
              <a:cxn ang="T66">
                <a:pos x="T24" y="T25"/>
              </a:cxn>
              <a:cxn ang="T67">
                <a:pos x="T26" y="T27"/>
              </a:cxn>
              <a:cxn ang="T68">
                <a:pos x="T28" y="T29"/>
              </a:cxn>
              <a:cxn ang="T69">
                <a:pos x="T30" y="T31"/>
              </a:cxn>
              <a:cxn ang="T70">
                <a:pos x="T32" y="T33"/>
              </a:cxn>
              <a:cxn ang="T71">
                <a:pos x="T34" y="T35"/>
              </a:cxn>
              <a:cxn ang="T72">
                <a:pos x="T36" y="T37"/>
              </a:cxn>
              <a:cxn ang="T73">
                <a:pos x="T38" y="T39"/>
              </a:cxn>
              <a:cxn ang="T74">
                <a:pos x="T40" y="T41"/>
              </a:cxn>
              <a:cxn ang="T75">
                <a:pos x="T42" y="T43"/>
              </a:cxn>
              <a:cxn ang="T76">
                <a:pos x="T44" y="T45"/>
              </a:cxn>
              <a:cxn ang="T77">
                <a:pos x="T46" y="T47"/>
              </a:cxn>
              <a:cxn ang="T78">
                <a:pos x="T48" y="T49"/>
              </a:cxn>
              <a:cxn ang="T79">
                <a:pos x="T50" y="T51"/>
              </a:cxn>
              <a:cxn ang="T80">
                <a:pos x="T52" y="T53"/>
              </a:cxn>
            </a:cxnLst>
            <a:rect l="0" t="0" r="r" b="b"/>
            <a:pathLst>
              <a:path w="10000" h="9947">
                <a:moveTo>
                  <a:pt x="5456" y="0"/>
                </a:moveTo>
                <a:cubicBezTo>
                  <a:pt x="5509" y="17"/>
                  <a:pt x="5804" y="93"/>
                  <a:pt x="5875" y="139"/>
                </a:cubicBezTo>
                <a:cubicBezTo>
                  <a:pt x="5994" y="213"/>
                  <a:pt x="6085" y="350"/>
                  <a:pt x="6221" y="400"/>
                </a:cubicBezTo>
                <a:lnTo>
                  <a:pt x="6578" y="531"/>
                </a:lnTo>
                <a:cubicBezTo>
                  <a:pt x="6749" y="666"/>
                  <a:pt x="6957" y="710"/>
                  <a:pt x="7110" y="865"/>
                </a:cubicBezTo>
                <a:cubicBezTo>
                  <a:pt x="7237" y="991"/>
                  <a:pt x="7344" y="1129"/>
                  <a:pt x="7468" y="1265"/>
                </a:cubicBezTo>
                <a:cubicBezTo>
                  <a:pt x="7551" y="1359"/>
                  <a:pt x="7701" y="1359"/>
                  <a:pt x="7818" y="1403"/>
                </a:cubicBezTo>
                <a:cubicBezTo>
                  <a:pt x="8021" y="1478"/>
                  <a:pt x="8174" y="1726"/>
                  <a:pt x="8347" y="1864"/>
                </a:cubicBezTo>
                <a:cubicBezTo>
                  <a:pt x="8384" y="1931"/>
                  <a:pt x="8413" y="2008"/>
                  <a:pt x="8468" y="2060"/>
                </a:cubicBezTo>
                <a:cubicBezTo>
                  <a:pt x="8574" y="2163"/>
                  <a:pt x="8825" y="2333"/>
                  <a:pt x="8825" y="2333"/>
                </a:cubicBezTo>
                <a:cubicBezTo>
                  <a:pt x="8906" y="2606"/>
                  <a:pt x="8997" y="2879"/>
                  <a:pt x="9121" y="3129"/>
                </a:cubicBezTo>
                <a:cubicBezTo>
                  <a:pt x="9188" y="3264"/>
                  <a:pt x="9309" y="3375"/>
                  <a:pt x="9357" y="3530"/>
                </a:cubicBezTo>
                <a:cubicBezTo>
                  <a:pt x="9425" y="3743"/>
                  <a:pt x="9652" y="4129"/>
                  <a:pt x="9652" y="4129"/>
                </a:cubicBezTo>
                <a:cubicBezTo>
                  <a:pt x="9667" y="4196"/>
                  <a:pt x="9675" y="4265"/>
                  <a:pt x="9703" y="4325"/>
                </a:cubicBezTo>
                <a:cubicBezTo>
                  <a:pt x="9737" y="4392"/>
                  <a:pt x="9802" y="4443"/>
                  <a:pt x="9827" y="4521"/>
                </a:cubicBezTo>
                <a:cubicBezTo>
                  <a:pt x="9910" y="4761"/>
                  <a:pt x="9934" y="5068"/>
                  <a:pt x="10000" y="5325"/>
                </a:cubicBezTo>
                <a:cubicBezTo>
                  <a:pt x="9988" y="6145"/>
                  <a:pt x="9981" y="6963"/>
                  <a:pt x="9947" y="7786"/>
                </a:cubicBezTo>
                <a:cubicBezTo>
                  <a:pt x="9700" y="9068"/>
                  <a:pt x="8610" y="9603"/>
                  <a:pt x="7427" y="9882"/>
                </a:cubicBezTo>
                <a:cubicBezTo>
                  <a:pt x="6244" y="10161"/>
                  <a:pt x="3605" y="9461"/>
                  <a:pt x="2848" y="9461"/>
                </a:cubicBezTo>
                <a:cubicBezTo>
                  <a:pt x="2091" y="9461"/>
                  <a:pt x="1754" y="9354"/>
                  <a:pt x="726" y="8035"/>
                </a:cubicBezTo>
                <a:cubicBezTo>
                  <a:pt x="-302" y="6716"/>
                  <a:pt x="-43" y="5310"/>
                  <a:pt x="320" y="4411"/>
                </a:cubicBezTo>
                <a:cubicBezTo>
                  <a:pt x="685" y="3512"/>
                  <a:pt x="302" y="2835"/>
                  <a:pt x="813" y="2491"/>
                </a:cubicBezTo>
                <a:cubicBezTo>
                  <a:pt x="1325" y="2147"/>
                  <a:pt x="1798" y="1547"/>
                  <a:pt x="2209" y="1265"/>
                </a:cubicBezTo>
                <a:cubicBezTo>
                  <a:pt x="2618" y="983"/>
                  <a:pt x="2908" y="939"/>
                  <a:pt x="3272" y="796"/>
                </a:cubicBezTo>
                <a:cubicBezTo>
                  <a:pt x="3506" y="685"/>
                  <a:pt x="3390" y="687"/>
                  <a:pt x="3628" y="599"/>
                </a:cubicBezTo>
                <a:cubicBezTo>
                  <a:pt x="3971" y="487"/>
                  <a:pt x="4347" y="334"/>
                  <a:pt x="4691" y="265"/>
                </a:cubicBezTo>
                <a:cubicBezTo>
                  <a:pt x="4993" y="205"/>
                  <a:pt x="5206" y="197"/>
                  <a:pt x="5456" y="0"/>
                </a:cubicBezTo>
                <a:close/>
              </a:path>
            </a:pathLst>
          </a:cu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188421" name="Group 199"/>
          <p:cNvGrpSpPr>
            <a:grpSpLocks/>
          </p:cNvGrpSpPr>
          <p:nvPr/>
        </p:nvGrpSpPr>
        <p:grpSpPr bwMode="auto">
          <a:xfrm>
            <a:off x="4273550" y="3108325"/>
            <a:ext cx="261938" cy="866775"/>
            <a:chOff x="2550" y="2912"/>
            <a:chExt cx="278" cy="690"/>
          </a:xfrm>
        </p:grpSpPr>
        <p:sp>
          <p:nvSpPr>
            <p:cNvPr id="188620" name="Freeform 200"/>
            <p:cNvSpPr>
              <a:spLocks/>
            </p:cNvSpPr>
            <p:nvPr/>
          </p:nvSpPr>
          <p:spPr bwMode="auto">
            <a:xfrm>
              <a:off x="2578" y="2963"/>
              <a:ext cx="138" cy="638"/>
            </a:xfrm>
            <a:custGeom>
              <a:avLst/>
              <a:gdLst>
                <a:gd name="T0" fmla="*/ 0 w 138"/>
                <a:gd name="T1" fmla="*/ 485 h 638"/>
                <a:gd name="T2" fmla="*/ 138 w 138"/>
                <a:gd name="T3" fmla="*/ 638 h 638"/>
                <a:gd name="T4" fmla="*/ 138 w 138"/>
                <a:gd name="T5" fmla="*/ 77 h 638"/>
                <a:gd name="T6" fmla="*/ 116 w 138"/>
                <a:gd name="T7" fmla="*/ 49 h 638"/>
                <a:gd name="T8" fmla="*/ 0 w 138"/>
                <a:gd name="T9" fmla="*/ 0 h 638"/>
                <a:gd name="T10" fmla="*/ 0 w 138"/>
                <a:gd name="T11" fmla="*/ 485 h 63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38"/>
                <a:gd name="T19" fmla="*/ 0 h 638"/>
                <a:gd name="T20" fmla="*/ 138 w 138"/>
                <a:gd name="T21" fmla="*/ 638 h 63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38" h="638">
                  <a:moveTo>
                    <a:pt x="0" y="485"/>
                  </a:moveTo>
                  <a:lnTo>
                    <a:pt x="138" y="638"/>
                  </a:lnTo>
                  <a:lnTo>
                    <a:pt x="138" y="77"/>
                  </a:lnTo>
                  <a:lnTo>
                    <a:pt x="116" y="49"/>
                  </a:lnTo>
                  <a:lnTo>
                    <a:pt x="0" y="0"/>
                  </a:lnTo>
                  <a:lnTo>
                    <a:pt x="0" y="485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21" name="Rectangle 201"/>
            <p:cNvSpPr>
              <a:spLocks noChangeArrowheads="1"/>
            </p:cNvSpPr>
            <p:nvPr/>
          </p:nvSpPr>
          <p:spPr bwMode="auto">
            <a:xfrm>
              <a:off x="2716" y="3035"/>
              <a:ext cx="84" cy="567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22" name="Freeform 202"/>
            <p:cNvSpPr>
              <a:spLocks/>
            </p:cNvSpPr>
            <p:nvPr/>
          </p:nvSpPr>
          <p:spPr bwMode="auto">
            <a:xfrm>
              <a:off x="2713" y="3035"/>
              <a:ext cx="86" cy="64"/>
            </a:xfrm>
            <a:custGeom>
              <a:avLst/>
              <a:gdLst>
                <a:gd name="T0" fmla="*/ 0 w 86"/>
                <a:gd name="T1" fmla="*/ 0 h 64"/>
                <a:gd name="T2" fmla="*/ 86 w 86"/>
                <a:gd name="T3" fmla="*/ 0 h 64"/>
                <a:gd name="T4" fmla="*/ 86 w 86"/>
                <a:gd name="T5" fmla="*/ 64 h 64"/>
                <a:gd name="T6" fmla="*/ 0 w 86"/>
                <a:gd name="T7" fmla="*/ 30 h 64"/>
                <a:gd name="T8" fmla="*/ 0 w 86"/>
                <a:gd name="T9" fmla="*/ 0 h 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6"/>
                <a:gd name="T16" fmla="*/ 0 h 64"/>
                <a:gd name="T17" fmla="*/ 86 w 86"/>
                <a:gd name="T18" fmla="*/ 64 h 6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6" h="64">
                  <a:moveTo>
                    <a:pt x="0" y="0"/>
                  </a:moveTo>
                  <a:lnTo>
                    <a:pt x="86" y="0"/>
                  </a:lnTo>
                  <a:lnTo>
                    <a:pt x="86" y="64"/>
                  </a:lnTo>
                  <a:lnTo>
                    <a:pt x="0" y="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23" name="Rectangle 203"/>
            <p:cNvSpPr>
              <a:spLocks noChangeArrowheads="1"/>
            </p:cNvSpPr>
            <p:nvPr/>
          </p:nvSpPr>
          <p:spPr bwMode="auto">
            <a:xfrm>
              <a:off x="2716" y="3118"/>
              <a:ext cx="41" cy="33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24" name="Rectangle 204"/>
            <p:cNvSpPr>
              <a:spLocks noChangeArrowheads="1"/>
            </p:cNvSpPr>
            <p:nvPr/>
          </p:nvSpPr>
          <p:spPr bwMode="auto">
            <a:xfrm>
              <a:off x="2759" y="3117"/>
              <a:ext cx="43" cy="34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25" name="Rectangle 205"/>
            <p:cNvSpPr>
              <a:spLocks noChangeArrowheads="1"/>
            </p:cNvSpPr>
            <p:nvPr/>
          </p:nvSpPr>
          <p:spPr bwMode="auto">
            <a:xfrm>
              <a:off x="2737" y="3080"/>
              <a:ext cx="43" cy="32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26" name="Rectangle 206"/>
            <p:cNvSpPr>
              <a:spLocks noChangeArrowheads="1"/>
            </p:cNvSpPr>
            <p:nvPr/>
          </p:nvSpPr>
          <p:spPr bwMode="auto">
            <a:xfrm>
              <a:off x="2781" y="3080"/>
              <a:ext cx="21" cy="32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27" name="Rectangle 207"/>
            <p:cNvSpPr>
              <a:spLocks noChangeArrowheads="1"/>
            </p:cNvSpPr>
            <p:nvPr/>
          </p:nvSpPr>
          <p:spPr bwMode="auto">
            <a:xfrm>
              <a:off x="2712" y="3080"/>
              <a:ext cx="22" cy="32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28" name="Rectangle 208"/>
            <p:cNvSpPr>
              <a:spLocks noChangeArrowheads="1"/>
            </p:cNvSpPr>
            <p:nvPr/>
          </p:nvSpPr>
          <p:spPr bwMode="auto">
            <a:xfrm>
              <a:off x="2715" y="3041"/>
              <a:ext cx="43" cy="34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29" name="Rectangle 209"/>
            <p:cNvSpPr>
              <a:spLocks noChangeArrowheads="1"/>
            </p:cNvSpPr>
            <p:nvPr/>
          </p:nvSpPr>
          <p:spPr bwMode="auto">
            <a:xfrm>
              <a:off x="2760" y="3042"/>
              <a:ext cx="43" cy="33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30" name="Rectangle 210"/>
            <p:cNvSpPr>
              <a:spLocks noChangeArrowheads="1"/>
            </p:cNvSpPr>
            <p:nvPr/>
          </p:nvSpPr>
          <p:spPr bwMode="auto">
            <a:xfrm>
              <a:off x="2715" y="3193"/>
              <a:ext cx="40" cy="33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31" name="Rectangle 211"/>
            <p:cNvSpPr>
              <a:spLocks noChangeArrowheads="1"/>
            </p:cNvSpPr>
            <p:nvPr/>
          </p:nvSpPr>
          <p:spPr bwMode="auto">
            <a:xfrm>
              <a:off x="2759" y="3193"/>
              <a:ext cx="42" cy="33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32" name="Rectangle 212"/>
            <p:cNvSpPr>
              <a:spLocks noChangeArrowheads="1"/>
            </p:cNvSpPr>
            <p:nvPr/>
          </p:nvSpPr>
          <p:spPr bwMode="auto">
            <a:xfrm>
              <a:off x="2780" y="3155"/>
              <a:ext cx="22" cy="32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33" name="Rectangle 213"/>
            <p:cNvSpPr>
              <a:spLocks noChangeArrowheads="1"/>
            </p:cNvSpPr>
            <p:nvPr/>
          </p:nvSpPr>
          <p:spPr bwMode="auto">
            <a:xfrm>
              <a:off x="2716" y="3155"/>
              <a:ext cx="17" cy="32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34" name="Rectangle 214"/>
            <p:cNvSpPr>
              <a:spLocks noChangeArrowheads="1"/>
            </p:cNvSpPr>
            <p:nvPr/>
          </p:nvSpPr>
          <p:spPr bwMode="auto">
            <a:xfrm>
              <a:off x="2715" y="3266"/>
              <a:ext cx="40" cy="33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35" name="Rectangle 215"/>
            <p:cNvSpPr>
              <a:spLocks noChangeArrowheads="1"/>
            </p:cNvSpPr>
            <p:nvPr/>
          </p:nvSpPr>
          <p:spPr bwMode="auto">
            <a:xfrm>
              <a:off x="2759" y="3266"/>
              <a:ext cx="42" cy="33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36" name="Rectangle 216"/>
            <p:cNvSpPr>
              <a:spLocks noChangeArrowheads="1"/>
            </p:cNvSpPr>
            <p:nvPr/>
          </p:nvSpPr>
          <p:spPr bwMode="auto">
            <a:xfrm>
              <a:off x="2737" y="3229"/>
              <a:ext cx="42" cy="32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37" name="Rectangle 217"/>
            <p:cNvSpPr>
              <a:spLocks noChangeArrowheads="1"/>
            </p:cNvSpPr>
            <p:nvPr/>
          </p:nvSpPr>
          <p:spPr bwMode="auto">
            <a:xfrm>
              <a:off x="2780" y="3229"/>
              <a:ext cx="22" cy="32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38" name="Rectangle 218"/>
            <p:cNvSpPr>
              <a:spLocks noChangeArrowheads="1"/>
            </p:cNvSpPr>
            <p:nvPr/>
          </p:nvSpPr>
          <p:spPr bwMode="auto">
            <a:xfrm>
              <a:off x="2715" y="3229"/>
              <a:ext cx="18" cy="32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39" name="Rectangle 219"/>
            <p:cNvSpPr>
              <a:spLocks noChangeArrowheads="1"/>
            </p:cNvSpPr>
            <p:nvPr/>
          </p:nvSpPr>
          <p:spPr bwMode="auto">
            <a:xfrm>
              <a:off x="2715" y="3342"/>
              <a:ext cx="40" cy="33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40" name="Rectangle 220"/>
            <p:cNvSpPr>
              <a:spLocks noChangeArrowheads="1"/>
            </p:cNvSpPr>
            <p:nvPr/>
          </p:nvSpPr>
          <p:spPr bwMode="auto">
            <a:xfrm>
              <a:off x="2759" y="3342"/>
              <a:ext cx="42" cy="33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41" name="Rectangle 221"/>
            <p:cNvSpPr>
              <a:spLocks noChangeArrowheads="1"/>
            </p:cNvSpPr>
            <p:nvPr/>
          </p:nvSpPr>
          <p:spPr bwMode="auto">
            <a:xfrm>
              <a:off x="2736" y="3304"/>
              <a:ext cx="43" cy="33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42" name="Rectangle 222"/>
            <p:cNvSpPr>
              <a:spLocks noChangeArrowheads="1"/>
            </p:cNvSpPr>
            <p:nvPr/>
          </p:nvSpPr>
          <p:spPr bwMode="auto">
            <a:xfrm>
              <a:off x="2780" y="3304"/>
              <a:ext cx="21" cy="33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43" name="Rectangle 223"/>
            <p:cNvSpPr>
              <a:spLocks noChangeArrowheads="1"/>
            </p:cNvSpPr>
            <p:nvPr/>
          </p:nvSpPr>
          <p:spPr bwMode="auto">
            <a:xfrm>
              <a:off x="2716" y="3304"/>
              <a:ext cx="17" cy="33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44" name="Rectangle 224"/>
            <p:cNvSpPr>
              <a:spLocks noChangeArrowheads="1"/>
            </p:cNvSpPr>
            <p:nvPr/>
          </p:nvSpPr>
          <p:spPr bwMode="auto">
            <a:xfrm>
              <a:off x="2715" y="3417"/>
              <a:ext cx="42" cy="32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45" name="Rectangle 225"/>
            <p:cNvSpPr>
              <a:spLocks noChangeArrowheads="1"/>
            </p:cNvSpPr>
            <p:nvPr/>
          </p:nvSpPr>
          <p:spPr bwMode="auto">
            <a:xfrm>
              <a:off x="2759" y="3416"/>
              <a:ext cx="43" cy="34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46" name="Rectangle 226"/>
            <p:cNvSpPr>
              <a:spLocks noChangeArrowheads="1"/>
            </p:cNvSpPr>
            <p:nvPr/>
          </p:nvSpPr>
          <p:spPr bwMode="auto">
            <a:xfrm>
              <a:off x="2737" y="3379"/>
              <a:ext cx="43" cy="32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47" name="Rectangle 227"/>
            <p:cNvSpPr>
              <a:spLocks noChangeArrowheads="1"/>
            </p:cNvSpPr>
            <p:nvPr/>
          </p:nvSpPr>
          <p:spPr bwMode="auto">
            <a:xfrm>
              <a:off x="2781" y="3379"/>
              <a:ext cx="21" cy="32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48" name="Rectangle 228"/>
            <p:cNvSpPr>
              <a:spLocks noChangeArrowheads="1"/>
            </p:cNvSpPr>
            <p:nvPr/>
          </p:nvSpPr>
          <p:spPr bwMode="auto">
            <a:xfrm>
              <a:off x="2715" y="3492"/>
              <a:ext cx="40" cy="33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49" name="Rectangle 229"/>
            <p:cNvSpPr>
              <a:spLocks noChangeArrowheads="1"/>
            </p:cNvSpPr>
            <p:nvPr/>
          </p:nvSpPr>
          <p:spPr bwMode="auto">
            <a:xfrm>
              <a:off x="2759" y="3492"/>
              <a:ext cx="42" cy="33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50" name="Rectangle 230"/>
            <p:cNvSpPr>
              <a:spLocks noChangeArrowheads="1"/>
            </p:cNvSpPr>
            <p:nvPr/>
          </p:nvSpPr>
          <p:spPr bwMode="auto">
            <a:xfrm>
              <a:off x="2737" y="3455"/>
              <a:ext cx="42" cy="31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51" name="Rectangle 231"/>
            <p:cNvSpPr>
              <a:spLocks noChangeArrowheads="1"/>
            </p:cNvSpPr>
            <p:nvPr/>
          </p:nvSpPr>
          <p:spPr bwMode="auto">
            <a:xfrm>
              <a:off x="2780" y="3453"/>
              <a:ext cx="22" cy="33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52" name="Rectangle 232"/>
            <p:cNvSpPr>
              <a:spLocks noChangeArrowheads="1"/>
            </p:cNvSpPr>
            <p:nvPr/>
          </p:nvSpPr>
          <p:spPr bwMode="auto">
            <a:xfrm>
              <a:off x="2716" y="3453"/>
              <a:ext cx="17" cy="33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53" name="Rectangle 233"/>
            <p:cNvSpPr>
              <a:spLocks noChangeArrowheads="1"/>
            </p:cNvSpPr>
            <p:nvPr/>
          </p:nvSpPr>
          <p:spPr bwMode="auto">
            <a:xfrm>
              <a:off x="2715" y="3566"/>
              <a:ext cx="40" cy="32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54" name="Rectangle 234"/>
            <p:cNvSpPr>
              <a:spLocks noChangeArrowheads="1"/>
            </p:cNvSpPr>
            <p:nvPr/>
          </p:nvSpPr>
          <p:spPr bwMode="auto">
            <a:xfrm>
              <a:off x="2759" y="3566"/>
              <a:ext cx="42" cy="32"/>
            </a:xfrm>
            <a:prstGeom prst="rect">
              <a:avLst/>
            </a:prstGeom>
            <a:solidFill>
              <a:srgbClr val="4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55" name="Rectangle 235"/>
            <p:cNvSpPr>
              <a:spLocks noChangeArrowheads="1"/>
            </p:cNvSpPr>
            <p:nvPr/>
          </p:nvSpPr>
          <p:spPr bwMode="auto">
            <a:xfrm>
              <a:off x="2737" y="3528"/>
              <a:ext cx="42" cy="32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56" name="Rectangle 236"/>
            <p:cNvSpPr>
              <a:spLocks noChangeArrowheads="1"/>
            </p:cNvSpPr>
            <p:nvPr/>
          </p:nvSpPr>
          <p:spPr bwMode="auto">
            <a:xfrm>
              <a:off x="2780" y="3528"/>
              <a:ext cx="22" cy="32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57" name="Rectangle 237"/>
            <p:cNvSpPr>
              <a:spLocks noChangeArrowheads="1"/>
            </p:cNvSpPr>
            <p:nvPr/>
          </p:nvSpPr>
          <p:spPr bwMode="auto">
            <a:xfrm>
              <a:off x="2715" y="3528"/>
              <a:ext cx="18" cy="32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58" name="Freeform 238"/>
            <p:cNvSpPr>
              <a:spLocks/>
            </p:cNvSpPr>
            <p:nvPr/>
          </p:nvSpPr>
          <p:spPr bwMode="auto">
            <a:xfrm>
              <a:off x="2704" y="3555"/>
              <a:ext cx="12" cy="41"/>
            </a:xfrm>
            <a:custGeom>
              <a:avLst/>
              <a:gdLst>
                <a:gd name="T0" fmla="*/ 12 w 12"/>
                <a:gd name="T1" fmla="*/ 11 h 41"/>
                <a:gd name="T2" fmla="*/ 12 w 12"/>
                <a:gd name="T3" fmla="*/ 41 h 41"/>
                <a:gd name="T4" fmla="*/ 0 w 12"/>
                <a:gd name="T5" fmla="*/ 29 h 41"/>
                <a:gd name="T6" fmla="*/ 0 w 12"/>
                <a:gd name="T7" fmla="*/ 0 h 41"/>
                <a:gd name="T8" fmla="*/ 12 w 12"/>
                <a:gd name="T9" fmla="*/ 11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"/>
                <a:gd name="T16" fmla="*/ 0 h 41"/>
                <a:gd name="T17" fmla="*/ 12 w 12"/>
                <a:gd name="T18" fmla="*/ 41 h 4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" h="41">
                  <a:moveTo>
                    <a:pt x="12" y="11"/>
                  </a:moveTo>
                  <a:lnTo>
                    <a:pt x="12" y="41"/>
                  </a:lnTo>
                  <a:lnTo>
                    <a:pt x="0" y="29"/>
                  </a:lnTo>
                  <a:lnTo>
                    <a:pt x="0" y="0"/>
                  </a:lnTo>
                  <a:lnTo>
                    <a:pt x="12" y="11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59" name="Freeform 239"/>
            <p:cNvSpPr>
              <a:spLocks/>
            </p:cNvSpPr>
            <p:nvPr/>
          </p:nvSpPr>
          <p:spPr bwMode="auto">
            <a:xfrm>
              <a:off x="2667" y="3513"/>
              <a:ext cx="35" cy="70"/>
            </a:xfrm>
            <a:custGeom>
              <a:avLst/>
              <a:gdLst>
                <a:gd name="T0" fmla="*/ 35 w 35"/>
                <a:gd name="T1" fmla="*/ 40 h 70"/>
                <a:gd name="T2" fmla="*/ 35 w 35"/>
                <a:gd name="T3" fmla="*/ 70 h 70"/>
                <a:gd name="T4" fmla="*/ 0 w 35"/>
                <a:gd name="T5" fmla="*/ 30 h 70"/>
                <a:gd name="T6" fmla="*/ 0 w 35"/>
                <a:gd name="T7" fmla="*/ 0 h 70"/>
                <a:gd name="T8" fmla="*/ 35 w 35"/>
                <a:gd name="T9" fmla="*/ 40 h 7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70"/>
                <a:gd name="T17" fmla="*/ 35 w 35"/>
                <a:gd name="T18" fmla="*/ 70 h 7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70">
                  <a:moveTo>
                    <a:pt x="35" y="40"/>
                  </a:moveTo>
                  <a:lnTo>
                    <a:pt x="35" y="70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5" y="40"/>
                  </a:lnTo>
                  <a:close/>
                </a:path>
              </a:pathLst>
            </a:custGeom>
            <a:solidFill>
              <a:srgbClr val="4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60" name="Freeform 240"/>
            <p:cNvSpPr>
              <a:spLocks/>
            </p:cNvSpPr>
            <p:nvPr/>
          </p:nvSpPr>
          <p:spPr bwMode="auto">
            <a:xfrm>
              <a:off x="2631" y="3474"/>
              <a:ext cx="35" cy="67"/>
            </a:xfrm>
            <a:custGeom>
              <a:avLst/>
              <a:gdLst>
                <a:gd name="T0" fmla="*/ 35 w 35"/>
                <a:gd name="T1" fmla="*/ 39 h 67"/>
                <a:gd name="T2" fmla="*/ 35 w 35"/>
                <a:gd name="T3" fmla="*/ 67 h 67"/>
                <a:gd name="T4" fmla="*/ 0 w 35"/>
                <a:gd name="T5" fmla="*/ 28 h 67"/>
                <a:gd name="T6" fmla="*/ 0 w 35"/>
                <a:gd name="T7" fmla="*/ 0 h 67"/>
                <a:gd name="T8" fmla="*/ 35 w 35"/>
                <a:gd name="T9" fmla="*/ 39 h 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67"/>
                <a:gd name="T17" fmla="*/ 35 w 35"/>
                <a:gd name="T18" fmla="*/ 67 h 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67">
                  <a:moveTo>
                    <a:pt x="35" y="39"/>
                  </a:moveTo>
                  <a:lnTo>
                    <a:pt x="35" y="67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5" y="39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61" name="Freeform 241"/>
            <p:cNvSpPr>
              <a:spLocks/>
            </p:cNvSpPr>
            <p:nvPr/>
          </p:nvSpPr>
          <p:spPr bwMode="auto">
            <a:xfrm>
              <a:off x="2594" y="3435"/>
              <a:ext cx="34" cy="65"/>
            </a:xfrm>
            <a:custGeom>
              <a:avLst/>
              <a:gdLst>
                <a:gd name="T0" fmla="*/ 34 w 34"/>
                <a:gd name="T1" fmla="*/ 37 h 65"/>
                <a:gd name="T2" fmla="*/ 34 w 34"/>
                <a:gd name="T3" fmla="*/ 65 h 65"/>
                <a:gd name="T4" fmla="*/ 0 w 34"/>
                <a:gd name="T5" fmla="*/ 28 h 65"/>
                <a:gd name="T6" fmla="*/ 0 w 34"/>
                <a:gd name="T7" fmla="*/ 0 h 65"/>
                <a:gd name="T8" fmla="*/ 34 w 34"/>
                <a:gd name="T9" fmla="*/ 37 h 6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65"/>
                <a:gd name="T17" fmla="*/ 34 w 34"/>
                <a:gd name="T18" fmla="*/ 65 h 6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65">
                  <a:moveTo>
                    <a:pt x="34" y="37"/>
                  </a:moveTo>
                  <a:lnTo>
                    <a:pt x="34" y="65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37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62" name="Freeform 242"/>
            <p:cNvSpPr>
              <a:spLocks/>
            </p:cNvSpPr>
            <p:nvPr/>
          </p:nvSpPr>
          <p:spPr bwMode="auto">
            <a:xfrm>
              <a:off x="2575" y="3414"/>
              <a:ext cx="17" cy="46"/>
            </a:xfrm>
            <a:custGeom>
              <a:avLst/>
              <a:gdLst>
                <a:gd name="T0" fmla="*/ 17 w 17"/>
                <a:gd name="T1" fmla="*/ 18 h 46"/>
                <a:gd name="T2" fmla="*/ 17 w 17"/>
                <a:gd name="T3" fmla="*/ 46 h 46"/>
                <a:gd name="T4" fmla="*/ 0 w 17"/>
                <a:gd name="T5" fmla="*/ 27 h 46"/>
                <a:gd name="T6" fmla="*/ 0 w 17"/>
                <a:gd name="T7" fmla="*/ 0 h 46"/>
                <a:gd name="T8" fmla="*/ 17 w 17"/>
                <a:gd name="T9" fmla="*/ 18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"/>
                <a:gd name="T16" fmla="*/ 0 h 46"/>
                <a:gd name="T17" fmla="*/ 17 w 17"/>
                <a:gd name="T18" fmla="*/ 46 h 4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" h="46">
                  <a:moveTo>
                    <a:pt x="17" y="18"/>
                  </a:moveTo>
                  <a:lnTo>
                    <a:pt x="17" y="46"/>
                  </a:lnTo>
                  <a:lnTo>
                    <a:pt x="0" y="27"/>
                  </a:lnTo>
                  <a:lnTo>
                    <a:pt x="0" y="0"/>
                  </a:lnTo>
                  <a:lnTo>
                    <a:pt x="17" y="1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63" name="Freeform 243"/>
            <p:cNvSpPr>
              <a:spLocks/>
            </p:cNvSpPr>
            <p:nvPr/>
          </p:nvSpPr>
          <p:spPr bwMode="auto">
            <a:xfrm>
              <a:off x="2704" y="3036"/>
              <a:ext cx="12" cy="36"/>
            </a:xfrm>
            <a:custGeom>
              <a:avLst/>
              <a:gdLst>
                <a:gd name="T0" fmla="*/ 12 w 12"/>
                <a:gd name="T1" fmla="*/ 5 h 36"/>
                <a:gd name="T2" fmla="*/ 12 w 12"/>
                <a:gd name="T3" fmla="*/ 36 h 36"/>
                <a:gd name="T4" fmla="*/ 0 w 12"/>
                <a:gd name="T5" fmla="*/ 31 h 36"/>
                <a:gd name="T6" fmla="*/ 0 w 12"/>
                <a:gd name="T7" fmla="*/ 0 h 36"/>
                <a:gd name="T8" fmla="*/ 12 w 12"/>
                <a:gd name="T9" fmla="*/ 5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"/>
                <a:gd name="T16" fmla="*/ 0 h 36"/>
                <a:gd name="T17" fmla="*/ 12 w 12"/>
                <a:gd name="T18" fmla="*/ 36 h 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" h="36">
                  <a:moveTo>
                    <a:pt x="12" y="5"/>
                  </a:moveTo>
                  <a:lnTo>
                    <a:pt x="12" y="36"/>
                  </a:lnTo>
                  <a:lnTo>
                    <a:pt x="0" y="31"/>
                  </a:lnTo>
                  <a:lnTo>
                    <a:pt x="0" y="0"/>
                  </a:lnTo>
                  <a:lnTo>
                    <a:pt x="12" y="5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64" name="Freeform 244"/>
            <p:cNvSpPr>
              <a:spLocks/>
            </p:cNvSpPr>
            <p:nvPr/>
          </p:nvSpPr>
          <p:spPr bwMode="auto">
            <a:xfrm>
              <a:off x="2667" y="3016"/>
              <a:ext cx="35" cy="49"/>
            </a:xfrm>
            <a:custGeom>
              <a:avLst/>
              <a:gdLst>
                <a:gd name="T0" fmla="*/ 35 w 35"/>
                <a:gd name="T1" fmla="*/ 19 h 49"/>
                <a:gd name="T2" fmla="*/ 35 w 35"/>
                <a:gd name="T3" fmla="*/ 49 h 49"/>
                <a:gd name="T4" fmla="*/ 0 w 35"/>
                <a:gd name="T5" fmla="*/ 30 h 49"/>
                <a:gd name="T6" fmla="*/ 0 w 35"/>
                <a:gd name="T7" fmla="*/ 0 h 49"/>
                <a:gd name="T8" fmla="*/ 35 w 35"/>
                <a:gd name="T9" fmla="*/ 19 h 4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49"/>
                <a:gd name="T17" fmla="*/ 35 w 35"/>
                <a:gd name="T18" fmla="*/ 49 h 4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49">
                  <a:moveTo>
                    <a:pt x="35" y="19"/>
                  </a:moveTo>
                  <a:lnTo>
                    <a:pt x="35" y="49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5" y="19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65" name="Freeform 245"/>
            <p:cNvSpPr>
              <a:spLocks/>
            </p:cNvSpPr>
            <p:nvPr/>
          </p:nvSpPr>
          <p:spPr bwMode="auto">
            <a:xfrm>
              <a:off x="2631" y="2997"/>
              <a:ext cx="35" cy="46"/>
            </a:xfrm>
            <a:custGeom>
              <a:avLst/>
              <a:gdLst>
                <a:gd name="T0" fmla="*/ 35 w 35"/>
                <a:gd name="T1" fmla="*/ 18 h 46"/>
                <a:gd name="T2" fmla="*/ 35 w 35"/>
                <a:gd name="T3" fmla="*/ 46 h 46"/>
                <a:gd name="T4" fmla="*/ 0 w 35"/>
                <a:gd name="T5" fmla="*/ 28 h 46"/>
                <a:gd name="T6" fmla="*/ 0 w 35"/>
                <a:gd name="T7" fmla="*/ 0 h 46"/>
                <a:gd name="T8" fmla="*/ 35 w 35"/>
                <a:gd name="T9" fmla="*/ 18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46"/>
                <a:gd name="T17" fmla="*/ 35 w 35"/>
                <a:gd name="T18" fmla="*/ 46 h 4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46">
                  <a:moveTo>
                    <a:pt x="35" y="18"/>
                  </a:moveTo>
                  <a:lnTo>
                    <a:pt x="35" y="46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5" y="1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66" name="Freeform 246"/>
            <p:cNvSpPr>
              <a:spLocks/>
            </p:cNvSpPr>
            <p:nvPr/>
          </p:nvSpPr>
          <p:spPr bwMode="auto">
            <a:xfrm>
              <a:off x="2594" y="2977"/>
              <a:ext cx="34" cy="46"/>
            </a:xfrm>
            <a:custGeom>
              <a:avLst/>
              <a:gdLst>
                <a:gd name="T0" fmla="*/ 34 w 34"/>
                <a:gd name="T1" fmla="*/ 18 h 46"/>
                <a:gd name="T2" fmla="*/ 34 w 34"/>
                <a:gd name="T3" fmla="*/ 46 h 46"/>
                <a:gd name="T4" fmla="*/ 0 w 34"/>
                <a:gd name="T5" fmla="*/ 28 h 46"/>
                <a:gd name="T6" fmla="*/ 0 w 34"/>
                <a:gd name="T7" fmla="*/ 0 h 46"/>
                <a:gd name="T8" fmla="*/ 34 w 34"/>
                <a:gd name="T9" fmla="*/ 18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46"/>
                <a:gd name="T17" fmla="*/ 34 w 34"/>
                <a:gd name="T18" fmla="*/ 46 h 4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46">
                  <a:moveTo>
                    <a:pt x="34" y="18"/>
                  </a:moveTo>
                  <a:lnTo>
                    <a:pt x="34" y="46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1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67" name="Freeform 247"/>
            <p:cNvSpPr>
              <a:spLocks/>
            </p:cNvSpPr>
            <p:nvPr/>
          </p:nvSpPr>
          <p:spPr bwMode="auto">
            <a:xfrm>
              <a:off x="2575" y="2966"/>
              <a:ext cx="17" cy="36"/>
            </a:xfrm>
            <a:custGeom>
              <a:avLst/>
              <a:gdLst>
                <a:gd name="T0" fmla="*/ 17 w 17"/>
                <a:gd name="T1" fmla="*/ 10 h 36"/>
                <a:gd name="T2" fmla="*/ 17 w 17"/>
                <a:gd name="T3" fmla="*/ 36 h 36"/>
                <a:gd name="T4" fmla="*/ 0 w 17"/>
                <a:gd name="T5" fmla="*/ 28 h 36"/>
                <a:gd name="T6" fmla="*/ 0 w 17"/>
                <a:gd name="T7" fmla="*/ 0 h 36"/>
                <a:gd name="T8" fmla="*/ 17 w 17"/>
                <a:gd name="T9" fmla="*/ 10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"/>
                <a:gd name="T16" fmla="*/ 0 h 36"/>
                <a:gd name="T17" fmla="*/ 17 w 17"/>
                <a:gd name="T18" fmla="*/ 36 h 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" h="36">
                  <a:moveTo>
                    <a:pt x="17" y="10"/>
                  </a:moveTo>
                  <a:lnTo>
                    <a:pt x="17" y="36"/>
                  </a:lnTo>
                  <a:lnTo>
                    <a:pt x="0" y="28"/>
                  </a:lnTo>
                  <a:lnTo>
                    <a:pt x="0" y="0"/>
                  </a:lnTo>
                  <a:lnTo>
                    <a:pt x="17" y="10"/>
                  </a:lnTo>
                  <a:close/>
                </a:path>
              </a:pathLst>
            </a:custGeom>
            <a:solidFill>
              <a:srgbClr val="4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68" name="Freeform 248"/>
            <p:cNvSpPr>
              <a:spLocks/>
            </p:cNvSpPr>
            <p:nvPr/>
          </p:nvSpPr>
          <p:spPr bwMode="auto">
            <a:xfrm>
              <a:off x="2667" y="3087"/>
              <a:ext cx="35" cy="52"/>
            </a:xfrm>
            <a:custGeom>
              <a:avLst/>
              <a:gdLst>
                <a:gd name="T0" fmla="*/ 35 w 35"/>
                <a:gd name="T1" fmla="*/ 22 h 52"/>
                <a:gd name="T2" fmla="*/ 35 w 35"/>
                <a:gd name="T3" fmla="*/ 52 h 52"/>
                <a:gd name="T4" fmla="*/ 0 w 35"/>
                <a:gd name="T5" fmla="*/ 29 h 52"/>
                <a:gd name="T6" fmla="*/ 0 w 35"/>
                <a:gd name="T7" fmla="*/ 0 h 52"/>
                <a:gd name="T8" fmla="*/ 35 w 35"/>
                <a:gd name="T9" fmla="*/ 22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52"/>
                <a:gd name="T17" fmla="*/ 35 w 35"/>
                <a:gd name="T18" fmla="*/ 52 h 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52">
                  <a:moveTo>
                    <a:pt x="35" y="22"/>
                  </a:moveTo>
                  <a:lnTo>
                    <a:pt x="35" y="52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5" y="22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69" name="Freeform 249"/>
            <p:cNvSpPr>
              <a:spLocks/>
            </p:cNvSpPr>
            <p:nvPr/>
          </p:nvSpPr>
          <p:spPr bwMode="auto">
            <a:xfrm>
              <a:off x="2631" y="3064"/>
              <a:ext cx="35" cy="52"/>
            </a:xfrm>
            <a:custGeom>
              <a:avLst/>
              <a:gdLst>
                <a:gd name="T0" fmla="*/ 35 w 35"/>
                <a:gd name="T1" fmla="*/ 23 h 52"/>
                <a:gd name="T2" fmla="*/ 35 w 35"/>
                <a:gd name="T3" fmla="*/ 52 h 52"/>
                <a:gd name="T4" fmla="*/ 0 w 35"/>
                <a:gd name="T5" fmla="*/ 30 h 52"/>
                <a:gd name="T6" fmla="*/ 0 w 35"/>
                <a:gd name="T7" fmla="*/ 0 h 52"/>
                <a:gd name="T8" fmla="*/ 35 w 35"/>
                <a:gd name="T9" fmla="*/ 23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52"/>
                <a:gd name="T17" fmla="*/ 35 w 35"/>
                <a:gd name="T18" fmla="*/ 52 h 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52">
                  <a:moveTo>
                    <a:pt x="35" y="23"/>
                  </a:moveTo>
                  <a:lnTo>
                    <a:pt x="35" y="52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5" y="23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70" name="Freeform 250"/>
            <p:cNvSpPr>
              <a:spLocks/>
            </p:cNvSpPr>
            <p:nvPr/>
          </p:nvSpPr>
          <p:spPr bwMode="auto">
            <a:xfrm>
              <a:off x="2594" y="3042"/>
              <a:ext cx="34" cy="49"/>
            </a:xfrm>
            <a:custGeom>
              <a:avLst/>
              <a:gdLst>
                <a:gd name="T0" fmla="*/ 34 w 34"/>
                <a:gd name="T1" fmla="*/ 21 h 49"/>
                <a:gd name="T2" fmla="*/ 34 w 34"/>
                <a:gd name="T3" fmla="*/ 49 h 49"/>
                <a:gd name="T4" fmla="*/ 0 w 34"/>
                <a:gd name="T5" fmla="*/ 27 h 49"/>
                <a:gd name="T6" fmla="*/ 0 w 34"/>
                <a:gd name="T7" fmla="*/ 0 h 49"/>
                <a:gd name="T8" fmla="*/ 34 w 34"/>
                <a:gd name="T9" fmla="*/ 21 h 4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49"/>
                <a:gd name="T17" fmla="*/ 34 w 34"/>
                <a:gd name="T18" fmla="*/ 49 h 4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49">
                  <a:moveTo>
                    <a:pt x="34" y="21"/>
                  </a:moveTo>
                  <a:lnTo>
                    <a:pt x="34" y="49"/>
                  </a:lnTo>
                  <a:lnTo>
                    <a:pt x="0" y="27"/>
                  </a:lnTo>
                  <a:lnTo>
                    <a:pt x="0" y="0"/>
                  </a:lnTo>
                  <a:lnTo>
                    <a:pt x="34" y="21"/>
                  </a:lnTo>
                  <a:close/>
                </a:path>
              </a:pathLst>
            </a:custGeom>
            <a:solidFill>
              <a:srgbClr val="4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71" name="Freeform 251"/>
            <p:cNvSpPr>
              <a:spLocks/>
            </p:cNvSpPr>
            <p:nvPr/>
          </p:nvSpPr>
          <p:spPr bwMode="auto">
            <a:xfrm>
              <a:off x="2575" y="3030"/>
              <a:ext cx="17" cy="39"/>
            </a:xfrm>
            <a:custGeom>
              <a:avLst/>
              <a:gdLst>
                <a:gd name="T0" fmla="*/ 17 w 17"/>
                <a:gd name="T1" fmla="*/ 11 h 39"/>
                <a:gd name="T2" fmla="*/ 17 w 17"/>
                <a:gd name="T3" fmla="*/ 39 h 39"/>
                <a:gd name="T4" fmla="*/ 0 w 17"/>
                <a:gd name="T5" fmla="*/ 27 h 39"/>
                <a:gd name="T6" fmla="*/ 0 w 17"/>
                <a:gd name="T7" fmla="*/ 0 h 39"/>
                <a:gd name="T8" fmla="*/ 17 w 17"/>
                <a:gd name="T9" fmla="*/ 11 h 3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"/>
                <a:gd name="T16" fmla="*/ 0 h 39"/>
                <a:gd name="T17" fmla="*/ 17 w 17"/>
                <a:gd name="T18" fmla="*/ 39 h 3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" h="39">
                  <a:moveTo>
                    <a:pt x="17" y="11"/>
                  </a:moveTo>
                  <a:lnTo>
                    <a:pt x="17" y="39"/>
                  </a:lnTo>
                  <a:lnTo>
                    <a:pt x="0" y="27"/>
                  </a:lnTo>
                  <a:lnTo>
                    <a:pt x="0" y="0"/>
                  </a:lnTo>
                  <a:lnTo>
                    <a:pt x="17" y="11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72" name="Freeform 252"/>
            <p:cNvSpPr>
              <a:spLocks/>
            </p:cNvSpPr>
            <p:nvPr/>
          </p:nvSpPr>
          <p:spPr bwMode="auto">
            <a:xfrm>
              <a:off x="2704" y="3185"/>
              <a:ext cx="12" cy="38"/>
            </a:xfrm>
            <a:custGeom>
              <a:avLst/>
              <a:gdLst>
                <a:gd name="T0" fmla="*/ 12 w 12"/>
                <a:gd name="T1" fmla="*/ 8 h 38"/>
                <a:gd name="T2" fmla="*/ 12 w 12"/>
                <a:gd name="T3" fmla="*/ 38 h 38"/>
                <a:gd name="T4" fmla="*/ 0 w 12"/>
                <a:gd name="T5" fmla="*/ 30 h 38"/>
                <a:gd name="T6" fmla="*/ 0 w 12"/>
                <a:gd name="T7" fmla="*/ 0 h 38"/>
                <a:gd name="T8" fmla="*/ 12 w 12"/>
                <a:gd name="T9" fmla="*/ 8 h 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"/>
                <a:gd name="T16" fmla="*/ 0 h 38"/>
                <a:gd name="T17" fmla="*/ 12 w 12"/>
                <a:gd name="T18" fmla="*/ 38 h 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" h="38">
                  <a:moveTo>
                    <a:pt x="12" y="8"/>
                  </a:moveTo>
                  <a:lnTo>
                    <a:pt x="12" y="38"/>
                  </a:lnTo>
                  <a:lnTo>
                    <a:pt x="0" y="30"/>
                  </a:lnTo>
                  <a:lnTo>
                    <a:pt x="0" y="0"/>
                  </a:lnTo>
                  <a:lnTo>
                    <a:pt x="12" y="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73" name="Freeform 253"/>
            <p:cNvSpPr>
              <a:spLocks/>
            </p:cNvSpPr>
            <p:nvPr/>
          </p:nvSpPr>
          <p:spPr bwMode="auto">
            <a:xfrm>
              <a:off x="2667" y="3158"/>
              <a:ext cx="35" cy="55"/>
            </a:xfrm>
            <a:custGeom>
              <a:avLst/>
              <a:gdLst>
                <a:gd name="T0" fmla="*/ 35 w 35"/>
                <a:gd name="T1" fmla="*/ 24 h 55"/>
                <a:gd name="T2" fmla="*/ 35 w 35"/>
                <a:gd name="T3" fmla="*/ 55 h 55"/>
                <a:gd name="T4" fmla="*/ 0 w 35"/>
                <a:gd name="T5" fmla="*/ 30 h 55"/>
                <a:gd name="T6" fmla="*/ 0 w 35"/>
                <a:gd name="T7" fmla="*/ 0 h 55"/>
                <a:gd name="T8" fmla="*/ 35 w 35"/>
                <a:gd name="T9" fmla="*/ 24 h 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55"/>
                <a:gd name="T17" fmla="*/ 35 w 35"/>
                <a:gd name="T18" fmla="*/ 55 h 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55">
                  <a:moveTo>
                    <a:pt x="35" y="24"/>
                  </a:moveTo>
                  <a:lnTo>
                    <a:pt x="35" y="55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5" y="24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74" name="Freeform 254"/>
            <p:cNvSpPr>
              <a:spLocks/>
            </p:cNvSpPr>
            <p:nvPr/>
          </p:nvSpPr>
          <p:spPr bwMode="auto">
            <a:xfrm>
              <a:off x="2631" y="3132"/>
              <a:ext cx="35" cy="54"/>
            </a:xfrm>
            <a:custGeom>
              <a:avLst/>
              <a:gdLst>
                <a:gd name="T0" fmla="*/ 35 w 35"/>
                <a:gd name="T1" fmla="*/ 26 h 54"/>
                <a:gd name="T2" fmla="*/ 35 w 35"/>
                <a:gd name="T3" fmla="*/ 54 h 54"/>
                <a:gd name="T4" fmla="*/ 0 w 35"/>
                <a:gd name="T5" fmla="*/ 28 h 54"/>
                <a:gd name="T6" fmla="*/ 0 w 35"/>
                <a:gd name="T7" fmla="*/ 0 h 54"/>
                <a:gd name="T8" fmla="*/ 35 w 35"/>
                <a:gd name="T9" fmla="*/ 26 h 5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54"/>
                <a:gd name="T17" fmla="*/ 35 w 35"/>
                <a:gd name="T18" fmla="*/ 54 h 5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54">
                  <a:moveTo>
                    <a:pt x="35" y="26"/>
                  </a:moveTo>
                  <a:lnTo>
                    <a:pt x="35" y="54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5" y="26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75" name="Freeform 255"/>
            <p:cNvSpPr>
              <a:spLocks/>
            </p:cNvSpPr>
            <p:nvPr/>
          </p:nvSpPr>
          <p:spPr bwMode="auto">
            <a:xfrm>
              <a:off x="2594" y="3108"/>
              <a:ext cx="34" cy="52"/>
            </a:xfrm>
            <a:custGeom>
              <a:avLst/>
              <a:gdLst>
                <a:gd name="T0" fmla="*/ 34 w 34"/>
                <a:gd name="T1" fmla="*/ 24 h 52"/>
                <a:gd name="T2" fmla="*/ 34 w 34"/>
                <a:gd name="T3" fmla="*/ 52 h 52"/>
                <a:gd name="T4" fmla="*/ 0 w 34"/>
                <a:gd name="T5" fmla="*/ 28 h 52"/>
                <a:gd name="T6" fmla="*/ 0 w 34"/>
                <a:gd name="T7" fmla="*/ 0 h 52"/>
                <a:gd name="T8" fmla="*/ 34 w 34"/>
                <a:gd name="T9" fmla="*/ 24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52"/>
                <a:gd name="T17" fmla="*/ 34 w 34"/>
                <a:gd name="T18" fmla="*/ 52 h 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52">
                  <a:moveTo>
                    <a:pt x="34" y="24"/>
                  </a:moveTo>
                  <a:lnTo>
                    <a:pt x="34" y="52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24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76" name="Freeform 256"/>
            <p:cNvSpPr>
              <a:spLocks/>
            </p:cNvSpPr>
            <p:nvPr/>
          </p:nvSpPr>
          <p:spPr bwMode="auto">
            <a:xfrm>
              <a:off x="2575" y="3095"/>
              <a:ext cx="17" cy="38"/>
            </a:xfrm>
            <a:custGeom>
              <a:avLst/>
              <a:gdLst>
                <a:gd name="T0" fmla="*/ 17 w 17"/>
                <a:gd name="T1" fmla="*/ 10 h 38"/>
                <a:gd name="T2" fmla="*/ 17 w 17"/>
                <a:gd name="T3" fmla="*/ 38 h 38"/>
                <a:gd name="T4" fmla="*/ 0 w 17"/>
                <a:gd name="T5" fmla="*/ 27 h 38"/>
                <a:gd name="T6" fmla="*/ 0 w 17"/>
                <a:gd name="T7" fmla="*/ 0 h 38"/>
                <a:gd name="T8" fmla="*/ 17 w 17"/>
                <a:gd name="T9" fmla="*/ 10 h 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"/>
                <a:gd name="T16" fmla="*/ 0 h 38"/>
                <a:gd name="T17" fmla="*/ 17 w 17"/>
                <a:gd name="T18" fmla="*/ 38 h 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" h="38">
                  <a:moveTo>
                    <a:pt x="17" y="10"/>
                  </a:moveTo>
                  <a:lnTo>
                    <a:pt x="17" y="38"/>
                  </a:lnTo>
                  <a:lnTo>
                    <a:pt x="0" y="27"/>
                  </a:lnTo>
                  <a:lnTo>
                    <a:pt x="0" y="0"/>
                  </a:lnTo>
                  <a:lnTo>
                    <a:pt x="17" y="10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77" name="Freeform 257"/>
            <p:cNvSpPr>
              <a:spLocks/>
            </p:cNvSpPr>
            <p:nvPr/>
          </p:nvSpPr>
          <p:spPr bwMode="auto">
            <a:xfrm>
              <a:off x="2704" y="3257"/>
              <a:ext cx="11" cy="40"/>
            </a:xfrm>
            <a:custGeom>
              <a:avLst/>
              <a:gdLst>
                <a:gd name="T0" fmla="*/ 11 w 11"/>
                <a:gd name="T1" fmla="*/ 9 h 40"/>
                <a:gd name="T2" fmla="*/ 11 w 11"/>
                <a:gd name="T3" fmla="*/ 40 h 40"/>
                <a:gd name="T4" fmla="*/ 0 w 11"/>
                <a:gd name="T5" fmla="*/ 32 h 40"/>
                <a:gd name="T6" fmla="*/ 0 w 11"/>
                <a:gd name="T7" fmla="*/ 0 h 40"/>
                <a:gd name="T8" fmla="*/ 11 w 11"/>
                <a:gd name="T9" fmla="*/ 9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"/>
                <a:gd name="T16" fmla="*/ 0 h 40"/>
                <a:gd name="T17" fmla="*/ 11 w 11"/>
                <a:gd name="T18" fmla="*/ 40 h 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" h="40">
                  <a:moveTo>
                    <a:pt x="11" y="9"/>
                  </a:moveTo>
                  <a:lnTo>
                    <a:pt x="11" y="40"/>
                  </a:lnTo>
                  <a:lnTo>
                    <a:pt x="0" y="32"/>
                  </a:lnTo>
                  <a:lnTo>
                    <a:pt x="0" y="0"/>
                  </a:lnTo>
                  <a:lnTo>
                    <a:pt x="11" y="9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78" name="Freeform 258"/>
            <p:cNvSpPr>
              <a:spLocks/>
            </p:cNvSpPr>
            <p:nvPr/>
          </p:nvSpPr>
          <p:spPr bwMode="auto">
            <a:xfrm>
              <a:off x="2667" y="3229"/>
              <a:ext cx="35" cy="57"/>
            </a:xfrm>
            <a:custGeom>
              <a:avLst/>
              <a:gdLst>
                <a:gd name="T0" fmla="*/ 35 w 35"/>
                <a:gd name="T1" fmla="*/ 27 h 57"/>
                <a:gd name="T2" fmla="*/ 35 w 35"/>
                <a:gd name="T3" fmla="*/ 57 h 57"/>
                <a:gd name="T4" fmla="*/ 0 w 35"/>
                <a:gd name="T5" fmla="*/ 29 h 57"/>
                <a:gd name="T6" fmla="*/ 0 w 35"/>
                <a:gd name="T7" fmla="*/ 0 h 57"/>
                <a:gd name="T8" fmla="*/ 35 w 35"/>
                <a:gd name="T9" fmla="*/ 27 h 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57"/>
                <a:gd name="T17" fmla="*/ 35 w 35"/>
                <a:gd name="T18" fmla="*/ 57 h 5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57">
                  <a:moveTo>
                    <a:pt x="35" y="27"/>
                  </a:moveTo>
                  <a:lnTo>
                    <a:pt x="35" y="57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5" y="27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79" name="Freeform 259"/>
            <p:cNvSpPr>
              <a:spLocks/>
            </p:cNvSpPr>
            <p:nvPr/>
          </p:nvSpPr>
          <p:spPr bwMode="auto">
            <a:xfrm>
              <a:off x="2631" y="3201"/>
              <a:ext cx="35" cy="56"/>
            </a:xfrm>
            <a:custGeom>
              <a:avLst/>
              <a:gdLst>
                <a:gd name="T0" fmla="*/ 35 w 35"/>
                <a:gd name="T1" fmla="*/ 28 h 56"/>
                <a:gd name="T2" fmla="*/ 35 w 35"/>
                <a:gd name="T3" fmla="*/ 56 h 56"/>
                <a:gd name="T4" fmla="*/ 0 w 35"/>
                <a:gd name="T5" fmla="*/ 28 h 56"/>
                <a:gd name="T6" fmla="*/ 0 w 35"/>
                <a:gd name="T7" fmla="*/ 0 h 56"/>
                <a:gd name="T8" fmla="*/ 35 w 35"/>
                <a:gd name="T9" fmla="*/ 28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56"/>
                <a:gd name="T17" fmla="*/ 35 w 35"/>
                <a:gd name="T18" fmla="*/ 56 h 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56">
                  <a:moveTo>
                    <a:pt x="35" y="28"/>
                  </a:moveTo>
                  <a:lnTo>
                    <a:pt x="35" y="56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5" y="2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80" name="Freeform 260"/>
            <p:cNvSpPr>
              <a:spLocks/>
            </p:cNvSpPr>
            <p:nvPr/>
          </p:nvSpPr>
          <p:spPr bwMode="auto">
            <a:xfrm>
              <a:off x="2594" y="3172"/>
              <a:ext cx="34" cy="56"/>
            </a:xfrm>
            <a:custGeom>
              <a:avLst/>
              <a:gdLst>
                <a:gd name="T0" fmla="*/ 34 w 34"/>
                <a:gd name="T1" fmla="*/ 28 h 56"/>
                <a:gd name="T2" fmla="*/ 34 w 34"/>
                <a:gd name="T3" fmla="*/ 56 h 56"/>
                <a:gd name="T4" fmla="*/ 0 w 34"/>
                <a:gd name="T5" fmla="*/ 28 h 56"/>
                <a:gd name="T6" fmla="*/ 0 w 34"/>
                <a:gd name="T7" fmla="*/ 0 h 56"/>
                <a:gd name="T8" fmla="*/ 34 w 34"/>
                <a:gd name="T9" fmla="*/ 28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56"/>
                <a:gd name="T17" fmla="*/ 34 w 34"/>
                <a:gd name="T18" fmla="*/ 56 h 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56">
                  <a:moveTo>
                    <a:pt x="34" y="28"/>
                  </a:moveTo>
                  <a:lnTo>
                    <a:pt x="34" y="56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2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81" name="Freeform 261"/>
            <p:cNvSpPr>
              <a:spLocks/>
            </p:cNvSpPr>
            <p:nvPr/>
          </p:nvSpPr>
          <p:spPr bwMode="auto">
            <a:xfrm>
              <a:off x="2575" y="3158"/>
              <a:ext cx="17" cy="41"/>
            </a:xfrm>
            <a:custGeom>
              <a:avLst/>
              <a:gdLst>
                <a:gd name="T0" fmla="*/ 17 w 17"/>
                <a:gd name="T1" fmla="*/ 13 h 41"/>
                <a:gd name="T2" fmla="*/ 17 w 17"/>
                <a:gd name="T3" fmla="*/ 41 h 41"/>
                <a:gd name="T4" fmla="*/ 0 w 17"/>
                <a:gd name="T5" fmla="*/ 25 h 41"/>
                <a:gd name="T6" fmla="*/ 0 w 17"/>
                <a:gd name="T7" fmla="*/ 0 h 41"/>
                <a:gd name="T8" fmla="*/ 17 w 17"/>
                <a:gd name="T9" fmla="*/ 13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"/>
                <a:gd name="T16" fmla="*/ 0 h 41"/>
                <a:gd name="T17" fmla="*/ 17 w 17"/>
                <a:gd name="T18" fmla="*/ 41 h 4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" h="41">
                  <a:moveTo>
                    <a:pt x="17" y="13"/>
                  </a:moveTo>
                  <a:lnTo>
                    <a:pt x="17" y="41"/>
                  </a:lnTo>
                  <a:lnTo>
                    <a:pt x="0" y="25"/>
                  </a:lnTo>
                  <a:lnTo>
                    <a:pt x="0" y="0"/>
                  </a:lnTo>
                  <a:lnTo>
                    <a:pt x="17" y="13"/>
                  </a:lnTo>
                  <a:close/>
                </a:path>
              </a:pathLst>
            </a:custGeom>
            <a:solidFill>
              <a:srgbClr val="4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82" name="Freeform 262"/>
            <p:cNvSpPr>
              <a:spLocks/>
            </p:cNvSpPr>
            <p:nvPr/>
          </p:nvSpPr>
          <p:spPr bwMode="auto">
            <a:xfrm>
              <a:off x="2704" y="3332"/>
              <a:ext cx="12" cy="41"/>
            </a:xfrm>
            <a:custGeom>
              <a:avLst/>
              <a:gdLst>
                <a:gd name="T0" fmla="*/ 12 w 12"/>
                <a:gd name="T1" fmla="*/ 10 h 41"/>
                <a:gd name="T2" fmla="*/ 12 w 12"/>
                <a:gd name="T3" fmla="*/ 41 h 41"/>
                <a:gd name="T4" fmla="*/ 0 w 12"/>
                <a:gd name="T5" fmla="*/ 30 h 41"/>
                <a:gd name="T6" fmla="*/ 0 w 12"/>
                <a:gd name="T7" fmla="*/ 0 h 41"/>
                <a:gd name="T8" fmla="*/ 12 w 12"/>
                <a:gd name="T9" fmla="*/ 10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"/>
                <a:gd name="T16" fmla="*/ 0 h 41"/>
                <a:gd name="T17" fmla="*/ 12 w 12"/>
                <a:gd name="T18" fmla="*/ 41 h 4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" h="41">
                  <a:moveTo>
                    <a:pt x="12" y="10"/>
                  </a:moveTo>
                  <a:lnTo>
                    <a:pt x="12" y="41"/>
                  </a:lnTo>
                  <a:lnTo>
                    <a:pt x="0" y="30"/>
                  </a:lnTo>
                  <a:lnTo>
                    <a:pt x="0" y="0"/>
                  </a:lnTo>
                  <a:lnTo>
                    <a:pt x="12" y="10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83" name="Freeform 263"/>
            <p:cNvSpPr>
              <a:spLocks/>
            </p:cNvSpPr>
            <p:nvPr/>
          </p:nvSpPr>
          <p:spPr bwMode="auto">
            <a:xfrm>
              <a:off x="2667" y="3300"/>
              <a:ext cx="35" cy="59"/>
            </a:xfrm>
            <a:custGeom>
              <a:avLst/>
              <a:gdLst>
                <a:gd name="T0" fmla="*/ 35 w 35"/>
                <a:gd name="T1" fmla="*/ 30 h 59"/>
                <a:gd name="T2" fmla="*/ 35 w 35"/>
                <a:gd name="T3" fmla="*/ 59 h 59"/>
                <a:gd name="T4" fmla="*/ 0 w 35"/>
                <a:gd name="T5" fmla="*/ 30 h 59"/>
                <a:gd name="T6" fmla="*/ 0 w 35"/>
                <a:gd name="T7" fmla="*/ 0 h 59"/>
                <a:gd name="T8" fmla="*/ 35 w 35"/>
                <a:gd name="T9" fmla="*/ 30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59"/>
                <a:gd name="T17" fmla="*/ 35 w 35"/>
                <a:gd name="T18" fmla="*/ 59 h 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59">
                  <a:moveTo>
                    <a:pt x="35" y="30"/>
                  </a:moveTo>
                  <a:lnTo>
                    <a:pt x="35" y="59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5" y="30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84" name="Freeform 264"/>
            <p:cNvSpPr>
              <a:spLocks/>
            </p:cNvSpPr>
            <p:nvPr/>
          </p:nvSpPr>
          <p:spPr bwMode="auto">
            <a:xfrm>
              <a:off x="2631" y="3269"/>
              <a:ext cx="35" cy="59"/>
            </a:xfrm>
            <a:custGeom>
              <a:avLst/>
              <a:gdLst>
                <a:gd name="T0" fmla="*/ 35 w 35"/>
                <a:gd name="T1" fmla="*/ 30 h 59"/>
                <a:gd name="T2" fmla="*/ 35 w 35"/>
                <a:gd name="T3" fmla="*/ 59 h 59"/>
                <a:gd name="T4" fmla="*/ 0 w 35"/>
                <a:gd name="T5" fmla="*/ 28 h 59"/>
                <a:gd name="T6" fmla="*/ 0 w 35"/>
                <a:gd name="T7" fmla="*/ 0 h 59"/>
                <a:gd name="T8" fmla="*/ 35 w 35"/>
                <a:gd name="T9" fmla="*/ 30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59"/>
                <a:gd name="T17" fmla="*/ 35 w 35"/>
                <a:gd name="T18" fmla="*/ 59 h 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59">
                  <a:moveTo>
                    <a:pt x="35" y="30"/>
                  </a:moveTo>
                  <a:lnTo>
                    <a:pt x="35" y="59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5" y="30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85" name="Freeform 265"/>
            <p:cNvSpPr>
              <a:spLocks/>
            </p:cNvSpPr>
            <p:nvPr/>
          </p:nvSpPr>
          <p:spPr bwMode="auto">
            <a:xfrm>
              <a:off x="2594" y="3237"/>
              <a:ext cx="34" cy="59"/>
            </a:xfrm>
            <a:custGeom>
              <a:avLst/>
              <a:gdLst>
                <a:gd name="T0" fmla="*/ 34 w 34"/>
                <a:gd name="T1" fmla="*/ 31 h 59"/>
                <a:gd name="T2" fmla="*/ 34 w 34"/>
                <a:gd name="T3" fmla="*/ 59 h 59"/>
                <a:gd name="T4" fmla="*/ 0 w 34"/>
                <a:gd name="T5" fmla="*/ 28 h 59"/>
                <a:gd name="T6" fmla="*/ 0 w 34"/>
                <a:gd name="T7" fmla="*/ 0 h 59"/>
                <a:gd name="T8" fmla="*/ 34 w 34"/>
                <a:gd name="T9" fmla="*/ 31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59"/>
                <a:gd name="T17" fmla="*/ 34 w 34"/>
                <a:gd name="T18" fmla="*/ 59 h 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59">
                  <a:moveTo>
                    <a:pt x="34" y="31"/>
                  </a:moveTo>
                  <a:lnTo>
                    <a:pt x="34" y="59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31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86" name="Freeform 266"/>
            <p:cNvSpPr>
              <a:spLocks/>
            </p:cNvSpPr>
            <p:nvPr/>
          </p:nvSpPr>
          <p:spPr bwMode="auto">
            <a:xfrm>
              <a:off x="2575" y="3222"/>
              <a:ext cx="17" cy="42"/>
            </a:xfrm>
            <a:custGeom>
              <a:avLst/>
              <a:gdLst>
                <a:gd name="T0" fmla="*/ 17 w 17"/>
                <a:gd name="T1" fmla="*/ 14 h 42"/>
                <a:gd name="T2" fmla="*/ 17 w 17"/>
                <a:gd name="T3" fmla="*/ 42 h 42"/>
                <a:gd name="T4" fmla="*/ 0 w 17"/>
                <a:gd name="T5" fmla="*/ 27 h 42"/>
                <a:gd name="T6" fmla="*/ 0 w 17"/>
                <a:gd name="T7" fmla="*/ 0 h 42"/>
                <a:gd name="T8" fmla="*/ 17 w 17"/>
                <a:gd name="T9" fmla="*/ 14 h 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"/>
                <a:gd name="T16" fmla="*/ 0 h 42"/>
                <a:gd name="T17" fmla="*/ 17 w 17"/>
                <a:gd name="T18" fmla="*/ 42 h 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" h="42">
                  <a:moveTo>
                    <a:pt x="17" y="14"/>
                  </a:moveTo>
                  <a:lnTo>
                    <a:pt x="17" y="42"/>
                  </a:lnTo>
                  <a:lnTo>
                    <a:pt x="0" y="27"/>
                  </a:lnTo>
                  <a:lnTo>
                    <a:pt x="0" y="0"/>
                  </a:lnTo>
                  <a:lnTo>
                    <a:pt x="17" y="14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87" name="Freeform 267"/>
            <p:cNvSpPr>
              <a:spLocks/>
            </p:cNvSpPr>
            <p:nvPr/>
          </p:nvSpPr>
          <p:spPr bwMode="auto">
            <a:xfrm>
              <a:off x="2704" y="3408"/>
              <a:ext cx="11" cy="38"/>
            </a:xfrm>
            <a:custGeom>
              <a:avLst/>
              <a:gdLst>
                <a:gd name="T0" fmla="*/ 11 w 11"/>
                <a:gd name="T1" fmla="*/ 8 h 38"/>
                <a:gd name="T2" fmla="*/ 11 w 11"/>
                <a:gd name="T3" fmla="*/ 38 h 38"/>
                <a:gd name="T4" fmla="*/ 0 w 11"/>
                <a:gd name="T5" fmla="*/ 27 h 38"/>
                <a:gd name="T6" fmla="*/ 0 w 11"/>
                <a:gd name="T7" fmla="*/ 0 h 38"/>
                <a:gd name="T8" fmla="*/ 11 w 11"/>
                <a:gd name="T9" fmla="*/ 8 h 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"/>
                <a:gd name="T16" fmla="*/ 0 h 38"/>
                <a:gd name="T17" fmla="*/ 11 w 11"/>
                <a:gd name="T18" fmla="*/ 38 h 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" h="38">
                  <a:moveTo>
                    <a:pt x="11" y="8"/>
                  </a:moveTo>
                  <a:lnTo>
                    <a:pt x="11" y="38"/>
                  </a:lnTo>
                  <a:lnTo>
                    <a:pt x="0" y="27"/>
                  </a:lnTo>
                  <a:lnTo>
                    <a:pt x="0" y="0"/>
                  </a:lnTo>
                  <a:lnTo>
                    <a:pt x="11" y="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88" name="Freeform 268"/>
            <p:cNvSpPr>
              <a:spLocks/>
            </p:cNvSpPr>
            <p:nvPr/>
          </p:nvSpPr>
          <p:spPr bwMode="auto">
            <a:xfrm>
              <a:off x="2667" y="3372"/>
              <a:ext cx="35" cy="63"/>
            </a:xfrm>
            <a:custGeom>
              <a:avLst/>
              <a:gdLst>
                <a:gd name="T0" fmla="*/ 35 w 35"/>
                <a:gd name="T1" fmla="*/ 32 h 63"/>
                <a:gd name="T2" fmla="*/ 35 w 35"/>
                <a:gd name="T3" fmla="*/ 63 h 63"/>
                <a:gd name="T4" fmla="*/ 0 w 35"/>
                <a:gd name="T5" fmla="*/ 29 h 63"/>
                <a:gd name="T6" fmla="*/ 0 w 35"/>
                <a:gd name="T7" fmla="*/ 0 h 63"/>
                <a:gd name="T8" fmla="*/ 35 w 35"/>
                <a:gd name="T9" fmla="*/ 32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63"/>
                <a:gd name="T17" fmla="*/ 35 w 35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63">
                  <a:moveTo>
                    <a:pt x="35" y="32"/>
                  </a:moveTo>
                  <a:lnTo>
                    <a:pt x="35" y="63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5" y="32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89" name="Freeform 269"/>
            <p:cNvSpPr>
              <a:spLocks/>
            </p:cNvSpPr>
            <p:nvPr/>
          </p:nvSpPr>
          <p:spPr bwMode="auto">
            <a:xfrm>
              <a:off x="2631" y="3338"/>
              <a:ext cx="35" cy="60"/>
            </a:xfrm>
            <a:custGeom>
              <a:avLst/>
              <a:gdLst>
                <a:gd name="T0" fmla="*/ 35 w 35"/>
                <a:gd name="T1" fmla="*/ 32 h 60"/>
                <a:gd name="T2" fmla="*/ 35 w 35"/>
                <a:gd name="T3" fmla="*/ 60 h 60"/>
                <a:gd name="T4" fmla="*/ 0 w 35"/>
                <a:gd name="T5" fmla="*/ 28 h 60"/>
                <a:gd name="T6" fmla="*/ 0 w 35"/>
                <a:gd name="T7" fmla="*/ 0 h 60"/>
                <a:gd name="T8" fmla="*/ 35 w 35"/>
                <a:gd name="T9" fmla="*/ 32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60"/>
                <a:gd name="T17" fmla="*/ 35 w 35"/>
                <a:gd name="T18" fmla="*/ 60 h 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60">
                  <a:moveTo>
                    <a:pt x="35" y="32"/>
                  </a:moveTo>
                  <a:lnTo>
                    <a:pt x="35" y="60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5" y="32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90" name="Freeform 270"/>
            <p:cNvSpPr>
              <a:spLocks/>
            </p:cNvSpPr>
            <p:nvPr/>
          </p:nvSpPr>
          <p:spPr bwMode="auto">
            <a:xfrm>
              <a:off x="2593" y="3302"/>
              <a:ext cx="35" cy="61"/>
            </a:xfrm>
            <a:custGeom>
              <a:avLst/>
              <a:gdLst>
                <a:gd name="T0" fmla="*/ 35 w 35"/>
                <a:gd name="T1" fmla="*/ 35 h 61"/>
                <a:gd name="T2" fmla="*/ 35 w 35"/>
                <a:gd name="T3" fmla="*/ 61 h 61"/>
                <a:gd name="T4" fmla="*/ 0 w 35"/>
                <a:gd name="T5" fmla="*/ 29 h 61"/>
                <a:gd name="T6" fmla="*/ 0 w 35"/>
                <a:gd name="T7" fmla="*/ 0 h 61"/>
                <a:gd name="T8" fmla="*/ 35 w 35"/>
                <a:gd name="T9" fmla="*/ 35 h 6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61"/>
                <a:gd name="T17" fmla="*/ 35 w 35"/>
                <a:gd name="T18" fmla="*/ 61 h 6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61">
                  <a:moveTo>
                    <a:pt x="35" y="35"/>
                  </a:moveTo>
                  <a:lnTo>
                    <a:pt x="35" y="61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5" y="35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91" name="Freeform 271"/>
            <p:cNvSpPr>
              <a:spLocks/>
            </p:cNvSpPr>
            <p:nvPr/>
          </p:nvSpPr>
          <p:spPr bwMode="auto">
            <a:xfrm>
              <a:off x="2575" y="3286"/>
              <a:ext cx="17" cy="42"/>
            </a:xfrm>
            <a:custGeom>
              <a:avLst/>
              <a:gdLst>
                <a:gd name="T0" fmla="*/ 17 w 17"/>
                <a:gd name="T1" fmla="*/ 14 h 42"/>
                <a:gd name="T2" fmla="*/ 17 w 17"/>
                <a:gd name="T3" fmla="*/ 42 h 42"/>
                <a:gd name="T4" fmla="*/ 0 w 17"/>
                <a:gd name="T5" fmla="*/ 26 h 42"/>
                <a:gd name="T6" fmla="*/ 0 w 17"/>
                <a:gd name="T7" fmla="*/ 0 h 42"/>
                <a:gd name="T8" fmla="*/ 17 w 17"/>
                <a:gd name="T9" fmla="*/ 14 h 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"/>
                <a:gd name="T16" fmla="*/ 0 h 42"/>
                <a:gd name="T17" fmla="*/ 17 w 17"/>
                <a:gd name="T18" fmla="*/ 42 h 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" h="42">
                  <a:moveTo>
                    <a:pt x="17" y="14"/>
                  </a:moveTo>
                  <a:lnTo>
                    <a:pt x="17" y="42"/>
                  </a:lnTo>
                  <a:lnTo>
                    <a:pt x="0" y="26"/>
                  </a:lnTo>
                  <a:lnTo>
                    <a:pt x="0" y="0"/>
                  </a:lnTo>
                  <a:lnTo>
                    <a:pt x="17" y="14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92" name="Freeform 272"/>
            <p:cNvSpPr>
              <a:spLocks/>
            </p:cNvSpPr>
            <p:nvPr/>
          </p:nvSpPr>
          <p:spPr bwMode="auto">
            <a:xfrm>
              <a:off x="2704" y="3479"/>
              <a:ext cx="11" cy="44"/>
            </a:xfrm>
            <a:custGeom>
              <a:avLst/>
              <a:gdLst>
                <a:gd name="T0" fmla="*/ 11 w 11"/>
                <a:gd name="T1" fmla="*/ 13 h 44"/>
                <a:gd name="T2" fmla="*/ 11 w 11"/>
                <a:gd name="T3" fmla="*/ 44 h 44"/>
                <a:gd name="T4" fmla="*/ 0 w 11"/>
                <a:gd name="T5" fmla="*/ 32 h 44"/>
                <a:gd name="T6" fmla="*/ 0 w 11"/>
                <a:gd name="T7" fmla="*/ 0 h 44"/>
                <a:gd name="T8" fmla="*/ 11 w 11"/>
                <a:gd name="T9" fmla="*/ 13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"/>
                <a:gd name="T16" fmla="*/ 0 h 44"/>
                <a:gd name="T17" fmla="*/ 11 w 11"/>
                <a:gd name="T18" fmla="*/ 44 h 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" h="44">
                  <a:moveTo>
                    <a:pt x="11" y="13"/>
                  </a:moveTo>
                  <a:lnTo>
                    <a:pt x="11" y="44"/>
                  </a:lnTo>
                  <a:lnTo>
                    <a:pt x="0" y="32"/>
                  </a:lnTo>
                  <a:lnTo>
                    <a:pt x="0" y="0"/>
                  </a:lnTo>
                  <a:lnTo>
                    <a:pt x="11" y="13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93" name="Freeform 273"/>
            <p:cNvSpPr>
              <a:spLocks/>
            </p:cNvSpPr>
            <p:nvPr/>
          </p:nvSpPr>
          <p:spPr bwMode="auto">
            <a:xfrm>
              <a:off x="2667" y="3443"/>
              <a:ext cx="35" cy="65"/>
            </a:xfrm>
            <a:custGeom>
              <a:avLst/>
              <a:gdLst>
                <a:gd name="T0" fmla="*/ 35 w 35"/>
                <a:gd name="T1" fmla="*/ 35 h 65"/>
                <a:gd name="T2" fmla="*/ 35 w 35"/>
                <a:gd name="T3" fmla="*/ 65 h 65"/>
                <a:gd name="T4" fmla="*/ 0 w 35"/>
                <a:gd name="T5" fmla="*/ 29 h 65"/>
                <a:gd name="T6" fmla="*/ 0 w 35"/>
                <a:gd name="T7" fmla="*/ 0 h 65"/>
                <a:gd name="T8" fmla="*/ 35 w 35"/>
                <a:gd name="T9" fmla="*/ 35 h 6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65"/>
                <a:gd name="T17" fmla="*/ 35 w 35"/>
                <a:gd name="T18" fmla="*/ 65 h 6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65">
                  <a:moveTo>
                    <a:pt x="35" y="35"/>
                  </a:moveTo>
                  <a:lnTo>
                    <a:pt x="35" y="65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5" y="35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94" name="Freeform 274"/>
            <p:cNvSpPr>
              <a:spLocks/>
            </p:cNvSpPr>
            <p:nvPr/>
          </p:nvSpPr>
          <p:spPr bwMode="auto">
            <a:xfrm>
              <a:off x="2631" y="3405"/>
              <a:ext cx="35" cy="65"/>
            </a:xfrm>
            <a:custGeom>
              <a:avLst/>
              <a:gdLst>
                <a:gd name="T0" fmla="*/ 35 w 35"/>
                <a:gd name="T1" fmla="*/ 37 h 65"/>
                <a:gd name="T2" fmla="*/ 35 w 35"/>
                <a:gd name="T3" fmla="*/ 65 h 65"/>
                <a:gd name="T4" fmla="*/ 0 w 35"/>
                <a:gd name="T5" fmla="*/ 30 h 65"/>
                <a:gd name="T6" fmla="*/ 0 w 35"/>
                <a:gd name="T7" fmla="*/ 0 h 65"/>
                <a:gd name="T8" fmla="*/ 35 w 35"/>
                <a:gd name="T9" fmla="*/ 37 h 6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65"/>
                <a:gd name="T17" fmla="*/ 35 w 35"/>
                <a:gd name="T18" fmla="*/ 65 h 6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65">
                  <a:moveTo>
                    <a:pt x="35" y="37"/>
                  </a:moveTo>
                  <a:lnTo>
                    <a:pt x="35" y="65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5" y="37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95" name="Freeform 275"/>
            <p:cNvSpPr>
              <a:spLocks/>
            </p:cNvSpPr>
            <p:nvPr/>
          </p:nvSpPr>
          <p:spPr bwMode="auto">
            <a:xfrm>
              <a:off x="2594" y="3369"/>
              <a:ext cx="34" cy="63"/>
            </a:xfrm>
            <a:custGeom>
              <a:avLst/>
              <a:gdLst>
                <a:gd name="T0" fmla="*/ 34 w 34"/>
                <a:gd name="T1" fmla="*/ 35 h 63"/>
                <a:gd name="T2" fmla="*/ 34 w 34"/>
                <a:gd name="T3" fmla="*/ 63 h 63"/>
                <a:gd name="T4" fmla="*/ 0 w 34"/>
                <a:gd name="T5" fmla="*/ 28 h 63"/>
                <a:gd name="T6" fmla="*/ 0 w 34"/>
                <a:gd name="T7" fmla="*/ 0 h 63"/>
                <a:gd name="T8" fmla="*/ 34 w 34"/>
                <a:gd name="T9" fmla="*/ 35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63"/>
                <a:gd name="T17" fmla="*/ 34 w 3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63">
                  <a:moveTo>
                    <a:pt x="34" y="35"/>
                  </a:moveTo>
                  <a:lnTo>
                    <a:pt x="34" y="63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35"/>
                  </a:lnTo>
                  <a:close/>
                </a:path>
              </a:pathLst>
            </a:custGeom>
            <a:solidFill>
              <a:srgbClr val="2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96" name="Freeform 276"/>
            <p:cNvSpPr>
              <a:spLocks/>
            </p:cNvSpPr>
            <p:nvPr/>
          </p:nvSpPr>
          <p:spPr bwMode="auto">
            <a:xfrm>
              <a:off x="2575" y="3352"/>
              <a:ext cx="17" cy="44"/>
            </a:xfrm>
            <a:custGeom>
              <a:avLst/>
              <a:gdLst>
                <a:gd name="T0" fmla="*/ 17 w 17"/>
                <a:gd name="T1" fmla="*/ 16 h 44"/>
                <a:gd name="T2" fmla="*/ 17 w 17"/>
                <a:gd name="T3" fmla="*/ 44 h 44"/>
                <a:gd name="T4" fmla="*/ 0 w 17"/>
                <a:gd name="T5" fmla="*/ 24 h 44"/>
                <a:gd name="T6" fmla="*/ 0 w 17"/>
                <a:gd name="T7" fmla="*/ 0 h 44"/>
                <a:gd name="T8" fmla="*/ 17 w 17"/>
                <a:gd name="T9" fmla="*/ 16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"/>
                <a:gd name="T16" fmla="*/ 0 h 44"/>
                <a:gd name="T17" fmla="*/ 17 w 17"/>
                <a:gd name="T18" fmla="*/ 44 h 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" h="44">
                  <a:moveTo>
                    <a:pt x="17" y="16"/>
                  </a:moveTo>
                  <a:lnTo>
                    <a:pt x="17" y="44"/>
                  </a:lnTo>
                  <a:lnTo>
                    <a:pt x="0" y="24"/>
                  </a:lnTo>
                  <a:lnTo>
                    <a:pt x="0" y="0"/>
                  </a:lnTo>
                  <a:lnTo>
                    <a:pt x="17" y="16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97" name="Freeform 277"/>
            <p:cNvSpPr>
              <a:spLocks/>
            </p:cNvSpPr>
            <p:nvPr/>
          </p:nvSpPr>
          <p:spPr bwMode="auto">
            <a:xfrm>
              <a:off x="2575" y="3383"/>
              <a:ext cx="29" cy="55"/>
            </a:xfrm>
            <a:custGeom>
              <a:avLst/>
              <a:gdLst>
                <a:gd name="T0" fmla="*/ 29 w 29"/>
                <a:gd name="T1" fmla="*/ 30 h 55"/>
                <a:gd name="T2" fmla="*/ 29 w 29"/>
                <a:gd name="T3" fmla="*/ 55 h 55"/>
                <a:gd name="T4" fmla="*/ 0 w 29"/>
                <a:gd name="T5" fmla="*/ 27 h 55"/>
                <a:gd name="T6" fmla="*/ 0 w 29"/>
                <a:gd name="T7" fmla="*/ 0 h 55"/>
                <a:gd name="T8" fmla="*/ 29 w 29"/>
                <a:gd name="T9" fmla="*/ 30 h 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"/>
                <a:gd name="T16" fmla="*/ 0 h 55"/>
                <a:gd name="T17" fmla="*/ 29 w 29"/>
                <a:gd name="T18" fmla="*/ 55 h 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" h="55">
                  <a:moveTo>
                    <a:pt x="29" y="30"/>
                  </a:moveTo>
                  <a:lnTo>
                    <a:pt x="29" y="55"/>
                  </a:lnTo>
                  <a:lnTo>
                    <a:pt x="0" y="27"/>
                  </a:lnTo>
                  <a:lnTo>
                    <a:pt x="0" y="0"/>
                  </a:lnTo>
                  <a:lnTo>
                    <a:pt x="29" y="30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98" name="Freeform 278"/>
            <p:cNvSpPr>
              <a:spLocks/>
            </p:cNvSpPr>
            <p:nvPr/>
          </p:nvSpPr>
          <p:spPr bwMode="auto">
            <a:xfrm>
              <a:off x="2676" y="3486"/>
              <a:ext cx="39" cy="71"/>
            </a:xfrm>
            <a:custGeom>
              <a:avLst/>
              <a:gdLst>
                <a:gd name="T0" fmla="*/ 39 w 39"/>
                <a:gd name="T1" fmla="*/ 43 h 71"/>
                <a:gd name="T2" fmla="*/ 39 w 39"/>
                <a:gd name="T3" fmla="*/ 71 h 71"/>
                <a:gd name="T4" fmla="*/ 0 w 39"/>
                <a:gd name="T5" fmla="*/ 30 h 71"/>
                <a:gd name="T6" fmla="*/ 0 w 39"/>
                <a:gd name="T7" fmla="*/ 0 h 71"/>
                <a:gd name="T8" fmla="*/ 39 w 39"/>
                <a:gd name="T9" fmla="*/ 43 h 7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9"/>
                <a:gd name="T16" fmla="*/ 0 h 71"/>
                <a:gd name="T17" fmla="*/ 39 w 39"/>
                <a:gd name="T18" fmla="*/ 71 h 7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9" h="71">
                  <a:moveTo>
                    <a:pt x="39" y="43"/>
                  </a:moveTo>
                  <a:lnTo>
                    <a:pt x="39" y="71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9" y="43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699" name="Freeform 279"/>
            <p:cNvSpPr>
              <a:spLocks/>
            </p:cNvSpPr>
            <p:nvPr/>
          </p:nvSpPr>
          <p:spPr bwMode="auto">
            <a:xfrm>
              <a:off x="2642" y="3451"/>
              <a:ext cx="32" cy="64"/>
            </a:xfrm>
            <a:custGeom>
              <a:avLst/>
              <a:gdLst>
                <a:gd name="T0" fmla="*/ 32 w 32"/>
                <a:gd name="T1" fmla="*/ 34 h 64"/>
                <a:gd name="T2" fmla="*/ 32 w 32"/>
                <a:gd name="T3" fmla="*/ 64 h 64"/>
                <a:gd name="T4" fmla="*/ 0 w 32"/>
                <a:gd name="T5" fmla="*/ 29 h 64"/>
                <a:gd name="T6" fmla="*/ 0 w 32"/>
                <a:gd name="T7" fmla="*/ 0 h 64"/>
                <a:gd name="T8" fmla="*/ 32 w 32"/>
                <a:gd name="T9" fmla="*/ 34 h 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"/>
                <a:gd name="T16" fmla="*/ 0 h 64"/>
                <a:gd name="T17" fmla="*/ 32 w 32"/>
                <a:gd name="T18" fmla="*/ 64 h 6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" h="64">
                  <a:moveTo>
                    <a:pt x="32" y="34"/>
                  </a:moveTo>
                  <a:lnTo>
                    <a:pt x="32" y="64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2" y="34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700" name="Freeform 280"/>
            <p:cNvSpPr>
              <a:spLocks/>
            </p:cNvSpPr>
            <p:nvPr/>
          </p:nvSpPr>
          <p:spPr bwMode="auto">
            <a:xfrm>
              <a:off x="2606" y="3415"/>
              <a:ext cx="34" cy="62"/>
            </a:xfrm>
            <a:custGeom>
              <a:avLst/>
              <a:gdLst>
                <a:gd name="T0" fmla="*/ 34 w 34"/>
                <a:gd name="T1" fmla="*/ 34 h 62"/>
                <a:gd name="T2" fmla="*/ 34 w 34"/>
                <a:gd name="T3" fmla="*/ 62 h 62"/>
                <a:gd name="T4" fmla="*/ 0 w 34"/>
                <a:gd name="T5" fmla="*/ 26 h 62"/>
                <a:gd name="T6" fmla="*/ 0 w 34"/>
                <a:gd name="T7" fmla="*/ 0 h 62"/>
                <a:gd name="T8" fmla="*/ 34 w 34"/>
                <a:gd name="T9" fmla="*/ 34 h 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62"/>
                <a:gd name="T17" fmla="*/ 34 w 34"/>
                <a:gd name="T18" fmla="*/ 62 h 6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62">
                  <a:moveTo>
                    <a:pt x="34" y="34"/>
                  </a:moveTo>
                  <a:lnTo>
                    <a:pt x="34" y="62"/>
                  </a:lnTo>
                  <a:lnTo>
                    <a:pt x="0" y="26"/>
                  </a:lnTo>
                  <a:lnTo>
                    <a:pt x="0" y="0"/>
                  </a:lnTo>
                  <a:lnTo>
                    <a:pt x="34" y="34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701" name="Freeform 281"/>
            <p:cNvSpPr>
              <a:spLocks/>
            </p:cNvSpPr>
            <p:nvPr/>
          </p:nvSpPr>
          <p:spPr bwMode="auto">
            <a:xfrm>
              <a:off x="2575" y="2999"/>
              <a:ext cx="30" cy="44"/>
            </a:xfrm>
            <a:custGeom>
              <a:avLst/>
              <a:gdLst>
                <a:gd name="T0" fmla="*/ 30 w 30"/>
                <a:gd name="T1" fmla="*/ 17 h 44"/>
                <a:gd name="T2" fmla="*/ 30 w 30"/>
                <a:gd name="T3" fmla="*/ 44 h 44"/>
                <a:gd name="T4" fmla="*/ 0 w 30"/>
                <a:gd name="T5" fmla="*/ 27 h 44"/>
                <a:gd name="T6" fmla="*/ 0 w 30"/>
                <a:gd name="T7" fmla="*/ 0 h 44"/>
                <a:gd name="T8" fmla="*/ 30 w 30"/>
                <a:gd name="T9" fmla="*/ 17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"/>
                <a:gd name="T16" fmla="*/ 0 h 44"/>
                <a:gd name="T17" fmla="*/ 30 w 30"/>
                <a:gd name="T18" fmla="*/ 44 h 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" h="44">
                  <a:moveTo>
                    <a:pt x="30" y="17"/>
                  </a:moveTo>
                  <a:lnTo>
                    <a:pt x="30" y="44"/>
                  </a:lnTo>
                  <a:lnTo>
                    <a:pt x="0" y="27"/>
                  </a:lnTo>
                  <a:lnTo>
                    <a:pt x="0" y="0"/>
                  </a:lnTo>
                  <a:lnTo>
                    <a:pt x="30" y="17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702" name="Freeform 282"/>
            <p:cNvSpPr>
              <a:spLocks/>
            </p:cNvSpPr>
            <p:nvPr/>
          </p:nvSpPr>
          <p:spPr bwMode="auto">
            <a:xfrm>
              <a:off x="2643" y="3037"/>
              <a:ext cx="33" cy="50"/>
            </a:xfrm>
            <a:custGeom>
              <a:avLst/>
              <a:gdLst>
                <a:gd name="T0" fmla="*/ 33 w 33"/>
                <a:gd name="T1" fmla="*/ 19 h 50"/>
                <a:gd name="T2" fmla="*/ 33 w 33"/>
                <a:gd name="T3" fmla="*/ 50 h 50"/>
                <a:gd name="T4" fmla="*/ 0 w 33"/>
                <a:gd name="T5" fmla="*/ 30 h 50"/>
                <a:gd name="T6" fmla="*/ 0 w 33"/>
                <a:gd name="T7" fmla="*/ 0 h 50"/>
                <a:gd name="T8" fmla="*/ 33 w 33"/>
                <a:gd name="T9" fmla="*/ 19 h 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3"/>
                <a:gd name="T16" fmla="*/ 0 h 50"/>
                <a:gd name="T17" fmla="*/ 33 w 33"/>
                <a:gd name="T18" fmla="*/ 50 h 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3" h="50">
                  <a:moveTo>
                    <a:pt x="33" y="19"/>
                  </a:moveTo>
                  <a:lnTo>
                    <a:pt x="33" y="50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3" y="19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703" name="Freeform 283"/>
            <p:cNvSpPr>
              <a:spLocks/>
            </p:cNvSpPr>
            <p:nvPr/>
          </p:nvSpPr>
          <p:spPr bwMode="auto">
            <a:xfrm>
              <a:off x="2607" y="3016"/>
              <a:ext cx="34" cy="49"/>
            </a:xfrm>
            <a:custGeom>
              <a:avLst/>
              <a:gdLst>
                <a:gd name="T0" fmla="*/ 34 w 34"/>
                <a:gd name="T1" fmla="*/ 21 h 49"/>
                <a:gd name="T2" fmla="*/ 34 w 34"/>
                <a:gd name="T3" fmla="*/ 49 h 49"/>
                <a:gd name="T4" fmla="*/ 0 w 34"/>
                <a:gd name="T5" fmla="*/ 28 h 49"/>
                <a:gd name="T6" fmla="*/ 0 w 34"/>
                <a:gd name="T7" fmla="*/ 0 h 49"/>
                <a:gd name="T8" fmla="*/ 34 w 34"/>
                <a:gd name="T9" fmla="*/ 21 h 4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49"/>
                <a:gd name="T17" fmla="*/ 34 w 34"/>
                <a:gd name="T18" fmla="*/ 49 h 4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49">
                  <a:moveTo>
                    <a:pt x="34" y="21"/>
                  </a:moveTo>
                  <a:lnTo>
                    <a:pt x="34" y="49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21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704" name="Freeform 284"/>
            <p:cNvSpPr>
              <a:spLocks/>
            </p:cNvSpPr>
            <p:nvPr/>
          </p:nvSpPr>
          <p:spPr bwMode="auto">
            <a:xfrm>
              <a:off x="2575" y="3062"/>
              <a:ext cx="30" cy="48"/>
            </a:xfrm>
            <a:custGeom>
              <a:avLst/>
              <a:gdLst>
                <a:gd name="T0" fmla="*/ 30 w 30"/>
                <a:gd name="T1" fmla="*/ 21 h 48"/>
                <a:gd name="T2" fmla="*/ 30 w 30"/>
                <a:gd name="T3" fmla="*/ 48 h 48"/>
                <a:gd name="T4" fmla="*/ 0 w 30"/>
                <a:gd name="T5" fmla="*/ 27 h 48"/>
                <a:gd name="T6" fmla="*/ 0 w 30"/>
                <a:gd name="T7" fmla="*/ 0 h 48"/>
                <a:gd name="T8" fmla="*/ 30 w 30"/>
                <a:gd name="T9" fmla="*/ 21 h 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"/>
                <a:gd name="T16" fmla="*/ 0 h 48"/>
                <a:gd name="T17" fmla="*/ 30 w 30"/>
                <a:gd name="T18" fmla="*/ 48 h 4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" h="48">
                  <a:moveTo>
                    <a:pt x="30" y="21"/>
                  </a:moveTo>
                  <a:lnTo>
                    <a:pt x="30" y="48"/>
                  </a:lnTo>
                  <a:lnTo>
                    <a:pt x="0" y="27"/>
                  </a:lnTo>
                  <a:lnTo>
                    <a:pt x="0" y="0"/>
                  </a:lnTo>
                  <a:lnTo>
                    <a:pt x="30" y="21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705" name="Freeform 285"/>
            <p:cNvSpPr>
              <a:spLocks/>
            </p:cNvSpPr>
            <p:nvPr/>
          </p:nvSpPr>
          <p:spPr bwMode="auto">
            <a:xfrm>
              <a:off x="2677" y="3130"/>
              <a:ext cx="39" cy="56"/>
            </a:xfrm>
            <a:custGeom>
              <a:avLst/>
              <a:gdLst>
                <a:gd name="T0" fmla="*/ 39 w 39"/>
                <a:gd name="T1" fmla="*/ 25 h 56"/>
                <a:gd name="T2" fmla="*/ 39 w 39"/>
                <a:gd name="T3" fmla="*/ 56 h 56"/>
                <a:gd name="T4" fmla="*/ 0 w 39"/>
                <a:gd name="T5" fmla="*/ 30 h 56"/>
                <a:gd name="T6" fmla="*/ 0 w 39"/>
                <a:gd name="T7" fmla="*/ 0 h 56"/>
                <a:gd name="T8" fmla="*/ 39 w 39"/>
                <a:gd name="T9" fmla="*/ 25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9"/>
                <a:gd name="T16" fmla="*/ 0 h 56"/>
                <a:gd name="T17" fmla="*/ 39 w 39"/>
                <a:gd name="T18" fmla="*/ 56 h 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9" h="56">
                  <a:moveTo>
                    <a:pt x="39" y="25"/>
                  </a:moveTo>
                  <a:lnTo>
                    <a:pt x="39" y="56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9" y="25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706" name="Freeform 286"/>
            <p:cNvSpPr>
              <a:spLocks/>
            </p:cNvSpPr>
            <p:nvPr/>
          </p:nvSpPr>
          <p:spPr bwMode="auto">
            <a:xfrm>
              <a:off x="2643" y="3108"/>
              <a:ext cx="33" cy="51"/>
            </a:xfrm>
            <a:custGeom>
              <a:avLst/>
              <a:gdLst>
                <a:gd name="T0" fmla="*/ 33 w 33"/>
                <a:gd name="T1" fmla="*/ 21 h 51"/>
                <a:gd name="T2" fmla="*/ 33 w 33"/>
                <a:gd name="T3" fmla="*/ 51 h 51"/>
                <a:gd name="T4" fmla="*/ 0 w 33"/>
                <a:gd name="T5" fmla="*/ 29 h 51"/>
                <a:gd name="T6" fmla="*/ 0 w 33"/>
                <a:gd name="T7" fmla="*/ 0 h 51"/>
                <a:gd name="T8" fmla="*/ 33 w 33"/>
                <a:gd name="T9" fmla="*/ 21 h 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3"/>
                <a:gd name="T16" fmla="*/ 0 h 51"/>
                <a:gd name="T17" fmla="*/ 33 w 33"/>
                <a:gd name="T18" fmla="*/ 51 h 5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3" h="51">
                  <a:moveTo>
                    <a:pt x="33" y="21"/>
                  </a:moveTo>
                  <a:lnTo>
                    <a:pt x="33" y="51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3" y="21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707" name="Freeform 287"/>
            <p:cNvSpPr>
              <a:spLocks/>
            </p:cNvSpPr>
            <p:nvPr/>
          </p:nvSpPr>
          <p:spPr bwMode="auto">
            <a:xfrm>
              <a:off x="2607" y="3084"/>
              <a:ext cx="34" cy="50"/>
            </a:xfrm>
            <a:custGeom>
              <a:avLst/>
              <a:gdLst>
                <a:gd name="T0" fmla="*/ 34 w 34"/>
                <a:gd name="T1" fmla="*/ 22 h 50"/>
                <a:gd name="T2" fmla="*/ 34 w 34"/>
                <a:gd name="T3" fmla="*/ 50 h 50"/>
                <a:gd name="T4" fmla="*/ 0 w 34"/>
                <a:gd name="T5" fmla="*/ 27 h 50"/>
                <a:gd name="T6" fmla="*/ 0 w 34"/>
                <a:gd name="T7" fmla="*/ 0 h 50"/>
                <a:gd name="T8" fmla="*/ 34 w 34"/>
                <a:gd name="T9" fmla="*/ 22 h 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50"/>
                <a:gd name="T17" fmla="*/ 34 w 34"/>
                <a:gd name="T18" fmla="*/ 50 h 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50">
                  <a:moveTo>
                    <a:pt x="34" y="22"/>
                  </a:moveTo>
                  <a:lnTo>
                    <a:pt x="34" y="50"/>
                  </a:lnTo>
                  <a:lnTo>
                    <a:pt x="0" y="27"/>
                  </a:lnTo>
                  <a:lnTo>
                    <a:pt x="0" y="0"/>
                  </a:lnTo>
                  <a:lnTo>
                    <a:pt x="34" y="22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708" name="Freeform 288"/>
            <p:cNvSpPr>
              <a:spLocks/>
            </p:cNvSpPr>
            <p:nvPr/>
          </p:nvSpPr>
          <p:spPr bwMode="auto">
            <a:xfrm>
              <a:off x="2575" y="3126"/>
              <a:ext cx="30" cy="49"/>
            </a:xfrm>
            <a:custGeom>
              <a:avLst/>
              <a:gdLst>
                <a:gd name="T0" fmla="*/ 30 w 30"/>
                <a:gd name="T1" fmla="*/ 24 h 49"/>
                <a:gd name="T2" fmla="*/ 30 w 30"/>
                <a:gd name="T3" fmla="*/ 49 h 49"/>
                <a:gd name="T4" fmla="*/ 0 w 30"/>
                <a:gd name="T5" fmla="*/ 27 h 49"/>
                <a:gd name="T6" fmla="*/ 0 w 30"/>
                <a:gd name="T7" fmla="*/ 0 h 49"/>
                <a:gd name="T8" fmla="*/ 30 w 30"/>
                <a:gd name="T9" fmla="*/ 24 h 4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"/>
                <a:gd name="T16" fmla="*/ 0 h 49"/>
                <a:gd name="T17" fmla="*/ 30 w 30"/>
                <a:gd name="T18" fmla="*/ 49 h 4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" h="49">
                  <a:moveTo>
                    <a:pt x="30" y="24"/>
                  </a:moveTo>
                  <a:lnTo>
                    <a:pt x="30" y="49"/>
                  </a:lnTo>
                  <a:lnTo>
                    <a:pt x="0" y="27"/>
                  </a:lnTo>
                  <a:lnTo>
                    <a:pt x="0" y="0"/>
                  </a:lnTo>
                  <a:lnTo>
                    <a:pt x="30" y="24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709" name="Freeform 289"/>
            <p:cNvSpPr>
              <a:spLocks/>
            </p:cNvSpPr>
            <p:nvPr/>
          </p:nvSpPr>
          <p:spPr bwMode="auto">
            <a:xfrm>
              <a:off x="2643" y="3176"/>
              <a:ext cx="33" cy="54"/>
            </a:xfrm>
            <a:custGeom>
              <a:avLst/>
              <a:gdLst>
                <a:gd name="T0" fmla="*/ 33 w 33"/>
                <a:gd name="T1" fmla="*/ 24 h 54"/>
                <a:gd name="T2" fmla="*/ 33 w 33"/>
                <a:gd name="T3" fmla="*/ 54 h 54"/>
                <a:gd name="T4" fmla="*/ 0 w 33"/>
                <a:gd name="T5" fmla="*/ 30 h 54"/>
                <a:gd name="T6" fmla="*/ 0 w 33"/>
                <a:gd name="T7" fmla="*/ 0 h 54"/>
                <a:gd name="T8" fmla="*/ 33 w 33"/>
                <a:gd name="T9" fmla="*/ 24 h 5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3"/>
                <a:gd name="T16" fmla="*/ 0 h 54"/>
                <a:gd name="T17" fmla="*/ 33 w 33"/>
                <a:gd name="T18" fmla="*/ 54 h 5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3" h="54">
                  <a:moveTo>
                    <a:pt x="33" y="24"/>
                  </a:moveTo>
                  <a:lnTo>
                    <a:pt x="33" y="54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3" y="24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710" name="Freeform 290"/>
            <p:cNvSpPr>
              <a:spLocks/>
            </p:cNvSpPr>
            <p:nvPr/>
          </p:nvSpPr>
          <p:spPr bwMode="auto">
            <a:xfrm>
              <a:off x="2607" y="3150"/>
              <a:ext cx="34" cy="53"/>
            </a:xfrm>
            <a:custGeom>
              <a:avLst/>
              <a:gdLst>
                <a:gd name="T0" fmla="*/ 34 w 34"/>
                <a:gd name="T1" fmla="*/ 25 h 53"/>
                <a:gd name="T2" fmla="*/ 34 w 34"/>
                <a:gd name="T3" fmla="*/ 53 h 53"/>
                <a:gd name="T4" fmla="*/ 0 w 34"/>
                <a:gd name="T5" fmla="*/ 28 h 53"/>
                <a:gd name="T6" fmla="*/ 0 w 34"/>
                <a:gd name="T7" fmla="*/ 0 h 53"/>
                <a:gd name="T8" fmla="*/ 34 w 34"/>
                <a:gd name="T9" fmla="*/ 25 h 5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53"/>
                <a:gd name="T17" fmla="*/ 34 w 34"/>
                <a:gd name="T18" fmla="*/ 53 h 5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53">
                  <a:moveTo>
                    <a:pt x="34" y="25"/>
                  </a:moveTo>
                  <a:lnTo>
                    <a:pt x="34" y="53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25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711" name="Freeform 291"/>
            <p:cNvSpPr>
              <a:spLocks/>
            </p:cNvSpPr>
            <p:nvPr/>
          </p:nvSpPr>
          <p:spPr bwMode="auto">
            <a:xfrm>
              <a:off x="2575" y="3191"/>
              <a:ext cx="29" cy="50"/>
            </a:xfrm>
            <a:custGeom>
              <a:avLst/>
              <a:gdLst>
                <a:gd name="T0" fmla="*/ 29 w 29"/>
                <a:gd name="T1" fmla="*/ 23 h 50"/>
                <a:gd name="T2" fmla="*/ 29 w 29"/>
                <a:gd name="T3" fmla="*/ 50 h 50"/>
                <a:gd name="T4" fmla="*/ 0 w 29"/>
                <a:gd name="T5" fmla="*/ 26 h 50"/>
                <a:gd name="T6" fmla="*/ 0 w 29"/>
                <a:gd name="T7" fmla="*/ 0 h 50"/>
                <a:gd name="T8" fmla="*/ 29 w 29"/>
                <a:gd name="T9" fmla="*/ 23 h 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"/>
                <a:gd name="T16" fmla="*/ 0 h 50"/>
                <a:gd name="T17" fmla="*/ 29 w 29"/>
                <a:gd name="T18" fmla="*/ 50 h 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" h="50">
                  <a:moveTo>
                    <a:pt x="29" y="23"/>
                  </a:moveTo>
                  <a:lnTo>
                    <a:pt x="29" y="50"/>
                  </a:lnTo>
                  <a:lnTo>
                    <a:pt x="0" y="26"/>
                  </a:lnTo>
                  <a:lnTo>
                    <a:pt x="0" y="0"/>
                  </a:lnTo>
                  <a:lnTo>
                    <a:pt x="29" y="23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712" name="Freeform 292"/>
            <p:cNvSpPr>
              <a:spLocks/>
            </p:cNvSpPr>
            <p:nvPr/>
          </p:nvSpPr>
          <p:spPr bwMode="auto">
            <a:xfrm>
              <a:off x="2676" y="3271"/>
              <a:ext cx="40" cy="63"/>
            </a:xfrm>
            <a:custGeom>
              <a:avLst/>
              <a:gdLst>
                <a:gd name="T0" fmla="*/ 40 w 40"/>
                <a:gd name="T1" fmla="*/ 33 h 63"/>
                <a:gd name="T2" fmla="*/ 40 w 40"/>
                <a:gd name="T3" fmla="*/ 63 h 63"/>
                <a:gd name="T4" fmla="*/ 0 w 40"/>
                <a:gd name="T5" fmla="*/ 32 h 63"/>
                <a:gd name="T6" fmla="*/ 0 w 40"/>
                <a:gd name="T7" fmla="*/ 0 h 63"/>
                <a:gd name="T8" fmla="*/ 40 w 40"/>
                <a:gd name="T9" fmla="*/ 33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0"/>
                <a:gd name="T16" fmla="*/ 0 h 63"/>
                <a:gd name="T17" fmla="*/ 40 w 40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0" h="63">
                  <a:moveTo>
                    <a:pt x="40" y="33"/>
                  </a:moveTo>
                  <a:lnTo>
                    <a:pt x="40" y="63"/>
                  </a:lnTo>
                  <a:lnTo>
                    <a:pt x="0" y="32"/>
                  </a:lnTo>
                  <a:lnTo>
                    <a:pt x="0" y="0"/>
                  </a:lnTo>
                  <a:lnTo>
                    <a:pt x="40" y="33"/>
                  </a:lnTo>
                  <a:close/>
                </a:path>
              </a:pathLst>
            </a:custGeom>
            <a:solidFill>
              <a:srgbClr val="4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713" name="Freeform 293"/>
            <p:cNvSpPr>
              <a:spLocks/>
            </p:cNvSpPr>
            <p:nvPr/>
          </p:nvSpPr>
          <p:spPr bwMode="auto">
            <a:xfrm>
              <a:off x="2642" y="3244"/>
              <a:ext cx="32" cy="58"/>
            </a:xfrm>
            <a:custGeom>
              <a:avLst/>
              <a:gdLst>
                <a:gd name="T0" fmla="*/ 32 w 32"/>
                <a:gd name="T1" fmla="*/ 26 h 58"/>
                <a:gd name="T2" fmla="*/ 32 w 32"/>
                <a:gd name="T3" fmla="*/ 58 h 58"/>
                <a:gd name="T4" fmla="*/ 0 w 32"/>
                <a:gd name="T5" fmla="*/ 29 h 58"/>
                <a:gd name="T6" fmla="*/ 0 w 32"/>
                <a:gd name="T7" fmla="*/ 0 h 58"/>
                <a:gd name="T8" fmla="*/ 32 w 32"/>
                <a:gd name="T9" fmla="*/ 26 h 5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"/>
                <a:gd name="T16" fmla="*/ 0 h 58"/>
                <a:gd name="T17" fmla="*/ 32 w 32"/>
                <a:gd name="T18" fmla="*/ 58 h 5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" h="58">
                  <a:moveTo>
                    <a:pt x="32" y="26"/>
                  </a:moveTo>
                  <a:lnTo>
                    <a:pt x="32" y="58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2" y="26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714" name="Freeform 294"/>
            <p:cNvSpPr>
              <a:spLocks/>
            </p:cNvSpPr>
            <p:nvPr/>
          </p:nvSpPr>
          <p:spPr bwMode="auto">
            <a:xfrm>
              <a:off x="2606" y="3215"/>
              <a:ext cx="34" cy="56"/>
            </a:xfrm>
            <a:custGeom>
              <a:avLst/>
              <a:gdLst>
                <a:gd name="T0" fmla="*/ 34 w 34"/>
                <a:gd name="T1" fmla="*/ 28 h 56"/>
                <a:gd name="T2" fmla="*/ 34 w 34"/>
                <a:gd name="T3" fmla="*/ 56 h 56"/>
                <a:gd name="T4" fmla="*/ 0 w 34"/>
                <a:gd name="T5" fmla="*/ 29 h 56"/>
                <a:gd name="T6" fmla="*/ 0 w 34"/>
                <a:gd name="T7" fmla="*/ 0 h 56"/>
                <a:gd name="T8" fmla="*/ 34 w 34"/>
                <a:gd name="T9" fmla="*/ 28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56"/>
                <a:gd name="T17" fmla="*/ 34 w 34"/>
                <a:gd name="T18" fmla="*/ 56 h 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56">
                  <a:moveTo>
                    <a:pt x="34" y="28"/>
                  </a:moveTo>
                  <a:lnTo>
                    <a:pt x="34" y="56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4" y="28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715" name="Freeform 295"/>
            <p:cNvSpPr>
              <a:spLocks/>
            </p:cNvSpPr>
            <p:nvPr/>
          </p:nvSpPr>
          <p:spPr bwMode="auto">
            <a:xfrm>
              <a:off x="2575" y="3255"/>
              <a:ext cx="29" cy="51"/>
            </a:xfrm>
            <a:custGeom>
              <a:avLst/>
              <a:gdLst>
                <a:gd name="T0" fmla="*/ 29 w 29"/>
                <a:gd name="T1" fmla="*/ 24 h 51"/>
                <a:gd name="T2" fmla="*/ 29 w 29"/>
                <a:gd name="T3" fmla="*/ 51 h 51"/>
                <a:gd name="T4" fmla="*/ 0 w 29"/>
                <a:gd name="T5" fmla="*/ 25 h 51"/>
                <a:gd name="T6" fmla="*/ 0 w 29"/>
                <a:gd name="T7" fmla="*/ 0 h 51"/>
                <a:gd name="T8" fmla="*/ 29 w 29"/>
                <a:gd name="T9" fmla="*/ 24 h 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"/>
                <a:gd name="T16" fmla="*/ 0 h 51"/>
                <a:gd name="T17" fmla="*/ 29 w 29"/>
                <a:gd name="T18" fmla="*/ 51 h 5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" h="51">
                  <a:moveTo>
                    <a:pt x="29" y="24"/>
                  </a:moveTo>
                  <a:lnTo>
                    <a:pt x="29" y="51"/>
                  </a:lnTo>
                  <a:lnTo>
                    <a:pt x="0" y="25"/>
                  </a:lnTo>
                  <a:lnTo>
                    <a:pt x="0" y="0"/>
                  </a:lnTo>
                  <a:lnTo>
                    <a:pt x="29" y="24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716" name="Freeform 296"/>
            <p:cNvSpPr>
              <a:spLocks/>
            </p:cNvSpPr>
            <p:nvPr/>
          </p:nvSpPr>
          <p:spPr bwMode="auto">
            <a:xfrm>
              <a:off x="2676" y="3344"/>
              <a:ext cx="40" cy="64"/>
            </a:xfrm>
            <a:custGeom>
              <a:avLst/>
              <a:gdLst>
                <a:gd name="T0" fmla="*/ 40 w 40"/>
                <a:gd name="T1" fmla="*/ 35 h 64"/>
                <a:gd name="T2" fmla="*/ 40 w 40"/>
                <a:gd name="T3" fmla="*/ 64 h 64"/>
                <a:gd name="T4" fmla="*/ 0 w 40"/>
                <a:gd name="T5" fmla="*/ 30 h 64"/>
                <a:gd name="T6" fmla="*/ 0 w 40"/>
                <a:gd name="T7" fmla="*/ 0 h 64"/>
                <a:gd name="T8" fmla="*/ 40 w 40"/>
                <a:gd name="T9" fmla="*/ 35 h 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0"/>
                <a:gd name="T16" fmla="*/ 0 h 64"/>
                <a:gd name="T17" fmla="*/ 40 w 40"/>
                <a:gd name="T18" fmla="*/ 64 h 6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0" h="64">
                  <a:moveTo>
                    <a:pt x="40" y="35"/>
                  </a:moveTo>
                  <a:lnTo>
                    <a:pt x="40" y="64"/>
                  </a:lnTo>
                  <a:lnTo>
                    <a:pt x="0" y="30"/>
                  </a:lnTo>
                  <a:lnTo>
                    <a:pt x="0" y="0"/>
                  </a:lnTo>
                  <a:lnTo>
                    <a:pt x="40" y="35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717" name="Freeform 297"/>
            <p:cNvSpPr>
              <a:spLocks/>
            </p:cNvSpPr>
            <p:nvPr/>
          </p:nvSpPr>
          <p:spPr bwMode="auto">
            <a:xfrm>
              <a:off x="2642" y="3313"/>
              <a:ext cx="32" cy="60"/>
            </a:xfrm>
            <a:custGeom>
              <a:avLst/>
              <a:gdLst>
                <a:gd name="T0" fmla="*/ 32 w 32"/>
                <a:gd name="T1" fmla="*/ 29 h 60"/>
                <a:gd name="T2" fmla="*/ 32 w 32"/>
                <a:gd name="T3" fmla="*/ 60 h 60"/>
                <a:gd name="T4" fmla="*/ 0 w 32"/>
                <a:gd name="T5" fmla="*/ 29 h 60"/>
                <a:gd name="T6" fmla="*/ 0 w 32"/>
                <a:gd name="T7" fmla="*/ 0 h 60"/>
                <a:gd name="T8" fmla="*/ 32 w 32"/>
                <a:gd name="T9" fmla="*/ 29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"/>
                <a:gd name="T16" fmla="*/ 0 h 60"/>
                <a:gd name="T17" fmla="*/ 32 w 32"/>
                <a:gd name="T18" fmla="*/ 60 h 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" h="60">
                  <a:moveTo>
                    <a:pt x="32" y="29"/>
                  </a:moveTo>
                  <a:lnTo>
                    <a:pt x="32" y="60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2" y="29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718" name="Freeform 298"/>
            <p:cNvSpPr>
              <a:spLocks/>
            </p:cNvSpPr>
            <p:nvPr/>
          </p:nvSpPr>
          <p:spPr bwMode="auto">
            <a:xfrm>
              <a:off x="2606" y="3280"/>
              <a:ext cx="34" cy="60"/>
            </a:xfrm>
            <a:custGeom>
              <a:avLst/>
              <a:gdLst>
                <a:gd name="T0" fmla="*/ 34 w 34"/>
                <a:gd name="T1" fmla="*/ 32 h 60"/>
                <a:gd name="T2" fmla="*/ 34 w 34"/>
                <a:gd name="T3" fmla="*/ 60 h 60"/>
                <a:gd name="T4" fmla="*/ 0 w 34"/>
                <a:gd name="T5" fmla="*/ 30 h 60"/>
                <a:gd name="T6" fmla="*/ 0 w 34"/>
                <a:gd name="T7" fmla="*/ 0 h 60"/>
                <a:gd name="T8" fmla="*/ 34 w 34"/>
                <a:gd name="T9" fmla="*/ 32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60"/>
                <a:gd name="T17" fmla="*/ 34 w 34"/>
                <a:gd name="T18" fmla="*/ 60 h 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60">
                  <a:moveTo>
                    <a:pt x="34" y="32"/>
                  </a:moveTo>
                  <a:lnTo>
                    <a:pt x="34" y="60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4" y="32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719" name="Freeform 299"/>
            <p:cNvSpPr>
              <a:spLocks/>
            </p:cNvSpPr>
            <p:nvPr/>
          </p:nvSpPr>
          <p:spPr bwMode="auto">
            <a:xfrm>
              <a:off x="2575" y="3318"/>
              <a:ext cx="29" cy="56"/>
            </a:xfrm>
            <a:custGeom>
              <a:avLst/>
              <a:gdLst>
                <a:gd name="T0" fmla="*/ 29 w 29"/>
                <a:gd name="T1" fmla="*/ 29 h 56"/>
                <a:gd name="T2" fmla="*/ 29 w 29"/>
                <a:gd name="T3" fmla="*/ 56 h 56"/>
                <a:gd name="T4" fmla="*/ 0 w 29"/>
                <a:gd name="T5" fmla="*/ 28 h 56"/>
                <a:gd name="T6" fmla="*/ 0 w 29"/>
                <a:gd name="T7" fmla="*/ 0 h 56"/>
                <a:gd name="T8" fmla="*/ 29 w 29"/>
                <a:gd name="T9" fmla="*/ 29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"/>
                <a:gd name="T16" fmla="*/ 0 h 56"/>
                <a:gd name="T17" fmla="*/ 29 w 29"/>
                <a:gd name="T18" fmla="*/ 56 h 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" h="56">
                  <a:moveTo>
                    <a:pt x="29" y="29"/>
                  </a:moveTo>
                  <a:lnTo>
                    <a:pt x="29" y="56"/>
                  </a:lnTo>
                  <a:lnTo>
                    <a:pt x="0" y="28"/>
                  </a:lnTo>
                  <a:lnTo>
                    <a:pt x="0" y="0"/>
                  </a:lnTo>
                  <a:lnTo>
                    <a:pt x="29" y="29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720" name="Freeform 300"/>
            <p:cNvSpPr>
              <a:spLocks/>
            </p:cNvSpPr>
            <p:nvPr/>
          </p:nvSpPr>
          <p:spPr bwMode="auto">
            <a:xfrm>
              <a:off x="2676" y="3415"/>
              <a:ext cx="40" cy="70"/>
            </a:xfrm>
            <a:custGeom>
              <a:avLst/>
              <a:gdLst>
                <a:gd name="T0" fmla="*/ 40 w 40"/>
                <a:gd name="T1" fmla="*/ 38 h 70"/>
                <a:gd name="T2" fmla="*/ 40 w 40"/>
                <a:gd name="T3" fmla="*/ 70 h 70"/>
                <a:gd name="T4" fmla="*/ 0 w 40"/>
                <a:gd name="T5" fmla="*/ 31 h 70"/>
                <a:gd name="T6" fmla="*/ 0 w 40"/>
                <a:gd name="T7" fmla="*/ 0 h 70"/>
                <a:gd name="T8" fmla="*/ 40 w 40"/>
                <a:gd name="T9" fmla="*/ 38 h 7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0"/>
                <a:gd name="T16" fmla="*/ 0 h 70"/>
                <a:gd name="T17" fmla="*/ 40 w 40"/>
                <a:gd name="T18" fmla="*/ 70 h 7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0" h="70">
                  <a:moveTo>
                    <a:pt x="40" y="38"/>
                  </a:moveTo>
                  <a:lnTo>
                    <a:pt x="40" y="70"/>
                  </a:lnTo>
                  <a:lnTo>
                    <a:pt x="0" y="31"/>
                  </a:lnTo>
                  <a:lnTo>
                    <a:pt x="0" y="0"/>
                  </a:lnTo>
                  <a:lnTo>
                    <a:pt x="40" y="3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721" name="Freeform 301"/>
            <p:cNvSpPr>
              <a:spLocks/>
            </p:cNvSpPr>
            <p:nvPr/>
          </p:nvSpPr>
          <p:spPr bwMode="auto">
            <a:xfrm>
              <a:off x="2642" y="3383"/>
              <a:ext cx="32" cy="62"/>
            </a:xfrm>
            <a:custGeom>
              <a:avLst/>
              <a:gdLst>
                <a:gd name="T0" fmla="*/ 32 w 32"/>
                <a:gd name="T1" fmla="*/ 31 h 62"/>
                <a:gd name="T2" fmla="*/ 32 w 32"/>
                <a:gd name="T3" fmla="*/ 62 h 62"/>
                <a:gd name="T4" fmla="*/ 0 w 32"/>
                <a:gd name="T5" fmla="*/ 30 h 62"/>
                <a:gd name="T6" fmla="*/ 0 w 32"/>
                <a:gd name="T7" fmla="*/ 0 h 62"/>
                <a:gd name="T8" fmla="*/ 32 w 32"/>
                <a:gd name="T9" fmla="*/ 31 h 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"/>
                <a:gd name="T16" fmla="*/ 0 h 62"/>
                <a:gd name="T17" fmla="*/ 32 w 32"/>
                <a:gd name="T18" fmla="*/ 62 h 6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" h="62">
                  <a:moveTo>
                    <a:pt x="32" y="31"/>
                  </a:moveTo>
                  <a:lnTo>
                    <a:pt x="32" y="62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2" y="31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722" name="Freeform 302"/>
            <p:cNvSpPr>
              <a:spLocks/>
            </p:cNvSpPr>
            <p:nvPr/>
          </p:nvSpPr>
          <p:spPr bwMode="auto">
            <a:xfrm>
              <a:off x="2606" y="3348"/>
              <a:ext cx="34" cy="62"/>
            </a:xfrm>
            <a:custGeom>
              <a:avLst/>
              <a:gdLst>
                <a:gd name="T0" fmla="*/ 34 w 34"/>
                <a:gd name="T1" fmla="*/ 34 h 62"/>
                <a:gd name="T2" fmla="*/ 34 w 34"/>
                <a:gd name="T3" fmla="*/ 62 h 62"/>
                <a:gd name="T4" fmla="*/ 0 w 34"/>
                <a:gd name="T5" fmla="*/ 28 h 62"/>
                <a:gd name="T6" fmla="*/ 0 w 34"/>
                <a:gd name="T7" fmla="*/ 0 h 62"/>
                <a:gd name="T8" fmla="*/ 34 w 34"/>
                <a:gd name="T9" fmla="*/ 34 h 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62"/>
                <a:gd name="T17" fmla="*/ 34 w 34"/>
                <a:gd name="T18" fmla="*/ 62 h 6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62">
                  <a:moveTo>
                    <a:pt x="34" y="34"/>
                  </a:moveTo>
                  <a:lnTo>
                    <a:pt x="34" y="62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34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723" name="Freeform 303"/>
            <p:cNvSpPr>
              <a:spLocks/>
            </p:cNvSpPr>
            <p:nvPr/>
          </p:nvSpPr>
          <p:spPr bwMode="auto">
            <a:xfrm>
              <a:off x="2677" y="3057"/>
              <a:ext cx="38" cy="54"/>
            </a:xfrm>
            <a:custGeom>
              <a:avLst/>
              <a:gdLst>
                <a:gd name="T0" fmla="*/ 38 w 38"/>
                <a:gd name="T1" fmla="*/ 23 h 54"/>
                <a:gd name="T2" fmla="*/ 38 w 38"/>
                <a:gd name="T3" fmla="*/ 54 h 54"/>
                <a:gd name="T4" fmla="*/ 0 w 38"/>
                <a:gd name="T5" fmla="*/ 31 h 54"/>
                <a:gd name="T6" fmla="*/ 0 w 38"/>
                <a:gd name="T7" fmla="*/ 0 h 54"/>
                <a:gd name="T8" fmla="*/ 38 w 38"/>
                <a:gd name="T9" fmla="*/ 23 h 5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8"/>
                <a:gd name="T16" fmla="*/ 0 h 54"/>
                <a:gd name="T17" fmla="*/ 38 w 38"/>
                <a:gd name="T18" fmla="*/ 54 h 5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8" h="54">
                  <a:moveTo>
                    <a:pt x="38" y="23"/>
                  </a:moveTo>
                  <a:lnTo>
                    <a:pt x="38" y="54"/>
                  </a:lnTo>
                  <a:lnTo>
                    <a:pt x="0" y="31"/>
                  </a:lnTo>
                  <a:lnTo>
                    <a:pt x="0" y="0"/>
                  </a:lnTo>
                  <a:lnTo>
                    <a:pt x="38" y="23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724" name="Freeform 304"/>
            <p:cNvSpPr>
              <a:spLocks/>
            </p:cNvSpPr>
            <p:nvPr/>
          </p:nvSpPr>
          <p:spPr bwMode="auto">
            <a:xfrm>
              <a:off x="2704" y="3110"/>
              <a:ext cx="12" cy="38"/>
            </a:xfrm>
            <a:custGeom>
              <a:avLst/>
              <a:gdLst>
                <a:gd name="T0" fmla="*/ 12 w 12"/>
                <a:gd name="T1" fmla="*/ 8 h 38"/>
                <a:gd name="T2" fmla="*/ 12 w 12"/>
                <a:gd name="T3" fmla="*/ 38 h 38"/>
                <a:gd name="T4" fmla="*/ 0 w 12"/>
                <a:gd name="T5" fmla="*/ 30 h 38"/>
                <a:gd name="T6" fmla="*/ 0 w 12"/>
                <a:gd name="T7" fmla="*/ 0 h 38"/>
                <a:gd name="T8" fmla="*/ 12 w 12"/>
                <a:gd name="T9" fmla="*/ 8 h 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"/>
                <a:gd name="T16" fmla="*/ 0 h 38"/>
                <a:gd name="T17" fmla="*/ 12 w 12"/>
                <a:gd name="T18" fmla="*/ 38 h 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" h="38">
                  <a:moveTo>
                    <a:pt x="12" y="8"/>
                  </a:moveTo>
                  <a:lnTo>
                    <a:pt x="12" y="38"/>
                  </a:lnTo>
                  <a:lnTo>
                    <a:pt x="0" y="30"/>
                  </a:lnTo>
                  <a:lnTo>
                    <a:pt x="0" y="0"/>
                  </a:lnTo>
                  <a:lnTo>
                    <a:pt x="12" y="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725" name="Freeform 305"/>
            <p:cNvSpPr>
              <a:spLocks/>
            </p:cNvSpPr>
            <p:nvPr/>
          </p:nvSpPr>
          <p:spPr bwMode="auto">
            <a:xfrm>
              <a:off x="2677" y="3201"/>
              <a:ext cx="38" cy="58"/>
            </a:xfrm>
            <a:custGeom>
              <a:avLst/>
              <a:gdLst>
                <a:gd name="T0" fmla="*/ 38 w 38"/>
                <a:gd name="T1" fmla="*/ 27 h 58"/>
                <a:gd name="T2" fmla="*/ 38 w 38"/>
                <a:gd name="T3" fmla="*/ 58 h 58"/>
                <a:gd name="T4" fmla="*/ 0 w 38"/>
                <a:gd name="T5" fmla="*/ 30 h 58"/>
                <a:gd name="T6" fmla="*/ 0 w 38"/>
                <a:gd name="T7" fmla="*/ 0 h 58"/>
                <a:gd name="T8" fmla="*/ 38 w 38"/>
                <a:gd name="T9" fmla="*/ 27 h 5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8"/>
                <a:gd name="T16" fmla="*/ 0 h 58"/>
                <a:gd name="T17" fmla="*/ 38 w 38"/>
                <a:gd name="T18" fmla="*/ 58 h 5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8" h="58">
                  <a:moveTo>
                    <a:pt x="38" y="27"/>
                  </a:moveTo>
                  <a:lnTo>
                    <a:pt x="38" y="58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8" y="27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726" name="Rectangle 306"/>
            <p:cNvSpPr>
              <a:spLocks noChangeArrowheads="1"/>
            </p:cNvSpPr>
            <p:nvPr/>
          </p:nvSpPr>
          <p:spPr bwMode="auto">
            <a:xfrm>
              <a:off x="2715" y="3379"/>
              <a:ext cx="18" cy="32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727" name="Freeform 307"/>
            <p:cNvSpPr>
              <a:spLocks/>
            </p:cNvSpPr>
            <p:nvPr/>
          </p:nvSpPr>
          <p:spPr bwMode="auto">
            <a:xfrm>
              <a:off x="2550" y="2912"/>
              <a:ext cx="278" cy="79"/>
            </a:xfrm>
            <a:custGeom>
              <a:avLst/>
              <a:gdLst>
                <a:gd name="T0" fmla="*/ 0 w 278"/>
                <a:gd name="T1" fmla="*/ 0 h 79"/>
                <a:gd name="T2" fmla="*/ 119 w 278"/>
                <a:gd name="T3" fmla="*/ 6 h 79"/>
                <a:gd name="T4" fmla="*/ 278 w 278"/>
                <a:gd name="T5" fmla="*/ 75 h 79"/>
                <a:gd name="T6" fmla="*/ 168 w 278"/>
                <a:gd name="T7" fmla="*/ 79 h 79"/>
                <a:gd name="T8" fmla="*/ 0 w 278"/>
                <a:gd name="T9" fmla="*/ 0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8"/>
                <a:gd name="T16" fmla="*/ 0 h 79"/>
                <a:gd name="T17" fmla="*/ 278 w 278"/>
                <a:gd name="T18" fmla="*/ 79 h 7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8" h="79">
                  <a:moveTo>
                    <a:pt x="0" y="0"/>
                  </a:moveTo>
                  <a:lnTo>
                    <a:pt x="119" y="6"/>
                  </a:lnTo>
                  <a:lnTo>
                    <a:pt x="278" y="75"/>
                  </a:lnTo>
                  <a:lnTo>
                    <a:pt x="168" y="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728" name="Freeform 308"/>
            <p:cNvSpPr>
              <a:spLocks/>
            </p:cNvSpPr>
            <p:nvPr/>
          </p:nvSpPr>
          <p:spPr bwMode="auto">
            <a:xfrm>
              <a:off x="2719" y="2985"/>
              <a:ext cx="108" cy="59"/>
            </a:xfrm>
            <a:custGeom>
              <a:avLst/>
              <a:gdLst>
                <a:gd name="T0" fmla="*/ 1 w 108"/>
                <a:gd name="T1" fmla="*/ 1 h 59"/>
                <a:gd name="T2" fmla="*/ 108 w 108"/>
                <a:gd name="T3" fmla="*/ 0 h 59"/>
                <a:gd name="T4" fmla="*/ 108 w 108"/>
                <a:gd name="T5" fmla="*/ 59 h 59"/>
                <a:gd name="T6" fmla="*/ 0 w 108"/>
                <a:gd name="T7" fmla="*/ 59 h 59"/>
                <a:gd name="T8" fmla="*/ 1 w 108"/>
                <a:gd name="T9" fmla="*/ 1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8"/>
                <a:gd name="T16" fmla="*/ 0 h 59"/>
                <a:gd name="T17" fmla="*/ 108 w 108"/>
                <a:gd name="T18" fmla="*/ 59 h 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8" h="59">
                  <a:moveTo>
                    <a:pt x="1" y="1"/>
                  </a:moveTo>
                  <a:lnTo>
                    <a:pt x="108" y="0"/>
                  </a:lnTo>
                  <a:lnTo>
                    <a:pt x="108" y="59"/>
                  </a:lnTo>
                  <a:lnTo>
                    <a:pt x="0" y="5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729" name="Freeform 309"/>
            <p:cNvSpPr>
              <a:spLocks/>
            </p:cNvSpPr>
            <p:nvPr/>
          </p:nvSpPr>
          <p:spPr bwMode="auto">
            <a:xfrm>
              <a:off x="2551" y="2912"/>
              <a:ext cx="172" cy="131"/>
            </a:xfrm>
            <a:custGeom>
              <a:avLst/>
              <a:gdLst>
                <a:gd name="T0" fmla="*/ 0 w 172"/>
                <a:gd name="T1" fmla="*/ 0 h 131"/>
                <a:gd name="T2" fmla="*/ 0 w 172"/>
                <a:gd name="T3" fmla="*/ 45 h 131"/>
                <a:gd name="T4" fmla="*/ 172 w 172"/>
                <a:gd name="T5" fmla="*/ 131 h 131"/>
                <a:gd name="T6" fmla="*/ 172 w 172"/>
                <a:gd name="T7" fmla="*/ 73 h 131"/>
                <a:gd name="T8" fmla="*/ 0 w 172"/>
                <a:gd name="T9" fmla="*/ 0 h 1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2"/>
                <a:gd name="T16" fmla="*/ 0 h 131"/>
                <a:gd name="T17" fmla="*/ 172 w 172"/>
                <a:gd name="T18" fmla="*/ 131 h 13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2" h="131">
                  <a:moveTo>
                    <a:pt x="0" y="0"/>
                  </a:moveTo>
                  <a:lnTo>
                    <a:pt x="0" y="45"/>
                  </a:lnTo>
                  <a:lnTo>
                    <a:pt x="172" y="131"/>
                  </a:lnTo>
                  <a:lnTo>
                    <a:pt x="172" y="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0A0A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188422" name="Line 310"/>
          <p:cNvSpPr>
            <a:spLocks noChangeShapeType="1"/>
          </p:cNvSpPr>
          <p:nvPr/>
        </p:nvSpPr>
        <p:spPr bwMode="auto">
          <a:xfrm>
            <a:off x="4703763" y="3914775"/>
            <a:ext cx="647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8423" name="Line 320"/>
          <p:cNvSpPr>
            <a:spLocks noChangeShapeType="1"/>
          </p:cNvSpPr>
          <p:nvPr/>
        </p:nvSpPr>
        <p:spPr bwMode="auto">
          <a:xfrm>
            <a:off x="4403725" y="3937000"/>
            <a:ext cx="11113" cy="5572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8424" name="Line 354"/>
          <p:cNvSpPr>
            <a:spLocks noChangeShapeType="1"/>
          </p:cNvSpPr>
          <p:nvPr/>
        </p:nvSpPr>
        <p:spPr bwMode="auto">
          <a:xfrm flipH="1">
            <a:off x="3917950" y="4740275"/>
            <a:ext cx="325438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8425" name="Line 355"/>
          <p:cNvSpPr>
            <a:spLocks noChangeShapeType="1"/>
          </p:cNvSpPr>
          <p:nvPr/>
        </p:nvSpPr>
        <p:spPr bwMode="auto">
          <a:xfrm flipH="1">
            <a:off x="4330700" y="4740275"/>
            <a:ext cx="61913" cy="4460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8426" name="Line 356"/>
          <p:cNvSpPr>
            <a:spLocks noChangeShapeType="1"/>
          </p:cNvSpPr>
          <p:nvPr/>
        </p:nvSpPr>
        <p:spPr bwMode="auto">
          <a:xfrm>
            <a:off x="4700588" y="4679950"/>
            <a:ext cx="136525" cy="171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8427" name="Text Box 357"/>
          <p:cNvSpPr txBox="1">
            <a:spLocks noChangeArrowheads="1"/>
          </p:cNvSpPr>
          <p:nvPr/>
        </p:nvSpPr>
        <p:spPr bwMode="auto">
          <a:xfrm>
            <a:off x="3351213" y="5130800"/>
            <a:ext cx="754062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lnSpc>
                <a:spcPts val="1625"/>
              </a:lnSpc>
            </a:pPr>
            <a:r>
              <a:rPr lang="en-US" sz="1600" dirty="0">
                <a:latin typeface="Arial" charset="0"/>
                <a:cs typeface="Arial" charset="0"/>
              </a:rPr>
              <a:t>Web</a:t>
            </a:r>
          </a:p>
          <a:p>
            <a:pPr>
              <a:lnSpc>
                <a:spcPts val="1625"/>
              </a:lnSpc>
            </a:pPr>
            <a:r>
              <a:rPr lang="en-US" sz="1600" dirty="0">
                <a:latin typeface="Arial" charset="0"/>
                <a:cs typeface="Arial" charset="0"/>
              </a:rPr>
              <a:t>server</a:t>
            </a:r>
          </a:p>
        </p:txBody>
      </p:sp>
      <p:sp>
        <p:nvSpPr>
          <p:cNvPr id="188428" name="Text Box 358"/>
          <p:cNvSpPr txBox="1">
            <a:spLocks noChangeArrowheads="1"/>
          </p:cNvSpPr>
          <p:nvPr/>
        </p:nvSpPr>
        <p:spPr bwMode="auto">
          <a:xfrm>
            <a:off x="3967163" y="5427663"/>
            <a:ext cx="755650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lnSpc>
                <a:spcPts val="1625"/>
              </a:lnSpc>
            </a:pPr>
            <a:r>
              <a:rPr lang="en-US" sz="1600" dirty="0">
                <a:latin typeface="Arial" charset="0"/>
                <a:cs typeface="Arial" charset="0"/>
              </a:rPr>
              <a:t>FTP</a:t>
            </a:r>
          </a:p>
          <a:p>
            <a:pPr>
              <a:lnSpc>
                <a:spcPts val="1625"/>
              </a:lnSpc>
            </a:pPr>
            <a:r>
              <a:rPr lang="en-US" sz="1600" dirty="0">
                <a:latin typeface="Arial" charset="0"/>
                <a:cs typeface="Arial" charset="0"/>
              </a:rPr>
              <a:t>server</a:t>
            </a:r>
          </a:p>
        </p:txBody>
      </p:sp>
      <p:sp>
        <p:nvSpPr>
          <p:cNvPr id="188429" name="Text Box 359"/>
          <p:cNvSpPr txBox="1">
            <a:spLocks noChangeArrowheads="1"/>
          </p:cNvSpPr>
          <p:nvPr/>
        </p:nvSpPr>
        <p:spPr bwMode="auto">
          <a:xfrm>
            <a:off x="4605338" y="5213350"/>
            <a:ext cx="755650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lnSpc>
                <a:spcPts val="1625"/>
              </a:lnSpc>
            </a:pPr>
            <a:r>
              <a:rPr lang="en-US" sz="1600" dirty="0">
                <a:latin typeface="Arial" charset="0"/>
                <a:cs typeface="Arial" charset="0"/>
              </a:rPr>
              <a:t>DNS</a:t>
            </a:r>
          </a:p>
          <a:p>
            <a:pPr>
              <a:lnSpc>
                <a:spcPts val="1625"/>
              </a:lnSpc>
            </a:pPr>
            <a:r>
              <a:rPr lang="en-US" sz="1600" dirty="0">
                <a:latin typeface="Arial" charset="0"/>
                <a:cs typeface="Arial" charset="0"/>
              </a:rPr>
              <a:t>server</a:t>
            </a:r>
          </a:p>
        </p:txBody>
      </p:sp>
      <p:grpSp>
        <p:nvGrpSpPr>
          <p:cNvPr id="188430" name="Group 361"/>
          <p:cNvGrpSpPr>
            <a:grpSpLocks/>
          </p:cNvGrpSpPr>
          <p:nvPr/>
        </p:nvGrpSpPr>
        <p:grpSpPr bwMode="auto">
          <a:xfrm>
            <a:off x="4102100" y="3779838"/>
            <a:ext cx="569913" cy="285750"/>
            <a:chOff x="533" y="321"/>
            <a:chExt cx="359" cy="180"/>
          </a:xfrm>
        </p:grpSpPr>
        <p:grpSp>
          <p:nvGrpSpPr>
            <p:cNvPr id="188605" name="Group 362"/>
            <p:cNvGrpSpPr>
              <a:grpSpLocks/>
            </p:cNvGrpSpPr>
            <p:nvPr/>
          </p:nvGrpSpPr>
          <p:grpSpPr bwMode="auto">
            <a:xfrm>
              <a:off x="533" y="321"/>
              <a:ext cx="359" cy="180"/>
              <a:chOff x="1009" y="655"/>
              <a:chExt cx="359" cy="180"/>
            </a:xfrm>
          </p:grpSpPr>
          <p:sp>
            <p:nvSpPr>
              <p:cNvPr id="188607" name="Oval 363"/>
              <p:cNvSpPr>
                <a:spLocks noChangeArrowheads="1"/>
              </p:cNvSpPr>
              <p:nvPr/>
            </p:nvSpPr>
            <p:spPr bwMode="auto">
              <a:xfrm>
                <a:off x="1012" y="735"/>
                <a:ext cx="356" cy="100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88608" name="Line 364"/>
              <p:cNvSpPr>
                <a:spLocks noChangeShapeType="1"/>
              </p:cNvSpPr>
              <p:nvPr/>
            </p:nvSpPr>
            <p:spPr bwMode="auto">
              <a:xfrm>
                <a:off x="1012" y="727"/>
                <a:ext cx="0" cy="6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88609" name="Line 365"/>
              <p:cNvSpPr>
                <a:spLocks noChangeShapeType="1"/>
              </p:cNvSpPr>
              <p:nvPr/>
            </p:nvSpPr>
            <p:spPr bwMode="auto">
              <a:xfrm>
                <a:off x="1368" y="727"/>
                <a:ext cx="0" cy="6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88610" name="Rectangle 366"/>
              <p:cNvSpPr>
                <a:spLocks noChangeArrowheads="1"/>
              </p:cNvSpPr>
              <p:nvPr/>
            </p:nvSpPr>
            <p:spPr bwMode="auto">
              <a:xfrm>
                <a:off x="1012" y="727"/>
                <a:ext cx="353" cy="61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88611" name="Oval 367"/>
              <p:cNvSpPr>
                <a:spLocks noChangeArrowheads="1"/>
              </p:cNvSpPr>
              <p:nvPr/>
            </p:nvSpPr>
            <p:spPr bwMode="auto">
              <a:xfrm>
                <a:off x="1009" y="655"/>
                <a:ext cx="356" cy="116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  <p:grpSp>
            <p:nvGrpSpPr>
              <p:cNvPr id="188612" name="Group 368"/>
              <p:cNvGrpSpPr>
                <a:grpSpLocks/>
              </p:cNvGrpSpPr>
              <p:nvPr/>
            </p:nvGrpSpPr>
            <p:grpSpPr bwMode="auto">
              <a:xfrm>
                <a:off x="1095" y="681"/>
                <a:ext cx="176" cy="68"/>
                <a:chOff x="2848" y="848"/>
                <a:chExt cx="140" cy="98"/>
              </a:xfrm>
            </p:grpSpPr>
            <p:sp>
              <p:nvSpPr>
                <p:cNvPr id="188617" name="Line 369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88618" name="Line 370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88619" name="Line 371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grpSp>
            <p:nvGrpSpPr>
              <p:cNvPr id="188613" name="Group 372"/>
              <p:cNvGrpSpPr>
                <a:grpSpLocks/>
              </p:cNvGrpSpPr>
              <p:nvPr/>
            </p:nvGrpSpPr>
            <p:grpSpPr bwMode="auto">
              <a:xfrm flipV="1">
                <a:off x="1095" y="680"/>
                <a:ext cx="176" cy="68"/>
                <a:chOff x="2848" y="848"/>
                <a:chExt cx="140" cy="98"/>
              </a:xfrm>
            </p:grpSpPr>
            <p:sp>
              <p:nvSpPr>
                <p:cNvPr id="188614" name="Line 373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88615" name="Line 374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88616" name="Line 375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</p:grpSp>
        <p:sp>
          <p:nvSpPr>
            <p:cNvPr id="188606" name="Line 376"/>
            <p:cNvSpPr>
              <a:spLocks noChangeShapeType="1"/>
            </p:cNvSpPr>
            <p:nvPr/>
          </p:nvSpPr>
          <p:spPr bwMode="auto">
            <a:xfrm>
              <a:off x="535" y="368"/>
              <a:ext cx="0" cy="6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188431" name="Line 377"/>
          <p:cNvSpPr>
            <a:spLocks noChangeShapeType="1"/>
          </p:cNvSpPr>
          <p:nvPr/>
        </p:nvSpPr>
        <p:spPr bwMode="auto">
          <a:xfrm>
            <a:off x="5380038" y="3925888"/>
            <a:ext cx="2476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8432" name="Text Box 378"/>
          <p:cNvSpPr txBox="1">
            <a:spLocks noChangeArrowheads="1"/>
          </p:cNvSpPr>
          <p:nvPr/>
        </p:nvSpPr>
        <p:spPr bwMode="auto">
          <a:xfrm>
            <a:off x="6316663" y="3716338"/>
            <a:ext cx="1054100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dirty="0">
                <a:latin typeface="Arial" charset="0"/>
                <a:cs typeface="Arial" charset="0"/>
              </a:rPr>
              <a:t>Internet</a:t>
            </a:r>
          </a:p>
        </p:txBody>
      </p:sp>
      <p:sp>
        <p:nvSpPr>
          <p:cNvPr id="188433" name="Text Box 379"/>
          <p:cNvSpPr txBox="1">
            <a:spLocks noChangeArrowheads="1"/>
          </p:cNvSpPr>
          <p:nvPr/>
        </p:nvSpPr>
        <p:spPr bwMode="auto">
          <a:xfrm>
            <a:off x="5377278" y="5556920"/>
            <a:ext cx="16256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dirty="0">
                <a:latin typeface="Arial" charset="0"/>
                <a:cs typeface="Arial" charset="0"/>
              </a:rPr>
              <a:t>demilitarized </a:t>
            </a:r>
          </a:p>
          <a:p>
            <a:r>
              <a:rPr lang="en-US" dirty="0">
                <a:latin typeface="Arial" charset="0"/>
                <a:cs typeface="Arial" charset="0"/>
              </a:rPr>
              <a:t>zone</a:t>
            </a:r>
          </a:p>
        </p:txBody>
      </p:sp>
      <p:sp>
        <p:nvSpPr>
          <p:cNvPr id="188434" name="Text Box 381"/>
          <p:cNvSpPr txBox="1">
            <a:spLocks noChangeArrowheads="1"/>
          </p:cNvSpPr>
          <p:nvPr/>
        </p:nvSpPr>
        <p:spPr bwMode="auto">
          <a:xfrm>
            <a:off x="4017963" y="2767013"/>
            <a:ext cx="823912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1600" dirty="0">
                <a:latin typeface="Arial" charset="0"/>
                <a:cs typeface="Arial" charset="0"/>
              </a:rPr>
              <a:t>firewall</a:t>
            </a:r>
          </a:p>
        </p:txBody>
      </p:sp>
      <p:sp>
        <p:nvSpPr>
          <p:cNvPr id="188435" name="Oval 384"/>
          <p:cNvSpPr>
            <a:spLocks noChangeArrowheads="1"/>
          </p:cNvSpPr>
          <p:nvPr/>
        </p:nvSpPr>
        <p:spPr bwMode="auto">
          <a:xfrm>
            <a:off x="4337050" y="4229100"/>
            <a:ext cx="134938" cy="134938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88436" name="Text Box 385"/>
          <p:cNvSpPr txBox="1">
            <a:spLocks noChangeArrowheads="1"/>
          </p:cNvSpPr>
          <p:nvPr/>
        </p:nvSpPr>
        <p:spPr bwMode="auto">
          <a:xfrm>
            <a:off x="1498600" y="4997450"/>
            <a:ext cx="1262063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2400" dirty="0">
                <a:solidFill>
                  <a:srgbClr val="CC0000"/>
                </a:solidFill>
                <a:latin typeface="Arial" charset="0"/>
                <a:cs typeface="Arial" charset="0"/>
              </a:rPr>
              <a:t>IDS </a:t>
            </a:r>
          </a:p>
          <a:p>
            <a:pPr algn="ctr"/>
            <a:r>
              <a:rPr lang="en-US" sz="2400" dirty="0">
                <a:solidFill>
                  <a:srgbClr val="CC0000"/>
                </a:solidFill>
                <a:latin typeface="Arial" charset="0"/>
                <a:cs typeface="Arial" charset="0"/>
              </a:rPr>
              <a:t>sensors</a:t>
            </a:r>
          </a:p>
        </p:txBody>
      </p:sp>
      <p:sp>
        <p:nvSpPr>
          <p:cNvPr id="188437" name="Line 389"/>
          <p:cNvSpPr>
            <a:spLocks noChangeShapeType="1"/>
          </p:cNvSpPr>
          <p:nvPr/>
        </p:nvSpPr>
        <p:spPr bwMode="auto">
          <a:xfrm flipV="1">
            <a:off x="2166938" y="4354513"/>
            <a:ext cx="2152650" cy="695325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8438" name="Rectangle 391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dirty="0">
                <a:latin typeface="Gill Sans MT" charset="0"/>
              </a:rPr>
              <a:t>Intrusion detection systems</a:t>
            </a:r>
          </a:p>
        </p:txBody>
      </p:sp>
      <p:sp>
        <p:nvSpPr>
          <p:cNvPr id="188439" name="Rectangle 392"/>
          <p:cNvSpPr>
            <a:spLocks noGrp="1" noChangeArrowheads="1"/>
          </p:cNvSpPr>
          <p:nvPr>
            <p:ph type="body" idx="1"/>
          </p:nvPr>
        </p:nvSpPr>
        <p:spPr>
          <a:xfrm>
            <a:off x="596913" y="1513669"/>
            <a:ext cx="7772400" cy="1130300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Gill Sans MT" charset="0"/>
              </a:rPr>
              <a:t>multiple IDSs: different types of checking at different locations</a:t>
            </a:r>
          </a:p>
        </p:txBody>
      </p:sp>
      <p:sp>
        <p:nvSpPr>
          <p:cNvPr id="188440" name="Freeform 17"/>
          <p:cNvSpPr>
            <a:spLocks/>
          </p:cNvSpPr>
          <p:nvPr/>
        </p:nvSpPr>
        <p:spPr bwMode="auto">
          <a:xfrm>
            <a:off x="219075" y="2854325"/>
            <a:ext cx="3649663" cy="1808163"/>
          </a:xfrm>
          <a:custGeom>
            <a:avLst/>
            <a:gdLst/>
            <a:ahLst/>
            <a:cxnLst/>
            <a:rect l="0" t="0" r="r" b="b"/>
            <a:pathLst>
              <a:path w="10000" h="10000">
                <a:moveTo>
                  <a:pt x="323" y="164"/>
                </a:moveTo>
                <a:lnTo>
                  <a:pt x="341" y="143"/>
                </a:lnTo>
                <a:cubicBezTo>
                  <a:pt x="349" y="129"/>
                  <a:pt x="357" y="116"/>
                  <a:pt x="365" y="102"/>
                </a:cubicBezTo>
                <a:lnTo>
                  <a:pt x="413" y="72"/>
                </a:lnTo>
                <a:cubicBezTo>
                  <a:pt x="429" y="58"/>
                  <a:pt x="445" y="45"/>
                  <a:pt x="461" y="31"/>
                </a:cubicBezTo>
                <a:lnTo>
                  <a:pt x="514" y="10"/>
                </a:lnTo>
                <a:cubicBezTo>
                  <a:pt x="534" y="7"/>
                  <a:pt x="554" y="3"/>
                  <a:pt x="574" y="0"/>
                </a:cubicBezTo>
                <a:lnTo>
                  <a:pt x="628" y="0"/>
                </a:lnTo>
                <a:lnTo>
                  <a:pt x="694" y="0"/>
                </a:lnTo>
                <a:cubicBezTo>
                  <a:pt x="716" y="3"/>
                  <a:pt x="738" y="7"/>
                  <a:pt x="760" y="10"/>
                </a:cubicBezTo>
                <a:lnTo>
                  <a:pt x="825" y="31"/>
                </a:lnTo>
                <a:lnTo>
                  <a:pt x="891" y="61"/>
                </a:lnTo>
                <a:cubicBezTo>
                  <a:pt x="915" y="71"/>
                  <a:pt x="939" y="82"/>
                  <a:pt x="963" y="92"/>
                </a:cubicBezTo>
                <a:cubicBezTo>
                  <a:pt x="989" y="106"/>
                  <a:pt x="1015" y="119"/>
                  <a:pt x="1041" y="133"/>
                </a:cubicBezTo>
                <a:lnTo>
                  <a:pt x="1118" y="174"/>
                </a:lnTo>
                <a:lnTo>
                  <a:pt x="1196" y="225"/>
                </a:lnTo>
                <a:lnTo>
                  <a:pt x="1268" y="276"/>
                </a:lnTo>
                <a:cubicBezTo>
                  <a:pt x="1294" y="290"/>
                  <a:pt x="1320" y="303"/>
                  <a:pt x="1346" y="317"/>
                </a:cubicBezTo>
                <a:lnTo>
                  <a:pt x="1513" y="440"/>
                </a:lnTo>
                <a:lnTo>
                  <a:pt x="1681" y="553"/>
                </a:lnTo>
                <a:lnTo>
                  <a:pt x="1848" y="665"/>
                </a:lnTo>
                <a:lnTo>
                  <a:pt x="2022" y="778"/>
                </a:lnTo>
                <a:cubicBezTo>
                  <a:pt x="2050" y="798"/>
                  <a:pt x="2077" y="819"/>
                  <a:pt x="2105" y="839"/>
                </a:cubicBezTo>
                <a:cubicBezTo>
                  <a:pt x="2133" y="853"/>
                  <a:pt x="2161" y="866"/>
                  <a:pt x="2189" y="880"/>
                </a:cubicBezTo>
                <a:cubicBezTo>
                  <a:pt x="2217" y="894"/>
                  <a:pt x="2245" y="907"/>
                  <a:pt x="2273" y="921"/>
                </a:cubicBezTo>
                <a:lnTo>
                  <a:pt x="2356" y="972"/>
                </a:lnTo>
                <a:lnTo>
                  <a:pt x="2440" y="993"/>
                </a:lnTo>
                <a:cubicBezTo>
                  <a:pt x="2468" y="1003"/>
                  <a:pt x="2496" y="1014"/>
                  <a:pt x="2524" y="1024"/>
                </a:cubicBezTo>
                <a:lnTo>
                  <a:pt x="2608" y="1054"/>
                </a:lnTo>
                <a:cubicBezTo>
                  <a:pt x="2638" y="1057"/>
                  <a:pt x="2667" y="1061"/>
                  <a:pt x="2697" y="1064"/>
                </a:cubicBezTo>
                <a:cubicBezTo>
                  <a:pt x="2725" y="1068"/>
                  <a:pt x="2753" y="1071"/>
                  <a:pt x="2781" y="1075"/>
                </a:cubicBezTo>
                <a:lnTo>
                  <a:pt x="2853" y="1075"/>
                </a:lnTo>
                <a:cubicBezTo>
                  <a:pt x="2881" y="1262"/>
                  <a:pt x="2909" y="1143"/>
                  <a:pt x="2937" y="1330"/>
                </a:cubicBezTo>
                <a:cubicBezTo>
                  <a:pt x="2963" y="1118"/>
                  <a:pt x="2988" y="1287"/>
                  <a:pt x="3014" y="1075"/>
                </a:cubicBezTo>
                <a:cubicBezTo>
                  <a:pt x="3042" y="1071"/>
                  <a:pt x="3070" y="1068"/>
                  <a:pt x="3098" y="1064"/>
                </a:cubicBezTo>
                <a:lnTo>
                  <a:pt x="3182" y="1064"/>
                </a:lnTo>
                <a:lnTo>
                  <a:pt x="3343" y="1024"/>
                </a:lnTo>
                <a:lnTo>
                  <a:pt x="3505" y="1003"/>
                </a:lnTo>
                <a:lnTo>
                  <a:pt x="3672" y="972"/>
                </a:lnTo>
                <a:lnTo>
                  <a:pt x="3834" y="921"/>
                </a:lnTo>
                <a:lnTo>
                  <a:pt x="4007" y="880"/>
                </a:lnTo>
                <a:lnTo>
                  <a:pt x="4175" y="850"/>
                </a:lnTo>
                <a:lnTo>
                  <a:pt x="4348" y="809"/>
                </a:lnTo>
                <a:lnTo>
                  <a:pt x="4528" y="788"/>
                </a:lnTo>
                <a:cubicBezTo>
                  <a:pt x="4562" y="785"/>
                  <a:pt x="4595" y="781"/>
                  <a:pt x="4629" y="778"/>
                </a:cubicBezTo>
                <a:cubicBezTo>
                  <a:pt x="4659" y="775"/>
                  <a:pt x="4689" y="771"/>
                  <a:pt x="4719" y="768"/>
                </a:cubicBezTo>
                <a:lnTo>
                  <a:pt x="4809" y="768"/>
                </a:lnTo>
                <a:lnTo>
                  <a:pt x="4904" y="768"/>
                </a:lnTo>
                <a:lnTo>
                  <a:pt x="5006" y="778"/>
                </a:lnTo>
                <a:lnTo>
                  <a:pt x="5102" y="778"/>
                </a:lnTo>
                <a:cubicBezTo>
                  <a:pt x="5138" y="781"/>
                  <a:pt x="5173" y="785"/>
                  <a:pt x="5209" y="788"/>
                </a:cubicBezTo>
                <a:lnTo>
                  <a:pt x="5311" y="809"/>
                </a:lnTo>
                <a:lnTo>
                  <a:pt x="5419" y="839"/>
                </a:lnTo>
                <a:lnTo>
                  <a:pt x="5520" y="860"/>
                </a:lnTo>
                <a:lnTo>
                  <a:pt x="5634" y="901"/>
                </a:lnTo>
                <a:lnTo>
                  <a:pt x="5748" y="931"/>
                </a:lnTo>
                <a:lnTo>
                  <a:pt x="5861" y="972"/>
                </a:lnTo>
                <a:lnTo>
                  <a:pt x="5999" y="1003"/>
                </a:lnTo>
                <a:lnTo>
                  <a:pt x="6124" y="1044"/>
                </a:lnTo>
                <a:lnTo>
                  <a:pt x="6256" y="1085"/>
                </a:lnTo>
                <a:lnTo>
                  <a:pt x="6394" y="1126"/>
                </a:lnTo>
                <a:lnTo>
                  <a:pt x="6531" y="1167"/>
                </a:lnTo>
                <a:lnTo>
                  <a:pt x="6681" y="1218"/>
                </a:lnTo>
                <a:lnTo>
                  <a:pt x="6824" y="1269"/>
                </a:lnTo>
                <a:lnTo>
                  <a:pt x="7117" y="1372"/>
                </a:lnTo>
                <a:lnTo>
                  <a:pt x="7410" y="1494"/>
                </a:lnTo>
                <a:lnTo>
                  <a:pt x="7703" y="1627"/>
                </a:lnTo>
                <a:lnTo>
                  <a:pt x="7853" y="1699"/>
                </a:lnTo>
                <a:lnTo>
                  <a:pt x="7996" y="1771"/>
                </a:lnTo>
                <a:lnTo>
                  <a:pt x="8140" y="1842"/>
                </a:lnTo>
                <a:lnTo>
                  <a:pt x="8278" y="1914"/>
                </a:lnTo>
                <a:cubicBezTo>
                  <a:pt x="8322" y="1941"/>
                  <a:pt x="8365" y="1969"/>
                  <a:pt x="8409" y="1996"/>
                </a:cubicBezTo>
                <a:lnTo>
                  <a:pt x="8547" y="2078"/>
                </a:lnTo>
                <a:cubicBezTo>
                  <a:pt x="8589" y="2105"/>
                  <a:pt x="8630" y="2133"/>
                  <a:pt x="8672" y="2160"/>
                </a:cubicBezTo>
                <a:lnTo>
                  <a:pt x="8798" y="2252"/>
                </a:lnTo>
                <a:lnTo>
                  <a:pt x="8911" y="2344"/>
                </a:lnTo>
                <a:lnTo>
                  <a:pt x="9025" y="2436"/>
                </a:lnTo>
                <a:lnTo>
                  <a:pt x="9133" y="2538"/>
                </a:lnTo>
                <a:cubicBezTo>
                  <a:pt x="9149" y="2552"/>
                  <a:pt x="9165" y="2565"/>
                  <a:pt x="9181" y="2579"/>
                </a:cubicBezTo>
                <a:lnTo>
                  <a:pt x="9228" y="2641"/>
                </a:lnTo>
                <a:lnTo>
                  <a:pt x="9276" y="2692"/>
                </a:lnTo>
                <a:cubicBezTo>
                  <a:pt x="9290" y="2706"/>
                  <a:pt x="9304" y="2719"/>
                  <a:pt x="9318" y="2733"/>
                </a:cubicBezTo>
                <a:cubicBezTo>
                  <a:pt x="9332" y="2753"/>
                  <a:pt x="9346" y="2774"/>
                  <a:pt x="9360" y="2794"/>
                </a:cubicBezTo>
                <a:cubicBezTo>
                  <a:pt x="9374" y="2815"/>
                  <a:pt x="9388" y="2835"/>
                  <a:pt x="9402" y="2856"/>
                </a:cubicBezTo>
                <a:lnTo>
                  <a:pt x="9444" y="2907"/>
                </a:lnTo>
                <a:cubicBezTo>
                  <a:pt x="9456" y="2927"/>
                  <a:pt x="9468" y="2948"/>
                  <a:pt x="9480" y="2968"/>
                </a:cubicBezTo>
                <a:cubicBezTo>
                  <a:pt x="9492" y="2989"/>
                  <a:pt x="9504" y="3009"/>
                  <a:pt x="9516" y="3030"/>
                </a:cubicBezTo>
                <a:cubicBezTo>
                  <a:pt x="9528" y="3047"/>
                  <a:pt x="9539" y="3064"/>
                  <a:pt x="9551" y="3081"/>
                </a:cubicBezTo>
                <a:lnTo>
                  <a:pt x="9611" y="3204"/>
                </a:lnTo>
                <a:cubicBezTo>
                  <a:pt x="9629" y="3248"/>
                  <a:pt x="9647" y="3293"/>
                  <a:pt x="9665" y="3337"/>
                </a:cubicBezTo>
                <a:cubicBezTo>
                  <a:pt x="9683" y="3385"/>
                  <a:pt x="9701" y="3432"/>
                  <a:pt x="9719" y="3480"/>
                </a:cubicBezTo>
                <a:cubicBezTo>
                  <a:pt x="9735" y="3531"/>
                  <a:pt x="9751" y="3583"/>
                  <a:pt x="9767" y="3634"/>
                </a:cubicBezTo>
                <a:lnTo>
                  <a:pt x="9809" y="3787"/>
                </a:lnTo>
                <a:cubicBezTo>
                  <a:pt x="9823" y="3838"/>
                  <a:pt x="9836" y="3890"/>
                  <a:pt x="9850" y="3941"/>
                </a:cubicBezTo>
                <a:cubicBezTo>
                  <a:pt x="9858" y="4002"/>
                  <a:pt x="9866" y="4064"/>
                  <a:pt x="9874" y="4125"/>
                </a:cubicBezTo>
                <a:cubicBezTo>
                  <a:pt x="9884" y="4180"/>
                  <a:pt x="9894" y="4234"/>
                  <a:pt x="9904" y="4289"/>
                </a:cubicBezTo>
                <a:cubicBezTo>
                  <a:pt x="9914" y="4354"/>
                  <a:pt x="9924" y="4418"/>
                  <a:pt x="9934" y="4483"/>
                </a:cubicBezTo>
                <a:cubicBezTo>
                  <a:pt x="9940" y="4544"/>
                  <a:pt x="9946" y="4606"/>
                  <a:pt x="9952" y="4667"/>
                </a:cubicBezTo>
                <a:cubicBezTo>
                  <a:pt x="9958" y="4729"/>
                  <a:pt x="9964" y="4790"/>
                  <a:pt x="9970" y="4852"/>
                </a:cubicBezTo>
                <a:cubicBezTo>
                  <a:pt x="9974" y="4917"/>
                  <a:pt x="9978" y="4981"/>
                  <a:pt x="9982" y="5046"/>
                </a:cubicBezTo>
                <a:lnTo>
                  <a:pt x="9994" y="5241"/>
                </a:lnTo>
                <a:lnTo>
                  <a:pt x="9994" y="5425"/>
                </a:lnTo>
                <a:lnTo>
                  <a:pt x="10000" y="5629"/>
                </a:lnTo>
                <a:lnTo>
                  <a:pt x="9994" y="5824"/>
                </a:lnTo>
                <a:lnTo>
                  <a:pt x="9994" y="6018"/>
                </a:lnTo>
                <a:lnTo>
                  <a:pt x="9988" y="6213"/>
                </a:lnTo>
                <a:cubicBezTo>
                  <a:pt x="9984" y="6278"/>
                  <a:pt x="9980" y="6342"/>
                  <a:pt x="9976" y="6407"/>
                </a:cubicBezTo>
                <a:lnTo>
                  <a:pt x="9958" y="6602"/>
                </a:lnTo>
                <a:lnTo>
                  <a:pt x="9946" y="6776"/>
                </a:lnTo>
                <a:cubicBezTo>
                  <a:pt x="9940" y="6837"/>
                  <a:pt x="9934" y="6899"/>
                  <a:pt x="9928" y="6960"/>
                </a:cubicBezTo>
                <a:lnTo>
                  <a:pt x="9904" y="7134"/>
                </a:lnTo>
                <a:cubicBezTo>
                  <a:pt x="9894" y="7195"/>
                  <a:pt x="9884" y="7257"/>
                  <a:pt x="9874" y="7318"/>
                </a:cubicBezTo>
                <a:cubicBezTo>
                  <a:pt x="9868" y="7373"/>
                  <a:pt x="9862" y="7427"/>
                  <a:pt x="9856" y="7482"/>
                </a:cubicBezTo>
                <a:cubicBezTo>
                  <a:pt x="9846" y="7537"/>
                  <a:pt x="9837" y="7591"/>
                  <a:pt x="9827" y="7646"/>
                </a:cubicBezTo>
                <a:lnTo>
                  <a:pt x="9791" y="7799"/>
                </a:lnTo>
                <a:lnTo>
                  <a:pt x="9761" y="7943"/>
                </a:lnTo>
                <a:cubicBezTo>
                  <a:pt x="9749" y="7991"/>
                  <a:pt x="9737" y="8038"/>
                  <a:pt x="9725" y="8086"/>
                </a:cubicBezTo>
                <a:cubicBezTo>
                  <a:pt x="9713" y="8130"/>
                  <a:pt x="9701" y="8175"/>
                  <a:pt x="9689" y="8219"/>
                </a:cubicBezTo>
                <a:cubicBezTo>
                  <a:pt x="9677" y="8257"/>
                  <a:pt x="9665" y="8294"/>
                  <a:pt x="9653" y="8332"/>
                </a:cubicBezTo>
                <a:cubicBezTo>
                  <a:pt x="9639" y="8369"/>
                  <a:pt x="9625" y="8407"/>
                  <a:pt x="9611" y="8444"/>
                </a:cubicBezTo>
                <a:cubicBezTo>
                  <a:pt x="9597" y="8475"/>
                  <a:pt x="9583" y="8505"/>
                  <a:pt x="9569" y="8536"/>
                </a:cubicBezTo>
                <a:cubicBezTo>
                  <a:pt x="9553" y="8567"/>
                  <a:pt x="9538" y="8597"/>
                  <a:pt x="9522" y="8628"/>
                </a:cubicBezTo>
                <a:lnTo>
                  <a:pt x="9474" y="8721"/>
                </a:lnTo>
                <a:cubicBezTo>
                  <a:pt x="9454" y="8745"/>
                  <a:pt x="9434" y="8768"/>
                  <a:pt x="9414" y="8792"/>
                </a:cubicBezTo>
                <a:cubicBezTo>
                  <a:pt x="9394" y="8819"/>
                  <a:pt x="9374" y="8847"/>
                  <a:pt x="9354" y="8874"/>
                </a:cubicBezTo>
                <a:cubicBezTo>
                  <a:pt x="9332" y="8895"/>
                  <a:pt x="9310" y="8915"/>
                  <a:pt x="9288" y="8936"/>
                </a:cubicBezTo>
                <a:cubicBezTo>
                  <a:pt x="9268" y="8956"/>
                  <a:pt x="9248" y="8977"/>
                  <a:pt x="9228" y="8997"/>
                </a:cubicBezTo>
                <a:lnTo>
                  <a:pt x="9157" y="9048"/>
                </a:lnTo>
                <a:cubicBezTo>
                  <a:pt x="9131" y="9069"/>
                  <a:pt x="9105" y="9089"/>
                  <a:pt x="9079" y="9110"/>
                </a:cubicBezTo>
                <a:lnTo>
                  <a:pt x="9007" y="9161"/>
                </a:lnTo>
                <a:lnTo>
                  <a:pt x="8929" y="9191"/>
                </a:lnTo>
                <a:lnTo>
                  <a:pt x="8846" y="9232"/>
                </a:lnTo>
                <a:cubicBezTo>
                  <a:pt x="8818" y="9242"/>
                  <a:pt x="8790" y="9253"/>
                  <a:pt x="8762" y="9263"/>
                </a:cubicBezTo>
                <a:cubicBezTo>
                  <a:pt x="8734" y="9277"/>
                  <a:pt x="8706" y="9290"/>
                  <a:pt x="8678" y="9304"/>
                </a:cubicBezTo>
                <a:cubicBezTo>
                  <a:pt x="8648" y="9314"/>
                  <a:pt x="8619" y="9325"/>
                  <a:pt x="8589" y="9335"/>
                </a:cubicBezTo>
                <a:lnTo>
                  <a:pt x="8493" y="9365"/>
                </a:lnTo>
                <a:lnTo>
                  <a:pt x="8313" y="9406"/>
                </a:lnTo>
                <a:lnTo>
                  <a:pt x="8122" y="9447"/>
                </a:lnTo>
                <a:lnTo>
                  <a:pt x="7931" y="9478"/>
                </a:lnTo>
                <a:lnTo>
                  <a:pt x="7733" y="9519"/>
                </a:lnTo>
                <a:lnTo>
                  <a:pt x="7530" y="9539"/>
                </a:lnTo>
                <a:lnTo>
                  <a:pt x="7339" y="9580"/>
                </a:lnTo>
                <a:lnTo>
                  <a:pt x="7141" y="9611"/>
                </a:lnTo>
                <a:lnTo>
                  <a:pt x="6950" y="9662"/>
                </a:lnTo>
                <a:lnTo>
                  <a:pt x="6854" y="9683"/>
                </a:lnTo>
                <a:lnTo>
                  <a:pt x="6758" y="9713"/>
                </a:lnTo>
                <a:lnTo>
                  <a:pt x="6651" y="9724"/>
                </a:lnTo>
                <a:lnTo>
                  <a:pt x="6549" y="9744"/>
                </a:lnTo>
                <a:lnTo>
                  <a:pt x="6441" y="9765"/>
                </a:lnTo>
                <a:lnTo>
                  <a:pt x="6334" y="9785"/>
                </a:lnTo>
                <a:lnTo>
                  <a:pt x="6226" y="9806"/>
                </a:lnTo>
                <a:lnTo>
                  <a:pt x="6112" y="9816"/>
                </a:lnTo>
                <a:lnTo>
                  <a:pt x="5885" y="9857"/>
                </a:lnTo>
                <a:lnTo>
                  <a:pt x="5652" y="9887"/>
                </a:lnTo>
                <a:lnTo>
                  <a:pt x="5425" y="9918"/>
                </a:lnTo>
                <a:lnTo>
                  <a:pt x="5185" y="9928"/>
                </a:lnTo>
                <a:lnTo>
                  <a:pt x="4958" y="9949"/>
                </a:lnTo>
                <a:lnTo>
                  <a:pt x="4731" y="9959"/>
                </a:lnTo>
                <a:lnTo>
                  <a:pt x="4623" y="9969"/>
                </a:lnTo>
                <a:lnTo>
                  <a:pt x="4510" y="9969"/>
                </a:lnTo>
                <a:lnTo>
                  <a:pt x="4402" y="9990"/>
                </a:lnTo>
                <a:lnTo>
                  <a:pt x="4294" y="9990"/>
                </a:lnTo>
                <a:lnTo>
                  <a:pt x="4193" y="9990"/>
                </a:lnTo>
                <a:lnTo>
                  <a:pt x="4091" y="10000"/>
                </a:lnTo>
                <a:lnTo>
                  <a:pt x="3995" y="10000"/>
                </a:lnTo>
                <a:lnTo>
                  <a:pt x="3894" y="10000"/>
                </a:lnTo>
                <a:lnTo>
                  <a:pt x="3804" y="10000"/>
                </a:lnTo>
                <a:lnTo>
                  <a:pt x="3714" y="10000"/>
                </a:lnTo>
                <a:lnTo>
                  <a:pt x="3630" y="10000"/>
                </a:lnTo>
                <a:lnTo>
                  <a:pt x="3547" y="10000"/>
                </a:lnTo>
                <a:cubicBezTo>
                  <a:pt x="3521" y="9997"/>
                  <a:pt x="3495" y="9993"/>
                  <a:pt x="3469" y="9990"/>
                </a:cubicBezTo>
                <a:lnTo>
                  <a:pt x="3391" y="9990"/>
                </a:lnTo>
                <a:lnTo>
                  <a:pt x="3325" y="9990"/>
                </a:lnTo>
                <a:lnTo>
                  <a:pt x="3254" y="9969"/>
                </a:lnTo>
                <a:lnTo>
                  <a:pt x="3182" y="9969"/>
                </a:lnTo>
                <a:lnTo>
                  <a:pt x="3122" y="9969"/>
                </a:lnTo>
                <a:cubicBezTo>
                  <a:pt x="3100" y="9966"/>
                  <a:pt x="3078" y="9962"/>
                  <a:pt x="3056" y="9959"/>
                </a:cubicBezTo>
                <a:cubicBezTo>
                  <a:pt x="3038" y="9956"/>
                  <a:pt x="3020" y="9952"/>
                  <a:pt x="3002" y="9949"/>
                </a:cubicBezTo>
                <a:lnTo>
                  <a:pt x="2949" y="9949"/>
                </a:lnTo>
                <a:cubicBezTo>
                  <a:pt x="2929" y="9946"/>
                  <a:pt x="2909" y="9942"/>
                  <a:pt x="2889" y="9939"/>
                </a:cubicBezTo>
                <a:cubicBezTo>
                  <a:pt x="2871" y="9935"/>
                  <a:pt x="2853" y="9932"/>
                  <a:pt x="2835" y="9928"/>
                </a:cubicBezTo>
                <a:cubicBezTo>
                  <a:pt x="2817" y="9925"/>
                  <a:pt x="2799" y="9921"/>
                  <a:pt x="2781" y="9918"/>
                </a:cubicBezTo>
                <a:lnTo>
                  <a:pt x="2679" y="9887"/>
                </a:lnTo>
                <a:lnTo>
                  <a:pt x="2584" y="9867"/>
                </a:lnTo>
                <a:cubicBezTo>
                  <a:pt x="2554" y="9853"/>
                  <a:pt x="2524" y="9840"/>
                  <a:pt x="2494" y="9826"/>
                </a:cubicBezTo>
                <a:cubicBezTo>
                  <a:pt x="2462" y="9819"/>
                  <a:pt x="2430" y="9813"/>
                  <a:pt x="2398" y="9806"/>
                </a:cubicBezTo>
                <a:lnTo>
                  <a:pt x="2225" y="9724"/>
                </a:lnTo>
                <a:cubicBezTo>
                  <a:pt x="2195" y="9710"/>
                  <a:pt x="2165" y="9697"/>
                  <a:pt x="2135" y="9683"/>
                </a:cubicBezTo>
                <a:cubicBezTo>
                  <a:pt x="2105" y="9669"/>
                  <a:pt x="2075" y="9656"/>
                  <a:pt x="2045" y="9642"/>
                </a:cubicBezTo>
                <a:lnTo>
                  <a:pt x="1950" y="9591"/>
                </a:lnTo>
                <a:lnTo>
                  <a:pt x="1842" y="9539"/>
                </a:lnTo>
                <a:lnTo>
                  <a:pt x="1740" y="9498"/>
                </a:lnTo>
                <a:lnTo>
                  <a:pt x="1633" y="9447"/>
                </a:lnTo>
                <a:lnTo>
                  <a:pt x="1519" y="9396"/>
                </a:lnTo>
                <a:lnTo>
                  <a:pt x="1411" y="9355"/>
                </a:lnTo>
                <a:cubicBezTo>
                  <a:pt x="1371" y="9335"/>
                  <a:pt x="1332" y="9314"/>
                  <a:pt x="1292" y="9294"/>
                </a:cubicBezTo>
                <a:lnTo>
                  <a:pt x="1178" y="9243"/>
                </a:lnTo>
                <a:lnTo>
                  <a:pt x="1071" y="9181"/>
                </a:lnTo>
                <a:lnTo>
                  <a:pt x="957" y="9120"/>
                </a:lnTo>
                <a:lnTo>
                  <a:pt x="849" y="9069"/>
                </a:lnTo>
                <a:lnTo>
                  <a:pt x="748" y="8976"/>
                </a:lnTo>
                <a:cubicBezTo>
                  <a:pt x="716" y="8952"/>
                  <a:pt x="684" y="8929"/>
                  <a:pt x="652" y="8905"/>
                </a:cubicBezTo>
                <a:lnTo>
                  <a:pt x="550" y="8813"/>
                </a:lnTo>
                <a:lnTo>
                  <a:pt x="508" y="8762"/>
                </a:lnTo>
                <a:lnTo>
                  <a:pt x="467" y="8721"/>
                </a:lnTo>
                <a:cubicBezTo>
                  <a:pt x="453" y="8700"/>
                  <a:pt x="439" y="8680"/>
                  <a:pt x="425" y="8659"/>
                </a:cubicBezTo>
                <a:lnTo>
                  <a:pt x="383" y="8608"/>
                </a:lnTo>
                <a:cubicBezTo>
                  <a:pt x="371" y="8588"/>
                  <a:pt x="359" y="8567"/>
                  <a:pt x="347" y="8547"/>
                </a:cubicBezTo>
                <a:lnTo>
                  <a:pt x="317" y="8475"/>
                </a:lnTo>
                <a:cubicBezTo>
                  <a:pt x="305" y="8455"/>
                  <a:pt x="293" y="8434"/>
                  <a:pt x="281" y="8414"/>
                </a:cubicBezTo>
                <a:lnTo>
                  <a:pt x="251" y="8342"/>
                </a:lnTo>
                <a:lnTo>
                  <a:pt x="221" y="8270"/>
                </a:lnTo>
                <a:cubicBezTo>
                  <a:pt x="215" y="8246"/>
                  <a:pt x="209" y="8223"/>
                  <a:pt x="203" y="8199"/>
                </a:cubicBezTo>
                <a:cubicBezTo>
                  <a:pt x="193" y="8172"/>
                  <a:pt x="183" y="8144"/>
                  <a:pt x="173" y="8117"/>
                </a:cubicBezTo>
                <a:cubicBezTo>
                  <a:pt x="167" y="8093"/>
                  <a:pt x="162" y="8069"/>
                  <a:pt x="156" y="8045"/>
                </a:cubicBezTo>
                <a:cubicBezTo>
                  <a:pt x="148" y="8018"/>
                  <a:pt x="140" y="7990"/>
                  <a:pt x="132" y="7963"/>
                </a:cubicBezTo>
                <a:cubicBezTo>
                  <a:pt x="128" y="7936"/>
                  <a:pt x="124" y="7908"/>
                  <a:pt x="120" y="7881"/>
                </a:cubicBezTo>
                <a:cubicBezTo>
                  <a:pt x="108" y="7820"/>
                  <a:pt x="96" y="7758"/>
                  <a:pt x="84" y="7697"/>
                </a:cubicBezTo>
                <a:lnTo>
                  <a:pt x="54" y="7523"/>
                </a:lnTo>
                <a:cubicBezTo>
                  <a:pt x="50" y="7458"/>
                  <a:pt x="46" y="7394"/>
                  <a:pt x="42" y="7329"/>
                </a:cubicBezTo>
                <a:cubicBezTo>
                  <a:pt x="38" y="7261"/>
                  <a:pt x="34" y="7192"/>
                  <a:pt x="30" y="7124"/>
                </a:cubicBezTo>
                <a:cubicBezTo>
                  <a:pt x="24" y="7052"/>
                  <a:pt x="18" y="6981"/>
                  <a:pt x="12" y="6909"/>
                </a:cubicBezTo>
                <a:cubicBezTo>
                  <a:pt x="10" y="6837"/>
                  <a:pt x="8" y="6766"/>
                  <a:pt x="6" y="6694"/>
                </a:cubicBezTo>
                <a:lnTo>
                  <a:pt x="6" y="6479"/>
                </a:lnTo>
                <a:lnTo>
                  <a:pt x="0" y="6254"/>
                </a:lnTo>
                <a:lnTo>
                  <a:pt x="0" y="6018"/>
                </a:lnTo>
                <a:cubicBezTo>
                  <a:pt x="2" y="5936"/>
                  <a:pt x="4" y="5855"/>
                  <a:pt x="6" y="5773"/>
                </a:cubicBezTo>
                <a:lnTo>
                  <a:pt x="6" y="5527"/>
                </a:lnTo>
                <a:cubicBezTo>
                  <a:pt x="8" y="5442"/>
                  <a:pt x="10" y="5356"/>
                  <a:pt x="12" y="5271"/>
                </a:cubicBezTo>
                <a:lnTo>
                  <a:pt x="12" y="5026"/>
                </a:lnTo>
                <a:lnTo>
                  <a:pt x="12" y="4893"/>
                </a:lnTo>
                <a:lnTo>
                  <a:pt x="12" y="4749"/>
                </a:lnTo>
                <a:lnTo>
                  <a:pt x="12" y="4606"/>
                </a:lnTo>
                <a:lnTo>
                  <a:pt x="12" y="4452"/>
                </a:lnTo>
                <a:lnTo>
                  <a:pt x="6" y="4278"/>
                </a:lnTo>
                <a:lnTo>
                  <a:pt x="6" y="4115"/>
                </a:lnTo>
                <a:lnTo>
                  <a:pt x="6" y="3941"/>
                </a:lnTo>
                <a:lnTo>
                  <a:pt x="0" y="3767"/>
                </a:lnTo>
                <a:lnTo>
                  <a:pt x="0" y="3582"/>
                </a:lnTo>
                <a:lnTo>
                  <a:pt x="0" y="3408"/>
                </a:lnTo>
                <a:lnTo>
                  <a:pt x="0" y="3040"/>
                </a:lnTo>
                <a:lnTo>
                  <a:pt x="0" y="2661"/>
                </a:lnTo>
                <a:lnTo>
                  <a:pt x="0" y="2293"/>
                </a:lnTo>
                <a:lnTo>
                  <a:pt x="6" y="2119"/>
                </a:lnTo>
                <a:cubicBezTo>
                  <a:pt x="8" y="2057"/>
                  <a:pt x="10" y="1996"/>
                  <a:pt x="12" y="1934"/>
                </a:cubicBezTo>
                <a:cubicBezTo>
                  <a:pt x="16" y="1880"/>
                  <a:pt x="20" y="1825"/>
                  <a:pt x="24" y="1771"/>
                </a:cubicBezTo>
                <a:lnTo>
                  <a:pt x="30" y="1597"/>
                </a:lnTo>
                <a:cubicBezTo>
                  <a:pt x="34" y="1542"/>
                  <a:pt x="38" y="1488"/>
                  <a:pt x="42" y="1433"/>
                </a:cubicBezTo>
                <a:cubicBezTo>
                  <a:pt x="44" y="1382"/>
                  <a:pt x="46" y="1330"/>
                  <a:pt x="48" y="1279"/>
                </a:cubicBezTo>
                <a:lnTo>
                  <a:pt x="72" y="1126"/>
                </a:lnTo>
                <a:cubicBezTo>
                  <a:pt x="76" y="1078"/>
                  <a:pt x="80" y="1031"/>
                  <a:pt x="84" y="983"/>
                </a:cubicBezTo>
                <a:lnTo>
                  <a:pt x="108" y="839"/>
                </a:lnTo>
                <a:lnTo>
                  <a:pt x="126" y="716"/>
                </a:lnTo>
                <a:cubicBezTo>
                  <a:pt x="136" y="675"/>
                  <a:pt x="146" y="635"/>
                  <a:pt x="156" y="594"/>
                </a:cubicBezTo>
                <a:cubicBezTo>
                  <a:pt x="162" y="560"/>
                  <a:pt x="167" y="525"/>
                  <a:pt x="173" y="491"/>
                </a:cubicBezTo>
                <a:cubicBezTo>
                  <a:pt x="185" y="454"/>
                  <a:pt x="197" y="416"/>
                  <a:pt x="209" y="379"/>
                </a:cubicBezTo>
                <a:cubicBezTo>
                  <a:pt x="213" y="369"/>
                  <a:pt x="217" y="358"/>
                  <a:pt x="221" y="348"/>
                </a:cubicBezTo>
                <a:lnTo>
                  <a:pt x="245" y="297"/>
                </a:lnTo>
                <a:cubicBezTo>
                  <a:pt x="249" y="287"/>
                  <a:pt x="253" y="276"/>
                  <a:pt x="257" y="266"/>
                </a:cubicBezTo>
                <a:cubicBezTo>
                  <a:pt x="265" y="252"/>
                  <a:pt x="273" y="239"/>
                  <a:pt x="281" y="225"/>
                </a:cubicBezTo>
                <a:cubicBezTo>
                  <a:pt x="287" y="215"/>
                  <a:pt x="293" y="204"/>
                  <a:pt x="299" y="194"/>
                </a:cubicBezTo>
                <a:lnTo>
                  <a:pt x="323" y="164"/>
                </a:lnTo>
                <a:close/>
              </a:path>
            </a:pathLst>
          </a:custGeom>
          <a:solidFill>
            <a:srgbClr val="00CC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8441" name="Rectangle 198"/>
          <p:cNvSpPr>
            <a:spLocks noChangeArrowheads="1"/>
          </p:cNvSpPr>
          <p:nvPr/>
        </p:nvSpPr>
        <p:spPr bwMode="auto">
          <a:xfrm>
            <a:off x="3648075" y="3957638"/>
            <a:ext cx="4127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300" dirty="0">
                <a:solidFill>
                  <a:srgbClr val="000000"/>
                </a:solidFill>
              </a:rPr>
              <a:t> </a:t>
            </a:r>
            <a:endParaRPr lang="en-US" dirty="0"/>
          </a:p>
        </p:txBody>
      </p:sp>
      <p:sp>
        <p:nvSpPr>
          <p:cNvPr id="188442" name="Line 334"/>
          <p:cNvSpPr>
            <a:spLocks noChangeShapeType="1"/>
          </p:cNvSpPr>
          <p:nvPr/>
        </p:nvSpPr>
        <p:spPr bwMode="auto">
          <a:xfrm>
            <a:off x="2486025" y="3879850"/>
            <a:ext cx="1592263" cy="4763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400" name="Line 20"/>
          <p:cNvSpPr>
            <a:spLocks noChangeShapeType="1"/>
          </p:cNvSpPr>
          <p:nvPr/>
        </p:nvSpPr>
        <p:spPr bwMode="auto">
          <a:xfrm flipH="1">
            <a:off x="649288" y="3398838"/>
            <a:ext cx="5556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01" name="Line 21"/>
          <p:cNvSpPr>
            <a:spLocks noChangeShapeType="1"/>
          </p:cNvSpPr>
          <p:nvPr/>
        </p:nvSpPr>
        <p:spPr bwMode="auto">
          <a:xfrm flipH="1">
            <a:off x="911225" y="3446463"/>
            <a:ext cx="396875" cy="482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02" name="Line 22"/>
          <p:cNvSpPr>
            <a:spLocks noChangeShapeType="1"/>
          </p:cNvSpPr>
          <p:nvPr/>
        </p:nvSpPr>
        <p:spPr bwMode="auto">
          <a:xfrm>
            <a:off x="1455738" y="3475038"/>
            <a:ext cx="73025" cy="295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188446" name="Group 44"/>
          <p:cNvGrpSpPr>
            <a:grpSpLocks/>
          </p:cNvGrpSpPr>
          <p:nvPr/>
        </p:nvGrpSpPr>
        <p:grpSpPr bwMode="auto">
          <a:xfrm>
            <a:off x="193675" y="3182146"/>
            <a:ext cx="568325" cy="481012"/>
            <a:chOff x="-44" y="1473"/>
            <a:chExt cx="981" cy="1105"/>
          </a:xfrm>
        </p:grpSpPr>
        <p:pic>
          <p:nvPicPr>
            <p:cNvPr id="188603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8604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296 w 356"/>
                <a:gd name="T3" fmla="*/ 69 h 368"/>
                <a:gd name="T4" fmla="*/ 1537 w 356"/>
                <a:gd name="T5" fmla="*/ 1447 h 368"/>
                <a:gd name="T6" fmla="*/ 339 w 356"/>
                <a:gd name="T7" fmla="*/ 1810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88447" name="Group 44"/>
          <p:cNvGrpSpPr>
            <a:grpSpLocks/>
          </p:cNvGrpSpPr>
          <p:nvPr/>
        </p:nvGrpSpPr>
        <p:grpSpPr bwMode="auto">
          <a:xfrm>
            <a:off x="1128713" y="3690938"/>
            <a:ext cx="568325" cy="481012"/>
            <a:chOff x="-44" y="1473"/>
            <a:chExt cx="981" cy="1105"/>
          </a:xfrm>
        </p:grpSpPr>
        <p:pic>
          <p:nvPicPr>
            <p:cNvPr id="188601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8602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296 w 356"/>
                <a:gd name="T3" fmla="*/ 69 h 368"/>
                <a:gd name="T4" fmla="*/ 1537 w 356"/>
                <a:gd name="T5" fmla="*/ 1447 h 368"/>
                <a:gd name="T6" fmla="*/ 339 w 356"/>
                <a:gd name="T7" fmla="*/ 1810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sp>
        <p:nvSpPr>
          <p:cNvPr id="405" name="Line 21"/>
          <p:cNvSpPr>
            <a:spLocks noChangeShapeType="1"/>
          </p:cNvSpPr>
          <p:nvPr/>
        </p:nvSpPr>
        <p:spPr bwMode="auto">
          <a:xfrm>
            <a:off x="1674813" y="3405188"/>
            <a:ext cx="377825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06" name="Line 22"/>
          <p:cNvSpPr>
            <a:spLocks noChangeShapeType="1"/>
          </p:cNvSpPr>
          <p:nvPr/>
        </p:nvSpPr>
        <p:spPr bwMode="auto">
          <a:xfrm flipH="1">
            <a:off x="1906588" y="3900488"/>
            <a:ext cx="120650" cy="2936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07" name="Line 22"/>
          <p:cNvSpPr>
            <a:spLocks noChangeShapeType="1"/>
          </p:cNvSpPr>
          <p:nvPr/>
        </p:nvSpPr>
        <p:spPr bwMode="auto">
          <a:xfrm>
            <a:off x="2311400" y="3911600"/>
            <a:ext cx="73025" cy="295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08" name="Line 20"/>
          <p:cNvSpPr>
            <a:spLocks noChangeShapeType="1"/>
          </p:cNvSpPr>
          <p:nvPr/>
        </p:nvSpPr>
        <p:spPr bwMode="auto">
          <a:xfrm flipH="1">
            <a:off x="1508125" y="3359150"/>
            <a:ext cx="5556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188452" name="Group 44"/>
          <p:cNvGrpSpPr>
            <a:grpSpLocks/>
          </p:cNvGrpSpPr>
          <p:nvPr/>
        </p:nvGrpSpPr>
        <p:grpSpPr bwMode="auto">
          <a:xfrm>
            <a:off x="1533525" y="4064000"/>
            <a:ext cx="568325" cy="481013"/>
            <a:chOff x="-44" y="1473"/>
            <a:chExt cx="981" cy="1105"/>
          </a:xfrm>
        </p:grpSpPr>
        <p:pic>
          <p:nvPicPr>
            <p:cNvPr id="188599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8600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296 w 356"/>
                <a:gd name="T3" fmla="*/ 69 h 368"/>
                <a:gd name="T4" fmla="*/ 1537 w 356"/>
                <a:gd name="T5" fmla="*/ 1447 h 368"/>
                <a:gd name="T6" fmla="*/ 339 w 356"/>
                <a:gd name="T7" fmla="*/ 1810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88453" name="Group 44"/>
          <p:cNvGrpSpPr>
            <a:grpSpLocks/>
          </p:cNvGrpSpPr>
          <p:nvPr/>
        </p:nvGrpSpPr>
        <p:grpSpPr bwMode="auto">
          <a:xfrm>
            <a:off x="1990725" y="4132263"/>
            <a:ext cx="568325" cy="481012"/>
            <a:chOff x="-44" y="1473"/>
            <a:chExt cx="981" cy="1105"/>
          </a:xfrm>
        </p:grpSpPr>
        <p:pic>
          <p:nvPicPr>
            <p:cNvPr id="188597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8598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296 w 356"/>
                <a:gd name="T3" fmla="*/ 69 h 368"/>
                <a:gd name="T4" fmla="*/ 1537 w 356"/>
                <a:gd name="T5" fmla="*/ 1447 h 368"/>
                <a:gd name="T6" fmla="*/ 339 w 356"/>
                <a:gd name="T7" fmla="*/ 1810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pic>
        <p:nvPicPr>
          <p:cNvPr id="411" name="Picture 3"/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1088" y="3246438"/>
            <a:ext cx="677862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412" name="Picture 3"/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1975" y="3662363"/>
            <a:ext cx="677863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grpSp>
        <p:nvGrpSpPr>
          <p:cNvPr id="188456" name="Group 44"/>
          <p:cNvGrpSpPr>
            <a:grpSpLocks/>
          </p:cNvGrpSpPr>
          <p:nvPr/>
        </p:nvGrpSpPr>
        <p:grpSpPr bwMode="auto">
          <a:xfrm>
            <a:off x="1784350" y="3068638"/>
            <a:ext cx="568325" cy="481012"/>
            <a:chOff x="-44" y="1473"/>
            <a:chExt cx="981" cy="1105"/>
          </a:xfrm>
        </p:grpSpPr>
        <p:pic>
          <p:nvPicPr>
            <p:cNvPr id="188595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8596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296 w 356"/>
                <a:gd name="T3" fmla="*/ 69 h 368"/>
                <a:gd name="T4" fmla="*/ 1537 w 356"/>
                <a:gd name="T5" fmla="*/ 1447 h 368"/>
                <a:gd name="T6" fmla="*/ 339 w 356"/>
                <a:gd name="T7" fmla="*/ 1810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88457" name="Group 906"/>
          <p:cNvGrpSpPr>
            <a:grpSpLocks/>
          </p:cNvGrpSpPr>
          <p:nvPr/>
        </p:nvGrpSpPr>
        <p:grpSpPr bwMode="auto">
          <a:xfrm>
            <a:off x="663575" y="3859213"/>
            <a:ext cx="285750" cy="536575"/>
            <a:chOff x="4140" y="429"/>
            <a:chExt cx="1425" cy="2396"/>
          </a:xfrm>
        </p:grpSpPr>
        <p:sp>
          <p:nvSpPr>
            <p:cNvPr id="188563" name="Freeform 907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1 w 354"/>
                <a:gd name="T1" fmla="*/ 0 h 2742"/>
                <a:gd name="T2" fmla="*/ 116 w 354"/>
                <a:gd name="T3" fmla="*/ 137 h 2742"/>
                <a:gd name="T4" fmla="*/ 114 w 354"/>
                <a:gd name="T5" fmla="*/ 1057 h 2742"/>
                <a:gd name="T6" fmla="*/ 0 w 354"/>
                <a:gd name="T7" fmla="*/ 1105 h 2742"/>
                <a:gd name="T8" fmla="*/ 21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22" name="Rectangle 908"/>
            <p:cNvSpPr>
              <a:spLocks noChangeArrowheads="1"/>
            </p:cNvSpPr>
            <p:nvPr/>
          </p:nvSpPr>
          <p:spPr bwMode="auto">
            <a:xfrm>
              <a:off x="4211" y="429"/>
              <a:ext cx="1037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88565" name="Freeform 909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0 w 211"/>
                <a:gd name="T3" fmla="*/ 88 h 2537"/>
                <a:gd name="T4" fmla="*/ 2 w 211"/>
                <a:gd name="T5" fmla="*/ 1007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566" name="Freeform 910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2 h 226"/>
                <a:gd name="T4" fmla="*/ 108 w 328"/>
                <a:gd name="T5" fmla="*/ 92 h 226"/>
                <a:gd name="T6" fmla="*/ 0 w 328"/>
                <a:gd name="T7" fmla="*/ 4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25" name="Rectangle 911"/>
            <p:cNvSpPr>
              <a:spLocks noChangeArrowheads="1"/>
            </p:cNvSpPr>
            <p:nvPr/>
          </p:nvSpPr>
          <p:spPr bwMode="auto">
            <a:xfrm>
              <a:off x="4211" y="691"/>
              <a:ext cx="594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grpSp>
          <p:nvGrpSpPr>
            <p:cNvPr id="188568" name="Group 912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51" name="AutoShape 913"/>
              <p:cNvSpPr>
                <a:spLocks noChangeArrowheads="1"/>
              </p:cNvSpPr>
              <p:nvPr/>
            </p:nvSpPr>
            <p:spPr bwMode="auto">
              <a:xfrm>
                <a:off x="615" y="2570"/>
                <a:ext cx="721" cy="12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452" name="AutoShape 914"/>
              <p:cNvSpPr>
                <a:spLocks noChangeArrowheads="1"/>
              </p:cNvSpPr>
              <p:nvPr/>
            </p:nvSpPr>
            <p:spPr bwMode="auto">
              <a:xfrm>
                <a:off x="634" y="2584"/>
                <a:ext cx="692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427" name="Rectangle 915"/>
            <p:cNvSpPr>
              <a:spLocks noChangeArrowheads="1"/>
            </p:cNvSpPr>
            <p:nvPr/>
          </p:nvSpPr>
          <p:spPr bwMode="auto">
            <a:xfrm>
              <a:off x="4227" y="1017"/>
              <a:ext cx="594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grpSp>
          <p:nvGrpSpPr>
            <p:cNvPr id="188570" name="Group 916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49" name="AutoShape 917"/>
              <p:cNvSpPr>
                <a:spLocks noChangeArrowheads="1"/>
              </p:cNvSpPr>
              <p:nvPr/>
            </p:nvSpPr>
            <p:spPr bwMode="auto">
              <a:xfrm>
                <a:off x="617" y="2570"/>
                <a:ext cx="721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450" name="AutoShape 918"/>
              <p:cNvSpPr>
                <a:spLocks noChangeArrowheads="1"/>
              </p:cNvSpPr>
              <p:nvPr/>
            </p:nvSpPr>
            <p:spPr bwMode="auto">
              <a:xfrm>
                <a:off x="627" y="2585"/>
                <a:ext cx="701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429" name="Rectangle 919"/>
            <p:cNvSpPr>
              <a:spLocks noChangeArrowheads="1"/>
            </p:cNvSpPr>
            <p:nvPr/>
          </p:nvSpPr>
          <p:spPr bwMode="auto">
            <a:xfrm>
              <a:off x="4211" y="1358"/>
              <a:ext cx="602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430" name="Rectangle 920"/>
            <p:cNvSpPr>
              <a:spLocks noChangeArrowheads="1"/>
            </p:cNvSpPr>
            <p:nvPr/>
          </p:nvSpPr>
          <p:spPr bwMode="auto">
            <a:xfrm>
              <a:off x="4227" y="1655"/>
              <a:ext cx="594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grpSp>
          <p:nvGrpSpPr>
            <p:cNvPr id="188573" name="Group 921"/>
            <p:cNvGrpSpPr>
              <a:grpSpLocks/>
            </p:cNvGrpSpPr>
            <p:nvPr/>
          </p:nvGrpSpPr>
          <p:grpSpPr bwMode="auto">
            <a:xfrm>
              <a:off x="4733" y="1630"/>
              <a:ext cx="586" cy="151"/>
              <a:chOff x="611" y="2571"/>
              <a:chExt cx="730" cy="139"/>
            </a:xfrm>
          </p:grpSpPr>
          <p:sp>
            <p:nvSpPr>
              <p:cNvPr id="447" name="AutoShape 922"/>
              <p:cNvSpPr>
                <a:spLocks noChangeArrowheads="1"/>
              </p:cNvSpPr>
              <p:nvPr/>
            </p:nvSpPr>
            <p:spPr bwMode="auto">
              <a:xfrm>
                <a:off x="612" y="2568"/>
                <a:ext cx="730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448" name="AutoShape 923"/>
              <p:cNvSpPr>
                <a:spLocks noChangeArrowheads="1"/>
              </p:cNvSpPr>
              <p:nvPr/>
            </p:nvSpPr>
            <p:spPr bwMode="auto">
              <a:xfrm>
                <a:off x="632" y="2588"/>
                <a:ext cx="690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188574" name="Freeform 924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1 h 226"/>
                <a:gd name="T4" fmla="*/ 108 w 328"/>
                <a:gd name="T5" fmla="*/ 90 h 226"/>
                <a:gd name="T6" fmla="*/ 0 w 328"/>
                <a:gd name="T7" fmla="*/ 3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188575" name="Group 925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45" name="AutoShape 926"/>
              <p:cNvSpPr>
                <a:spLocks noChangeArrowheads="1"/>
              </p:cNvSpPr>
              <p:nvPr/>
            </p:nvSpPr>
            <p:spPr bwMode="auto">
              <a:xfrm>
                <a:off x="617" y="2570"/>
                <a:ext cx="710" cy="135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446" name="AutoShape 927"/>
              <p:cNvSpPr>
                <a:spLocks noChangeArrowheads="1"/>
              </p:cNvSpPr>
              <p:nvPr/>
            </p:nvSpPr>
            <p:spPr bwMode="auto">
              <a:xfrm>
                <a:off x="637" y="2584"/>
                <a:ext cx="680" cy="9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434" name="Rectangle 928"/>
            <p:cNvSpPr>
              <a:spLocks noChangeArrowheads="1"/>
            </p:cNvSpPr>
            <p:nvPr/>
          </p:nvSpPr>
          <p:spPr bwMode="auto">
            <a:xfrm>
              <a:off x="5248" y="429"/>
              <a:ext cx="71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88577" name="Freeform 929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6 w 296"/>
                <a:gd name="T3" fmla="*/ 57 h 256"/>
                <a:gd name="T4" fmla="*/ 98 w 296"/>
                <a:gd name="T5" fmla="*/ 102 h 256"/>
                <a:gd name="T6" fmla="*/ 0 w 296"/>
                <a:gd name="T7" fmla="*/ 39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578" name="Freeform 930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01 w 304"/>
                <a:gd name="T3" fmla="*/ 66 h 288"/>
                <a:gd name="T4" fmla="*/ 95 w 304"/>
                <a:gd name="T5" fmla="*/ 116 h 288"/>
                <a:gd name="T6" fmla="*/ 2 w 304"/>
                <a:gd name="T7" fmla="*/ 5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37" name="Oval 931"/>
            <p:cNvSpPr>
              <a:spLocks noChangeArrowheads="1"/>
            </p:cNvSpPr>
            <p:nvPr/>
          </p:nvSpPr>
          <p:spPr bwMode="auto">
            <a:xfrm>
              <a:off x="5518" y="2605"/>
              <a:ext cx="48" cy="99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88580" name="Freeform 932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43 h 240"/>
                <a:gd name="T2" fmla="*/ 2 w 306"/>
                <a:gd name="T3" fmla="*/ 97 h 240"/>
                <a:gd name="T4" fmla="*/ 101 w 306"/>
                <a:gd name="T5" fmla="*/ 44 h 240"/>
                <a:gd name="T6" fmla="*/ 98 w 306"/>
                <a:gd name="T7" fmla="*/ 0 h 240"/>
                <a:gd name="T8" fmla="*/ 0 w 306"/>
                <a:gd name="T9" fmla="*/ 4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39" name="AutoShape 933"/>
            <p:cNvSpPr>
              <a:spLocks noChangeArrowheads="1"/>
            </p:cNvSpPr>
            <p:nvPr/>
          </p:nvSpPr>
          <p:spPr bwMode="auto">
            <a:xfrm>
              <a:off x="4140" y="2683"/>
              <a:ext cx="1195" cy="142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440" name="AutoShape 934"/>
            <p:cNvSpPr>
              <a:spLocks noChangeArrowheads="1"/>
            </p:cNvSpPr>
            <p:nvPr/>
          </p:nvSpPr>
          <p:spPr bwMode="auto">
            <a:xfrm>
              <a:off x="4211" y="2712"/>
              <a:ext cx="1061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441" name="Oval 935"/>
            <p:cNvSpPr>
              <a:spLocks noChangeArrowheads="1"/>
            </p:cNvSpPr>
            <p:nvPr/>
          </p:nvSpPr>
          <p:spPr bwMode="auto">
            <a:xfrm>
              <a:off x="4306" y="2385"/>
              <a:ext cx="158" cy="13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442" name="Oval 936"/>
            <p:cNvSpPr>
              <a:spLocks noChangeArrowheads="1"/>
            </p:cNvSpPr>
            <p:nvPr/>
          </p:nvSpPr>
          <p:spPr bwMode="auto">
            <a:xfrm>
              <a:off x="4488" y="2385"/>
              <a:ext cx="158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en-US" dirty="0">
                <a:solidFill>
                  <a:srgbClr val="FF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443" name="Oval 937"/>
            <p:cNvSpPr>
              <a:spLocks noChangeArrowheads="1"/>
            </p:cNvSpPr>
            <p:nvPr/>
          </p:nvSpPr>
          <p:spPr bwMode="auto">
            <a:xfrm>
              <a:off x="4663" y="2378"/>
              <a:ext cx="158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444" name="Rectangle 938"/>
            <p:cNvSpPr>
              <a:spLocks noChangeArrowheads="1"/>
            </p:cNvSpPr>
            <p:nvPr/>
          </p:nvSpPr>
          <p:spPr bwMode="auto">
            <a:xfrm>
              <a:off x="5058" y="1833"/>
              <a:ext cx="87" cy="766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</p:grpSp>
      <p:sp>
        <p:nvSpPr>
          <p:cNvPr id="188458" name="Text Box 380"/>
          <p:cNvSpPr txBox="1">
            <a:spLocks noChangeArrowheads="1"/>
          </p:cNvSpPr>
          <p:nvPr/>
        </p:nvSpPr>
        <p:spPr bwMode="auto">
          <a:xfrm>
            <a:off x="2511425" y="3189288"/>
            <a:ext cx="108267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dirty="0">
                <a:latin typeface="Arial" charset="0"/>
                <a:cs typeface="Arial" charset="0"/>
              </a:rPr>
              <a:t>internal</a:t>
            </a:r>
          </a:p>
          <a:p>
            <a:r>
              <a:rPr lang="en-US" dirty="0">
                <a:latin typeface="Arial" charset="0"/>
                <a:cs typeface="Arial" charset="0"/>
              </a:rPr>
              <a:t>network</a:t>
            </a:r>
          </a:p>
        </p:txBody>
      </p:sp>
      <p:grpSp>
        <p:nvGrpSpPr>
          <p:cNvPr id="188459" name="Group 906"/>
          <p:cNvGrpSpPr>
            <a:grpSpLocks/>
          </p:cNvGrpSpPr>
          <p:nvPr/>
        </p:nvGrpSpPr>
        <p:grpSpPr bwMode="auto">
          <a:xfrm>
            <a:off x="3698875" y="4697413"/>
            <a:ext cx="220663" cy="468312"/>
            <a:chOff x="4140" y="429"/>
            <a:chExt cx="1425" cy="2396"/>
          </a:xfrm>
        </p:grpSpPr>
        <p:sp>
          <p:nvSpPr>
            <p:cNvPr id="188531" name="Freeform 907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1 w 354"/>
                <a:gd name="T1" fmla="*/ 0 h 2742"/>
                <a:gd name="T2" fmla="*/ 116 w 354"/>
                <a:gd name="T3" fmla="*/ 137 h 2742"/>
                <a:gd name="T4" fmla="*/ 114 w 354"/>
                <a:gd name="T5" fmla="*/ 1057 h 2742"/>
                <a:gd name="T6" fmla="*/ 0 w 354"/>
                <a:gd name="T7" fmla="*/ 1105 h 2742"/>
                <a:gd name="T8" fmla="*/ 21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6" name="Rectangle 908"/>
            <p:cNvSpPr>
              <a:spLocks noChangeArrowheads="1"/>
            </p:cNvSpPr>
            <p:nvPr/>
          </p:nvSpPr>
          <p:spPr bwMode="auto">
            <a:xfrm>
              <a:off x="4212" y="429"/>
              <a:ext cx="1035" cy="2282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88533" name="Freeform 909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0 w 211"/>
                <a:gd name="T3" fmla="*/ 88 h 2537"/>
                <a:gd name="T4" fmla="*/ 2 w 211"/>
                <a:gd name="T5" fmla="*/ 1007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534" name="Freeform 910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2 h 226"/>
                <a:gd name="T4" fmla="*/ 108 w 328"/>
                <a:gd name="T5" fmla="*/ 92 h 226"/>
                <a:gd name="T6" fmla="*/ 0 w 328"/>
                <a:gd name="T7" fmla="*/ 4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9" name="Rectangle 911"/>
            <p:cNvSpPr>
              <a:spLocks noChangeArrowheads="1"/>
            </p:cNvSpPr>
            <p:nvPr/>
          </p:nvSpPr>
          <p:spPr bwMode="auto">
            <a:xfrm>
              <a:off x="4212" y="689"/>
              <a:ext cx="595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grpSp>
          <p:nvGrpSpPr>
            <p:cNvPr id="188536" name="Group 912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535" name="AutoShape 913"/>
              <p:cNvSpPr>
                <a:spLocks noChangeArrowheads="1"/>
              </p:cNvSpPr>
              <p:nvPr/>
            </p:nvSpPr>
            <p:spPr bwMode="auto">
              <a:xfrm>
                <a:off x="609" y="2565"/>
                <a:ext cx="729" cy="13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536" name="AutoShape 914"/>
              <p:cNvSpPr>
                <a:spLocks noChangeArrowheads="1"/>
              </p:cNvSpPr>
              <p:nvPr/>
            </p:nvSpPr>
            <p:spPr bwMode="auto">
              <a:xfrm>
                <a:off x="622" y="2580"/>
                <a:ext cx="704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511" name="Rectangle 915"/>
            <p:cNvSpPr>
              <a:spLocks noChangeArrowheads="1"/>
            </p:cNvSpPr>
            <p:nvPr/>
          </p:nvSpPr>
          <p:spPr bwMode="auto">
            <a:xfrm>
              <a:off x="4222" y="1022"/>
              <a:ext cx="595" cy="41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grpSp>
          <p:nvGrpSpPr>
            <p:cNvPr id="188538" name="Group 916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533" name="AutoShape 917"/>
              <p:cNvSpPr>
                <a:spLocks noChangeArrowheads="1"/>
              </p:cNvSpPr>
              <p:nvPr/>
            </p:nvSpPr>
            <p:spPr bwMode="auto">
              <a:xfrm>
                <a:off x="611" y="2572"/>
                <a:ext cx="729" cy="135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534" name="AutoShape 918"/>
              <p:cNvSpPr>
                <a:spLocks noChangeArrowheads="1"/>
              </p:cNvSpPr>
              <p:nvPr/>
            </p:nvSpPr>
            <p:spPr bwMode="auto">
              <a:xfrm>
                <a:off x="624" y="2580"/>
                <a:ext cx="704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513" name="Rectangle 919"/>
            <p:cNvSpPr>
              <a:spLocks noChangeArrowheads="1"/>
            </p:cNvSpPr>
            <p:nvPr/>
          </p:nvSpPr>
          <p:spPr bwMode="auto">
            <a:xfrm>
              <a:off x="4212" y="1363"/>
              <a:ext cx="605" cy="41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514" name="Rectangle 920"/>
            <p:cNvSpPr>
              <a:spLocks noChangeArrowheads="1"/>
            </p:cNvSpPr>
            <p:nvPr/>
          </p:nvSpPr>
          <p:spPr bwMode="auto">
            <a:xfrm>
              <a:off x="4222" y="1655"/>
              <a:ext cx="605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grpSp>
          <p:nvGrpSpPr>
            <p:cNvPr id="188541" name="Group 921"/>
            <p:cNvGrpSpPr>
              <a:grpSpLocks/>
            </p:cNvGrpSpPr>
            <p:nvPr/>
          </p:nvGrpSpPr>
          <p:grpSpPr bwMode="auto">
            <a:xfrm>
              <a:off x="4733" y="1630"/>
              <a:ext cx="586" cy="151"/>
              <a:chOff x="611" y="2571"/>
              <a:chExt cx="730" cy="139"/>
            </a:xfrm>
          </p:grpSpPr>
          <p:sp>
            <p:nvSpPr>
              <p:cNvPr id="531" name="AutoShape 922"/>
              <p:cNvSpPr>
                <a:spLocks noChangeArrowheads="1"/>
              </p:cNvSpPr>
              <p:nvPr/>
            </p:nvSpPr>
            <p:spPr bwMode="auto">
              <a:xfrm>
                <a:off x="613" y="2572"/>
                <a:ext cx="728" cy="135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532" name="AutoShape 923"/>
              <p:cNvSpPr>
                <a:spLocks noChangeArrowheads="1"/>
              </p:cNvSpPr>
              <p:nvPr/>
            </p:nvSpPr>
            <p:spPr bwMode="auto">
              <a:xfrm>
                <a:off x="626" y="2587"/>
                <a:ext cx="70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188542" name="Freeform 924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1 h 226"/>
                <a:gd name="T4" fmla="*/ 108 w 328"/>
                <a:gd name="T5" fmla="*/ 90 h 226"/>
                <a:gd name="T6" fmla="*/ 0 w 328"/>
                <a:gd name="T7" fmla="*/ 3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188543" name="Group 925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529" name="AutoShape 926"/>
              <p:cNvSpPr>
                <a:spLocks noChangeArrowheads="1"/>
              </p:cNvSpPr>
              <p:nvPr/>
            </p:nvSpPr>
            <p:spPr bwMode="auto">
              <a:xfrm>
                <a:off x="609" y="2572"/>
                <a:ext cx="715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530" name="AutoShape 927"/>
              <p:cNvSpPr>
                <a:spLocks noChangeArrowheads="1"/>
              </p:cNvSpPr>
              <p:nvPr/>
            </p:nvSpPr>
            <p:spPr bwMode="auto">
              <a:xfrm>
                <a:off x="621" y="2588"/>
                <a:ext cx="702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518" name="Rectangle 928"/>
            <p:cNvSpPr>
              <a:spLocks noChangeArrowheads="1"/>
            </p:cNvSpPr>
            <p:nvPr/>
          </p:nvSpPr>
          <p:spPr bwMode="auto">
            <a:xfrm>
              <a:off x="5247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88545" name="Freeform 929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6 w 296"/>
                <a:gd name="T3" fmla="*/ 57 h 256"/>
                <a:gd name="T4" fmla="*/ 98 w 296"/>
                <a:gd name="T5" fmla="*/ 102 h 256"/>
                <a:gd name="T6" fmla="*/ 0 w 296"/>
                <a:gd name="T7" fmla="*/ 39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546" name="Freeform 930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01 w 304"/>
                <a:gd name="T3" fmla="*/ 66 h 288"/>
                <a:gd name="T4" fmla="*/ 95 w 304"/>
                <a:gd name="T5" fmla="*/ 116 h 288"/>
                <a:gd name="T6" fmla="*/ 2 w 304"/>
                <a:gd name="T7" fmla="*/ 5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1" name="Oval 931"/>
            <p:cNvSpPr>
              <a:spLocks noChangeArrowheads="1"/>
            </p:cNvSpPr>
            <p:nvPr/>
          </p:nvSpPr>
          <p:spPr bwMode="auto">
            <a:xfrm>
              <a:off x="5514" y="2606"/>
              <a:ext cx="51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88548" name="Freeform 932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43 h 240"/>
                <a:gd name="T2" fmla="*/ 2 w 306"/>
                <a:gd name="T3" fmla="*/ 97 h 240"/>
                <a:gd name="T4" fmla="*/ 101 w 306"/>
                <a:gd name="T5" fmla="*/ 44 h 240"/>
                <a:gd name="T6" fmla="*/ 98 w 306"/>
                <a:gd name="T7" fmla="*/ 0 h 240"/>
                <a:gd name="T8" fmla="*/ 0 w 306"/>
                <a:gd name="T9" fmla="*/ 4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3" name="AutoShape 933"/>
            <p:cNvSpPr>
              <a:spLocks noChangeArrowheads="1"/>
            </p:cNvSpPr>
            <p:nvPr/>
          </p:nvSpPr>
          <p:spPr bwMode="auto">
            <a:xfrm>
              <a:off x="4140" y="2679"/>
              <a:ext cx="1199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524" name="AutoShape 934"/>
            <p:cNvSpPr>
              <a:spLocks noChangeArrowheads="1"/>
            </p:cNvSpPr>
            <p:nvPr/>
          </p:nvSpPr>
          <p:spPr bwMode="auto">
            <a:xfrm>
              <a:off x="4212" y="2711"/>
              <a:ext cx="1066" cy="81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525" name="Oval 935"/>
            <p:cNvSpPr>
              <a:spLocks noChangeArrowheads="1"/>
            </p:cNvSpPr>
            <p:nvPr/>
          </p:nvSpPr>
          <p:spPr bwMode="auto">
            <a:xfrm>
              <a:off x="4304" y="2386"/>
              <a:ext cx="164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526" name="Oval 936"/>
            <p:cNvSpPr>
              <a:spLocks noChangeArrowheads="1"/>
            </p:cNvSpPr>
            <p:nvPr/>
          </p:nvSpPr>
          <p:spPr bwMode="auto">
            <a:xfrm>
              <a:off x="4489" y="2386"/>
              <a:ext cx="154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en-US" dirty="0">
                <a:solidFill>
                  <a:srgbClr val="FF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527" name="Oval 937"/>
            <p:cNvSpPr>
              <a:spLocks noChangeArrowheads="1"/>
            </p:cNvSpPr>
            <p:nvPr/>
          </p:nvSpPr>
          <p:spPr bwMode="auto">
            <a:xfrm>
              <a:off x="4663" y="2378"/>
              <a:ext cx="154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528" name="Rectangle 938"/>
            <p:cNvSpPr>
              <a:spLocks noChangeArrowheads="1"/>
            </p:cNvSpPr>
            <p:nvPr/>
          </p:nvSpPr>
          <p:spPr bwMode="auto">
            <a:xfrm>
              <a:off x="5063" y="1834"/>
              <a:ext cx="82" cy="763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</p:grpSp>
      <p:pic>
        <p:nvPicPr>
          <p:cNvPr id="537" name="Picture 3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8138" y="4491038"/>
            <a:ext cx="541337" cy="241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grpSp>
        <p:nvGrpSpPr>
          <p:cNvPr id="188461" name="Group 906"/>
          <p:cNvGrpSpPr>
            <a:grpSpLocks/>
          </p:cNvGrpSpPr>
          <p:nvPr/>
        </p:nvGrpSpPr>
        <p:grpSpPr bwMode="auto">
          <a:xfrm>
            <a:off x="4216400" y="4960938"/>
            <a:ext cx="220663" cy="468312"/>
            <a:chOff x="4140" y="429"/>
            <a:chExt cx="1425" cy="2396"/>
          </a:xfrm>
        </p:grpSpPr>
        <p:sp>
          <p:nvSpPr>
            <p:cNvPr id="188499" name="Freeform 907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1 w 354"/>
                <a:gd name="T1" fmla="*/ 0 h 2742"/>
                <a:gd name="T2" fmla="*/ 116 w 354"/>
                <a:gd name="T3" fmla="*/ 137 h 2742"/>
                <a:gd name="T4" fmla="*/ 114 w 354"/>
                <a:gd name="T5" fmla="*/ 1057 h 2742"/>
                <a:gd name="T6" fmla="*/ 0 w 354"/>
                <a:gd name="T7" fmla="*/ 1105 h 2742"/>
                <a:gd name="T8" fmla="*/ 21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40" name="Rectangle 908"/>
            <p:cNvSpPr>
              <a:spLocks noChangeArrowheads="1"/>
            </p:cNvSpPr>
            <p:nvPr/>
          </p:nvSpPr>
          <p:spPr bwMode="auto">
            <a:xfrm>
              <a:off x="4212" y="429"/>
              <a:ext cx="1035" cy="2282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88501" name="Freeform 909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0 w 211"/>
                <a:gd name="T3" fmla="*/ 88 h 2537"/>
                <a:gd name="T4" fmla="*/ 2 w 211"/>
                <a:gd name="T5" fmla="*/ 1007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502" name="Freeform 910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2 h 226"/>
                <a:gd name="T4" fmla="*/ 108 w 328"/>
                <a:gd name="T5" fmla="*/ 92 h 226"/>
                <a:gd name="T6" fmla="*/ 0 w 328"/>
                <a:gd name="T7" fmla="*/ 4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43" name="Rectangle 911"/>
            <p:cNvSpPr>
              <a:spLocks noChangeArrowheads="1"/>
            </p:cNvSpPr>
            <p:nvPr/>
          </p:nvSpPr>
          <p:spPr bwMode="auto">
            <a:xfrm>
              <a:off x="4212" y="689"/>
              <a:ext cx="595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grpSp>
          <p:nvGrpSpPr>
            <p:cNvPr id="188504" name="Group 912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569" name="AutoShape 913"/>
              <p:cNvSpPr>
                <a:spLocks noChangeArrowheads="1"/>
              </p:cNvSpPr>
              <p:nvPr/>
            </p:nvSpPr>
            <p:spPr bwMode="auto">
              <a:xfrm>
                <a:off x="609" y="2565"/>
                <a:ext cx="729" cy="13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570" name="AutoShape 914"/>
              <p:cNvSpPr>
                <a:spLocks noChangeArrowheads="1"/>
              </p:cNvSpPr>
              <p:nvPr/>
            </p:nvSpPr>
            <p:spPr bwMode="auto">
              <a:xfrm>
                <a:off x="622" y="2580"/>
                <a:ext cx="704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545" name="Rectangle 915"/>
            <p:cNvSpPr>
              <a:spLocks noChangeArrowheads="1"/>
            </p:cNvSpPr>
            <p:nvPr/>
          </p:nvSpPr>
          <p:spPr bwMode="auto">
            <a:xfrm>
              <a:off x="4222" y="1022"/>
              <a:ext cx="595" cy="41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grpSp>
          <p:nvGrpSpPr>
            <p:cNvPr id="188506" name="Group 916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567" name="AutoShape 917"/>
              <p:cNvSpPr>
                <a:spLocks noChangeArrowheads="1"/>
              </p:cNvSpPr>
              <p:nvPr/>
            </p:nvSpPr>
            <p:spPr bwMode="auto">
              <a:xfrm>
                <a:off x="611" y="2572"/>
                <a:ext cx="729" cy="135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568" name="AutoShape 918"/>
              <p:cNvSpPr>
                <a:spLocks noChangeArrowheads="1"/>
              </p:cNvSpPr>
              <p:nvPr/>
            </p:nvSpPr>
            <p:spPr bwMode="auto">
              <a:xfrm>
                <a:off x="624" y="2580"/>
                <a:ext cx="704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547" name="Rectangle 919"/>
            <p:cNvSpPr>
              <a:spLocks noChangeArrowheads="1"/>
            </p:cNvSpPr>
            <p:nvPr/>
          </p:nvSpPr>
          <p:spPr bwMode="auto">
            <a:xfrm>
              <a:off x="4212" y="1363"/>
              <a:ext cx="605" cy="41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548" name="Rectangle 920"/>
            <p:cNvSpPr>
              <a:spLocks noChangeArrowheads="1"/>
            </p:cNvSpPr>
            <p:nvPr/>
          </p:nvSpPr>
          <p:spPr bwMode="auto">
            <a:xfrm>
              <a:off x="4222" y="1655"/>
              <a:ext cx="605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grpSp>
          <p:nvGrpSpPr>
            <p:cNvPr id="188509" name="Group 921"/>
            <p:cNvGrpSpPr>
              <a:grpSpLocks/>
            </p:cNvGrpSpPr>
            <p:nvPr/>
          </p:nvGrpSpPr>
          <p:grpSpPr bwMode="auto">
            <a:xfrm>
              <a:off x="4733" y="1630"/>
              <a:ext cx="586" cy="151"/>
              <a:chOff x="611" y="2571"/>
              <a:chExt cx="730" cy="139"/>
            </a:xfrm>
          </p:grpSpPr>
          <p:sp>
            <p:nvSpPr>
              <p:cNvPr id="565" name="AutoShape 922"/>
              <p:cNvSpPr>
                <a:spLocks noChangeArrowheads="1"/>
              </p:cNvSpPr>
              <p:nvPr/>
            </p:nvSpPr>
            <p:spPr bwMode="auto">
              <a:xfrm>
                <a:off x="613" y="2572"/>
                <a:ext cx="728" cy="135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566" name="AutoShape 923"/>
              <p:cNvSpPr>
                <a:spLocks noChangeArrowheads="1"/>
              </p:cNvSpPr>
              <p:nvPr/>
            </p:nvSpPr>
            <p:spPr bwMode="auto">
              <a:xfrm>
                <a:off x="626" y="2587"/>
                <a:ext cx="70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188510" name="Freeform 924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1 h 226"/>
                <a:gd name="T4" fmla="*/ 108 w 328"/>
                <a:gd name="T5" fmla="*/ 90 h 226"/>
                <a:gd name="T6" fmla="*/ 0 w 328"/>
                <a:gd name="T7" fmla="*/ 3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188511" name="Group 925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563" name="AutoShape 926"/>
              <p:cNvSpPr>
                <a:spLocks noChangeArrowheads="1"/>
              </p:cNvSpPr>
              <p:nvPr/>
            </p:nvSpPr>
            <p:spPr bwMode="auto">
              <a:xfrm>
                <a:off x="609" y="2572"/>
                <a:ext cx="715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564" name="AutoShape 927"/>
              <p:cNvSpPr>
                <a:spLocks noChangeArrowheads="1"/>
              </p:cNvSpPr>
              <p:nvPr/>
            </p:nvSpPr>
            <p:spPr bwMode="auto">
              <a:xfrm>
                <a:off x="621" y="2588"/>
                <a:ext cx="702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552" name="Rectangle 928"/>
            <p:cNvSpPr>
              <a:spLocks noChangeArrowheads="1"/>
            </p:cNvSpPr>
            <p:nvPr/>
          </p:nvSpPr>
          <p:spPr bwMode="auto">
            <a:xfrm>
              <a:off x="5247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88513" name="Freeform 929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6 w 296"/>
                <a:gd name="T3" fmla="*/ 57 h 256"/>
                <a:gd name="T4" fmla="*/ 98 w 296"/>
                <a:gd name="T5" fmla="*/ 102 h 256"/>
                <a:gd name="T6" fmla="*/ 0 w 296"/>
                <a:gd name="T7" fmla="*/ 39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514" name="Freeform 930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01 w 304"/>
                <a:gd name="T3" fmla="*/ 66 h 288"/>
                <a:gd name="T4" fmla="*/ 95 w 304"/>
                <a:gd name="T5" fmla="*/ 116 h 288"/>
                <a:gd name="T6" fmla="*/ 2 w 304"/>
                <a:gd name="T7" fmla="*/ 5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55" name="Oval 931"/>
            <p:cNvSpPr>
              <a:spLocks noChangeArrowheads="1"/>
            </p:cNvSpPr>
            <p:nvPr/>
          </p:nvSpPr>
          <p:spPr bwMode="auto">
            <a:xfrm>
              <a:off x="5514" y="2606"/>
              <a:ext cx="51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88516" name="Freeform 932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43 h 240"/>
                <a:gd name="T2" fmla="*/ 2 w 306"/>
                <a:gd name="T3" fmla="*/ 97 h 240"/>
                <a:gd name="T4" fmla="*/ 101 w 306"/>
                <a:gd name="T5" fmla="*/ 44 h 240"/>
                <a:gd name="T6" fmla="*/ 98 w 306"/>
                <a:gd name="T7" fmla="*/ 0 h 240"/>
                <a:gd name="T8" fmla="*/ 0 w 306"/>
                <a:gd name="T9" fmla="*/ 4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57" name="AutoShape 933"/>
            <p:cNvSpPr>
              <a:spLocks noChangeArrowheads="1"/>
            </p:cNvSpPr>
            <p:nvPr/>
          </p:nvSpPr>
          <p:spPr bwMode="auto">
            <a:xfrm>
              <a:off x="4140" y="2679"/>
              <a:ext cx="1199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558" name="AutoShape 934"/>
            <p:cNvSpPr>
              <a:spLocks noChangeArrowheads="1"/>
            </p:cNvSpPr>
            <p:nvPr/>
          </p:nvSpPr>
          <p:spPr bwMode="auto">
            <a:xfrm>
              <a:off x="4212" y="2711"/>
              <a:ext cx="1066" cy="81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559" name="Oval 935"/>
            <p:cNvSpPr>
              <a:spLocks noChangeArrowheads="1"/>
            </p:cNvSpPr>
            <p:nvPr/>
          </p:nvSpPr>
          <p:spPr bwMode="auto">
            <a:xfrm>
              <a:off x="4304" y="2386"/>
              <a:ext cx="164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560" name="Oval 936"/>
            <p:cNvSpPr>
              <a:spLocks noChangeArrowheads="1"/>
            </p:cNvSpPr>
            <p:nvPr/>
          </p:nvSpPr>
          <p:spPr bwMode="auto">
            <a:xfrm>
              <a:off x="4489" y="2386"/>
              <a:ext cx="154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en-US" dirty="0">
                <a:solidFill>
                  <a:srgbClr val="FF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561" name="Oval 937"/>
            <p:cNvSpPr>
              <a:spLocks noChangeArrowheads="1"/>
            </p:cNvSpPr>
            <p:nvPr/>
          </p:nvSpPr>
          <p:spPr bwMode="auto">
            <a:xfrm>
              <a:off x="4663" y="2378"/>
              <a:ext cx="154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562" name="Rectangle 938"/>
            <p:cNvSpPr>
              <a:spLocks noChangeArrowheads="1"/>
            </p:cNvSpPr>
            <p:nvPr/>
          </p:nvSpPr>
          <p:spPr bwMode="auto">
            <a:xfrm>
              <a:off x="5063" y="1834"/>
              <a:ext cx="82" cy="763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</p:grpSp>
      <p:grpSp>
        <p:nvGrpSpPr>
          <p:cNvPr id="188462" name="Group 906"/>
          <p:cNvGrpSpPr>
            <a:grpSpLocks/>
          </p:cNvGrpSpPr>
          <p:nvPr/>
        </p:nvGrpSpPr>
        <p:grpSpPr bwMode="auto">
          <a:xfrm>
            <a:off x="4757738" y="4745038"/>
            <a:ext cx="222250" cy="466725"/>
            <a:chOff x="4140" y="429"/>
            <a:chExt cx="1425" cy="2396"/>
          </a:xfrm>
        </p:grpSpPr>
        <p:sp>
          <p:nvSpPr>
            <p:cNvPr id="188467" name="Freeform 907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1 w 354"/>
                <a:gd name="T1" fmla="*/ 0 h 2742"/>
                <a:gd name="T2" fmla="*/ 116 w 354"/>
                <a:gd name="T3" fmla="*/ 137 h 2742"/>
                <a:gd name="T4" fmla="*/ 114 w 354"/>
                <a:gd name="T5" fmla="*/ 1057 h 2742"/>
                <a:gd name="T6" fmla="*/ 0 w 354"/>
                <a:gd name="T7" fmla="*/ 1105 h 2742"/>
                <a:gd name="T8" fmla="*/ 21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73" name="Rectangle 908"/>
            <p:cNvSpPr>
              <a:spLocks noChangeArrowheads="1"/>
            </p:cNvSpPr>
            <p:nvPr/>
          </p:nvSpPr>
          <p:spPr bwMode="auto">
            <a:xfrm>
              <a:off x="4211" y="429"/>
              <a:ext cx="1038" cy="2282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88469" name="Freeform 909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0 w 211"/>
                <a:gd name="T3" fmla="*/ 88 h 2537"/>
                <a:gd name="T4" fmla="*/ 2 w 211"/>
                <a:gd name="T5" fmla="*/ 1007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470" name="Freeform 910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2 h 226"/>
                <a:gd name="T4" fmla="*/ 108 w 328"/>
                <a:gd name="T5" fmla="*/ 92 h 226"/>
                <a:gd name="T6" fmla="*/ 0 w 328"/>
                <a:gd name="T7" fmla="*/ 4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76" name="Rectangle 911"/>
            <p:cNvSpPr>
              <a:spLocks noChangeArrowheads="1"/>
            </p:cNvSpPr>
            <p:nvPr/>
          </p:nvSpPr>
          <p:spPr bwMode="auto">
            <a:xfrm>
              <a:off x="4211" y="690"/>
              <a:ext cx="590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grpSp>
          <p:nvGrpSpPr>
            <p:cNvPr id="188472" name="Group 912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602" name="AutoShape 913"/>
              <p:cNvSpPr>
                <a:spLocks noChangeArrowheads="1"/>
              </p:cNvSpPr>
              <p:nvPr/>
            </p:nvSpPr>
            <p:spPr bwMode="auto">
              <a:xfrm>
                <a:off x="616" y="2565"/>
                <a:ext cx="724" cy="133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603" name="AutoShape 914"/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9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578" name="Rectangle 915"/>
            <p:cNvSpPr>
              <a:spLocks noChangeArrowheads="1"/>
            </p:cNvSpPr>
            <p:nvPr/>
          </p:nvSpPr>
          <p:spPr bwMode="auto">
            <a:xfrm>
              <a:off x="4221" y="1024"/>
              <a:ext cx="601" cy="41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grpSp>
          <p:nvGrpSpPr>
            <p:cNvPr id="188474" name="Group 916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600" name="AutoShape 917"/>
              <p:cNvSpPr>
                <a:spLocks noChangeArrowheads="1"/>
              </p:cNvSpPr>
              <p:nvPr/>
            </p:nvSpPr>
            <p:spPr bwMode="auto">
              <a:xfrm>
                <a:off x="619" y="2565"/>
                <a:ext cx="724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601" name="AutoShape 918"/>
              <p:cNvSpPr>
                <a:spLocks noChangeArrowheads="1"/>
              </p:cNvSpPr>
              <p:nvPr/>
            </p:nvSpPr>
            <p:spPr bwMode="auto">
              <a:xfrm>
                <a:off x="631" y="2582"/>
                <a:ext cx="699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580" name="Rectangle 919"/>
            <p:cNvSpPr>
              <a:spLocks noChangeArrowheads="1"/>
            </p:cNvSpPr>
            <p:nvPr/>
          </p:nvSpPr>
          <p:spPr bwMode="auto">
            <a:xfrm>
              <a:off x="4211" y="1358"/>
              <a:ext cx="601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581" name="Rectangle 920"/>
            <p:cNvSpPr>
              <a:spLocks noChangeArrowheads="1"/>
            </p:cNvSpPr>
            <p:nvPr/>
          </p:nvSpPr>
          <p:spPr bwMode="auto">
            <a:xfrm>
              <a:off x="4221" y="1660"/>
              <a:ext cx="601" cy="41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grpSp>
          <p:nvGrpSpPr>
            <p:cNvPr id="188477" name="Group 921"/>
            <p:cNvGrpSpPr>
              <a:grpSpLocks/>
            </p:cNvGrpSpPr>
            <p:nvPr/>
          </p:nvGrpSpPr>
          <p:grpSpPr bwMode="auto">
            <a:xfrm>
              <a:off x="4733" y="1630"/>
              <a:ext cx="586" cy="151"/>
              <a:chOff x="611" y="2571"/>
              <a:chExt cx="730" cy="139"/>
            </a:xfrm>
          </p:grpSpPr>
          <p:sp>
            <p:nvSpPr>
              <p:cNvPr id="598" name="AutoShape 922"/>
              <p:cNvSpPr>
                <a:spLocks noChangeArrowheads="1"/>
              </p:cNvSpPr>
              <p:nvPr/>
            </p:nvSpPr>
            <p:spPr bwMode="auto">
              <a:xfrm>
                <a:off x="608" y="2568"/>
                <a:ext cx="735" cy="143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599" name="AutoShape 923"/>
              <p:cNvSpPr>
                <a:spLocks noChangeArrowheads="1"/>
              </p:cNvSpPr>
              <p:nvPr/>
            </p:nvSpPr>
            <p:spPr bwMode="auto">
              <a:xfrm>
                <a:off x="620" y="2583"/>
                <a:ext cx="710" cy="11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188478" name="Freeform 924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1 h 226"/>
                <a:gd name="T4" fmla="*/ 108 w 328"/>
                <a:gd name="T5" fmla="*/ 90 h 226"/>
                <a:gd name="T6" fmla="*/ 0 w 328"/>
                <a:gd name="T7" fmla="*/ 3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188479" name="Group 925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596" name="AutoShape 926"/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10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597" name="AutoShape 927"/>
              <p:cNvSpPr>
                <a:spLocks noChangeArrowheads="1"/>
              </p:cNvSpPr>
              <p:nvPr/>
            </p:nvSpPr>
            <p:spPr bwMode="auto">
              <a:xfrm>
                <a:off x="629" y="2583"/>
                <a:ext cx="697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585" name="Rectangle 928"/>
            <p:cNvSpPr>
              <a:spLocks noChangeArrowheads="1"/>
            </p:cNvSpPr>
            <p:nvPr/>
          </p:nvSpPr>
          <p:spPr bwMode="auto">
            <a:xfrm>
              <a:off x="5249" y="429"/>
              <a:ext cx="71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88481" name="Freeform 929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6 w 296"/>
                <a:gd name="T3" fmla="*/ 57 h 256"/>
                <a:gd name="T4" fmla="*/ 98 w 296"/>
                <a:gd name="T5" fmla="*/ 102 h 256"/>
                <a:gd name="T6" fmla="*/ 0 w 296"/>
                <a:gd name="T7" fmla="*/ 39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482" name="Freeform 930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01 w 304"/>
                <a:gd name="T3" fmla="*/ 66 h 288"/>
                <a:gd name="T4" fmla="*/ 95 w 304"/>
                <a:gd name="T5" fmla="*/ 116 h 288"/>
                <a:gd name="T6" fmla="*/ 2 w 304"/>
                <a:gd name="T7" fmla="*/ 5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88" name="Oval 931"/>
            <p:cNvSpPr>
              <a:spLocks noChangeArrowheads="1"/>
            </p:cNvSpPr>
            <p:nvPr/>
          </p:nvSpPr>
          <p:spPr bwMode="auto">
            <a:xfrm>
              <a:off x="5514" y="2605"/>
              <a:ext cx="51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88484" name="Freeform 932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43 h 240"/>
                <a:gd name="T2" fmla="*/ 2 w 306"/>
                <a:gd name="T3" fmla="*/ 97 h 240"/>
                <a:gd name="T4" fmla="*/ 101 w 306"/>
                <a:gd name="T5" fmla="*/ 44 h 240"/>
                <a:gd name="T6" fmla="*/ 98 w 306"/>
                <a:gd name="T7" fmla="*/ 0 h 240"/>
                <a:gd name="T8" fmla="*/ 0 w 306"/>
                <a:gd name="T9" fmla="*/ 4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90" name="AutoShape 933"/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591" name="AutoShape 934"/>
            <p:cNvSpPr>
              <a:spLocks noChangeArrowheads="1"/>
            </p:cNvSpPr>
            <p:nvPr/>
          </p:nvSpPr>
          <p:spPr bwMode="auto">
            <a:xfrm>
              <a:off x="4211" y="2711"/>
              <a:ext cx="1069" cy="81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592" name="Oval 935"/>
            <p:cNvSpPr>
              <a:spLocks noChangeArrowheads="1"/>
            </p:cNvSpPr>
            <p:nvPr/>
          </p:nvSpPr>
          <p:spPr bwMode="auto">
            <a:xfrm>
              <a:off x="4303" y="2385"/>
              <a:ext cx="163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593" name="Oval 936"/>
            <p:cNvSpPr>
              <a:spLocks noChangeArrowheads="1"/>
            </p:cNvSpPr>
            <p:nvPr/>
          </p:nvSpPr>
          <p:spPr bwMode="auto">
            <a:xfrm>
              <a:off x="4486" y="2385"/>
              <a:ext cx="163" cy="14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en-US" dirty="0">
                <a:solidFill>
                  <a:srgbClr val="FF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594" name="Oval 937"/>
            <p:cNvSpPr>
              <a:spLocks noChangeArrowheads="1"/>
            </p:cNvSpPr>
            <p:nvPr/>
          </p:nvSpPr>
          <p:spPr bwMode="auto">
            <a:xfrm>
              <a:off x="4659" y="2377"/>
              <a:ext cx="163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595" name="Rectangle 938"/>
            <p:cNvSpPr>
              <a:spLocks noChangeArrowheads="1"/>
            </p:cNvSpPr>
            <p:nvPr/>
          </p:nvSpPr>
          <p:spPr bwMode="auto">
            <a:xfrm>
              <a:off x="5056" y="1831"/>
              <a:ext cx="92" cy="766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</p:grpSp>
      <p:sp>
        <p:nvSpPr>
          <p:cNvPr id="188463" name="Oval 382"/>
          <p:cNvSpPr>
            <a:spLocks noChangeArrowheads="1"/>
          </p:cNvSpPr>
          <p:nvPr/>
        </p:nvSpPr>
        <p:spPr bwMode="auto">
          <a:xfrm>
            <a:off x="3411538" y="3819525"/>
            <a:ext cx="134937" cy="134938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88464" name="Oval 383"/>
          <p:cNvSpPr>
            <a:spLocks noChangeArrowheads="1"/>
          </p:cNvSpPr>
          <p:nvPr/>
        </p:nvSpPr>
        <p:spPr bwMode="auto">
          <a:xfrm>
            <a:off x="974725" y="3703638"/>
            <a:ext cx="134938" cy="13493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88465" name="Line 387"/>
          <p:cNvSpPr>
            <a:spLocks noChangeShapeType="1"/>
          </p:cNvSpPr>
          <p:nvPr/>
        </p:nvSpPr>
        <p:spPr bwMode="auto">
          <a:xfrm flipH="1" flipV="1">
            <a:off x="1081088" y="3914775"/>
            <a:ext cx="1074737" cy="1139825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8466" name="Line 388"/>
          <p:cNvSpPr>
            <a:spLocks noChangeShapeType="1"/>
          </p:cNvSpPr>
          <p:nvPr/>
        </p:nvSpPr>
        <p:spPr bwMode="auto">
          <a:xfrm flipV="1">
            <a:off x="2151063" y="4019550"/>
            <a:ext cx="1293812" cy="1046163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315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69</a:t>
            </a:fld>
            <a:endParaRPr lang="en-US" sz="1200" dirty="0">
              <a:latin typeface="Tahoma" charset="0"/>
            </a:endParaRPr>
          </a:p>
        </p:txBody>
      </p:sp>
      <p:sp>
        <p:nvSpPr>
          <p:cNvPr id="316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40316277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465" name="Picture 17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088" y="1071563"/>
            <a:ext cx="68564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04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ill Sans MT" charset="0"/>
              </a:rPr>
              <a:t>Network Security (summary)</a:t>
            </a:r>
          </a:p>
        </p:txBody>
      </p:sp>
      <p:sp>
        <p:nvSpPr>
          <p:cNvPr id="1904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400175"/>
            <a:ext cx="8148638" cy="4648200"/>
          </a:xfrm>
        </p:spPr>
        <p:txBody>
          <a:bodyPr/>
          <a:lstStyle/>
          <a:p>
            <a:pPr>
              <a:buFont typeface="Wingdings" charset="0"/>
              <a:buNone/>
            </a:pPr>
            <a:r>
              <a:rPr lang="en-US" dirty="0">
                <a:solidFill>
                  <a:srgbClr val="CC0000"/>
                </a:solidFill>
                <a:latin typeface="Gill Sans MT" charset="0"/>
              </a:rPr>
              <a:t>basic techniques…...</a:t>
            </a:r>
          </a:p>
          <a:p>
            <a:pPr lvl="1"/>
            <a:r>
              <a:rPr lang="en-US" dirty="0">
                <a:latin typeface="Gill Sans MT" charset="0"/>
              </a:rPr>
              <a:t>cryptography (symmetric and public)</a:t>
            </a:r>
          </a:p>
          <a:p>
            <a:pPr lvl="1"/>
            <a:r>
              <a:rPr lang="en-US" dirty="0">
                <a:latin typeface="Gill Sans MT" charset="0"/>
              </a:rPr>
              <a:t>message integrity</a:t>
            </a:r>
          </a:p>
          <a:p>
            <a:pPr lvl="1"/>
            <a:r>
              <a:rPr lang="en-US" dirty="0">
                <a:latin typeface="Gill Sans MT" charset="0"/>
              </a:rPr>
              <a:t>end-point authentication</a:t>
            </a:r>
          </a:p>
          <a:p>
            <a:pPr>
              <a:buFont typeface="Wingdings" charset="0"/>
              <a:buNone/>
            </a:pPr>
            <a:r>
              <a:rPr lang="en-US" dirty="0">
                <a:solidFill>
                  <a:srgbClr val="CC0000"/>
                </a:solidFill>
                <a:latin typeface="Gill Sans MT" charset="0"/>
              </a:rPr>
              <a:t>…. used in many different security scenarios</a:t>
            </a:r>
          </a:p>
          <a:p>
            <a:pPr lvl="1"/>
            <a:r>
              <a:rPr lang="en-US" dirty="0">
                <a:latin typeface="Gill Sans MT" charset="0"/>
              </a:rPr>
              <a:t>secure email</a:t>
            </a:r>
          </a:p>
          <a:p>
            <a:pPr lvl="1"/>
            <a:r>
              <a:rPr lang="en-US" dirty="0">
                <a:latin typeface="Gill Sans MT" charset="0"/>
              </a:rPr>
              <a:t>secure transport (SSL)</a:t>
            </a:r>
          </a:p>
          <a:p>
            <a:pPr lvl="1"/>
            <a:r>
              <a:rPr lang="en-US" dirty="0">
                <a:latin typeface="Gill Sans MT" charset="0"/>
              </a:rPr>
              <a:t>IP sec</a:t>
            </a:r>
          </a:p>
          <a:p>
            <a:pPr lvl="1"/>
            <a:r>
              <a:rPr lang="en-US" dirty="0">
                <a:latin typeface="Gill Sans MT" charset="0"/>
              </a:rPr>
              <a:t>802.11</a:t>
            </a:r>
          </a:p>
          <a:p>
            <a:pPr>
              <a:buFont typeface="Wingdings" charset="0"/>
              <a:buNone/>
            </a:pPr>
            <a:r>
              <a:rPr lang="en-US" dirty="0">
                <a:solidFill>
                  <a:srgbClr val="CC0000"/>
                </a:solidFill>
                <a:latin typeface="Gill Sans MT" charset="0"/>
              </a:rPr>
              <a:t>operational security: firewalls and IDS</a:t>
            </a:r>
          </a:p>
          <a:p>
            <a:pPr lvl="1"/>
            <a:endParaRPr lang="en-US" dirty="0">
              <a:latin typeface="Gill Sans MT" charset="0"/>
            </a:endParaRPr>
          </a:p>
        </p:txBody>
      </p:sp>
      <p:sp>
        <p:nvSpPr>
          <p:cNvPr id="6" name="Slide Number Placeholder 5"/>
          <p:cNvSpPr txBox="1">
            <a:spLocks/>
          </p:cNvSpPr>
          <p:nvPr/>
        </p:nvSpPr>
        <p:spPr>
          <a:xfrm>
            <a:off x="8456154" y="6512521"/>
            <a:ext cx="687846" cy="2723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8-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70</a:t>
            </a:fld>
            <a:endParaRPr lang="en-US" sz="1200" dirty="0">
              <a:latin typeface="Tahoma" charset="0"/>
            </a:endParaRPr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7831561" y="6508279"/>
            <a:ext cx="721408" cy="25481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2482781793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Gill Sans MT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gradFill>
          <a:gsLst>
            <a:gs pos="0">
              <a:schemeClr val="bg1">
                <a:lumMod val="95000"/>
              </a:schemeClr>
            </a:gs>
            <a:gs pos="100000">
              <a:schemeClr val="accent5">
                <a:lumMod val="75000"/>
              </a:schemeClr>
            </a:gs>
          </a:gsLst>
        </a:gradFill>
        <a:ln>
          <a:noFill/>
        </a:ln>
        <a:effectLst/>
      </a:spPr>
      <a:bodyPr anchor="ctr"/>
      <a:lstStyle>
        <a:defPPr algn="ctr">
          <a:defRPr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17644</TotalTime>
  <Words>5114</Words>
  <Application>Microsoft Office PowerPoint</Application>
  <PresentationFormat>On-screen Show (4:3)</PresentationFormat>
  <Paragraphs>1219</Paragraphs>
  <Slides>70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80" baseType="lpstr">
      <vt:lpstr>Arial</vt:lpstr>
      <vt:lpstr>Arial Unicode MS</vt:lpstr>
      <vt:lpstr>Comic Sans MS</vt:lpstr>
      <vt:lpstr>Courier New</vt:lpstr>
      <vt:lpstr>Gill Sans MT</vt:lpstr>
      <vt:lpstr>Tahoma</vt:lpstr>
      <vt:lpstr>Times New Roman</vt:lpstr>
      <vt:lpstr>Wingdings</vt:lpstr>
      <vt:lpstr>ZapfDingbats</vt:lpstr>
      <vt:lpstr>Default Design</vt:lpstr>
      <vt:lpstr>PowerPoint Presentation</vt:lpstr>
      <vt:lpstr>Chapter 8: Network Security</vt:lpstr>
      <vt:lpstr>Chapter 8 roadmap</vt:lpstr>
      <vt:lpstr>What is network security?</vt:lpstr>
      <vt:lpstr>Friends and enemies: Aman, Brajesh, Manish</vt:lpstr>
      <vt:lpstr>Who might Brajesh, Aman be?</vt:lpstr>
      <vt:lpstr>There are bad guys (and girls) out there!</vt:lpstr>
      <vt:lpstr>Chapter 8 roadmap</vt:lpstr>
      <vt:lpstr>The language of cryptography</vt:lpstr>
      <vt:lpstr>Breaking an encryption scheme</vt:lpstr>
      <vt:lpstr>Symmetric key cryptography</vt:lpstr>
      <vt:lpstr>Simple encryption scheme</vt:lpstr>
      <vt:lpstr>A more sophisticated encryption approach</vt:lpstr>
      <vt:lpstr>Public Key Cryptography</vt:lpstr>
      <vt:lpstr>Public key cryptography</vt:lpstr>
      <vt:lpstr>Public key encryption algorithms</vt:lpstr>
      <vt:lpstr>Prerequisite: modular arithmetic</vt:lpstr>
      <vt:lpstr>RSA: getting ready</vt:lpstr>
      <vt:lpstr>RSA: Creating public/private key pair</vt:lpstr>
      <vt:lpstr>RSA: encryption, decryption</vt:lpstr>
      <vt:lpstr>RSA example:</vt:lpstr>
      <vt:lpstr>Why does RSA work?</vt:lpstr>
      <vt:lpstr>RSA: another important property</vt:lpstr>
      <vt:lpstr>PowerPoint Presentation</vt:lpstr>
      <vt:lpstr>Why is RSA secure?</vt:lpstr>
      <vt:lpstr>RSA in practice: session keys</vt:lpstr>
      <vt:lpstr>Chapter 8 roadmap</vt:lpstr>
      <vt:lpstr>Authentication</vt:lpstr>
      <vt:lpstr>Authentication</vt:lpstr>
      <vt:lpstr>Authentication: another try</vt:lpstr>
      <vt:lpstr>Authentication: another try</vt:lpstr>
      <vt:lpstr>Authentication: another try</vt:lpstr>
      <vt:lpstr>Authentication: another try</vt:lpstr>
      <vt:lpstr>Authentication: yet another try</vt:lpstr>
      <vt:lpstr>Authentication: yet another try</vt:lpstr>
      <vt:lpstr>Authentication: yet another try</vt:lpstr>
      <vt:lpstr>Authentication: ap5.0</vt:lpstr>
      <vt:lpstr>ap5.0: security hole</vt:lpstr>
      <vt:lpstr>ap5.0: security hole</vt:lpstr>
      <vt:lpstr>Chapter 8 roadmap</vt:lpstr>
      <vt:lpstr>Digital signatures </vt:lpstr>
      <vt:lpstr>Digital signatures </vt:lpstr>
      <vt:lpstr>Digital signatures </vt:lpstr>
      <vt:lpstr>Message digests</vt:lpstr>
      <vt:lpstr>Internet checksum: poor crypto hash function</vt:lpstr>
      <vt:lpstr>PowerPoint Presentation</vt:lpstr>
      <vt:lpstr>Hash function algorithms</vt:lpstr>
      <vt:lpstr>Recall: ap5.0 security hole</vt:lpstr>
      <vt:lpstr>Public-key certification</vt:lpstr>
      <vt:lpstr>Certification authorities</vt:lpstr>
      <vt:lpstr>Certification authorities</vt:lpstr>
      <vt:lpstr>Chapter 8 roadmap</vt:lpstr>
      <vt:lpstr>Firewalls</vt:lpstr>
      <vt:lpstr>Firewalls: why</vt:lpstr>
      <vt:lpstr>Stateless packet filtering</vt:lpstr>
      <vt:lpstr>Stateless packet filtering: example</vt:lpstr>
      <vt:lpstr>Stateless packet filtering: more examples</vt:lpstr>
      <vt:lpstr>Access Control Lists</vt:lpstr>
      <vt:lpstr>Stateful packet filtering</vt:lpstr>
      <vt:lpstr>Stateful packet filtering</vt:lpstr>
      <vt:lpstr>Application gateways</vt:lpstr>
      <vt:lpstr>Limitations of firewalls, gateways</vt:lpstr>
      <vt:lpstr>Intrusion detection systems</vt:lpstr>
      <vt:lpstr>Intrusion detection systems</vt:lpstr>
      <vt:lpstr>Intrusion detection systems</vt:lpstr>
      <vt:lpstr>Intrusion detection systems</vt:lpstr>
      <vt:lpstr>Intrusion detection systems</vt:lpstr>
      <vt:lpstr>Intrusion detection systems</vt:lpstr>
      <vt:lpstr>Intrusion detection systems</vt:lpstr>
      <vt:lpstr>Network Security (summary)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3rd Edition: Chapter 4</dc:title>
  <dc:creator>Jim Kurose and Keith Ross</dc:creator>
  <cp:lastModifiedBy>Mayank Agarwal</cp:lastModifiedBy>
  <cp:revision>549</cp:revision>
  <dcterms:created xsi:type="dcterms:W3CDTF">1999-10-08T19:08:27Z</dcterms:created>
  <dcterms:modified xsi:type="dcterms:W3CDTF">2024-11-05T18:54:17Z</dcterms:modified>
</cp:coreProperties>
</file>