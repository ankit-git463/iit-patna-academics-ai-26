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2519dcbb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2519dcbb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0400"/>
            <a:ext cx="8520600" cy="6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33788"/>
              <a:buNone/>
            </a:pPr>
            <a:r>
              <a:rPr lang="en-GB" sz="2930"/>
              <a:t>Who is in Which Group? (Connected Components)</a:t>
            </a:r>
            <a:endParaRPr sz="293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72050" y="861975"/>
            <a:ext cx="8520600" cy="42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-GB" sz="1050">
                <a:solidFill>
                  <a:schemeClr val="dk1"/>
                </a:solidFill>
              </a:rPr>
              <a:t>The Goal:</a:t>
            </a:r>
            <a:r>
              <a:rPr lang="en-GB" sz="1050">
                <a:solidFill>
                  <a:schemeClr val="dk1"/>
                </a:solidFill>
              </a:rPr>
              <a:t> Find all the nodes that are connected in the same "group."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-GB" sz="1050">
                <a:solidFill>
                  <a:schemeClr val="dk1"/>
                </a:solidFill>
              </a:rPr>
              <a:t>The Simple Rule:</a:t>
            </a:r>
            <a:r>
              <a:rPr lang="en-GB" sz="1050">
                <a:solidFill>
                  <a:schemeClr val="dk1"/>
                </a:solidFill>
              </a:rPr>
              <a:t> In each step, every node adopts the </a:t>
            </a:r>
            <a:r>
              <a:rPr b="1" lang="en-GB" sz="1050">
                <a:solidFill>
                  <a:schemeClr val="dk1"/>
                </a:solidFill>
              </a:rPr>
              <a:t>smallest ID number</a:t>
            </a:r>
            <a:r>
              <a:rPr lang="en-GB" sz="1050">
                <a:solidFill>
                  <a:schemeClr val="dk1"/>
                </a:solidFill>
              </a:rPr>
              <a:t> it can see (its own, or its neighbor's). This repeats until no one's ID changes.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-GB" sz="1050">
                <a:solidFill>
                  <a:schemeClr val="dk1"/>
                </a:solidFill>
              </a:rPr>
              <a:t>Question:</a:t>
            </a:r>
            <a:r>
              <a:rPr lang="en-GB" sz="1050">
                <a:solidFill>
                  <a:schemeClr val="dk1"/>
                </a:solidFill>
              </a:rPr>
              <a:t> Find the final "Group ID" for every node.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GB" sz="1050">
                <a:solidFill>
                  <a:schemeClr val="dk1"/>
                </a:solidFill>
              </a:rPr>
              <a:t>Solution (Step-by-Step):</a:t>
            </a:r>
            <a:endParaRPr b="1"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-GB" sz="1050">
                <a:solidFill>
                  <a:schemeClr val="dk1"/>
                </a:solidFill>
              </a:rPr>
              <a:t>Step 0 (Start):</a:t>
            </a:r>
            <a:r>
              <a:rPr lang="en-GB" sz="1050">
                <a:solidFill>
                  <a:schemeClr val="dk1"/>
                </a:solidFill>
              </a:rPr>
              <a:t> Every node starts with its own ID.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1 = </a:t>
            </a:r>
            <a:r>
              <a:rPr b="1" lang="en-GB" sz="1050">
                <a:solidFill>
                  <a:schemeClr val="dk1"/>
                </a:solidFill>
              </a:rPr>
              <a:t>1</a:t>
            </a:r>
            <a:endParaRPr b="1"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2 = </a:t>
            </a:r>
            <a:r>
              <a:rPr b="1" lang="en-GB" sz="1050">
                <a:solidFill>
                  <a:schemeClr val="dk1"/>
                </a:solidFill>
              </a:rPr>
              <a:t>2</a:t>
            </a:r>
            <a:endParaRPr b="1"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3 = </a:t>
            </a:r>
            <a:r>
              <a:rPr b="1" lang="en-GB" sz="1050">
                <a:solidFill>
                  <a:schemeClr val="dk1"/>
                </a:solidFill>
              </a:rPr>
              <a:t>3</a:t>
            </a:r>
            <a:endParaRPr b="1"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4 = </a:t>
            </a:r>
            <a:r>
              <a:rPr b="1" lang="en-GB" sz="1050">
                <a:solidFill>
                  <a:schemeClr val="dk1"/>
                </a:solidFill>
              </a:rPr>
              <a:t>4</a:t>
            </a:r>
            <a:endParaRPr b="1"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-GB" sz="1050">
                <a:solidFill>
                  <a:schemeClr val="dk1"/>
                </a:solidFill>
              </a:rPr>
              <a:t>Step 1 (Talk to Neighbors):</a:t>
            </a:r>
            <a:endParaRPr b="1"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1 sees Node 2 (ID 2). min(1, 2) = {1}. (No change).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2 sees Node 1 (ID 1). min(2, 1) = {1}. (It changes!)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3 sees Node 4 (ID 4). min(3, 4) = {3}. (No change).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4 sees Node 3 (ID 3). min(4, 3) = {3}. (It changes!)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-GB" sz="1050">
                <a:solidFill>
                  <a:schemeClr val="dk1"/>
                </a:solidFill>
              </a:rPr>
              <a:t>Step 2 (Talk again):</a:t>
            </a:r>
            <a:r>
              <a:rPr lang="en-GB" sz="1050">
                <a:solidFill>
                  <a:schemeClr val="dk1"/>
                </a:solidFill>
              </a:rPr>
              <a:t> Only the nodes that changed (2 and 4) talk.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2 sends "1" to Node 1. min(1, 1) = 1. (No change).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GB" sz="1050">
                <a:solidFill>
                  <a:schemeClr val="dk1"/>
                </a:solidFill>
              </a:rPr>
              <a:t>Node 4 sends "3" to Node 3. min(3, 3) = 3. (No change).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-GB" sz="1050">
                <a:solidFill>
                  <a:schemeClr val="dk1"/>
                </a:solidFill>
              </a:rPr>
              <a:t>Final Answer:</a:t>
            </a:r>
            <a:r>
              <a:rPr lang="en-GB" sz="1050">
                <a:solidFill>
                  <a:schemeClr val="dk1"/>
                </a:solidFill>
              </a:rPr>
              <a:t> No nodes changed, so we stop.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b="1" lang="en-GB" sz="1050">
                <a:solidFill>
                  <a:schemeClr val="dk1"/>
                </a:solidFill>
              </a:rPr>
              <a:t>Group 1:</a:t>
            </a:r>
            <a:r>
              <a:rPr lang="en-GB" sz="1050">
                <a:solidFill>
                  <a:schemeClr val="dk1"/>
                </a:solidFill>
              </a:rPr>
              <a:t> Nodes {1, 2}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b="1" lang="en-GB" sz="1050">
                <a:solidFill>
                  <a:schemeClr val="dk1"/>
                </a:solidFill>
              </a:rPr>
              <a:t>Group 2:</a:t>
            </a:r>
            <a:r>
              <a:rPr lang="en-GB" sz="1050">
                <a:solidFill>
                  <a:schemeClr val="dk1"/>
                </a:solidFill>
              </a:rPr>
              <a:t> Nodes {3, 4}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100400"/>
            <a:ext cx="8520600" cy="6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30"/>
              <a:t>What's the Fastest Path? (Shortest Path)</a:t>
            </a:r>
            <a:endParaRPr sz="293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72050" y="861975"/>
            <a:ext cx="8520600" cy="42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The Goal:</a:t>
            </a:r>
            <a:r>
              <a:rPr lang="en-GB" sz="1100">
                <a:solidFill>
                  <a:schemeClr val="dk1"/>
                </a:solidFill>
              </a:rPr>
              <a:t> Find the fastest (lowest cost) path from the Start (A) to all other nodes.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The Simple Rule:</a:t>
            </a:r>
            <a:r>
              <a:rPr lang="en-GB" sz="1100">
                <a:solidFill>
                  <a:schemeClr val="dk1"/>
                </a:solidFill>
              </a:rPr>
              <a:t> In each step, nodes tell their neighbors their </a:t>
            </a:r>
            <a:r>
              <a:rPr i="1" lang="en-GB" sz="1100">
                <a:solidFill>
                  <a:schemeClr val="dk1"/>
                </a:solidFill>
              </a:rPr>
              <a:t>current cost + the cost to travel to them</a:t>
            </a:r>
            <a:r>
              <a:rPr lang="en-GB" sz="1100">
                <a:solidFill>
                  <a:schemeClr val="dk1"/>
                </a:solidFill>
              </a:rPr>
              <a:t>. A node always updates its cost to be the </a:t>
            </a:r>
            <a:r>
              <a:rPr b="1" lang="en-GB" sz="1100">
                <a:solidFill>
                  <a:schemeClr val="dk1"/>
                </a:solidFill>
              </a:rPr>
              <a:t>lowest number</a:t>
            </a:r>
            <a:r>
              <a:rPr lang="en-GB" sz="1100">
                <a:solidFill>
                  <a:schemeClr val="dk1"/>
                </a:solidFill>
              </a:rPr>
              <a:t> it has ever heard.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Question:</a:t>
            </a:r>
            <a:r>
              <a:rPr lang="en-GB" sz="1100">
                <a:solidFill>
                  <a:schemeClr val="dk1"/>
                </a:solidFill>
              </a:rPr>
              <a:t> Find the lowest cost to reach B and C from 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Solution (Step-by-Step):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Step 0 (Start):</a:t>
            </a:r>
            <a:r>
              <a:rPr lang="en-GB" sz="1100">
                <a:solidFill>
                  <a:schemeClr val="dk1"/>
                </a:solidFill>
              </a:rPr>
              <a:t> Start (A) has a cost of </a:t>
            </a:r>
            <a:r>
              <a:rPr b="1" lang="en-GB" sz="1100">
                <a:solidFill>
                  <a:schemeClr val="dk1"/>
                </a:solidFill>
              </a:rPr>
              <a:t>0</a:t>
            </a:r>
            <a:r>
              <a:rPr lang="en-GB" sz="1100">
                <a:solidFill>
                  <a:schemeClr val="dk1"/>
                </a:solidFill>
              </a:rPr>
              <a:t>. All others are ∞ (infinity).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A = </a:t>
            </a:r>
            <a:r>
              <a:rPr b="1" lang="en-GB" sz="1100">
                <a:solidFill>
                  <a:schemeClr val="dk1"/>
                </a:solidFill>
              </a:rPr>
              <a:t>0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B = </a:t>
            </a:r>
            <a:r>
              <a:rPr b="1" lang="en-GB" sz="1100">
                <a:solidFill>
                  <a:schemeClr val="dk1"/>
                </a:solidFill>
              </a:rPr>
              <a:t>∞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C = </a:t>
            </a:r>
            <a:r>
              <a:rPr b="1" lang="en-GB" sz="1100">
                <a:solidFill>
                  <a:schemeClr val="dk1"/>
                </a:solidFill>
              </a:rPr>
              <a:t>∞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Step 1:</a:t>
            </a:r>
            <a:r>
              <a:rPr lang="en-GB" sz="1100">
                <a:solidFill>
                  <a:schemeClr val="dk1"/>
                </a:solidFill>
              </a:rPr>
              <a:t> Node A (cost 0) talks to its neighbors.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A tells B: "My cost (0) + path cost (6) = </a:t>
            </a:r>
            <a:r>
              <a:rPr b="1" lang="en-GB" sz="1100">
                <a:solidFill>
                  <a:schemeClr val="dk1"/>
                </a:solidFill>
              </a:rPr>
              <a:t>6</a:t>
            </a:r>
            <a:r>
              <a:rPr lang="en-GB" sz="1100">
                <a:solidFill>
                  <a:schemeClr val="dk1"/>
                </a:solidFill>
              </a:rPr>
              <a:t>."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A tells C: "My cost (0) + path cost (2) = </a:t>
            </a:r>
            <a:r>
              <a:rPr b="1" lang="en-GB" sz="1100">
                <a:solidFill>
                  <a:schemeClr val="dk1"/>
                </a:solidFill>
              </a:rPr>
              <a:t>2</a:t>
            </a:r>
            <a:r>
              <a:rPr lang="en-GB" sz="1100">
                <a:solidFill>
                  <a:schemeClr val="dk1"/>
                </a:solidFill>
              </a:rPr>
              <a:t>."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Updates:</a:t>
            </a:r>
            <a:r>
              <a:rPr lang="en-GB" sz="1100">
                <a:solidFill>
                  <a:schemeClr val="dk1"/>
                </a:solidFill>
              </a:rPr>
              <a:t> B's cost is now </a:t>
            </a:r>
            <a:r>
              <a:rPr b="1" lang="en-GB" sz="1100">
                <a:solidFill>
                  <a:schemeClr val="dk1"/>
                </a:solidFill>
              </a:rPr>
              <a:t>6</a:t>
            </a:r>
            <a:r>
              <a:rPr lang="en-GB" sz="1100">
                <a:solidFill>
                  <a:schemeClr val="dk1"/>
                </a:solidFill>
              </a:rPr>
              <a:t>. C's cost is now </a:t>
            </a:r>
            <a:r>
              <a:rPr b="1" lang="en-GB" sz="1100">
                <a:solidFill>
                  <a:schemeClr val="dk1"/>
                </a:solidFill>
              </a:rPr>
              <a:t>2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Step 2:</a:t>
            </a:r>
            <a:r>
              <a:rPr lang="en-GB" sz="1100">
                <a:solidFill>
                  <a:schemeClr val="dk1"/>
                </a:solidFill>
              </a:rPr>
              <a:t> Node C (cost 2) now talks to </a:t>
            </a:r>
            <a:r>
              <a:rPr i="1" lang="en-GB" sz="1100">
                <a:solidFill>
                  <a:schemeClr val="dk1"/>
                </a:solidFill>
              </a:rPr>
              <a:t>its</a:t>
            </a:r>
            <a:r>
              <a:rPr lang="en-GB" sz="1100">
                <a:solidFill>
                  <a:schemeClr val="dk1"/>
                </a:solidFill>
              </a:rPr>
              <a:t> neighbors.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C tells B: "My cost (2) + path cost (3) = </a:t>
            </a:r>
            <a:r>
              <a:rPr b="1" lang="en-GB" sz="1100">
                <a:solidFill>
                  <a:schemeClr val="dk1"/>
                </a:solidFill>
              </a:rPr>
              <a:t>5</a:t>
            </a:r>
            <a:r>
              <a:rPr lang="en-GB" sz="1100">
                <a:solidFill>
                  <a:schemeClr val="dk1"/>
                </a:solidFill>
              </a:rPr>
              <a:t>."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Update:</a:t>
            </a:r>
            <a:r>
              <a:rPr lang="en-GB" sz="1100">
                <a:solidFill>
                  <a:schemeClr val="dk1"/>
                </a:solidFill>
              </a:rPr>
              <a:t> B hears "5". This is lower than its current cost of "6". B's cost is now </a:t>
            </a:r>
            <a:r>
              <a:rPr b="1" lang="en-GB" sz="1100">
                <a:solidFill>
                  <a:schemeClr val="dk1"/>
                </a:solidFill>
              </a:rPr>
              <a:t>5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Step 3:</a:t>
            </a:r>
            <a:r>
              <a:rPr lang="en-GB" sz="1100">
                <a:solidFill>
                  <a:schemeClr val="dk1"/>
                </a:solidFill>
              </a:rPr>
              <a:t> Node B (cost 5) talks, but has no neighbors. The costs don't change.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Final Answer: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Path to C: </a:t>
            </a:r>
            <a:r>
              <a:rPr b="1" lang="en-GB" sz="1100">
                <a:solidFill>
                  <a:schemeClr val="dk1"/>
                </a:solidFill>
              </a:rPr>
              <a:t>2</a:t>
            </a:r>
            <a:r>
              <a:rPr lang="en-GB" sz="1100">
                <a:solidFill>
                  <a:schemeClr val="dk1"/>
                </a:solidFill>
              </a:rPr>
              <a:t> (Path: A → C)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Path to B: </a:t>
            </a:r>
            <a:r>
              <a:rPr b="1" lang="en-GB" sz="1100">
                <a:solidFill>
                  <a:schemeClr val="dk1"/>
                </a:solidFill>
              </a:rPr>
              <a:t>5</a:t>
            </a:r>
            <a:r>
              <a:rPr lang="en-GB" sz="1100">
                <a:solidFill>
                  <a:schemeClr val="dk1"/>
                </a:solidFill>
              </a:rPr>
              <a:t> (Path: A → C → B)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