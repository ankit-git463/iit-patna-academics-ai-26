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FCC521-E26C-4C65-983B-720D46395CA9}" type="datetimeFigureOut">
              <a:rPr lang="en-IN" smtClean="0"/>
              <a:t>08-10-2025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528213-F5B3-455E-B9EA-65BD1D029F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44941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44BA49-BCDB-B185-03AF-335FA67B1D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65AD49-DD7C-8B00-D444-DC072CB142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1B3D91-E256-6370-FE23-908AEEC13D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20BD97-2F2E-0630-3A6E-59B8F2C485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528213-F5B3-455E-B9EA-65BD1D029F27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19236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528213-F5B3-455E-B9EA-65BD1D029F27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91559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F6578C-7EC4-7095-D441-CBDEF7B990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D1390A-6383-E336-0FB8-6B24134134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A72A51-70B5-3A09-92B4-F5C6558B20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22EDEE-9ECE-6BBF-2F02-23155A298F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528213-F5B3-455E-B9EA-65BD1D029F27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73740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46A809-0833-D3FC-6858-6B04396A50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A464F0-7BCE-6D55-BC9A-A29D477F0C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BF6FE7-F160-BF6B-580B-CD2E0C2311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8927F0-3658-6F11-8F12-04DE0CEB77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528213-F5B3-455E-B9EA-65BD1D029F27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26195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A2A987-C65A-DAEE-F74B-DB47AF9F03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750B7E-D0F5-E328-0557-CE204DFD7C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4FF7B7-7A1F-87B3-8D0A-BA0B91D147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06F99-90DD-4CE2-B6E1-D698DC6330BA}" type="datetimeFigureOut">
              <a:rPr lang="en-IN" smtClean="0"/>
              <a:t>08-10-2025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BC448D-2025-A193-B01B-8FB8BFAAB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308800-187E-8800-EA96-C0310C4FC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66E70-27F9-4CAD-BB1D-F1A782BE73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76002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04E2E-FB6B-8F3E-7D62-473FEE38FE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44F863-010E-7C39-0CB1-8818BE576E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827C94-FF7F-86BE-5B4D-E1B7B103B6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06F99-90DD-4CE2-B6E1-D698DC6330BA}" type="datetimeFigureOut">
              <a:rPr lang="en-IN" smtClean="0"/>
              <a:t>08-10-2025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43AE33-F2D7-CC0B-977C-F9ADA258D7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B503E0-58CA-1673-3255-A387C33A6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66E70-27F9-4CAD-BB1D-F1A782BE73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5001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8D98FE-43B5-7AAD-6CEF-D14971BE2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5A9BF0-25A3-63DC-1B89-DACF35ABCC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70C9DB-9916-4C57-1793-9C5907B06A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06F99-90DD-4CE2-B6E1-D698DC6330BA}" type="datetimeFigureOut">
              <a:rPr lang="en-IN" smtClean="0"/>
              <a:t>08-10-2025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E843A1-7755-146A-EC20-BADAF4F4AB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6F74CB-C4B8-AA68-F71D-B11856CF21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66E70-27F9-4CAD-BB1D-F1A782BE73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32385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8A9E7-B8C8-62FE-3AF1-920CD2E99C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B66A56-0D2C-249B-A342-0325CE16AD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A01A1C-FC33-9401-0DA1-3C4C12E28E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E1ED53-D9B3-E5F8-BFF3-C720DC6A61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06F99-90DD-4CE2-B6E1-D698DC6330BA}" type="datetimeFigureOut">
              <a:rPr lang="en-IN" smtClean="0"/>
              <a:t>08-10-2025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25328D-6AA1-AD31-7972-8695B9A29F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9AB602-001D-A232-CE7F-93BECAA707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66E70-27F9-4CAD-BB1D-F1A782BE73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41866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5C3482-B99B-F94A-4AEE-6C1625CCB9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587CBD-A1A9-0515-A911-CD39405465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6529E8-D6FD-F344-B2F1-DF2ED333F6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BB70932-E343-0B69-CC12-8F5309518E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20C9EC2-8270-2C56-E2D4-608CC0B5EBB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F41ED20-9D2F-CD32-D170-7A135DA295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06F99-90DD-4CE2-B6E1-D698DC6330BA}" type="datetimeFigureOut">
              <a:rPr lang="en-IN" smtClean="0"/>
              <a:t>08-10-2025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4C6525-2508-1018-7045-85CCCAAD4A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405D08-B4EF-D640-4193-D835BDFB0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66E70-27F9-4CAD-BB1D-F1A782BE73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97481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2E0DD5-C4C5-56A2-73AF-19C0A3C34F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9CA2F1B-9785-7EEB-D746-4F0DB0E573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06F99-90DD-4CE2-B6E1-D698DC6330BA}" type="datetimeFigureOut">
              <a:rPr lang="en-IN" smtClean="0"/>
              <a:t>08-10-2025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B79F28-FBDF-4678-060B-F1A286AA0F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1D1FE2-613D-AFDB-3FA9-8BD2135397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66E70-27F9-4CAD-BB1D-F1A782BE73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94721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D7D7927-1AE8-98F3-79CC-1CFB24613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06F99-90DD-4CE2-B6E1-D698DC6330BA}" type="datetimeFigureOut">
              <a:rPr lang="en-IN" smtClean="0"/>
              <a:t>08-10-2025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492DBF0-5471-46E9-8ED3-D45DBF09A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767F3F-CDD7-1077-FE13-DF3121B52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66E70-27F9-4CAD-BB1D-F1A782BE73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09464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406DF-1105-6618-687E-56BC0211C1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636961-8751-9016-53F7-C563BFE5BD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A7D1E9-44EB-DCDE-3776-F0DA0F692A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D0617C-2FCF-B8E7-C520-72F58D5F76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06F99-90DD-4CE2-B6E1-D698DC6330BA}" type="datetimeFigureOut">
              <a:rPr lang="en-IN" smtClean="0"/>
              <a:t>08-10-2025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B3A434-2BC4-53DB-920D-7CCE812E91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A4D6B2-6F4A-D848-B577-5A61BF38F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66E70-27F9-4CAD-BB1D-F1A782BE73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36816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F4B066-6F99-C484-61AA-BA21A6E287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41D9E8D-3D0A-7598-128A-F125AAEBDE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101118-0AFE-1CCD-1FD0-304FD001FE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8FC7DA-550F-C1B2-BF00-E4C2A44B11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06F99-90DD-4CE2-B6E1-D698DC6330BA}" type="datetimeFigureOut">
              <a:rPr lang="en-IN" smtClean="0"/>
              <a:t>08-10-2025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29126A-D58E-DC44-F27F-9215465C91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3EF33F-FA75-25B3-8033-60B15414A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66E70-27F9-4CAD-BB1D-F1A782BE73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61354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5F27B9-D109-37A2-FEE8-D48A556372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4749FB-1BBC-F694-5727-423903A306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921EFF-3DCB-47B1-056C-12E918AAF2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06F99-90DD-4CE2-B6E1-D698DC6330BA}" type="datetimeFigureOut">
              <a:rPr lang="en-IN" smtClean="0"/>
              <a:t>08-10-2025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4F46F7-CCF0-6E62-3726-E63DDCA0EB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0F442F-838F-0F02-6F06-9F7DC9134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66E70-27F9-4CAD-BB1D-F1A782BE73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67817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E774785-3CA9-309C-B0E1-5499CECFCC2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CFC1F3-EF63-024A-3281-17AA669DE6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41099E-016A-E76B-AFDF-A91D24E24A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06F99-90DD-4CE2-B6E1-D698DC6330BA}" type="datetimeFigureOut">
              <a:rPr lang="en-IN" smtClean="0"/>
              <a:t>08-10-2025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270331-D2BF-09A1-4762-253E131986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3C498E-5D18-1F36-631F-963A3462E1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66E70-27F9-4CAD-BB1D-F1A782BE73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11801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B993547-54D9-CDE9-24FF-A0654FEE43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D97976-DB5F-7390-074D-0ED9E36F7A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055704-458A-5CF0-BF1A-7003BE7557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506F99-90DD-4CE2-B6E1-D698DC6330BA}" type="datetimeFigureOut">
              <a:rPr lang="en-IN" smtClean="0"/>
              <a:t>08-10-2025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51AC52-5833-FB0F-DA3C-336FDB95AC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ACA6FB-1BA5-D5F7-00A2-17D3347281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966E70-27F9-4CAD-BB1D-F1A782BE73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5496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43B405-E085-AB46-F043-F36DDBF77F9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Apache Mahout</a:t>
            </a:r>
            <a:endParaRPr lang="en-IN" b="1" dirty="0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7C0CB5-704F-5567-70C6-419F1B5808E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Big Data Lab</a:t>
            </a:r>
          </a:p>
          <a:p>
            <a:r>
              <a:rPr lang="en-US" dirty="0"/>
              <a:t>8</a:t>
            </a:r>
            <a:r>
              <a:rPr lang="en-US" baseline="30000" dirty="0"/>
              <a:t>th</a:t>
            </a:r>
            <a:r>
              <a:rPr lang="en-US" dirty="0"/>
              <a:t> October 2025</a:t>
            </a:r>
            <a:endParaRPr lang="en-IN" dirty="0"/>
          </a:p>
        </p:txBody>
      </p:sp>
      <p:pic>
        <p:nvPicPr>
          <p:cNvPr id="2050" name="Picture 2" descr="Apache Mahout The Recommender System ...">
            <a:extLst>
              <a:ext uri="{FF2B5EF4-FFF2-40B4-BE49-F238E27FC236}">
                <a16:creationId xmlns:a16="http://schemas.microsoft.com/office/drawing/2014/main" id="{1913DBFD-CD60-ABA8-0F85-B9E2A58334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13009" y="527797"/>
            <a:ext cx="3238500" cy="1409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207438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D4B8B5-C9DD-6E8D-09C3-CDBA4C06B8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b="1" u="sng" dirty="0"/>
              <a:t>Mahout Collab Setup </a:t>
            </a:r>
            <a:endParaRPr lang="en-IN" sz="5400" b="1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57DC5B-7891-0A72-CB44-98F7572E86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Upload Provided Collab Notebook (</a:t>
            </a:r>
            <a:r>
              <a:rPr lang="en-US" dirty="0" err="1"/>
              <a:t>Apache_Mahout.ipynb</a:t>
            </a:r>
            <a:r>
              <a:rPr lang="en-US" dirty="0"/>
              <a:t>)</a:t>
            </a:r>
          </a:p>
          <a:p>
            <a:r>
              <a:rPr lang="en-US" dirty="0"/>
              <a:t>Run first cell and upload provided mahout .tar  file</a:t>
            </a:r>
          </a:p>
          <a:p>
            <a:r>
              <a:rPr lang="en-US" dirty="0"/>
              <a:t>Once First cell runs completely and once shell command line comes at last stop the cell</a:t>
            </a:r>
          </a:p>
          <a:p>
            <a:r>
              <a:rPr lang="en-US" dirty="0"/>
              <a:t>Start second shell to launch Scala Shell </a:t>
            </a:r>
          </a:p>
          <a:p>
            <a:r>
              <a:rPr lang="en-US" dirty="0"/>
              <a:t>If it does not work run </a:t>
            </a:r>
            <a:r>
              <a:rPr lang="en-US"/>
              <a:t>Third cell and try again</a:t>
            </a: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027384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23FA3A-5171-570A-CB46-ACCDBD43D0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915ED8-7A8B-47C6-588A-2F29F68096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22652"/>
          </a:xfrm>
        </p:spPr>
        <p:txBody>
          <a:bodyPr>
            <a:normAutofit fontScale="90000"/>
          </a:bodyPr>
          <a:lstStyle/>
          <a:p>
            <a:r>
              <a:rPr lang="en-US" sz="5400" b="1" u="sng" dirty="0"/>
              <a:t>What is Apache Mahout ?</a:t>
            </a:r>
            <a:endParaRPr lang="en-IN" sz="5400" b="1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111574-410E-FF18-6FA9-C156119821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07151"/>
            <a:ext cx="10515600" cy="1888536"/>
          </a:xfrm>
        </p:spPr>
        <p:txBody>
          <a:bodyPr/>
          <a:lstStyle/>
          <a:p>
            <a:r>
              <a:rPr lang="en-US" dirty="0"/>
              <a:t>An open-source project from the Apache Software Foundation.</a:t>
            </a:r>
          </a:p>
          <a:p>
            <a:r>
              <a:rPr lang="en-US" dirty="0"/>
              <a:t>Its primary goal is to provide a framework for executing ML algorithms on large datasets.</a:t>
            </a:r>
          </a:p>
          <a:p>
            <a:r>
              <a:rPr lang="en-US" altLang="en-US" dirty="0">
                <a:latin typeface="Arial" panose="020B0604020202020204" pitchFamily="34" charset="0"/>
              </a:rPr>
              <a:t>Designed to build scalable machine learning (ML) applications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EF350A4-E918-0EA3-C841-034D0F6944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23165"/>
            <a:ext cx="26481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2A648D0E-A1A2-4A2F-6B8E-3789FE870BAA}"/>
              </a:ext>
            </a:extLst>
          </p:cNvPr>
          <p:cNvSpPr txBox="1">
            <a:spLocks/>
          </p:cNvSpPr>
          <p:nvPr/>
        </p:nvSpPr>
        <p:spPr>
          <a:xfrm>
            <a:off x="838200" y="3250988"/>
            <a:ext cx="10515600" cy="8226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5400" b="1" u="sng" dirty="0"/>
              <a:t>Why Use Mahout?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80D409B-5C40-6E20-EAD7-2A1E453445FD}"/>
              </a:ext>
            </a:extLst>
          </p:cNvPr>
          <p:cNvSpPr txBox="1">
            <a:spLocks/>
          </p:cNvSpPr>
          <p:nvPr/>
        </p:nvSpPr>
        <p:spPr>
          <a:xfrm>
            <a:off x="838200" y="4400714"/>
            <a:ext cx="10515600" cy="1888536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Scalability:</a:t>
            </a:r>
            <a:r>
              <a:rPr lang="en-US" dirty="0"/>
              <a:t> Built to run on large clusters, handling datasets that are too big for a single machine.</a:t>
            </a:r>
          </a:p>
          <a:p>
            <a:r>
              <a:rPr lang="en-US" b="1" dirty="0"/>
              <a:t>Pre-built Algorithms:</a:t>
            </a:r>
            <a:r>
              <a:rPr lang="en-US" dirty="0"/>
              <a:t> Provides a library of implemented and tested machine learning algorithms.</a:t>
            </a:r>
          </a:p>
          <a:p>
            <a:r>
              <a:rPr lang="en-US" b="1" dirty="0"/>
              <a:t>Open Source:</a:t>
            </a:r>
            <a:r>
              <a:rPr lang="en-US" dirty="0"/>
              <a:t> Free to use, modify, and distribute. Backed by a strong community.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523430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097BF8-19FB-F1FC-4B63-DCCF111D4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EDBA49-25BD-662A-6A9B-6589C55F9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52970"/>
          </a:xfrm>
        </p:spPr>
        <p:txBody>
          <a:bodyPr>
            <a:normAutofit fontScale="90000"/>
          </a:bodyPr>
          <a:lstStyle/>
          <a:p>
            <a:r>
              <a:rPr lang="en-IN" sz="5400" b="1" u="sng" dirty="0"/>
              <a:t>Problem setup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1738E48-7D1E-7EAF-8BB6-D54A6238819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018097"/>
                <a:ext cx="10515600" cy="1819372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IN" dirty="0"/>
                  <a:t>Multiply</a:t>
                </a:r>
              </a:p>
              <a:p>
                <a:pPr marL="0" indent="0">
                  <a:buNone/>
                </a:pPr>
                <a:r>
                  <a:rPr lang="en-IN" u="sng" dirty="0"/>
                  <a:t>Element-wise (pairwise contributions) </a:t>
                </a:r>
              </a:p>
              <a:p>
                <a:pPr marL="0" indent="0">
                  <a:buNone/>
                </a:pPr>
                <a:r>
                  <a:rPr lang="en-IN" sz="2400" b="1" dirty="0" err="1"/>
                  <a:t>Idea</a:t>
                </a:r>
                <a:r>
                  <a:rPr lang="en-IN" sz="2400" dirty="0" err="1"/>
                  <a:t>:Mappers</a:t>
                </a:r>
                <a:r>
                  <a:rPr lang="en-IN" sz="2400" dirty="0"/>
                  <a:t> emit contributions keyed by </a:t>
                </a:r>
                <a14:m>
                  <m:oMath xmlns:m="http://schemas.openxmlformats.org/officeDocument/2006/math">
                    <m:d>
                      <m:dPr>
                        <m:sepChr m:val=","/>
                        <m:ctrlPr>
                          <a:rPr lang="ar-AE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2400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e>
                        <m:r>
                          <a:rPr lang="ar-AE" sz="2400" i="1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</m:oMath>
                </a14:m>
                <a:r>
                  <a:rPr lang="ar-AE" sz="2400" dirty="0"/>
                  <a:t>. </a:t>
                </a:r>
                <a:r>
                  <a:rPr lang="en-IN" sz="2400" dirty="0"/>
                  <a:t>Reducers sum all contributions for each </a:t>
                </a:r>
                <a14:m>
                  <m:oMath xmlns:m="http://schemas.openxmlformats.org/officeDocument/2006/math">
                    <m:d>
                      <m:dPr>
                        <m:sepChr m:val=","/>
                        <m:ctrlPr>
                          <a:rPr lang="ar-AE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2400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e>
                        <m:r>
                          <a:rPr lang="ar-AE" sz="2400" i="1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</m:oMath>
                </a14:m>
                <a:endParaRPr lang="en-IN" u="sng" dirty="0"/>
              </a:p>
              <a:p>
                <a:pPr marL="0" indent="0">
                  <a:buNone/>
                </a:pPr>
                <a:endParaRPr lang="en-IN" u="sng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1738E48-7D1E-7EAF-8BB6-D54A6238819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018097"/>
                <a:ext cx="10515600" cy="1819372"/>
              </a:xfrm>
              <a:blipFill>
                <a:blip r:embed="rId2"/>
                <a:stretch>
                  <a:fillRect l="-1217" t="-5369" r="-1101" b="-536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4D87ECBB-9BD0-DCCC-CF1F-2730092645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5423" y="1108818"/>
            <a:ext cx="1241154" cy="30520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64DE777-7E81-E781-DF2D-47055B7AF2E7}"/>
              </a:ext>
            </a:extLst>
          </p:cNvPr>
          <p:cNvSpPr txBox="1"/>
          <p:nvPr/>
        </p:nvSpPr>
        <p:spPr>
          <a:xfrm>
            <a:off x="6096000" y="3007151"/>
            <a:ext cx="52578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Reducer (concept)</a:t>
            </a:r>
          </a:p>
          <a:p>
            <a:r>
              <a:rPr lang="en-IN" dirty="0"/>
              <a:t>Input: key (</a:t>
            </a:r>
            <a:r>
              <a:rPr lang="en-IN" dirty="0" err="1"/>
              <a:t>i,j</a:t>
            </a:r>
            <a:r>
              <a:rPr lang="en-IN" dirty="0"/>
              <a:t>) and list of ('A',</a:t>
            </a:r>
            <a:r>
              <a:rPr lang="en-IN" dirty="0" err="1"/>
              <a:t>k,valA</a:t>
            </a:r>
            <a:r>
              <a:rPr lang="en-IN" dirty="0"/>
              <a:t>) and ('B',</a:t>
            </a:r>
            <a:r>
              <a:rPr lang="en-IN" dirty="0" err="1"/>
              <a:t>k,valB</a:t>
            </a:r>
            <a:r>
              <a:rPr lang="en-IN" dirty="0"/>
              <a:t>) values</a:t>
            </a:r>
          </a:p>
          <a:p>
            <a:r>
              <a:rPr lang="en-IN" dirty="0"/>
              <a:t>Build maps </a:t>
            </a:r>
            <a:r>
              <a:rPr lang="en-IN" dirty="0" err="1"/>
              <a:t>Amap</a:t>
            </a:r>
            <a:r>
              <a:rPr lang="en-IN" dirty="0"/>
              <a:t>[k]=</a:t>
            </a:r>
            <a:r>
              <a:rPr lang="en-IN" dirty="0" err="1"/>
              <a:t>valA</a:t>
            </a:r>
            <a:r>
              <a:rPr lang="en-IN" dirty="0"/>
              <a:t> and </a:t>
            </a:r>
            <a:r>
              <a:rPr lang="en-IN" dirty="0" err="1"/>
              <a:t>Bmap</a:t>
            </a:r>
            <a:r>
              <a:rPr lang="en-IN" dirty="0"/>
              <a:t>[k]=</a:t>
            </a:r>
            <a:r>
              <a:rPr lang="en-IN" dirty="0" err="1"/>
              <a:t>valB</a:t>
            </a:r>
            <a:endParaRPr lang="en-IN" dirty="0"/>
          </a:p>
          <a:p>
            <a:r>
              <a:rPr lang="en-IN" dirty="0"/>
              <a:t>Sum over k: sum += </a:t>
            </a:r>
            <a:r>
              <a:rPr lang="en-IN" dirty="0" err="1"/>
              <a:t>Amap</a:t>
            </a:r>
            <a:r>
              <a:rPr lang="en-IN" dirty="0"/>
              <a:t>[k] * </a:t>
            </a:r>
            <a:r>
              <a:rPr lang="en-IN" dirty="0" err="1"/>
              <a:t>Bmap</a:t>
            </a:r>
            <a:r>
              <a:rPr lang="en-IN" dirty="0"/>
              <a:t>[k]</a:t>
            </a:r>
          </a:p>
          <a:p>
            <a:r>
              <a:rPr lang="en-IN" dirty="0"/>
              <a:t>Output (</a:t>
            </a:r>
            <a:r>
              <a:rPr lang="en-IN" dirty="0" err="1"/>
              <a:t>i,j,sum</a:t>
            </a:r>
            <a:r>
              <a:rPr lang="en-IN" dirty="0"/>
              <a:t>)</a:t>
            </a:r>
          </a:p>
          <a:p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6D9D275-F4DC-3C62-A63A-C73A62574F55}"/>
              </a:ext>
            </a:extLst>
          </p:cNvPr>
          <p:cNvSpPr txBox="1"/>
          <p:nvPr/>
        </p:nvSpPr>
        <p:spPr>
          <a:xfrm>
            <a:off x="877677" y="3007151"/>
            <a:ext cx="52578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Mapper (concept)</a:t>
            </a:r>
          </a:p>
          <a:p>
            <a:r>
              <a:rPr lang="en-IN" dirty="0"/>
              <a:t>Input: elements of A or B as tuples: (A, </a:t>
            </a:r>
            <a:r>
              <a:rPr lang="en-IN" dirty="0" err="1"/>
              <a:t>i</a:t>
            </a:r>
            <a:r>
              <a:rPr lang="en-IN" dirty="0"/>
              <a:t>, k, value) or (B, k, j, value)</a:t>
            </a:r>
          </a:p>
          <a:p>
            <a:r>
              <a:rPr lang="en-IN" dirty="0"/>
              <a:t>For an A-element (</a:t>
            </a:r>
            <a:r>
              <a:rPr lang="en-IN" dirty="0" err="1"/>
              <a:t>i,k,valA</a:t>
            </a:r>
            <a:r>
              <a:rPr lang="en-IN" dirty="0"/>
              <a:t>) produce for all j in [0..p-1]:</a:t>
            </a:r>
          </a:p>
          <a:p>
            <a:pPr lvl="1"/>
            <a:r>
              <a:rPr lang="en-IN" dirty="0"/>
              <a:t>emit key (</a:t>
            </a:r>
            <a:r>
              <a:rPr lang="en-IN" dirty="0" err="1"/>
              <a:t>i,j</a:t>
            </a:r>
            <a:r>
              <a:rPr lang="en-IN" dirty="0"/>
              <a:t>) value ('A', k, </a:t>
            </a:r>
            <a:r>
              <a:rPr lang="en-IN" dirty="0" err="1"/>
              <a:t>valA</a:t>
            </a:r>
            <a:r>
              <a:rPr lang="en-IN" dirty="0"/>
              <a:t>)</a:t>
            </a:r>
          </a:p>
          <a:p>
            <a:r>
              <a:rPr lang="en-IN" dirty="0"/>
              <a:t>For a B-element (</a:t>
            </a:r>
            <a:r>
              <a:rPr lang="en-IN" dirty="0" err="1"/>
              <a:t>k,j,valB</a:t>
            </a:r>
            <a:r>
              <a:rPr lang="en-IN" dirty="0"/>
              <a:t>) produce for all </a:t>
            </a:r>
            <a:r>
              <a:rPr lang="en-IN" dirty="0" err="1"/>
              <a:t>i</a:t>
            </a:r>
            <a:r>
              <a:rPr lang="en-IN" dirty="0"/>
              <a:t> in [0..m-1]:</a:t>
            </a:r>
          </a:p>
          <a:p>
            <a:pPr lvl="1"/>
            <a:r>
              <a:rPr lang="en-IN" dirty="0"/>
              <a:t>emit key (</a:t>
            </a:r>
            <a:r>
              <a:rPr lang="en-IN" dirty="0" err="1"/>
              <a:t>i,j</a:t>
            </a:r>
            <a:r>
              <a:rPr lang="en-IN" dirty="0"/>
              <a:t>) value ('B', k, </a:t>
            </a:r>
            <a:r>
              <a:rPr lang="en-IN" dirty="0" err="1"/>
              <a:t>valB</a:t>
            </a:r>
            <a:r>
              <a:rPr lang="en-IN" dirty="0"/>
              <a:t>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184254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F8FA5D-DCD7-1620-5C12-65F88BD60F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0"/>
            <a:ext cx="10515600" cy="643543"/>
          </a:xfrm>
        </p:spPr>
        <p:txBody>
          <a:bodyPr>
            <a:normAutofit fontScale="90000"/>
          </a:bodyPr>
          <a:lstStyle/>
          <a:p>
            <a:r>
              <a:rPr lang="en-US" dirty="0"/>
              <a:t>Basic Mahout Command</a:t>
            </a:r>
            <a:endParaRPr lang="en-IN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E40D454A-01B1-8B35-5831-16CBC621A91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8430009"/>
              </p:ext>
            </p:extLst>
          </p:nvPr>
        </p:nvGraphicFramePr>
        <p:xfrm>
          <a:off x="838199" y="643543"/>
          <a:ext cx="10515597" cy="84232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1473035264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173594485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8967271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b="1" kern="100" dirty="0">
                          <a:effectLst/>
                        </a:rPr>
                        <a:t>Vector Creation</a:t>
                      </a:r>
                      <a:endParaRPr lang="en-IN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>
                          <a:effectLst/>
                        </a:rPr>
                        <a:t>val v = dense(1,2,3)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>
                          <a:effectLst/>
                        </a:rPr>
                        <a:t>Create a dense vector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299932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b="1" kern="100" dirty="0">
                          <a:effectLst/>
                        </a:rPr>
                        <a:t> </a:t>
                      </a:r>
                      <a:endParaRPr lang="en-IN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 dirty="0" err="1">
                          <a:effectLst/>
                        </a:rPr>
                        <a:t>val</a:t>
                      </a:r>
                      <a:r>
                        <a:rPr lang="en-IN" sz="1100" kern="100" dirty="0">
                          <a:effectLst/>
                        </a:rPr>
                        <a:t> </a:t>
                      </a:r>
                      <a:r>
                        <a:rPr lang="en-IN" sz="1100" kern="100" dirty="0" err="1">
                          <a:effectLst/>
                        </a:rPr>
                        <a:t>sv</a:t>
                      </a:r>
                      <a:r>
                        <a:rPr lang="en-IN" sz="1100" kern="100" dirty="0">
                          <a:effectLst/>
                        </a:rPr>
                        <a:t> = new </a:t>
                      </a:r>
                      <a:r>
                        <a:rPr lang="en-IN" sz="1100" kern="100" dirty="0" err="1">
                          <a:effectLst/>
                        </a:rPr>
                        <a:t>RandomAccessSparseVector</a:t>
                      </a:r>
                      <a:r>
                        <a:rPr lang="en-IN" sz="1100" kern="100" dirty="0">
                          <a:effectLst/>
                        </a:rPr>
                        <a:t>(5)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 dirty="0" err="1">
                          <a:effectLst/>
                        </a:rPr>
                        <a:t>sv.set</a:t>
                      </a:r>
                      <a:r>
                        <a:rPr lang="en-IN" sz="1100" kern="100" dirty="0">
                          <a:effectLst/>
                        </a:rPr>
                        <a:t>(0, 10.0)</a:t>
                      </a:r>
                      <a:endParaRPr lang="en-IN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 dirty="0">
                          <a:effectLst/>
                        </a:rPr>
                        <a:t>Create Sparse Vector</a:t>
                      </a:r>
                      <a:endParaRPr lang="en-IN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767401467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88A205E-0BCA-F12C-C2FB-3A6ECC1B47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7569950"/>
              </p:ext>
            </p:extLst>
          </p:nvPr>
        </p:nvGraphicFramePr>
        <p:xfrm>
          <a:off x="838199" y="1580515"/>
          <a:ext cx="10515597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906058130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1906313731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1181761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b="1" kern="100" dirty="0">
                          <a:effectLst/>
                        </a:rPr>
                        <a:t>Matrix Creation</a:t>
                      </a:r>
                      <a:endParaRPr lang="en-IN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 dirty="0" err="1">
                          <a:effectLst/>
                        </a:rPr>
                        <a:t>val</a:t>
                      </a:r>
                      <a:r>
                        <a:rPr lang="en-IN" sz="1100" kern="100" dirty="0">
                          <a:effectLst/>
                        </a:rPr>
                        <a:t> m = dense((1,2,3),(4,5,6))</a:t>
                      </a:r>
                      <a:endParaRPr lang="en-IN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>
                          <a:effectLst/>
                        </a:rPr>
                        <a:t>Create a 2×3 dense matrix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5433721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endParaRPr lang="en-IN" sz="1100" kern="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 dirty="0" err="1">
                          <a:effectLst/>
                        </a:rPr>
                        <a:t>val</a:t>
                      </a:r>
                      <a:r>
                        <a:rPr lang="en-IN" sz="1100" kern="100" dirty="0">
                          <a:effectLst/>
                        </a:rPr>
                        <a:t> </a:t>
                      </a:r>
                      <a:r>
                        <a:rPr lang="en-IN" sz="1100" kern="100" dirty="0" err="1">
                          <a:effectLst/>
                        </a:rPr>
                        <a:t>randM</a:t>
                      </a:r>
                      <a:r>
                        <a:rPr lang="en-IN" sz="1100" kern="100" dirty="0">
                          <a:effectLst/>
                        </a:rPr>
                        <a:t> = </a:t>
                      </a:r>
                      <a:r>
                        <a:rPr lang="en-IN" sz="1100" kern="100" dirty="0" err="1">
                          <a:effectLst/>
                        </a:rPr>
                        <a:t>Matrices.symmetricUniformView</a:t>
                      </a:r>
                      <a:r>
                        <a:rPr lang="en-IN" sz="1100" kern="100" dirty="0">
                          <a:effectLst/>
                        </a:rPr>
                        <a:t>(3, 3, 12)</a:t>
                      </a:r>
                      <a:endParaRPr lang="en-IN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>
                          <a:effectLst/>
                        </a:rPr>
                        <a:t>Random 3×3 matrix (random seed = 12)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835074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endParaRPr lang="en-IN" sz="1100" kern="1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>
                          <a:effectLst/>
                        </a:rPr>
                        <a:t>val zerosM = new DenseMatrix(3, 3)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 dirty="0">
                          <a:effectLst/>
                        </a:rPr>
                        <a:t>All-zero matrix</a:t>
                      </a:r>
                      <a:endParaRPr lang="en-IN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8489806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endParaRPr lang="en-IN" sz="1100" kern="1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>
                          <a:effectLst/>
                        </a:rPr>
                        <a:t>val eyeM = eye(3)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 dirty="0">
                          <a:effectLst/>
                        </a:rPr>
                        <a:t>3×3 identity matrix</a:t>
                      </a:r>
                      <a:endParaRPr lang="en-IN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241308868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C08E077D-E2B6-352D-7EC1-FF1B42D78A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3894907"/>
              </p:ext>
            </p:extLst>
          </p:nvPr>
        </p:nvGraphicFramePr>
        <p:xfrm>
          <a:off x="838199" y="3158519"/>
          <a:ext cx="10515597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3390073158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645541917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263918938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b="1" kern="100" dirty="0">
                          <a:effectLst/>
                        </a:rPr>
                        <a:t>Arithmetic (Vectors)</a:t>
                      </a:r>
                      <a:endParaRPr lang="en-IN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 dirty="0">
                          <a:effectLst/>
                        </a:rPr>
                        <a:t>v + v</a:t>
                      </a:r>
                      <a:endParaRPr lang="en-IN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>
                          <a:effectLst/>
                        </a:rPr>
                        <a:t>Add vectors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39929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endParaRPr lang="en-IN" sz="1100" kern="1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 dirty="0">
                          <a:effectLst/>
                        </a:rPr>
                        <a:t>v - v</a:t>
                      </a:r>
                      <a:endParaRPr lang="en-IN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 dirty="0">
                          <a:effectLst/>
                        </a:rPr>
                        <a:t>Subtract vectors</a:t>
                      </a:r>
                      <a:endParaRPr lang="en-IN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5474597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endParaRPr lang="en-IN" sz="1100" kern="1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 dirty="0">
                          <a:effectLst/>
                        </a:rPr>
                        <a:t>v * v</a:t>
                      </a:r>
                      <a:endParaRPr lang="en-IN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 dirty="0">
                          <a:effectLst/>
                        </a:rPr>
                        <a:t>Elementwise multiply</a:t>
                      </a:r>
                      <a:endParaRPr lang="en-IN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9018312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endParaRPr lang="en-IN" sz="1100" kern="1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>
                          <a:effectLst/>
                        </a:rPr>
                        <a:t>v / v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 dirty="0">
                          <a:effectLst/>
                        </a:rPr>
                        <a:t>Elementwise divide</a:t>
                      </a:r>
                      <a:endParaRPr lang="en-IN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5806471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endParaRPr lang="en-IN" sz="1100" kern="1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>
                          <a:effectLst/>
                        </a:rPr>
                        <a:t>v.norm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 dirty="0">
                          <a:effectLst/>
                        </a:rPr>
                        <a:t>L2 norm</a:t>
                      </a:r>
                      <a:endParaRPr lang="en-IN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904779461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2943BED9-5755-21A9-F486-F9CD107A2A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4890685"/>
              </p:ext>
            </p:extLst>
          </p:nvPr>
        </p:nvGraphicFramePr>
        <p:xfrm>
          <a:off x="838200" y="5107363"/>
          <a:ext cx="10515597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277183457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2201904820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20617987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b="1" kern="100" dirty="0">
                          <a:effectLst/>
                        </a:rPr>
                        <a:t>Linear Algebra (Local)</a:t>
                      </a:r>
                      <a:endParaRPr lang="en-IN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 dirty="0">
                          <a:effectLst/>
                        </a:rPr>
                        <a:t>det(m)</a:t>
                      </a:r>
                      <a:endParaRPr lang="en-IN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>
                          <a:effectLst/>
                        </a:rPr>
                        <a:t>Determinant (for square matrices)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6880591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endParaRPr lang="en-IN" sz="1100" kern="1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 dirty="0">
                          <a:effectLst/>
                        </a:rPr>
                        <a:t>m.t</a:t>
                      </a:r>
                      <a:endParaRPr lang="en-IN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 dirty="0">
                          <a:effectLst/>
                        </a:rPr>
                        <a:t>Transpose</a:t>
                      </a:r>
                      <a:endParaRPr lang="en-IN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0402811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endParaRPr lang="en-IN" sz="1100" kern="1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>
                          <a:effectLst/>
                        </a:rPr>
                        <a:t>v cross v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 dirty="0">
                          <a:effectLst/>
                        </a:rPr>
                        <a:t>Outer product</a:t>
                      </a:r>
                      <a:endParaRPr lang="en-IN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3709207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085770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4AEC09-E43D-3726-7785-3D2771C734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C15153-B163-CF18-73C0-806E453500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0"/>
            <a:ext cx="10515600" cy="643543"/>
          </a:xfrm>
        </p:spPr>
        <p:txBody>
          <a:bodyPr>
            <a:normAutofit fontScale="90000"/>
          </a:bodyPr>
          <a:lstStyle/>
          <a:p>
            <a:r>
              <a:rPr lang="en-US" dirty="0"/>
              <a:t>Basic Mahout Command</a:t>
            </a:r>
            <a:endParaRPr lang="en-IN" dirty="0"/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C35C374A-46CB-5387-22AA-FA46170B956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38914700"/>
              </p:ext>
            </p:extLst>
          </p:nvPr>
        </p:nvGraphicFramePr>
        <p:xfrm>
          <a:off x="838202" y="643543"/>
          <a:ext cx="10515597" cy="308368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1614259756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3022265239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11978660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b="1" kern="100" dirty="0">
                          <a:effectLst/>
                        </a:rPr>
                        <a:t>Arithmetic (Matrices)</a:t>
                      </a:r>
                      <a:endParaRPr lang="en-IN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>
                          <a:effectLst/>
                        </a:rPr>
                        <a:t>m + m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>
                          <a:effectLst/>
                        </a:rPr>
                        <a:t>Matrix addition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9439208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endParaRPr lang="en-IN" sz="1100" kern="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 dirty="0">
                          <a:effectLst/>
                        </a:rPr>
                        <a:t>m - m</a:t>
                      </a:r>
                      <a:endParaRPr lang="en-IN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>
                          <a:effectLst/>
                        </a:rPr>
                        <a:t>Subtraction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5118456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endParaRPr lang="en-IN" sz="1100" kern="1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 dirty="0">
                          <a:effectLst/>
                        </a:rPr>
                        <a:t>m  * 2.0</a:t>
                      </a:r>
                      <a:endParaRPr lang="en-IN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 dirty="0">
                          <a:effectLst/>
                        </a:rPr>
                        <a:t>Scalar multiply</a:t>
                      </a:r>
                      <a:endParaRPr lang="en-IN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079756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endParaRPr lang="en-IN" sz="1100" kern="1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 dirty="0">
                          <a:effectLst/>
                        </a:rPr>
                        <a:t>m  / 3.0</a:t>
                      </a:r>
                      <a:endParaRPr lang="en-IN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 dirty="0">
                          <a:effectLst/>
                        </a:rPr>
                        <a:t>Scalar divide</a:t>
                      </a:r>
                      <a:endParaRPr lang="en-IN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8814864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endParaRPr lang="en-IN" sz="1100" kern="1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>
                          <a:effectLst/>
                        </a:rPr>
                        <a:t>m.t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 dirty="0">
                          <a:effectLst/>
                        </a:rPr>
                        <a:t>Transpose</a:t>
                      </a:r>
                      <a:endParaRPr lang="en-IN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9346427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endParaRPr lang="en-IN" sz="1100" kern="1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>
                          <a:effectLst/>
                        </a:rPr>
                        <a:t>m.t  %*% m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 dirty="0">
                          <a:effectLst/>
                        </a:rPr>
                        <a:t>Matrix multiplication</a:t>
                      </a:r>
                      <a:endParaRPr lang="en-IN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1569413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endParaRPr lang="en-IN" sz="1100" kern="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 dirty="0">
                          <a:effectLst/>
                        </a:rPr>
                        <a:t>m * v</a:t>
                      </a:r>
                      <a:endParaRPr lang="en-IN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 dirty="0">
                          <a:effectLst/>
                        </a:rPr>
                        <a:t>Matrix × vector</a:t>
                      </a:r>
                      <a:endParaRPr lang="en-IN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9116481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endParaRPr lang="en-IN" sz="1100" kern="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0" kern="1200" dirty="0" err="1">
                          <a:solidFill>
                            <a:schemeClr val="dk1"/>
                          </a:solidFill>
                          <a:effectLst/>
                        </a:rPr>
                        <a:t>val</a:t>
                      </a:r>
                      <a:r>
                        <a:rPr lang="en-IN" sz="1200" b="0" kern="1200" dirty="0">
                          <a:solidFill>
                            <a:schemeClr val="dk1"/>
                          </a:solidFill>
                          <a:effectLst/>
                        </a:rPr>
                        <a:t> X = solve(A, B)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kern="1200" dirty="0">
                          <a:solidFill>
                            <a:schemeClr val="dk1"/>
                          </a:solidFill>
                          <a:effectLst/>
                        </a:rPr>
                        <a:t>Solves</a:t>
                      </a:r>
                      <a:r>
                        <a:rPr lang="en-US" sz="1200" b="0" kern="1200" dirty="0">
                          <a:solidFill>
                            <a:schemeClr val="dk1"/>
                          </a:solidFill>
                          <a:effectLst/>
                        </a:rPr>
                        <a:t>: A × X = B for unknown X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328583103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DF03CEC4-6090-BAD7-019C-AE3F95AE63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4392485"/>
              </p:ext>
            </p:extLst>
          </p:nvPr>
        </p:nvGraphicFramePr>
        <p:xfrm>
          <a:off x="838199" y="3794789"/>
          <a:ext cx="10515597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2132608615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1769261817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23066307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b="1" kern="100" dirty="0">
                          <a:effectLst/>
                        </a:rPr>
                        <a:t>Decompositions</a:t>
                      </a:r>
                      <a:endParaRPr lang="en-IN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 dirty="0" err="1">
                          <a:effectLst/>
                        </a:rPr>
                        <a:t>val</a:t>
                      </a:r>
                      <a:r>
                        <a:rPr lang="en-IN" sz="1100" kern="100" dirty="0">
                          <a:effectLst/>
                        </a:rPr>
                        <a:t> </a:t>
                      </a:r>
                      <a:r>
                        <a:rPr lang="en-IN" sz="1100" kern="100" dirty="0" err="1">
                          <a:effectLst/>
                        </a:rPr>
                        <a:t>svd</a:t>
                      </a:r>
                      <a:r>
                        <a:rPr lang="en-IN" sz="1100" kern="100" dirty="0">
                          <a:effectLst/>
                        </a:rPr>
                        <a:t> = </a:t>
                      </a:r>
                      <a:r>
                        <a:rPr lang="en-IN" sz="1100" kern="100" dirty="0" err="1">
                          <a:effectLst/>
                        </a:rPr>
                        <a:t>svd</a:t>
                      </a:r>
                      <a:r>
                        <a:rPr lang="en-IN" sz="1100" kern="100" dirty="0">
                          <a:effectLst/>
                        </a:rPr>
                        <a:t>(m)</a:t>
                      </a:r>
                      <a:endParaRPr lang="en-IN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>
                          <a:effectLst/>
                        </a:rPr>
                        <a:t>Singular Value Decomposition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9191997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endParaRPr lang="en-IN" sz="1100" kern="1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 dirty="0" err="1">
                          <a:effectLst/>
                        </a:rPr>
                        <a:t>svd.U</a:t>
                      </a:r>
                      <a:r>
                        <a:rPr lang="en-IN" sz="1100" kern="100" dirty="0">
                          <a:effectLst/>
                        </a:rPr>
                        <a:t>, </a:t>
                      </a:r>
                      <a:r>
                        <a:rPr lang="en-IN" sz="1100" kern="100" dirty="0" err="1">
                          <a:effectLst/>
                        </a:rPr>
                        <a:t>svd.S</a:t>
                      </a:r>
                      <a:r>
                        <a:rPr lang="en-IN" sz="1100" kern="100" dirty="0">
                          <a:effectLst/>
                        </a:rPr>
                        <a:t>, </a:t>
                      </a:r>
                      <a:r>
                        <a:rPr lang="en-IN" sz="1100" kern="100" dirty="0" err="1">
                          <a:effectLst/>
                        </a:rPr>
                        <a:t>svd.V</a:t>
                      </a:r>
                      <a:endParaRPr lang="en-IN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 dirty="0">
                          <a:effectLst/>
                        </a:rPr>
                        <a:t>SVD components</a:t>
                      </a:r>
                      <a:endParaRPr lang="en-IN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8193848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endParaRPr lang="en-IN" sz="1100" kern="1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>
                          <a:effectLst/>
                        </a:rPr>
                        <a:t>val eig = eig(m %*% m.t)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 dirty="0">
                          <a:effectLst/>
                        </a:rPr>
                        <a:t>Eigen decomposition</a:t>
                      </a:r>
                      <a:endParaRPr lang="en-IN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8083378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endParaRPr lang="en-IN" sz="1100" kern="1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>
                          <a:effectLst/>
                        </a:rPr>
                        <a:t>eig.D, eig.V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 dirty="0">
                          <a:effectLst/>
                        </a:rPr>
                        <a:t>Eigenvalues and Eigenvectors</a:t>
                      </a:r>
                      <a:endParaRPr lang="en-IN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63071773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742F1BF8-738A-B091-FCAB-7FA6D3861C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8312598"/>
              </p:ext>
            </p:extLst>
          </p:nvPr>
        </p:nvGraphicFramePr>
        <p:xfrm>
          <a:off x="838200" y="5462676"/>
          <a:ext cx="10515597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1362292480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3222005938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20813063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b="1" kern="100" dirty="0">
                          <a:effectLst/>
                        </a:rPr>
                        <a:t>Distributed Matrices (Spark)</a:t>
                      </a:r>
                      <a:endParaRPr lang="en-IN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 dirty="0" err="1">
                          <a:effectLst/>
                        </a:rPr>
                        <a:t>val</a:t>
                      </a:r>
                      <a:r>
                        <a:rPr lang="en-IN" sz="1100" kern="100" dirty="0">
                          <a:effectLst/>
                        </a:rPr>
                        <a:t> </a:t>
                      </a:r>
                      <a:r>
                        <a:rPr lang="en-IN" sz="1100" kern="100" dirty="0" err="1">
                          <a:effectLst/>
                        </a:rPr>
                        <a:t>drmA</a:t>
                      </a:r>
                      <a:r>
                        <a:rPr lang="en-IN" sz="1100" kern="100" dirty="0">
                          <a:effectLst/>
                        </a:rPr>
                        <a:t> = </a:t>
                      </a:r>
                      <a:r>
                        <a:rPr lang="en-IN" sz="1100" kern="100" dirty="0" err="1">
                          <a:effectLst/>
                        </a:rPr>
                        <a:t>drmParallelize</a:t>
                      </a:r>
                      <a:r>
                        <a:rPr lang="en-IN" sz="1100" kern="100" dirty="0">
                          <a:effectLst/>
                        </a:rPr>
                        <a:t>(m = m)(</a:t>
                      </a:r>
                      <a:r>
                        <a:rPr lang="en-IN" sz="1100" kern="100" dirty="0" err="1">
                          <a:effectLst/>
                        </a:rPr>
                        <a:t>sdc</a:t>
                      </a:r>
                      <a:r>
                        <a:rPr lang="en-IN" sz="1100" kern="100" dirty="0">
                          <a:effectLst/>
                        </a:rPr>
                        <a:t>)</a:t>
                      </a:r>
                      <a:endParaRPr lang="en-IN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 dirty="0">
                          <a:effectLst/>
                        </a:rPr>
                        <a:t>Create distributed matrix from local matrix</a:t>
                      </a:r>
                      <a:endParaRPr lang="en-IN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4746551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endParaRPr lang="en-IN" sz="1100" kern="1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 dirty="0" err="1">
                          <a:effectLst/>
                        </a:rPr>
                        <a:t>val</a:t>
                      </a:r>
                      <a:r>
                        <a:rPr lang="en-IN" sz="1100" kern="100" dirty="0">
                          <a:effectLst/>
                        </a:rPr>
                        <a:t> </a:t>
                      </a:r>
                      <a:r>
                        <a:rPr lang="en-IN" sz="1100" kern="100" dirty="0" err="1">
                          <a:effectLst/>
                        </a:rPr>
                        <a:t>drmB</a:t>
                      </a:r>
                      <a:r>
                        <a:rPr lang="en-IN" sz="1100" kern="100" dirty="0">
                          <a:effectLst/>
                        </a:rPr>
                        <a:t> = drmA.t %*% </a:t>
                      </a:r>
                      <a:r>
                        <a:rPr lang="en-IN" sz="1100" kern="100" dirty="0" err="1">
                          <a:effectLst/>
                        </a:rPr>
                        <a:t>drmA</a:t>
                      </a:r>
                      <a:endParaRPr lang="en-IN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 dirty="0">
                          <a:effectLst/>
                        </a:rPr>
                        <a:t>Distributed matrix multiplication</a:t>
                      </a:r>
                      <a:endParaRPr lang="en-IN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6972959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endParaRPr lang="en-IN" sz="1100" kern="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>
                          <a:effectLst/>
                        </a:rPr>
                        <a:t>val localA = drmA.collect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 dirty="0">
                          <a:effectLst/>
                        </a:rPr>
                        <a:t>Bring distributed matrix back to driver</a:t>
                      </a:r>
                      <a:endParaRPr lang="en-IN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757732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876062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94318A-3C7D-8FA4-70EB-A1204DC8FB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6BBFB7-AFF2-2640-9FAF-0DB1CFAF82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52970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Finding Inverse of Matrix</a:t>
            </a:r>
            <a:endParaRPr lang="en-IN" dirty="0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4250D6EE-17E9-6A03-C8BC-312DD7A5217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94245" y="1938697"/>
            <a:ext cx="3673158" cy="140982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3340045-4E6E-FF22-EA30-8C03FC22DC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1877" y="1903581"/>
            <a:ext cx="3238781" cy="145554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91C113E-D522-E2C0-4751-BE6AEFB462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73519" y="4719630"/>
            <a:ext cx="5700254" cy="1470787"/>
          </a:xfrm>
          <a:prstGeom prst="rect">
            <a:avLst/>
          </a:prstGeom>
        </p:spPr>
      </p:pic>
      <p:sp>
        <p:nvSpPr>
          <p:cNvPr id="16" name="Arrow: Right 15">
            <a:extLst>
              <a:ext uri="{FF2B5EF4-FFF2-40B4-BE49-F238E27FC236}">
                <a16:creationId xmlns:a16="http://schemas.microsoft.com/office/drawing/2014/main" id="{DDE9F8CF-267C-EC07-EFB1-E107EAD89834}"/>
              </a:ext>
            </a:extLst>
          </p:cNvPr>
          <p:cNvSpPr/>
          <p:nvPr/>
        </p:nvSpPr>
        <p:spPr>
          <a:xfrm>
            <a:off x="4715435" y="2402541"/>
            <a:ext cx="1380565" cy="27790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A9091B84-EA31-76F1-1B0A-4133C1DDD210}"/>
              </a:ext>
            </a:extLst>
          </p:cNvPr>
          <p:cNvSpPr/>
          <p:nvPr/>
        </p:nvSpPr>
        <p:spPr>
          <a:xfrm rot="7890355">
            <a:off x="5959053" y="3818593"/>
            <a:ext cx="1380565" cy="27790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1D1AA23-8512-5E7F-CF60-09617CC6593B}"/>
              </a:ext>
            </a:extLst>
          </p:cNvPr>
          <p:cNvSpPr txBox="1"/>
          <p:nvPr/>
        </p:nvSpPr>
        <p:spPr>
          <a:xfrm>
            <a:off x="838200" y="3316909"/>
            <a:ext cx="26714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Defining Matrix Variable</a:t>
            </a:r>
            <a:endParaRPr lang="en-IN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D21A26D-5A29-BC52-78B6-AC00168C846A}"/>
              </a:ext>
            </a:extLst>
          </p:cNvPr>
          <p:cNvSpPr txBox="1"/>
          <p:nvPr/>
        </p:nvSpPr>
        <p:spPr>
          <a:xfrm>
            <a:off x="3397624" y="6123542"/>
            <a:ext cx="37427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Using Solve command to find Inverse</a:t>
            </a:r>
            <a:endParaRPr lang="en-IN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787E470-9C82-C484-825A-F0E2DF4411A8}"/>
              </a:ext>
            </a:extLst>
          </p:cNvPr>
          <p:cNvSpPr txBox="1"/>
          <p:nvPr/>
        </p:nvSpPr>
        <p:spPr>
          <a:xfrm>
            <a:off x="7540033" y="3469309"/>
            <a:ext cx="34872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Defining Identity Matrix Variable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377796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F76539-AE80-3FDB-DF48-50D51D5BC7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397A4-6CF1-A81A-A60D-DC93ABF27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52970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Linear Regression Using Matrix Algebra (Mahout)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C7985A-916D-82E4-3AAC-EE66699A8F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18097"/>
            <a:ext cx="10515600" cy="2309565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dirty="0"/>
              <a:t>We are fitting a linear model:</a:t>
            </a:r>
          </a:p>
          <a:p>
            <a:pPr marL="0" indent="0">
              <a:buNone/>
            </a:pPr>
            <a:r>
              <a:rPr lang="en-IN" dirty="0"/>
              <a:t>                                    y=b</a:t>
            </a:r>
            <a:r>
              <a:rPr lang="en-IN" baseline="-25000" dirty="0"/>
              <a:t>0</a:t>
            </a:r>
            <a:r>
              <a:rPr lang="en-IN" dirty="0"/>
              <a:t>+b</a:t>
            </a:r>
            <a:r>
              <a:rPr lang="en-IN" baseline="-25000" dirty="0"/>
              <a:t>1</a:t>
            </a:r>
            <a:r>
              <a:rPr lang="en-IN" dirty="0"/>
              <a:t>x</a:t>
            </a:r>
            <a:r>
              <a:rPr lang="en-IN" baseline="-25000" dirty="0"/>
              <a:t>1</a:t>
            </a:r>
            <a:r>
              <a:rPr lang="en-IN" dirty="0"/>
              <a:t>+b</a:t>
            </a:r>
            <a:r>
              <a:rPr lang="en-IN" baseline="-25000" dirty="0"/>
              <a:t>2</a:t>
            </a:r>
            <a:r>
              <a:rPr lang="en-IN" dirty="0"/>
              <a:t>x</a:t>
            </a:r>
            <a:r>
              <a:rPr lang="en-IN" baseline="-25000" dirty="0"/>
              <a:t>2</a:t>
            </a:r>
          </a:p>
          <a:p>
            <a:pPr marL="0" indent="0">
              <a:buNone/>
            </a:pPr>
            <a:r>
              <a:rPr lang="en-IN" dirty="0"/>
              <a:t>where:</a:t>
            </a:r>
          </a:p>
          <a:p>
            <a:pPr lvl="0"/>
            <a:r>
              <a:rPr lang="en-IN" sz="2400" dirty="0"/>
              <a:t>x</a:t>
            </a:r>
            <a:r>
              <a:rPr lang="en-IN" sz="2400" baseline="-25000" dirty="0"/>
              <a:t>1</a:t>
            </a:r>
            <a:r>
              <a:rPr lang="en-IN" sz="2400" dirty="0"/>
              <a:t>, x</a:t>
            </a:r>
            <a:r>
              <a:rPr lang="en-IN" sz="2400" baseline="-25000" dirty="0"/>
              <a:t>2</a:t>
            </a:r>
            <a:r>
              <a:rPr lang="en-IN" sz="2400" dirty="0"/>
              <a:t> ​ = independent variables (features)</a:t>
            </a:r>
          </a:p>
          <a:p>
            <a:pPr lvl="0"/>
            <a:r>
              <a:rPr lang="en-IN" sz="2400" dirty="0"/>
              <a:t>y = dependent variable (target/output)</a:t>
            </a:r>
          </a:p>
          <a:p>
            <a:pPr lvl="0"/>
            <a:r>
              <a:rPr lang="en-IN" sz="2400" dirty="0"/>
              <a:t>b</a:t>
            </a:r>
            <a:r>
              <a:rPr lang="en-IN" sz="2400" baseline="-25000" dirty="0"/>
              <a:t>0</a:t>
            </a:r>
            <a:r>
              <a:rPr lang="en-IN" sz="2400" dirty="0"/>
              <a:t> = intercept (constant term)</a:t>
            </a:r>
          </a:p>
          <a:p>
            <a:pPr lvl="0"/>
            <a:r>
              <a:rPr lang="en-IN" sz="2400" dirty="0"/>
              <a:t>b</a:t>
            </a:r>
            <a:r>
              <a:rPr lang="en-IN" sz="2400" baseline="-25000" dirty="0"/>
              <a:t>1</a:t>
            </a:r>
            <a:r>
              <a:rPr lang="en-IN" sz="2400" dirty="0"/>
              <a:t>, b</a:t>
            </a:r>
            <a:r>
              <a:rPr lang="en-IN" sz="2400" baseline="-25000" dirty="0"/>
              <a:t>2</a:t>
            </a:r>
            <a:r>
              <a:rPr lang="en-IN" sz="2400" dirty="0"/>
              <a:t>= coefficients (weights)</a:t>
            </a:r>
          </a:p>
          <a:p>
            <a:pPr marL="0" indent="0">
              <a:buNone/>
            </a:pPr>
            <a:endParaRPr lang="en-IN" sz="2600" u="sng" dirty="0"/>
          </a:p>
          <a:p>
            <a:pPr marL="0" indent="0">
              <a:buNone/>
            </a:pPr>
            <a:endParaRPr lang="en-IN" u="sng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FD106C7-F677-1A0D-155C-98538715BB72}"/>
              </a:ext>
            </a:extLst>
          </p:cNvPr>
          <p:cNvSpPr txBox="1"/>
          <p:nvPr/>
        </p:nvSpPr>
        <p:spPr>
          <a:xfrm>
            <a:off x="838200" y="3318235"/>
            <a:ext cx="452565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X (Feature Matrix)</a:t>
            </a:r>
            <a:endParaRPr lang="en-IN" dirty="0"/>
          </a:p>
          <a:p>
            <a:pPr lvl="0"/>
            <a:r>
              <a:rPr lang="en-IN" dirty="0"/>
              <a:t>Each </a:t>
            </a:r>
            <a:r>
              <a:rPr lang="en-IN" b="1" dirty="0"/>
              <a:t>row</a:t>
            </a:r>
            <a:r>
              <a:rPr lang="en-IN" dirty="0"/>
              <a:t> corresponds to one data point.</a:t>
            </a:r>
          </a:p>
          <a:p>
            <a:pPr lvl="0"/>
            <a:r>
              <a:rPr lang="en-IN" dirty="0"/>
              <a:t>Each </a:t>
            </a:r>
            <a:r>
              <a:rPr lang="en-IN" b="1" dirty="0"/>
              <a:t>column</a:t>
            </a:r>
            <a:r>
              <a:rPr lang="en-IN" dirty="0"/>
              <a:t> corresponds to a feature.</a:t>
            </a:r>
          </a:p>
          <a:p>
            <a:pPr lvl="0"/>
            <a:r>
              <a:rPr lang="en-IN" dirty="0"/>
              <a:t>The </a:t>
            </a:r>
            <a:r>
              <a:rPr lang="en-IN" b="1" dirty="0"/>
              <a:t>first column is all 1s</a:t>
            </a:r>
            <a:r>
              <a:rPr lang="en-IN" dirty="0"/>
              <a:t> to account for the intercept term b0​.</a:t>
            </a:r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CA7AA9-C845-10F0-4735-20E267637BC1}"/>
              </a:ext>
            </a:extLst>
          </p:cNvPr>
          <p:cNvSpPr txBox="1"/>
          <p:nvPr/>
        </p:nvSpPr>
        <p:spPr>
          <a:xfrm>
            <a:off x="6190269" y="3429000"/>
            <a:ext cx="452565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y (Target Vector)</a:t>
            </a:r>
            <a:endParaRPr lang="en-IN" dirty="0"/>
          </a:p>
          <a:p>
            <a:pPr lvl="0"/>
            <a:r>
              <a:rPr lang="en-IN" dirty="0"/>
              <a:t>Column vector containing the output values for each data point.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81CD75-7543-031D-0A00-CBC951C68A26}"/>
              </a:ext>
            </a:extLst>
          </p:cNvPr>
          <p:cNvSpPr txBox="1"/>
          <p:nvPr/>
        </p:nvSpPr>
        <p:spPr>
          <a:xfrm>
            <a:off x="2393622" y="4981469"/>
            <a:ext cx="82492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Compute β (Coefficients Vector)</a:t>
            </a:r>
            <a:endParaRPr lang="en-IN" dirty="0"/>
          </a:p>
          <a:p>
            <a:r>
              <a:rPr lang="en-IN" dirty="0"/>
              <a:t>The formula for </a:t>
            </a:r>
            <a:r>
              <a:rPr lang="en-IN" b="1" dirty="0"/>
              <a:t>linear regression coefficients</a:t>
            </a:r>
            <a:r>
              <a:rPr lang="en-IN" dirty="0"/>
              <a:t> using the </a:t>
            </a:r>
            <a:r>
              <a:rPr lang="en-IN" b="1" dirty="0"/>
              <a:t>normal equation</a:t>
            </a:r>
            <a:r>
              <a:rPr lang="en-IN" dirty="0"/>
              <a:t>: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461040F-84A9-E65F-9B22-89EFA91086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4115" y="5656775"/>
            <a:ext cx="3852613" cy="836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44278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BFEFC1-E835-1CA2-6071-9D2C0FD0F9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B78467-9A56-00C3-FF68-A86C6EB536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52970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Lab Task 1</a:t>
            </a:r>
            <a:endParaRPr lang="en-IN" dirty="0"/>
          </a:p>
        </p:txBody>
      </p:sp>
      <p:graphicFrame>
        <p:nvGraphicFramePr>
          <p:cNvPr id="3" name="Content Placeholder 2">
            <a:extLst>
              <a:ext uri="{FF2B5EF4-FFF2-40B4-BE49-F238E27FC236}">
                <a16:creationId xmlns:a16="http://schemas.microsoft.com/office/drawing/2014/main" id="{F8B688C2-A375-7DCB-0CE6-1DEE64B132A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6602800"/>
              </p:ext>
            </p:extLst>
          </p:nvPr>
        </p:nvGraphicFramePr>
        <p:xfrm>
          <a:off x="838200" y="1825625"/>
          <a:ext cx="10515597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1486168689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475108560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13655371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X1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9508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64549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77229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11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8503502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3B2069CB-70C4-917D-CF89-F3AF527E7B70}"/>
              </a:ext>
            </a:extLst>
          </p:cNvPr>
          <p:cNvSpPr txBox="1"/>
          <p:nvPr/>
        </p:nvSpPr>
        <p:spPr>
          <a:xfrm>
            <a:off x="838199" y="1150070"/>
            <a:ext cx="1051559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Find Best Fit linear regression line using Matrix Method (Find </a:t>
            </a:r>
            <a:r>
              <a:rPr lang="en-IN" dirty="0"/>
              <a:t>b</a:t>
            </a:r>
            <a:r>
              <a:rPr lang="en-IN" baseline="-25000" dirty="0"/>
              <a:t>0</a:t>
            </a:r>
            <a:r>
              <a:rPr lang="en-US" dirty="0"/>
              <a:t>,</a:t>
            </a:r>
            <a:r>
              <a:rPr lang="en-IN" dirty="0"/>
              <a:t> b</a:t>
            </a:r>
            <a:r>
              <a:rPr lang="en-IN" baseline="-25000" dirty="0"/>
              <a:t>1</a:t>
            </a:r>
            <a:r>
              <a:rPr lang="en-US" dirty="0"/>
              <a:t>,</a:t>
            </a:r>
            <a:r>
              <a:rPr lang="en-IN" dirty="0"/>
              <a:t> b</a:t>
            </a:r>
            <a:r>
              <a:rPr lang="en-IN" baseline="-25000" dirty="0"/>
              <a:t>2</a:t>
            </a:r>
            <a:r>
              <a:rPr lang="en-US" dirty="0"/>
              <a:t> for equation </a:t>
            </a:r>
            <a:r>
              <a:rPr lang="en-IN" dirty="0"/>
              <a:t>Y= b</a:t>
            </a:r>
            <a:r>
              <a:rPr lang="en-IN" baseline="-25000" dirty="0"/>
              <a:t>0 </a:t>
            </a:r>
            <a:r>
              <a:rPr lang="en-IN" dirty="0"/>
              <a:t>+ b</a:t>
            </a:r>
            <a:r>
              <a:rPr lang="en-IN" baseline="-25000" dirty="0"/>
              <a:t>1</a:t>
            </a:r>
            <a:r>
              <a:rPr lang="en-IN" dirty="0"/>
              <a:t>x</a:t>
            </a:r>
            <a:r>
              <a:rPr lang="en-IN" baseline="-25000" dirty="0"/>
              <a:t>1</a:t>
            </a:r>
            <a:r>
              <a:rPr lang="en-IN" dirty="0"/>
              <a:t>+ b</a:t>
            </a:r>
            <a:r>
              <a:rPr lang="en-IN" baseline="-25000" dirty="0"/>
              <a:t>2</a:t>
            </a:r>
            <a:r>
              <a:rPr lang="en-IN" dirty="0"/>
              <a:t>x</a:t>
            </a:r>
            <a:r>
              <a:rPr lang="en-IN" baseline="-25000" dirty="0"/>
              <a:t>2</a:t>
            </a:r>
            <a:r>
              <a:rPr lang="en-US" dirty="0"/>
              <a:t> using formula given in previous slide</a:t>
            </a:r>
            <a:r>
              <a:rPr lang="en-IN" dirty="0"/>
              <a:t>)</a:t>
            </a:r>
          </a:p>
          <a:p>
            <a:endParaRPr lang="en-IN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608C727-BA1A-773E-ABEC-33EE83CBC3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4320135"/>
              </p:ext>
            </p:extLst>
          </p:nvPr>
        </p:nvGraphicFramePr>
        <p:xfrm>
          <a:off x="1287282" y="3747182"/>
          <a:ext cx="909162" cy="11125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3054">
                  <a:extLst>
                    <a:ext uri="{9D8B030D-6E8A-4147-A177-3AD203B41FA5}">
                      <a16:colId xmlns:a16="http://schemas.microsoft.com/office/drawing/2014/main" val="912868944"/>
                    </a:ext>
                  </a:extLst>
                </a:gridCol>
                <a:gridCol w="303054">
                  <a:extLst>
                    <a:ext uri="{9D8B030D-6E8A-4147-A177-3AD203B41FA5}">
                      <a16:colId xmlns:a16="http://schemas.microsoft.com/office/drawing/2014/main" val="21078869"/>
                    </a:ext>
                  </a:extLst>
                </a:gridCol>
                <a:gridCol w="303054">
                  <a:extLst>
                    <a:ext uri="{9D8B030D-6E8A-4147-A177-3AD203B41FA5}">
                      <a16:colId xmlns:a16="http://schemas.microsoft.com/office/drawing/2014/main" val="418272487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17196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84735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1660177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37A97973-7BE9-8714-B550-35CC8282DA41}"/>
              </a:ext>
            </a:extLst>
          </p:cNvPr>
          <p:cNvSpPr txBox="1"/>
          <p:nvPr/>
        </p:nvSpPr>
        <p:spPr>
          <a:xfrm>
            <a:off x="838200" y="3747182"/>
            <a:ext cx="5263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 = </a:t>
            </a:r>
            <a:endParaRPr lang="en-IN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24FC5D00-8C4F-C2E0-A0CC-0714ACEA3B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8891449"/>
              </p:ext>
            </p:extLst>
          </p:nvPr>
        </p:nvGraphicFramePr>
        <p:xfrm>
          <a:off x="3342326" y="3747182"/>
          <a:ext cx="447249" cy="1097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47249">
                  <a:extLst>
                    <a:ext uri="{9D8B030D-6E8A-4147-A177-3AD203B41FA5}">
                      <a16:colId xmlns:a16="http://schemas.microsoft.com/office/drawing/2014/main" val="1630954086"/>
                    </a:ext>
                  </a:extLst>
                </a:gridCol>
              </a:tblGrid>
              <a:tr h="344069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3981743"/>
                  </a:ext>
                </a:extLst>
              </a:tr>
              <a:tr h="344069"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8709317"/>
                  </a:ext>
                </a:extLst>
              </a:tr>
              <a:tr h="344069">
                <a:tc>
                  <a:txBody>
                    <a:bodyPr/>
                    <a:lstStyle/>
                    <a:p>
                      <a:r>
                        <a:rPr lang="en-US" dirty="0"/>
                        <a:t>11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840054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7126893E-0810-3641-9CB7-D2EC60FF84AF}"/>
              </a:ext>
            </a:extLst>
          </p:cNvPr>
          <p:cNvSpPr txBox="1"/>
          <p:nvPr/>
        </p:nvSpPr>
        <p:spPr>
          <a:xfrm>
            <a:off x="2815996" y="3747182"/>
            <a:ext cx="5263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  = </a:t>
            </a:r>
            <a:endParaRPr lang="en-IN" dirty="0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35FCC325-E604-4976-D553-E266C0A3C1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4805959"/>
              </p:ext>
            </p:extLst>
          </p:nvPr>
        </p:nvGraphicFramePr>
        <p:xfrm>
          <a:off x="5387942" y="3747182"/>
          <a:ext cx="466103" cy="11125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66103">
                  <a:extLst>
                    <a:ext uri="{9D8B030D-6E8A-4147-A177-3AD203B41FA5}">
                      <a16:colId xmlns:a16="http://schemas.microsoft.com/office/drawing/2014/main" val="183087244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b</a:t>
                      </a:r>
                      <a:r>
                        <a:rPr lang="en-IN" baseline="-25000" dirty="0"/>
                        <a:t>0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85340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b</a:t>
                      </a:r>
                      <a:r>
                        <a:rPr lang="en-IN" baseline="-25000" dirty="0"/>
                        <a:t>1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58763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b</a:t>
                      </a:r>
                      <a:r>
                        <a:rPr lang="en-IN" baseline="-25000" dirty="0"/>
                        <a:t>2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74888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53616D6-F35B-BE59-FFC3-5D05B598896C}"/>
                  </a:ext>
                </a:extLst>
              </p:cNvPr>
              <p:cNvSpPr txBox="1"/>
              <p:nvPr/>
            </p:nvSpPr>
            <p:spPr>
              <a:xfrm>
                <a:off x="4861612" y="3747182"/>
                <a:ext cx="65306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dirty="0"/>
                  <a:t>  = </a:t>
                </a:r>
                <a:endParaRPr lang="en-IN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53616D6-F35B-BE59-FFC3-5D05B59889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1612" y="3747182"/>
                <a:ext cx="653068" cy="369332"/>
              </a:xfrm>
              <a:prstGeom prst="rect">
                <a:avLst/>
              </a:prstGeom>
              <a:blipFill>
                <a:blip r:embed="rId3"/>
                <a:stretch>
                  <a:fillRect l="-2804" t="-10000" b="-26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38893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CC71F5-0184-C390-D183-65A255AB47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9085E7-DBC9-5DB2-FBE5-66F29BE3D0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52970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Lab Task 2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18C62AF-08AF-0FE9-CCAF-F69B6481C5D2}"/>
              </a:ext>
            </a:extLst>
          </p:cNvPr>
          <p:cNvSpPr txBox="1"/>
          <p:nvPr/>
        </p:nvSpPr>
        <p:spPr>
          <a:xfrm>
            <a:off x="838199" y="1150070"/>
            <a:ext cx="105155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Find Best Fit Quadratic regression line using Matrix Method (Find </a:t>
            </a:r>
            <a:r>
              <a:rPr lang="en-IN" dirty="0"/>
              <a:t>b</a:t>
            </a:r>
            <a:r>
              <a:rPr lang="en-IN" baseline="-25000" dirty="0"/>
              <a:t>0</a:t>
            </a:r>
            <a:r>
              <a:rPr lang="en-US" dirty="0"/>
              <a:t>,</a:t>
            </a:r>
            <a:r>
              <a:rPr lang="en-IN" dirty="0"/>
              <a:t> b</a:t>
            </a:r>
            <a:r>
              <a:rPr lang="en-IN" baseline="-25000" dirty="0"/>
              <a:t>1</a:t>
            </a:r>
            <a:r>
              <a:rPr lang="en-US" dirty="0"/>
              <a:t>,</a:t>
            </a:r>
            <a:r>
              <a:rPr lang="en-IN" dirty="0"/>
              <a:t> b</a:t>
            </a:r>
            <a:r>
              <a:rPr lang="en-IN" baseline="-25000" dirty="0"/>
              <a:t>2</a:t>
            </a:r>
            <a:r>
              <a:rPr lang="en-US" dirty="0"/>
              <a:t> for equation </a:t>
            </a:r>
            <a:r>
              <a:rPr lang="en-IN" dirty="0"/>
              <a:t>Y= b</a:t>
            </a:r>
            <a:r>
              <a:rPr lang="en-IN" baseline="-25000" dirty="0"/>
              <a:t>0 </a:t>
            </a:r>
            <a:r>
              <a:rPr lang="en-IN" dirty="0"/>
              <a:t>+ b</a:t>
            </a:r>
            <a:r>
              <a:rPr lang="en-IN" baseline="-25000" dirty="0"/>
              <a:t>1</a:t>
            </a:r>
            <a:r>
              <a:rPr lang="en-IN" dirty="0"/>
              <a:t>x+ b</a:t>
            </a:r>
            <a:r>
              <a:rPr lang="en-IN" baseline="-25000" dirty="0"/>
              <a:t>2</a:t>
            </a:r>
            <a:r>
              <a:rPr lang="en-IN" dirty="0"/>
              <a:t>x</a:t>
            </a:r>
            <a:r>
              <a:rPr lang="en-IN" baseline="30000" dirty="0"/>
              <a:t>2</a:t>
            </a:r>
            <a:r>
              <a:rPr lang="en-US" dirty="0"/>
              <a:t> )</a:t>
            </a: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34F6B02-AFC5-9265-C81B-014D4A30B7A8}"/>
              </a:ext>
            </a:extLst>
          </p:cNvPr>
          <p:cNvSpPr txBox="1"/>
          <p:nvPr/>
        </p:nvSpPr>
        <p:spPr>
          <a:xfrm>
            <a:off x="3075973" y="3747182"/>
            <a:ext cx="5263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</a:t>
            </a:r>
            <a:endParaRPr lang="en-IN" dirty="0"/>
          </a:p>
        </p:txBody>
      </p:sp>
      <p:graphicFrame>
        <p:nvGraphicFramePr>
          <p:cNvPr id="13" name="Content Placeholder 12">
            <a:extLst>
              <a:ext uri="{FF2B5EF4-FFF2-40B4-BE49-F238E27FC236}">
                <a16:creationId xmlns:a16="http://schemas.microsoft.com/office/drawing/2014/main" id="{7D27C012-BF52-08B5-1E1C-A1742574811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09608016"/>
              </p:ext>
            </p:extLst>
          </p:nvPr>
        </p:nvGraphicFramePr>
        <p:xfrm>
          <a:off x="838200" y="1825625"/>
          <a:ext cx="1051560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3766292002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426999947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64664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56667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26399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35260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17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66119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27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12886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777993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174</TotalTime>
  <Words>917</Words>
  <Application>Microsoft Office PowerPoint</Application>
  <PresentationFormat>Widescreen</PresentationFormat>
  <Paragraphs>172</Paragraphs>
  <Slides>10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Cambria Math</vt:lpstr>
      <vt:lpstr>Office Theme</vt:lpstr>
      <vt:lpstr>Apache Mahout</vt:lpstr>
      <vt:lpstr>Mahout Collab Setup </vt:lpstr>
      <vt:lpstr>What is Apache Mahout ?</vt:lpstr>
      <vt:lpstr>Problem setup</vt:lpstr>
      <vt:lpstr>Basic Mahout Command</vt:lpstr>
      <vt:lpstr>Basic Mahout Command</vt:lpstr>
      <vt:lpstr>Finding Inverse of Matrix</vt:lpstr>
      <vt:lpstr>Linear Regression Using Matrix Algebra (Mahout)</vt:lpstr>
      <vt:lpstr>Lab Task 1</vt:lpstr>
      <vt:lpstr>Lab Task 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Harsh Raj</dc:creator>
  <cp:lastModifiedBy>Harsh Raj</cp:lastModifiedBy>
  <cp:revision>7</cp:revision>
  <dcterms:created xsi:type="dcterms:W3CDTF">2025-10-07T19:21:21Z</dcterms:created>
  <dcterms:modified xsi:type="dcterms:W3CDTF">2025-10-08T04:11:03Z</dcterms:modified>
</cp:coreProperties>
</file>