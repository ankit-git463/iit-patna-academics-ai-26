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77" r:id="rId3"/>
    <p:sldId id="258" r:id="rId4"/>
    <p:sldId id="259" r:id="rId5"/>
    <p:sldId id="279" r:id="rId6"/>
    <p:sldId id="278" r:id="rId7"/>
    <p:sldId id="275" r:id="rId8"/>
    <p:sldId id="276" r:id="rId9"/>
    <p:sldId id="265" r:id="rId10"/>
    <p:sldId id="28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FCC521-E26C-4C65-983B-720D46395CA9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528213-F5B3-455E-B9EA-65BD1D029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4494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6A809-0833-D3FC-6858-6B04396A5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A464F0-7BCE-6D55-BC9A-A29D477F0C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BF6FE7-F160-BF6B-580B-CD2E0C2311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8927F0-3658-6F11-8F12-04DE0CEB77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528213-F5B3-455E-B9EA-65BD1D029F27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6195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CF4C4-1E77-B060-8AA7-79CCF61D3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4FDD87-C38C-1417-5B61-9EFF28379E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BB6866-E470-0DD7-DF5F-EE8FA5A964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4A8FC6-B046-CC5A-E6CE-647F499F8C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528213-F5B3-455E-B9EA-65BD1D029F27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6640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2A987-C65A-DAEE-F74B-DB47AF9F03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750B7E-D0F5-E328-0557-CE204DFD7C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4FF7B7-7A1F-87B3-8D0A-BA0B91D14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6F99-90DD-4CE2-B6E1-D698DC6330BA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C448D-2025-A193-B01B-8FB8BFAAB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08800-187E-8800-EA96-C0310C4FC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66E70-27F9-4CAD-BB1D-F1A782BE7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600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04E2E-FB6B-8F3E-7D62-473FEE38F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4F863-010E-7C39-0CB1-8818BE576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27C94-FF7F-86BE-5B4D-E1B7B103B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6F99-90DD-4CE2-B6E1-D698DC6330BA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43AE33-F2D7-CC0B-977C-F9ADA258D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B503E0-58CA-1673-3255-A387C33A6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66E70-27F9-4CAD-BB1D-F1A782BE7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500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D98FE-43B5-7AAD-6CEF-D14971BE2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5A9BF0-25A3-63DC-1B89-DACF35ABC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0C9DB-9916-4C57-1793-9C5907B06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6F99-90DD-4CE2-B6E1-D698DC6330BA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843A1-7755-146A-EC20-BADAF4F4A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F74CB-C4B8-AA68-F71D-B11856CF2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66E70-27F9-4CAD-BB1D-F1A782BE7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3238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8A9E7-B8C8-62FE-3AF1-920CD2E99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66A56-0D2C-249B-A342-0325CE16AD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A01A1C-FC33-9401-0DA1-3C4C12E28E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E1ED53-D9B3-E5F8-BFF3-C720DC6A6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6F99-90DD-4CE2-B6E1-D698DC6330BA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25328D-6AA1-AD31-7972-8695B9A29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AB602-001D-A232-CE7F-93BECAA70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66E70-27F9-4CAD-BB1D-F1A782BE7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4186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C3482-B99B-F94A-4AEE-6C1625CCB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587CBD-A1A9-0515-A911-CD3940546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6529E8-D6FD-F344-B2F1-DF2ED333F6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B70932-E343-0B69-CC12-8F5309518E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0C9EC2-8270-2C56-E2D4-608CC0B5EB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41ED20-9D2F-CD32-D170-7A135DA29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6F99-90DD-4CE2-B6E1-D698DC6330BA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4C6525-2508-1018-7045-85CCCAAD4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405D08-B4EF-D640-4193-D835BDFB0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66E70-27F9-4CAD-BB1D-F1A782BE7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9748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E0DD5-C4C5-56A2-73AF-19C0A3C34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CA2F1B-9785-7EEB-D746-4F0DB0E57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6F99-90DD-4CE2-B6E1-D698DC6330BA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B79F28-FBDF-4678-060B-F1A286AA0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1D1FE2-613D-AFDB-3FA9-8BD213539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66E70-27F9-4CAD-BB1D-F1A782BE7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9472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7D7927-1AE8-98F3-79CC-1CFB24613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6F99-90DD-4CE2-B6E1-D698DC6330BA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92DBF0-5471-46E9-8ED3-D45DBF09A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767F3F-CDD7-1077-FE13-DF3121B52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66E70-27F9-4CAD-BB1D-F1A782BE7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0946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406DF-1105-6618-687E-56BC0211C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36961-8751-9016-53F7-C563BFE5B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A7D1E9-44EB-DCDE-3776-F0DA0F692A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D0617C-2FCF-B8E7-C520-72F58D5F7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6F99-90DD-4CE2-B6E1-D698DC6330BA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B3A434-2BC4-53DB-920D-7CCE812E9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A4D6B2-6F4A-D848-B577-5A61BF38F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66E70-27F9-4CAD-BB1D-F1A782BE7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3681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4B066-6F99-C484-61AA-BA21A6E28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1D9E8D-3D0A-7598-128A-F125AAEBDE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101118-0AFE-1CCD-1FD0-304FD001FE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8FC7DA-550F-C1B2-BF00-E4C2A44B1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6F99-90DD-4CE2-B6E1-D698DC6330BA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29126A-D58E-DC44-F27F-9215465C9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3EF33F-FA75-25B3-8033-60B15414A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66E70-27F9-4CAD-BB1D-F1A782BE7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6135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F27B9-D109-37A2-FEE8-D48A5563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4749FB-1BBC-F694-5727-423903A306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921EFF-3DCB-47B1-056C-12E918AAF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6F99-90DD-4CE2-B6E1-D698DC6330BA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F46F7-CCF0-6E62-3726-E63DDCA0E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F442F-838F-0F02-6F06-9F7DC9134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66E70-27F9-4CAD-BB1D-F1A782BE7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6781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774785-3CA9-309C-B0E1-5499CECFCC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CFC1F3-EF63-024A-3281-17AA669DE6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1099E-016A-E76B-AFDF-A91D24E24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6F99-90DD-4CE2-B6E1-D698DC6330BA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270331-D2BF-09A1-4762-253E13198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C498E-5D18-1F36-631F-963A3462E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66E70-27F9-4CAD-BB1D-F1A782BE7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1180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993547-54D9-CDE9-24FF-A0654FEE4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D97976-DB5F-7390-074D-0ED9E36F7A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55704-458A-5CF0-BF1A-7003BE7557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506F99-90DD-4CE2-B6E1-D698DC6330BA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1AC52-5833-FB0F-DA3C-336FDB95AC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CA6FB-1BA5-D5F7-00A2-17D334728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966E70-27F9-4CAD-BB1D-F1A782BE7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5496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3B405-E085-AB46-F043-F36DDBF77F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Spark </a:t>
            </a:r>
            <a:r>
              <a:rPr lang="en-US" b="1" dirty="0" err="1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GraphX</a:t>
            </a:r>
            <a:endParaRPr lang="en-IN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7C0CB5-704F-5567-70C6-419F1B5808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Big Data Lab</a:t>
            </a:r>
          </a:p>
          <a:p>
            <a:r>
              <a:rPr lang="en-US" dirty="0"/>
              <a:t> 22</a:t>
            </a:r>
            <a:r>
              <a:rPr lang="en-US" baseline="30000" dirty="0"/>
              <a:t>th </a:t>
            </a:r>
            <a:r>
              <a:rPr lang="en-US" dirty="0"/>
              <a:t>October 2025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0743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D23D7-8EE2-C97A-18E2-2703694E5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D90FF-28C7-D720-9EC2-754BBE5D2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2652"/>
          </a:xfrm>
        </p:spPr>
        <p:txBody>
          <a:bodyPr>
            <a:normAutofit fontScale="90000"/>
          </a:bodyPr>
          <a:lstStyle/>
          <a:p>
            <a:r>
              <a:rPr lang="en-US" sz="5400" b="1" u="sng" dirty="0"/>
              <a:t>What is Pregel?</a:t>
            </a:r>
            <a:endParaRPr lang="en-IN" sz="5400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AAE35-217E-430B-F286-BA747C5DA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7151"/>
            <a:ext cx="10515600" cy="1929108"/>
          </a:xfrm>
        </p:spPr>
        <p:txBody>
          <a:bodyPr>
            <a:normAutofit/>
          </a:bodyPr>
          <a:lstStyle/>
          <a:p>
            <a:r>
              <a:rPr lang="en-US" b="1" dirty="0"/>
              <a:t>Pregel</a:t>
            </a:r>
            <a:r>
              <a:rPr lang="en-US" dirty="0"/>
              <a:t> is a distributed graph processing model developed by </a:t>
            </a:r>
            <a:r>
              <a:rPr lang="en-US" b="1" dirty="0"/>
              <a:t>Google</a:t>
            </a:r>
            <a:r>
              <a:rPr lang="en-US" dirty="0"/>
              <a:t> (published in 2010).</a:t>
            </a:r>
          </a:p>
          <a:p>
            <a:r>
              <a:rPr lang="en-US" dirty="0"/>
              <a:t>It’s based on the </a:t>
            </a:r>
            <a:r>
              <a:rPr lang="en-US" b="1" dirty="0"/>
              <a:t>vertex-centric</a:t>
            </a:r>
            <a:r>
              <a:rPr lang="en-US" dirty="0"/>
              <a:t> idea — “</a:t>
            </a:r>
            <a:r>
              <a:rPr lang="en-US" b="1" dirty="0"/>
              <a:t>Think like a vertex</a:t>
            </a:r>
            <a:r>
              <a:rPr lang="en-US" dirty="0"/>
              <a:t>.”</a:t>
            </a:r>
          </a:p>
          <a:p>
            <a:r>
              <a:rPr lang="en-US" dirty="0"/>
              <a:t>Algorithm: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969AFD1-4B28-D381-C340-817FDF736F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4CD4D9-DCDF-60E5-0998-99C9E92BE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991" y="3116225"/>
            <a:ext cx="5133621" cy="3244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163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3FA3A-5171-570A-CB46-ACCDBD43D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15ED8-7A8B-47C6-588A-2F29F6809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2652"/>
          </a:xfrm>
        </p:spPr>
        <p:txBody>
          <a:bodyPr>
            <a:normAutofit fontScale="90000"/>
          </a:bodyPr>
          <a:lstStyle/>
          <a:p>
            <a:r>
              <a:rPr lang="en-US" sz="5400" b="1" u="sng" dirty="0"/>
              <a:t>What is Spark </a:t>
            </a:r>
            <a:r>
              <a:rPr lang="en-US" sz="5400" b="1" u="sng" dirty="0" err="1"/>
              <a:t>GraphX</a:t>
            </a:r>
            <a:r>
              <a:rPr lang="en-US" sz="5400" b="1" u="sng" dirty="0"/>
              <a:t> ?</a:t>
            </a:r>
            <a:endParaRPr lang="en-IN" sz="5400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11574-410E-FF18-6FA9-C15611982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7151"/>
            <a:ext cx="10515600" cy="2458025"/>
          </a:xfrm>
        </p:spPr>
        <p:txBody>
          <a:bodyPr/>
          <a:lstStyle/>
          <a:p>
            <a:r>
              <a:rPr lang="en-US" dirty="0"/>
              <a:t>Part of </a:t>
            </a:r>
            <a:r>
              <a:rPr lang="en-US" b="1" dirty="0"/>
              <a:t>Apache Spark</a:t>
            </a:r>
            <a:r>
              <a:rPr lang="en-US" dirty="0"/>
              <a:t> for </a:t>
            </a:r>
            <a:r>
              <a:rPr lang="en-US" b="1" dirty="0"/>
              <a:t>graph processing</a:t>
            </a:r>
            <a:r>
              <a:rPr lang="en-US" dirty="0"/>
              <a:t> and </a:t>
            </a:r>
            <a:r>
              <a:rPr lang="en-US" b="1" dirty="0"/>
              <a:t>graph-parallel computation</a:t>
            </a:r>
          </a:p>
          <a:p>
            <a:r>
              <a:rPr lang="en-US" dirty="0"/>
              <a:t>Allows to represent data as </a:t>
            </a:r>
            <a:r>
              <a:rPr lang="en-US" b="1" dirty="0"/>
              <a:t>graphs</a:t>
            </a:r>
            <a:r>
              <a:rPr lang="en-US" dirty="0"/>
              <a:t> (vertices + edges)</a:t>
            </a:r>
          </a:p>
          <a:p>
            <a:r>
              <a:rPr lang="en-US" dirty="0"/>
              <a:t>Supports both </a:t>
            </a:r>
            <a:r>
              <a:rPr lang="en-US" b="1" dirty="0"/>
              <a:t>graph algorithms</a:t>
            </a:r>
            <a:r>
              <a:rPr lang="en-US" dirty="0"/>
              <a:t> and </a:t>
            </a:r>
            <a:r>
              <a:rPr lang="en-US" b="1" dirty="0"/>
              <a:t>data-parallel operations</a:t>
            </a:r>
          </a:p>
          <a:p>
            <a:r>
              <a:rPr lang="en-US" dirty="0"/>
              <a:t>Built on top of Spark’s </a:t>
            </a:r>
            <a:r>
              <a:rPr lang="en-US" b="1" dirty="0"/>
              <a:t>RDD</a:t>
            </a:r>
            <a:r>
              <a:rPr lang="en-US" dirty="0"/>
              <a:t> (Resilient Distributed Dataset)</a:t>
            </a:r>
          </a:p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EF350A4-E918-0EA3-C841-034D0F6944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9" name="Picture 5" descr="Threat Hunting with Jupyter Notebooks — Part 3: Querying Elasticsearch via  Apache Spark ✨ | by Roberto Rodriguez | Posts By SpecterOps Team Members">
            <a:extLst>
              <a:ext uri="{FF2B5EF4-FFF2-40B4-BE49-F238E27FC236}">
                <a16:creationId xmlns:a16="http://schemas.microsoft.com/office/drawing/2014/main" id="{EF1D4240-0F5C-5E7C-0DEC-394D451EEA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103"/>
          <a:stretch>
            <a:fillRect/>
          </a:stretch>
        </p:blipFill>
        <p:spPr bwMode="auto">
          <a:xfrm>
            <a:off x="3137647" y="3765176"/>
            <a:ext cx="4715435" cy="2702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2343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97BF8-19FB-F1FC-4B63-DCCF111D4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DBA49-25BD-662A-6A9B-6589C55F9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970"/>
          </a:xfrm>
        </p:spPr>
        <p:txBody>
          <a:bodyPr>
            <a:normAutofit fontScale="90000"/>
          </a:bodyPr>
          <a:lstStyle/>
          <a:p>
            <a:r>
              <a:rPr lang="en-US" sz="5400" b="1" u="sng" dirty="0"/>
              <a:t>Basic Commands</a:t>
            </a:r>
            <a:endParaRPr lang="en-IN" sz="5400" b="1" u="sng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9EF7AD1F-3728-C35E-BA65-B1A8433D73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6663992"/>
              </p:ext>
            </p:extLst>
          </p:nvPr>
        </p:nvGraphicFramePr>
        <p:xfrm>
          <a:off x="838200" y="1664260"/>
          <a:ext cx="10515597" cy="375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4318">
                  <a:extLst>
                    <a:ext uri="{9D8B030D-6E8A-4147-A177-3AD203B41FA5}">
                      <a16:colId xmlns:a16="http://schemas.microsoft.com/office/drawing/2014/main" val="3711828928"/>
                    </a:ext>
                  </a:extLst>
                </a:gridCol>
                <a:gridCol w="5186080">
                  <a:extLst>
                    <a:ext uri="{9D8B030D-6E8A-4147-A177-3AD203B41FA5}">
                      <a16:colId xmlns:a16="http://schemas.microsoft.com/office/drawing/2014/main" val="12970228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569906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5948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Import packages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import org.apache.spark.graphx._ import org.apache.spark.rdd.RDD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Required for GraphX and RDDs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8947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Define vertices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ourier New" panose="02070309020205020404" pitchFamily="49" charset="0"/>
                        </a:rPr>
                        <a:t>val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 vertices: RDD[(</a:t>
                      </a:r>
                      <a:r>
                        <a:rPr lang="en-US" dirty="0" err="1">
                          <a:latin typeface="Courier New" panose="02070309020205020404" pitchFamily="49" charset="0"/>
                        </a:rPr>
                        <a:t>VertexId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, String)] = </a:t>
                      </a:r>
                      <a:r>
                        <a:rPr lang="en-US" dirty="0" err="1">
                          <a:latin typeface="Courier New" panose="02070309020205020404" pitchFamily="49" charset="0"/>
                        </a:rPr>
                        <a:t>sc.parallelize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(Seq( (1L, "Alice"), (2L, "Bob"), (3L, "Charlie"), (4L, "David") ))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Each vertex has an ID and a label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7815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Define edges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ourier New" panose="02070309020205020404" pitchFamily="49" charset="0"/>
                        </a:rPr>
                        <a:t>val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 edges: RDD[Edge[String]] = </a:t>
                      </a:r>
                      <a:r>
                        <a:rPr lang="en-US" dirty="0" err="1">
                          <a:latin typeface="Courier New" panose="02070309020205020404" pitchFamily="49" charset="0"/>
                        </a:rPr>
                        <a:t>sc.parallelize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(Seq( Edge(1L, 2L, "follows"), Edge(4L, 1L, "connects") ))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Each edge connects two nodes with a relationship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9278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Create graph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ourier New" panose="02070309020205020404" pitchFamily="49" charset="0"/>
                        </a:rPr>
                        <a:t>val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 graph = Graph(vertices, edges)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Builds a directed graph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34554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5A261A1-9176-2786-64A2-338413042611}"/>
              </a:ext>
            </a:extLst>
          </p:cNvPr>
          <p:cNvSpPr txBox="1"/>
          <p:nvPr/>
        </p:nvSpPr>
        <p:spPr>
          <a:xfrm>
            <a:off x="762000" y="1156512"/>
            <a:ext cx="3550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Basic graph creation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118425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66BA4-FE66-3C7F-8DC0-1CDC11475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F8099BF5-61EF-73A1-7859-39C7ED58BE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8293071"/>
              </p:ext>
            </p:extLst>
          </p:nvPr>
        </p:nvGraphicFramePr>
        <p:xfrm>
          <a:off x="838202" y="350520"/>
          <a:ext cx="10071846" cy="62116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5604">
                  <a:extLst>
                    <a:ext uri="{9D8B030D-6E8A-4147-A177-3AD203B41FA5}">
                      <a16:colId xmlns:a16="http://schemas.microsoft.com/office/drawing/2014/main" val="3711828928"/>
                    </a:ext>
                  </a:extLst>
                </a:gridCol>
                <a:gridCol w="4293201">
                  <a:extLst>
                    <a:ext uri="{9D8B030D-6E8A-4147-A177-3AD203B41FA5}">
                      <a16:colId xmlns:a16="http://schemas.microsoft.com/office/drawing/2014/main" val="129702287"/>
                    </a:ext>
                  </a:extLst>
                </a:gridCol>
                <a:gridCol w="4203041">
                  <a:extLst>
                    <a:ext uri="{9D8B030D-6E8A-4147-A177-3AD203B41FA5}">
                      <a16:colId xmlns:a16="http://schemas.microsoft.com/office/drawing/2014/main" val="3569906260"/>
                    </a:ext>
                  </a:extLst>
                </a:gridCol>
              </a:tblGrid>
              <a:tr h="353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5948561"/>
                  </a:ext>
                </a:extLst>
              </a:tr>
              <a:tr h="8728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ourier New" panose="02070309020205020404" pitchFamily="49" charset="0"/>
                        </a:rPr>
                        <a:t>map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n-NO" sz="1600" dirty="0">
                          <a:latin typeface="Courier New" panose="02070309020205020404" pitchFamily="49" charset="0"/>
                        </a:rPr>
                        <a:t>rdd.map(x =&gt; x * 2)</a:t>
                      </a:r>
                      <a:endParaRPr lang="nn-NO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Applies a function to each element to produce a new RDD of transformed elements.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8947789"/>
                  </a:ext>
                </a:extLst>
              </a:tr>
              <a:tr h="610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ourier New" panose="02070309020205020404" pitchFamily="49" charset="0"/>
                        </a:rPr>
                        <a:t>filter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 err="1">
                          <a:latin typeface="Courier New" panose="02070309020205020404" pitchFamily="49" charset="0"/>
                        </a:rPr>
                        <a:t>rdd.filter</a:t>
                      </a:r>
                      <a:r>
                        <a:rPr lang="en-IN" sz="1600" dirty="0">
                          <a:latin typeface="Courier New" panose="02070309020205020404" pitchFamily="49" charset="0"/>
                        </a:rPr>
                        <a:t>(x =&gt; x &gt; 5)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Keeps only the elements that satisfy a condition.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7815361"/>
                  </a:ext>
                </a:extLst>
              </a:tr>
              <a:tr h="353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ourier New" panose="02070309020205020404" pitchFamily="49" charset="0"/>
                        </a:rPr>
                        <a:t>distinct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rdd.distinct()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Removes duplicate elements from the RDD.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9278721"/>
                  </a:ext>
                </a:extLst>
              </a:tr>
              <a:tr h="610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ourier New" panose="02070309020205020404" pitchFamily="49" charset="0"/>
                        </a:rPr>
                        <a:t>union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rdd1.union(rdd2)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Combines two RDDs of the same type into one.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345547"/>
                  </a:ext>
                </a:extLst>
              </a:tr>
              <a:tr h="610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ourier New" panose="02070309020205020404" pitchFamily="49" charset="0"/>
                        </a:rPr>
                        <a:t>intersection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rdd1.intersection(rdd2)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Returns only elements that exist in both RDDs.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5714232"/>
                  </a:ext>
                </a:extLst>
              </a:tr>
              <a:tr h="610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ourier New" panose="02070309020205020404" pitchFamily="49" charset="0"/>
                        </a:rPr>
                        <a:t>subtract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rdd1.subtract(rdd2)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Removes elements in the second RDD from the first.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334171"/>
                  </a:ext>
                </a:extLst>
              </a:tr>
              <a:tr h="610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ourier New" panose="02070309020205020404" pitchFamily="49" charset="0"/>
                        </a:rPr>
                        <a:t>groupBy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rdd.groupBy(x =&gt; x % 2)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Groups elements according to a function or rule.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6890266"/>
                  </a:ext>
                </a:extLst>
              </a:tr>
              <a:tr h="610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ourier New" panose="02070309020205020404" pitchFamily="49" charset="0"/>
                        </a:rPr>
                        <a:t>groupByKey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rdd.groupByKey()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Groups values with the same key (for key-value RDDs).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9475686"/>
                  </a:ext>
                </a:extLst>
              </a:tr>
              <a:tr h="353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ourier New" panose="02070309020205020404" pitchFamily="49" charset="0"/>
                        </a:rPr>
                        <a:t>sortByKey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 err="1">
                          <a:latin typeface="Courier New" panose="02070309020205020404" pitchFamily="49" charset="0"/>
                        </a:rPr>
                        <a:t>rdd.sortByKey</a:t>
                      </a:r>
                      <a:r>
                        <a:rPr lang="en-IN" sz="1600" dirty="0">
                          <a:latin typeface="Courier New" panose="02070309020205020404" pitchFamily="49" charset="0"/>
                        </a:rPr>
                        <a:t>(ascending = true)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Sorts key–value pairs by their key.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5472794"/>
                  </a:ext>
                </a:extLst>
              </a:tr>
              <a:tr h="610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ourier New" panose="02070309020205020404" pitchFamily="49" charset="0"/>
                        </a:rPr>
                        <a:t>cache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rdd.cache()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Persists the RDD in memory for reuse in future actions.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674562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69F9E21-AF7B-2287-75B3-84E336338097}"/>
              </a:ext>
            </a:extLst>
          </p:cNvPr>
          <p:cNvSpPr txBox="1"/>
          <p:nvPr/>
        </p:nvSpPr>
        <p:spPr>
          <a:xfrm>
            <a:off x="838202" y="0"/>
            <a:ext cx="3550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Frequent High Level Function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388851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15C94-53A7-C37D-C711-D383F4450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59A495FD-B7FF-F781-B437-FA9372FAF7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6648531"/>
              </p:ext>
            </p:extLst>
          </p:nvPr>
        </p:nvGraphicFramePr>
        <p:xfrm>
          <a:off x="224117" y="1099484"/>
          <a:ext cx="11725835" cy="558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4278">
                  <a:extLst>
                    <a:ext uri="{9D8B030D-6E8A-4147-A177-3AD203B41FA5}">
                      <a16:colId xmlns:a16="http://schemas.microsoft.com/office/drawing/2014/main" val="3711828928"/>
                    </a:ext>
                  </a:extLst>
                </a:gridCol>
                <a:gridCol w="5865737">
                  <a:extLst>
                    <a:ext uri="{9D8B030D-6E8A-4147-A177-3AD203B41FA5}">
                      <a16:colId xmlns:a16="http://schemas.microsoft.com/office/drawing/2014/main" val="129702287"/>
                    </a:ext>
                  </a:extLst>
                </a:gridCol>
                <a:gridCol w="3825820">
                  <a:extLst>
                    <a:ext uri="{9D8B030D-6E8A-4147-A177-3AD203B41FA5}">
                      <a16:colId xmlns:a16="http://schemas.microsoft.com/office/drawing/2014/main" val="3569906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</a:t>
                      </a:r>
                      <a:r>
                        <a:rPr lang="en-IN" dirty="0" err="1"/>
                        <a:t>peration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Syntax / 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5948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filterVertices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graph.subgraph(vpred = (id, attr) =&gt; attr.startsWith("A"))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Filter vertices only.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7815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filterEdges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graph.subgraph(epred = triplet =&gt; triplet.attr == "follows")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Filter edges only.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9278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joinVertices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graph.joinVertices(newVertexRDD){ (id, oldAttr, newAttr) =&gt; updatedAttr }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Updates vertex attributes by joining with another </a:t>
                      </a:r>
                      <a:r>
                        <a:rPr lang="en-US" dirty="0" err="1"/>
                        <a:t>VertexRDD</a:t>
                      </a:r>
                      <a:r>
                        <a:rPr lang="en-US" dirty="0"/>
                        <a:t>. Useful for adding computed values like degrees or ranks.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345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Courier New" panose="02070309020205020404" pitchFamily="49" charset="0"/>
                        </a:rPr>
                        <a:t>vertices.join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graph.vertices.join(vertexRDD)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Joins two VertexRDDs to combine attributes. Returns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(vertexId, (attr1, attr2))</a:t>
                      </a:r>
                      <a:r>
                        <a:rPr lang="en-US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304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edges.map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Courier New" panose="02070309020205020404" pitchFamily="49" charset="0"/>
                        </a:rPr>
                        <a:t>graph.edges.map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(e =&gt; (</a:t>
                      </a:r>
                      <a:r>
                        <a:rPr lang="en-IN" dirty="0" err="1">
                          <a:latin typeface="Courier New" panose="02070309020205020404" pitchFamily="49" charset="0"/>
                        </a:rPr>
                        <a:t>e.srcId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, </a:t>
                      </a:r>
                      <a:r>
                        <a:rPr lang="en-IN" dirty="0" err="1">
                          <a:latin typeface="Courier New" panose="02070309020205020404" pitchFamily="49" charset="0"/>
                        </a:rPr>
                        <a:t>e.dstId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))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Extract source-destination info from edges; often used before joins or subgraph creation.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7748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triplets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graph.triplets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Accesses source vertex, edge, and destination vertex for more complex filtering or join operations.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034572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1E5E61E-B9A7-F959-7E61-18C66ADEE22C}"/>
              </a:ext>
            </a:extLst>
          </p:cNvPr>
          <p:cNvSpPr txBox="1"/>
          <p:nvPr/>
        </p:nvSpPr>
        <p:spPr>
          <a:xfrm>
            <a:off x="125506" y="691611"/>
            <a:ext cx="3550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Subgraph extraction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985855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B9370-741C-C90B-53AF-F0687B33D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C3EBAD42-7597-970F-D8A1-11293265CC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7126492"/>
              </p:ext>
            </p:extLst>
          </p:nvPr>
        </p:nvGraphicFramePr>
        <p:xfrm>
          <a:off x="838198" y="705037"/>
          <a:ext cx="10515597" cy="256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4318">
                  <a:extLst>
                    <a:ext uri="{9D8B030D-6E8A-4147-A177-3AD203B41FA5}">
                      <a16:colId xmlns:a16="http://schemas.microsoft.com/office/drawing/2014/main" val="3711828928"/>
                    </a:ext>
                  </a:extLst>
                </a:gridCol>
                <a:gridCol w="5186080">
                  <a:extLst>
                    <a:ext uri="{9D8B030D-6E8A-4147-A177-3AD203B41FA5}">
                      <a16:colId xmlns:a16="http://schemas.microsoft.com/office/drawing/2014/main" val="12970228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569906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5948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View vertices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graph.vertices.collect.foreach(println)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Shows all vertex IDs and labels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8947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View edges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graph.edges.collect.foreach(println)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Lists all edges (source, destination, label)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7815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Human-readable 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graph.triplets.collect.foreach(t =&gt; println(s"${t.srcAttr} --${t.attr}--&gt; ${t.dstAttr}"))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Prints relations like “Alice --follows--&gt; Bob”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9278721"/>
                  </a:ext>
                </a:extLst>
              </a:tr>
            </a:tbl>
          </a:graphicData>
        </a:graphic>
      </p:graphicFrame>
      <p:graphicFrame>
        <p:nvGraphicFramePr>
          <p:cNvPr id="3" name="Content Placeholder 9">
            <a:extLst>
              <a:ext uri="{FF2B5EF4-FFF2-40B4-BE49-F238E27FC236}">
                <a16:creationId xmlns:a16="http://schemas.microsoft.com/office/drawing/2014/main" id="{3AA753A9-7E23-5891-1222-AF0E9A84EA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00584934"/>
              </p:ext>
            </p:extLst>
          </p:nvPr>
        </p:nvGraphicFramePr>
        <p:xfrm>
          <a:off x="838198" y="3270437"/>
          <a:ext cx="10515597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4318">
                  <a:extLst>
                    <a:ext uri="{9D8B030D-6E8A-4147-A177-3AD203B41FA5}">
                      <a16:colId xmlns:a16="http://schemas.microsoft.com/office/drawing/2014/main" val="3711828928"/>
                    </a:ext>
                  </a:extLst>
                </a:gridCol>
                <a:gridCol w="5186080">
                  <a:extLst>
                    <a:ext uri="{9D8B030D-6E8A-4147-A177-3AD203B41FA5}">
                      <a16:colId xmlns:a16="http://schemas.microsoft.com/office/drawing/2014/main" val="12970228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569906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In-degree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ourier New" panose="02070309020205020404" pitchFamily="49" charset="0"/>
                        </a:rPr>
                        <a:t>graph.inDegrees.collect.foreach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dirty="0" err="1">
                          <a:latin typeface="Courier New" panose="02070309020205020404" pitchFamily="49" charset="0"/>
                        </a:rPr>
                        <a:t>println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Incoming edges count for each vertex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8947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Out-degree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ourier New" panose="02070309020205020404" pitchFamily="49" charset="0"/>
                        </a:rPr>
                        <a:t>graph.outDegrees.collect.foreach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dirty="0" err="1">
                          <a:latin typeface="Courier New" panose="02070309020205020404" pitchFamily="49" charset="0"/>
                        </a:rPr>
                        <a:t>println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Outgoing edges count for each vertex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7815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Total degree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graph.degrees.collect.foreach(println)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Total degree (in + out) for each vertex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927872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D12775A-080E-F9B6-6EF0-7784B82F6396}"/>
              </a:ext>
            </a:extLst>
          </p:cNvPr>
          <p:cNvSpPr txBox="1"/>
          <p:nvPr/>
        </p:nvSpPr>
        <p:spPr>
          <a:xfrm>
            <a:off x="757519" y="268942"/>
            <a:ext cx="3550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Graph Information</a:t>
            </a:r>
            <a:endParaRPr lang="en-IN" b="1" dirty="0"/>
          </a:p>
        </p:txBody>
      </p:sp>
      <p:graphicFrame>
        <p:nvGraphicFramePr>
          <p:cNvPr id="5" name="Content Placeholder 9">
            <a:extLst>
              <a:ext uri="{FF2B5EF4-FFF2-40B4-BE49-F238E27FC236}">
                <a16:creationId xmlns:a16="http://schemas.microsoft.com/office/drawing/2014/main" id="{CB126B4B-A255-B964-257A-AA4C537235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7642610"/>
              </p:ext>
            </p:extLst>
          </p:nvPr>
        </p:nvGraphicFramePr>
        <p:xfrm>
          <a:off x="838197" y="5190677"/>
          <a:ext cx="1051559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4318">
                  <a:extLst>
                    <a:ext uri="{9D8B030D-6E8A-4147-A177-3AD203B41FA5}">
                      <a16:colId xmlns:a16="http://schemas.microsoft.com/office/drawing/2014/main" val="3711828928"/>
                    </a:ext>
                  </a:extLst>
                </a:gridCol>
                <a:gridCol w="5186080">
                  <a:extLst>
                    <a:ext uri="{9D8B030D-6E8A-4147-A177-3AD203B41FA5}">
                      <a16:colId xmlns:a16="http://schemas.microsoft.com/office/drawing/2014/main" val="12970228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569906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Outgoing </a:t>
                      </a:r>
                      <a:r>
                        <a:rPr lang="en-IN" dirty="0" err="1"/>
                        <a:t>neighbors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Courier New" panose="02070309020205020404" pitchFamily="49" charset="0"/>
                        </a:rPr>
                        <a:t>graph.triplets.map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(t =&gt; (</a:t>
                      </a:r>
                      <a:r>
                        <a:rPr lang="en-IN" dirty="0" err="1">
                          <a:latin typeface="Courier New" panose="02070309020205020404" pitchFamily="49" charset="0"/>
                        </a:rPr>
                        <a:t>t.srcAttr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, </a:t>
                      </a:r>
                      <a:r>
                        <a:rPr lang="en-IN" dirty="0" err="1">
                          <a:latin typeface="Courier New" panose="02070309020205020404" pitchFamily="49" charset="0"/>
                        </a:rPr>
                        <a:t>t.dstAttr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)).</a:t>
                      </a:r>
                      <a:r>
                        <a:rPr lang="en-IN" dirty="0" err="1">
                          <a:latin typeface="Courier New" panose="02070309020205020404" pitchFamily="49" charset="0"/>
                        </a:rPr>
                        <a:t>groupByKey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().collect()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Lists who each node points 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8947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Incoming neighbors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Courier New" panose="02070309020205020404" pitchFamily="49" charset="0"/>
                        </a:rPr>
                        <a:t>graph.triplets.map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(t =&gt; (</a:t>
                      </a:r>
                      <a:r>
                        <a:rPr lang="en-IN" dirty="0" err="1">
                          <a:latin typeface="Courier New" panose="02070309020205020404" pitchFamily="49" charset="0"/>
                        </a:rPr>
                        <a:t>t.dstAttr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, </a:t>
                      </a:r>
                      <a:r>
                        <a:rPr lang="en-IN" dirty="0" err="1">
                          <a:latin typeface="Courier New" panose="02070309020205020404" pitchFamily="49" charset="0"/>
                        </a:rPr>
                        <a:t>t.srcAttr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)).</a:t>
                      </a:r>
                      <a:r>
                        <a:rPr lang="en-IN" dirty="0" err="1">
                          <a:latin typeface="Courier New" panose="02070309020205020404" pitchFamily="49" charset="0"/>
                        </a:rPr>
                        <a:t>groupByKey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().collect()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Lists who points to each node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78153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661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224E9-8ECB-9375-924C-8324C5DE9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9">
            <a:extLst>
              <a:ext uri="{FF2B5EF4-FFF2-40B4-BE49-F238E27FC236}">
                <a16:creationId xmlns:a16="http://schemas.microsoft.com/office/drawing/2014/main" id="{128FFB3E-E79B-88BB-1CD2-73556C477F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97131954"/>
              </p:ext>
            </p:extLst>
          </p:nvPr>
        </p:nvGraphicFramePr>
        <p:xfrm>
          <a:off x="838200" y="816720"/>
          <a:ext cx="10515597" cy="165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4318">
                  <a:extLst>
                    <a:ext uri="{9D8B030D-6E8A-4147-A177-3AD203B41FA5}">
                      <a16:colId xmlns:a16="http://schemas.microsoft.com/office/drawing/2014/main" val="3711828928"/>
                    </a:ext>
                  </a:extLst>
                </a:gridCol>
                <a:gridCol w="5186080">
                  <a:extLst>
                    <a:ext uri="{9D8B030D-6E8A-4147-A177-3AD203B41FA5}">
                      <a16:colId xmlns:a16="http://schemas.microsoft.com/office/drawing/2014/main" val="12970228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569906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5948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Reverse edges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val reversedGraph = graph.reverse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Reverses the direction of all edges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8947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View reversed graph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Courier New" panose="02070309020205020404" pitchFamily="49" charset="0"/>
                        </a:rPr>
                        <a:t>reversedGraph.triplets.collect.foreach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(t =&gt; </a:t>
                      </a:r>
                      <a:r>
                        <a:rPr lang="en-IN" dirty="0" err="1">
                          <a:latin typeface="Courier New" panose="02070309020205020404" pitchFamily="49" charset="0"/>
                        </a:rPr>
                        <a:t>println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(s"${</a:t>
                      </a:r>
                      <a:r>
                        <a:rPr lang="en-IN" dirty="0" err="1">
                          <a:latin typeface="Courier New" panose="02070309020205020404" pitchFamily="49" charset="0"/>
                        </a:rPr>
                        <a:t>t.srcAttr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} --${</a:t>
                      </a:r>
                      <a:r>
                        <a:rPr lang="en-IN" dirty="0" err="1">
                          <a:latin typeface="Courier New" panose="02070309020205020404" pitchFamily="49" charset="0"/>
                        </a:rPr>
                        <a:t>t.attr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}--&gt; ${</a:t>
                      </a:r>
                      <a:r>
                        <a:rPr lang="en-IN" dirty="0" err="1">
                          <a:latin typeface="Courier New" panose="02070309020205020404" pitchFamily="49" charset="0"/>
                        </a:rPr>
                        <a:t>t.dstAttr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}"))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Displays the reversed edge directions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7815361"/>
                  </a:ext>
                </a:extLst>
              </a:tr>
            </a:tbl>
          </a:graphicData>
        </a:graphic>
      </p:graphicFrame>
      <p:graphicFrame>
        <p:nvGraphicFramePr>
          <p:cNvPr id="5" name="Content Placeholder 9">
            <a:extLst>
              <a:ext uri="{FF2B5EF4-FFF2-40B4-BE49-F238E27FC236}">
                <a16:creationId xmlns:a16="http://schemas.microsoft.com/office/drawing/2014/main" id="{18CDAF56-7ECD-D79E-A810-A9513AC6BCD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238822"/>
              </p:ext>
            </p:extLst>
          </p:nvPr>
        </p:nvGraphicFramePr>
        <p:xfrm>
          <a:off x="838200" y="3147005"/>
          <a:ext cx="10515597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0882">
                  <a:extLst>
                    <a:ext uri="{9D8B030D-6E8A-4147-A177-3AD203B41FA5}">
                      <a16:colId xmlns:a16="http://schemas.microsoft.com/office/drawing/2014/main" val="3711828928"/>
                    </a:ext>
                  </a:extLst>
                </a:gridCol>
                <a:gridCol w="5809130">
                  <a:extLst>
                    <a:ext uri="{9D8B030D-6E8A-4147-A177-3AD203B41FA5}">
                      <a16:colId xmlns:a16="http://schemas.microsoft.com/office/drawing/2014/main" val="129702287"/>
                    </a:ext>
                  </a:extLst>
                </a:gridCol>
                <a:gridCol w="3025585">
                  <a:extLst>
                    <a:ext uri="{9D8B030D-6E8A-4147-A177-3AD203B41FA5}">
                      <a16:colId xmlns:a16="http://schemas.microsoft.com/office/drawing/2014/main" val="3569906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5948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</a:t>
                      </a:r>
                      <a:r>
                        <a:rPr lang="en-IN" dirty="0" err="1"/>
                        <a:t>ave</a:t>
                      </a:r>
                      <a:r>
                        <a:rPr lang="en-IN" dirty="0"/>
                        <a:t> graph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 err="1"/>
                        <a:t>graph.vertices.saveAsObjectFile</a:t>
                      </a:r>
                      <a:r>
                        <a:rPr lang="fr-FR" dirty="0"/>
                        <a:t>("</a:t>
                      </a:r>
                      <a:r>
                        <a:rPr lang="fr-FR" dirty="0" err="1"/>
                        <a:t>vertices_obj</a:t>
                      </a:r>
                      <a:r>
                        <a:rPr lang="fr-FR" dirty="0"/>
                        <a:t>")</a:t>
                      </a:r>
                    </a:p>
                    <a:p>
                      <a:pPr>
                        <a:buNone/>
                      </a:pPr>
                      <a:r>
                        <a:rPr lang="en-US" dirty="0" err="1"/>
                        <a:t>graph.edges.saveAsObjectFile</a:t>
                      </a:r>
                      <a:r>
                        <a:rPr lang="en-US" dirty="0"/>
                        <a:t>("</a:t>
                      </a:r>
                      <a:r>
                        <a:rPr lang="en-US" dirty="0" err="1"/>
                        <a:t>edges_obj</a:t>
                      </a:r>
                      <a:r>
                        <a:rPr lang="en-US" dirty="0"/>
                        <a:t>")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Reverses the direction of all edges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8947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Load graph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val</a:t>
                      </a:r>
                      <a:r>
                        <a:rPr lang="en-IN" dirty="0"/>
                        <a:t> vertices = </a:t>
                      </a:r>
                      <a:r>
                        <a:rPr lang="en-IN" dirty="0" err="1"/>
                        <a:t>sc.objectFile</a:t>
                      </a:r>
                      <a:r>
                        <a:rPr lang="en-IN" dirty="0"/>
                        <a:t>[(Long, String)]("</a:t>
                      </a:r>
                      <a:r>
                        <a:rPr lang="en-IN" dirty="0" err="1"/>
                        <a:t>vertices_obj</a:t>
                      </a:r>
                      <a:r>
                        <a:rPr lang="en-IN" dirty="0"/>
                        <a:t>")</a:t>
                      </a:r>
                      <a:endParaRPr lang="en-US" dirty="0"/>
                    </a:p>
                    <a:p>
                      <a:pPr>
                        <a:buNone/>
                      </a:pPr>
                      <a:r>
                        <a:rPr lang="en-US" dirty="0" err="1"/>
                        <a:t>val</a:t>
                      </a:r>
                      <a:r>
                        <a:rPr lang="en-US" dirty="0"/>
                        <a:t> edges = </a:t>
                      </a:r>
                      <a:r>
                        <a:rPr lang="en-US" dirty="0" err="1"/>
                        <a:t>sc.objectFile</a:t>
                      </a:r>
                      <a:r>
                        <a:rPr lang="en-US" dirty="0"/>
                        <a:t>[Edge[String]]("</a:t>
                      </a:r>
                      <a:r>
                        <a:rPr lang="en-US" dirty="0" err="1"/>
                        <a:t>edges_obj</a:t>
                      </a:r>
                      <a:r>
                        <a:rPr lang="en-US" dirty="0"/>
                        <a:t>")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Displays the reversed edge directions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781536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589D74A-B112-1F27-9659-70D0C2F03C25}"/>
              </a:ext>
            </a:extLst>
          </p:cNvPr>
          <p:cNvSpPr txBox="1"/>
          <p:nvPr/>
        </p:nvSpPr>
        <p:spPr>
          <a:xfrm>
            <a:off x="838200" y="253145"/>
            <a:ext cx="3550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Reverse graph</a:t>
            </a:r>
            <a:endParaRPr lang="en-I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A5D912-F499-6849-262A-C8470ED20842}"/>
              </a:ext>
            </a:extLst>
          </p:cNvPr>
          <p:cNvSpPr txBox="1"/>
          <p:nvPr/>
        </p:nvSpPr>
        <p:spPr>
          <a:xfrm>
            <a:off x="775447" y="5102878"/>
            <a:ext cx="3550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Miscellaneous:</a:t>
            </a:r>
            <a:endParaRPr lang="en-IN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69B2D9-7D35-47EA-183D-AA274378487A}"/>
              </a:ext>
            </a:extLst>
          </p:cNvPr>
          <p:cNvSpPr txBox="1"/>
          <p:nvPr/>
        </p:nvSpPr>
        <p:spPr>
          <a:xfrm>
            <a:off x="838200" y="5450541"/>
            <a:ext cx="6172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:help to get reference list  of basic commands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:type for any variable to know its datatype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.collect() only when you need final calculation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.cache() for a variable if you are going to use it often 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D425B5-36F7-58B3-5671-4C987D9723E7}"/>
              </a:ext>
            </a:extLst>
          </p:cNvPr>
          <p:cNvSpPr txBox="1"/>
          <p:nvPr/>
        </p:nvSpPr>
        <p:spPr>
          <a:xfrm>
            <a:off x="775447" y="2777673"/>
            <a:ext cx="3550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Save and Load Graph(text)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594162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C71F5-0184-C390-D183-65A255AB4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085E7-DBC9-5DB2-FBE5-66F29BE3D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97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Lab Task 1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8C62AF-08AF-0FE9-CCAF-F69B6481C5D2}"/>
              </a:ext>
            </a:extLst>
          </p:cNvPr>
          <p:cNvSpPr txBox="1"/>
          <p:nvPr/>
        </p:nvSpPr>
        <p:spPr>
          <a:xfrm>
            <a:off x="838203" y="1018096"/>
            <a:ext cx="1051559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Make the Graph Given below then find the following(add your name in box):</a:t>
            </a:r>
          </a:p>
          <a:p>
            <a:r>
              <a:rPr lang="en-US" sz="2400" b="1" dirty="0"/>
              <a:t>(a)In-Degree for each vertex </a:t>
            </a:r>
          </a:p>
          <a:p>
            <a:r>
              <a:rPr lang="en-US" sz="2400" b="1" dirty="0"/>
              <a:t>(b)Out-Degree for each vertex </a:t>
            </a:r>
          </a:p>
          <a:p>
            <a:r>
              <a:rPr lang="en-US" sz="2400" b="1" dirty="0"/>
              <a:t>(c)Print all Triplets </a:t>
            </a:r>
          </a:p>
          <a:p>
            <a:r>
              <a:rPr lang="en-US" sz="2400" b="1" dirty="0"/>
              <a:t>(d)Randomly choose any 3 vertex (exclude yours) and find its </a:t>
            </a:r>
            <a:r>
              <a:rPr lang="en-US" sz="2400" b="1" dirty="0" err="1"/>
              <a:t>neighbour</a:t>
            </a:r>
            <a:r>
              <a:rPr lang="en-US" sz="2400" b="1" dirty="0"/>
              <a:t>(incoming &amp; outgoing)</a:t>
            </a:r>
          </a:p>
          <a:p>
            <a:endParaRPr lang="en-US" sz="2400" b="1" dirty="0"/>
          </a:p>
          <a:p>
            <a:endParaRPr lang="en-IN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4F6B02-AFC5-9265-C81B-014D4A30B7A8}"/>
              </a:ext>
            </a:extLst>
          </p:cNvPr>
          <p:cNvSpPr txBox="1"/>
          <p:nvPr/>
        </p:nvSpPr>
        <p:spPr>
          <a:xfrm>
            <a:off x="3075973" y="3747182"/>
            <a:ext cx="526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B857D25-286D-5185-4000-61D96BC0E1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6299" r="5640"/>
          <a:stretch>
            <a:fillRect/>
          </a:stretch>
        </p:blipFill>
        <p:spPr>
          <a:xfrm>
            <a:off x="2553779" y="2967318"/>
            <a:ext cx="6348174" cy="372035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A7A481E-EAAC-2D9A-90E9-1438AF581B39}"/>
              </a:ext>
            </a:extLst>
          </p:cNvPr>
          <p:cNvSpPr/>
          <p:nvPr/>
        </p:nvSpPr>
        <p:spPr>
          <a:xfrm>
            <a:off x="8095129" y="5839904"/>
            <a:ext cx="555811" cy="2011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77993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9D15D-09FB-C82C-36F1-3D8F28BC5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0B51A-097B-9EE4-FFFA-2B1D16DD2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224"/>
            <a:ext cx="10515600" cy="65297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Lab Task 2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F553C3-28D5-ECE5-6514-1100F30CE0C3}"/>
              </a:ext>
            </a:extLst>
          </p:cNvPr>
          <p:cNvSpPr txBox="1"/>
          <p:nvPr/>
        </p:nvSpPr>
        <p:spPr>
          <a:xfrm>
            <a:off x="838203" y="700194"/>
            <a:ext cx="1051559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Make the Graph using Triplets Given below (add  </a:t>
            </a:r>
            <a:r>
              <a:rPr lang="en-US" sz="2400" b="1" dirty="0" err="1"/>
              <a:t>atleast</a:t>
            </a:r>
            <a:r>
              <a:rPr lang="en-US" sz="2400" b="1" dirty="0"/>
              <a:t> 5 more triplets on your own use same set of vertex and edge attributes):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400" b="1" dirty="0"/>
              <a:t>Build the graph 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400" b="1" dirty="0"/>
              <a:t>Obtain a subgraph with only “friend” edge attribute 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400" b="1" dirty="0"/>
              <a:t>In graph and its subgraph find how many vertex are there degree less than or equal to 2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400" b="1" dirty="0"/>
              <a:t>Check if subgraph is connected graph </a:t>
            </a:r>
          </a:p>
          <a:p>
            <a:endParaRPr lang="en-US" sz="2400" b="1" dirty="0"/>
          </a:p>
          <a:p>
            <a:endParaRPr lang="en-IN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175B48-8684-609B-944B-673A6C914A63}"/>
              </a:ext>
            </a:extLst>
          </p:cNvPr>
          <p:cNvSpPr txBox="1"/>
          <p:nvPr/>
        </p:nvSpPr>
        <p:spPr>
          <a:xfrm>
            <a:off x="3075973" y="3747182"/>
            <a:ext cx="526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9C1540-455B-BD6B-4F64-36DD516AC306}"/>
              </a:ext>
            </a:extLst>
          </p:cNvPr>
          <p:cNvSpPr txBox="1"/>
          <p:nvPr/>
        </p:nvSpPr>
        <p:spPr>
          <a:xfrm>
            <a:off x="6983506" y="3164681"/>
            <a:ext cx="467061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("Alice", "Bob", "friend")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("Alice", "Charlie", "friend")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("Bob", "David", "follow")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("Charlie", “Ave", "friend")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("David", "Frank", "friend")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(“Ave", "Grace", "follow")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("Frank", "Hannah", "friend")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("Grace", "Ivy", "friend")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("Hannah", "Jack", "follow")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("Ivy", "Alice", "follow")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("Jack", "Bob", "friend")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("Charlie", "Frank", "follow")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("David", "Grace", "friend")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3DC89F-6283-3A7D-81B9-DF1E6BE79C53}"/>
              </a:ext>
            </a:extLst>
          </p:cNvPr>
          <p:cNvSpPr txBox="1"/>
          <p:nvPr/>
        </p:nvSpPr>
        <p:spPr>
          <a:xfrm>
            <a:off x="6983506" y="2795349"/>
            <a:ext cx="1515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List of Triplets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872409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995</TotalTime>
  <Words>1212</Words>
  <Application>Microsoft Office PowerPoint</Application>
  <PresentationFormat>Widescreen</PresentationFormat>
  <Paragraphs>170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Courier New</vt:lpstr>
      <vt:lpstr>Wingdings</vt:lpstr>
      <vt:lpstr>Office Theme</vt:lpstr>
      <vt:lpstr>Spark GraphX</vt:lpstr>
      <vt:lpstr>What is Pregel?</vt:lpstr>
      <vt:lpstr>What is Spark GraphX ?</vt:lpstr>
      <vt:lpstr>Basic Commands</vt:lpstr>
      <vt:lpstr>PowerPoint Presentation</vt:lpstr>
      <vt:lpstr>PowerPoint Presentation</vt:lpstr>
      <vt:lpstr>PowerPoint Presentation</vt:lpstr>
      <vt:lpstr>PowerPoint Presentation</vt:lpstr>
      <vt:lpstr>Lab Task 1</vt:lpstr>
      <vt:lpstr>Lab Task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 Raj</dc:creator>
  <cp:lastModifiedBy>Harsh Raj</cp:lastModifiedBy>
  <cp:revision>26</cp:revision>
  <dcterms:created xsi:type="dcterms:W3CDTF">2025-10-07T19:21:21Z</dcterms:created>
  <dcterms:modified xsi:type="dcterms:W3CDTF">2025-10-21T15:46:30Z</dcterms:modified>
</cp:coreProperties>
</file>