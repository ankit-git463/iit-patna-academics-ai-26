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58" r:id="rId4"/>
    <p:sldId id="259" r:id="rId5"/>
    <p:sldId id="279" r:id="rId6"/>
    <p:sldId id="278" r:id="rId7"/>
    <p:sldId id="275" r:id="rId8"/>
    <p:sldId id="276" r:id="rId9"/>
    <p:sldId id="281" r:id="rId10"/>
    <p:sldId id="265" r:id="rId11"/>
    <p:sldId id="282" r:id="rId12"/>
    <p:sldId id="285" r:id="rId13"/>
    <p:sldId id="283" r:id="rId14"/>
    <p:sldId id="286" r:id="rId15"/>
    <p:sldId id="287" r:id="rId16"/>
    <p:sldId id="280" r:id="rId17"/>
    <p:sldId id="288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CC521-E26C-4C65-983B-720D46395CA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28213-F5B3-455E-B9EA-65BD1D029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9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809-0833-D3FC-6858-6B04396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64F0-7BCE-6D55-BC9A-A29D477F0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F6FE7-F160-BF6B-580B-CD2E0C231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927F0-3658-6F11-8F12-04DE0CEB7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1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3F8B-F081-4CD5-A6A8-A86394D0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AAED1-9BF5-5A8C-2F50-13721BC22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596BD-2B90-A099-D6FE-B5F78EB6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17D6E-E024-1172-0D74-503305216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B659-8E75-0416-92CA-BB3A8041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36CBF-0D10-0B67-5AC8-8E1E8E3D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F45B8-B8B8-3A9F-0257-85207207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BC1D3-FEA0-8690-DA00-49706C203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6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303C-8A4E-08DC-80A4-B0757757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CBA96-DA22-8152-AE1D-CA359F74E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F13B9-6FDD-711E-6714-0813EEF7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3D39A-F7E6-B4AE-0809-E79F83F09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191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C6E9-34B0-0B03-2E98-5884D760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1DCC6-BCA4-FBE9-F623-EB7E95EE2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51856-374C-3D02-8BC5-6BA8E7DAA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DB29-45D6-69CB-96BB-E4EE8C305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674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FE3B-1F94-235B-FF48-496CA47D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68294-F07B-4237-4FAB-6AF154002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90FE9-72E6-9347-8FD4-4B7460C65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11C75-803A-8309-D26C-D74B0A646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023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F4C4-1E77-B060-8AA7-79CCF61D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FDD87-C38C-1417-5B61-9EFF28379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B6866-E470-0DD7-DF5F-EE8FA5A9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8FC6-B046-CC5A-E6CE-647F499F8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158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50B6-625C-0EE0-352B-3AD8DA38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B6F88-7D7E-4688-F0A0-F5A92CDE9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55544-3346-5D18-F2BD-933D2C034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27188-B24B-9A7C-0BC9-A05B7674E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644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668BF-4778-E841-2FD3-47126783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1D24C-26DC-0CDD-C193-3A931567D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F459E-A6D6-D151-C1E1-738E526AE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20D2-B57B-D2C6-DEF3-D7D5CF415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21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A987-C65A-DAEE-F74B-DB47AF9F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50B7E-D0F5-E328-0557-CE204DFD7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F7B7-7A1F-87B3-8D0A-BA0B91D1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448D-2025-A193-B01B-8FB8BFAA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8800-187E-8800-EA96-C0310C4F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4E2E-FB6B-8F3E-7D62-473FEE38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F863-010E-7C39-0CB1-8818BE5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27C94-FF7F-86BE-5B4D-E1B7B103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3AE33-F2D7-CC0B-977C-F9ADA258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03E0-58CA-1673-3255-A387C33A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98FE-43B5-7AAD-6CEF-D14971BE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A9BF0-25A3-63DC-1B89-DACF35AB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C9DB-9916-4C57-1793-9C5907B0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43A1-7755-146A-EC20-BADAF4F4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74CB-C4B8-AA68-F71D-B11856C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3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A9E7-B8C8-62FE-3AF1-920CD2E9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66A56-0D2C-249B-A342-0325CE16A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01A1C-FC33-9401-0DA1-3C4C12E2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ED53-D9B3-E5F8-BFF3-C720DC6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328D-6AA1-AD31-7972-8695B9A2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AB602-001D-A232-CE7F-93BECAA7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8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3482-B99B-F94A-4AEE-6C1625CC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7CBD-A1A9-0515-A911-CD394054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529E8-D6FD-F344-B2F1-DF2ED333F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70932-E343-0B69-CC12-8F5309518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EC2-8270-2C56-E2D4-608CC0B5E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1ED20-9D2F-CD32-D170-7A135DA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C6525-2508-1018-7045-85CCCAAD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05D08-B4EF-D640-4193-D835BDFB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4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0DD5-C4C5-56A2-73AF-19C0A3C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A2F1B-9785-7EEB-D746-4F0DB0E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79F28-FBDF-4678-060B-F1A286AA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D1FE2-613D-AFDB-3FA9-8BD21353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7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D7927-1AE8-98F3-79CC-1CFB2461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2DBF0-5471-46E9-8ED3-D45DBF09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7F3F-CDD7-1077-FE13-DF3121B5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4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06DF-1105-6618-687E-56BC0211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6961-8751-9016-53F7-C563BFE5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7D1E9-44EB-DCDE-3776-F0DA0F692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0617C-2FCF-B8E7-C520-72F58D5F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A434-2BC4-53DB-920D-7CCE812E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4D6B2-6F4A-D848-B577-5A61BF38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8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B066-6F99-C484-61AA-BA21A6E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D9E8D-3D0A-7598-128A-F125AAEBD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01118-0AFE-1CCD-1FD0-304FD001F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FC7DA-550F-C1B2-BF00-E4C2A44B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9126A-D58E-DC44-F27F-9215465C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F33F-FA75-25B3-8033-60B15414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27B9-D109-37A2-FEE8-D48A556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749FB-1BBC-F694-5727-423903A3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1EFF-3DCB-47B1-056C-12E918AA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F46F7-CCF0-6E62-3726-E63DDCA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442F-838F-0F02-6F06-9F7DC913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74785-3CA9-309C-B0E1-5499CECF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FC1F3-EF63-024A-3281-17AA669D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099E-016A-E76B-AFDF-A91D24E2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0331-D2BF-09A1-4762-253E1319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498E-5D18-1F36-631F-963A3462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8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93547-54D9-CDE9-24FF-A0654FEE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97976-DB5F-7390-074D-0ED9E36F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5704-458A-5CF0-BF1A-7003BE75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6F99-90DD-4CE2-B6E1-D698DC6330B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1AC52-5833-FB0F-DA3C-336FDB95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A6FB-1BA5-D5F7-00A2-17D33472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9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B405-E085-AB46-F043-F36DDBF7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Spark </a:t>
            </a:r>
            <a:r>
              <a:rPr lang="en-US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GraphX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C0CB5-704F-5567-70C6-419F1B580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Big Data </a:t>
            </a:r>
          </a:p>
          <a:p>
            <a:r>
              <a:rPr lang="en-US" dirty="0"/>
              <a:t> </a:t>
            </a:r>
            <a:r>
              <a:rPr lang="en-US"/>
              <a:t>12</a:t>
            </a:r>
            <a:r>
              <a:rPr lang="en-US" baseline="30000"/>
              <a:t>th </a:t>
            </a:r>
            <a:r>
              <a:rPr lang="en-US"/>
              <a:t> November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74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23D7-8EE2-C97A-18E2-2703694E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90FF-28C7-D720-9EC2-754BBE5D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Pregel?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AE35-217E-430B-F286-BA747C5D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1929108"/>
          </a:xfrm>
        </p:spPr>
        <p:txBody>
          <a:bodyPr>
            <a:normAutofit/>
          </a:bodyPr>
          <a:lstStyle/>
          <a:p>
            <a:r>
              <a:rPr lang="en-US" b="1" dirty="0"/>
              <a:t>Pregel</a:t>
            </a:r>
            <a:r>
              <a:rPr lang="en-US" dirty="0"/>
              <a:t> is a distributed graph processing model developed by </a:t>
            </a:r>
            <a:r>
              <a:rPr lang="en-US" b="1" dirty="0"/>
              <a:t>Google</a:t>
            </a:r>
            <a:r>
              <a:rPr lang="en-US" dirty="0"/>
              <a:t> (published in 2010).</a:t>
            </a:r>
          </a:p>
          <a:p>
            <a:r>
              <a:rPr lang="en-US" dirty="0"/>
              <a:t>It’s based on the </a:t>
            </a:r>
            <a:r>
              <a:rPr lang="en-US" b="1" dirty="0"/>
              <a:t>vertex-centric</a:t>
            </a:r>
            <a:r>
              <a:rPr lang="en-US" dirty="0"/>
              <a:t> idea — “</a:t>
            </a:r>
            <a:r>
              <a:rPr lang="en-US" b="1" dirty="0"/>
              <a:t>Think like a vertex</a:t>
            </a:r>
            <a:r>
              <a:rPr lang="en-US" dirty="0"/>
              <a:t>.”</a:t>
            </a:r>
          </a:p>
          <a:p>
            <a:r>
              <a:rPr lang="en-US" dirty="0"/>
              <a:t>Algorithm: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69AFD1-4B28-D381-C340-817FDF736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CD4D9-DCDF-60E5-0998-99C9E92B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991" y="3116225"/>
            <a:ext cx="5133621" cy="324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6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A3A-5171-570A-CB46-ACCDBD43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5ED8-7A8B-47C6-588A-2F29F680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Spark </a:t>
            </a:r>
            <a:r>
              <a:rPr lang="en-US" sz="5400" b="1" u="sng" dirty="0" err="1"/>
              <a:t>GraphX</a:t>
            </a:r>
            <a:r>
              <a:rPr lang="en-US" sz="5400" b="1" u="sng" dirty="0"/>
              <a:t> 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1574-410E-FF18-6FA9-C1561198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2458025"/>
          </a:xfrm>
        </p:spPr>
        <p:txBody>
          <a:bodyPr/>
          <a:lstStyle/>
          <a:p>
            <a:r>
              <a:rPr lang="en-US" dirty="0"/>
              <a:t>Part of </a:t>
            </a:r>
            <a:r>
              <a:rPr lang="en-US" b="1" dirty="0"/>
              <a:t>Apache Spark</a:t>
            </a:r>
            <a:r>
              <a:rPr lang="en-US" dirty="0"/>
              <a:t> for </a:t>
            </a:r>
            <a:r>
              <a:rPr lang="en-US" b="1" dirty="0"/>
              <a:t>graph processing</a:t>
            </a:r>
            <a:r>
              <a:rPr lang="en-US" dirty="0"/>
              <a:t> and </a:t>
            </a:r>
            <a:r>
              <a:rPr lang="en-US" b="1" dirty="0"/>
              <a:t>graph-parallel computation</a:t>
            </a:r>
          </a:p>
          <a:p>
            <a:r>
              <a:rPr lang="en-US" dirty="0"/>
              <a:t>Allows to represent data as </a:t>
            </a:r>
            <a:r>
              <a:rPr lang="en-US" b="1" dirty="0"/>
              <a:t>graphs</a:t>
            </a:r>
            <a:r>
              <a:rPr lang="en-US" dirty="0"/>
              <a:t> (vertices + edges)</a:t>
            </a:r>
          </a:p>
          <a:p>
            <a:r>
              <a:rPr lang="en-US" dirty="0"/>
              <a:t>Supports both </a:t>
            </a:r>
            <a:r>
              <a:rPr lang="en-US" b="1" dirty="0"/>
              <a:t>graph algorithms</a:t>
            </a:r>
            <a:r>
              <a:rPr lang="en-US" dirty="0"/>
              <a:t> and </a:t>
            </a:r>
            <a:r>
              <a:rPr lang="en-US" b="1" dirty="0"/>
              <a:t>data-parallel operations</a:t>
            </a:r>
          </a:p>
          <a:p>
            <a:r>
              <a:rPr lang="en-US" dirty="0"/>
              <a:t>Built on top of Spark’s </a:t>
            </a:r>
            <a:r>
              <a:rPr lang="en-US" b="1" dirty="0"/>
              <a:t>RDD</a:t>
            </a:r>
            <a:r>
              <a:rPr lang="en-US" dirty="0"/>
              <a:t> (Resilient Distributed Dataset)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F350A4-E918-0EA3-C841-034D0F69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Threat Hunting with Jupyter Notebooks — Part 3: Querying Elasticsearch via  Apache Spark ✨ | by Roberto Rodriguez | Posts By SpecterOps Team Members">
            <a:extLst>
              <a:ext uri="{FF2B5EF4-FFF2-40B4-BE49-F238E27FC236}">
                <a16:creationId xmlns:a16="http://schemas.microsoft.com/office/drawing/2014/main" id="{EF1D4240-0F5C-5E7C-0DEC-394D451EE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03"/>
          <a:stretch>
            <a:fillRect/>
          </a:stretch>
        </p:blipFill>
        <p:spPr bwMode="auto">
          <a:xfrm>
            <a:off x="3137647" y="3765176"/>
            <a:ext cx="4715435" cy="27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4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7BF8-19FB-F1FC-4B63-DCCF111D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BA49-25BD-662A-6A9B-6589C55F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Basic Commands</a:t>
            </a:r>
            <a:endParaRPr lang="en-IN" sz="5400" b="1" u="sng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EF7AD1F-3728-C35E-BA65-B1A8433D7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663992"/>
              </p:ext>
            </p:extLst>
          </p:nvPr>
        </p:nvGraphicFramePr>
        <p:xfrm>
          <a:off x="838200" y="1664260"/>
          <a:ext cx="10515597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Import packages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import org.apache.spark.graphx._ import org.apache.spark.rdd.RDD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Required for GraphX and RDDs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vertices: RDD[(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VertexId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, String)]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(1L, "Alice"), (2L, "Bob"), (3L, "Charlie"), (4L, "David")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vertex has an ID and a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edges: RDD[Edge[String]]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sc.parallelize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(Seq( Edge(1L, 2L, "follows"), Edge(4L, 1L, "connects") 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Each edge connects two nodes with a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val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graph = Graph(vertices, edges)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Builds a directed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A261A1-9176-2786-64A2-338413042611}"/>
              </a:ext>
            </a:extLst>
          </p:cNvPr>
          <p:cNvSpPr txBox="1"/>
          <p:nvPr/>
        </p:nvSpPr>
        <p:spPr>
          <a:xfrm>
            <a:off x="762000" y="115651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graph creation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842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6BA4-FE66-3C7F-8DC0-1CDC1147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8099BF5-61EF-73A1-7859-39C7ED58B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293071"/>
              </p:ext>
            </p:extLst>
          </p:nvPr>
        </p:nvGraphicFramePr>
        <p:xfrm>
          <a:off x="838202" y="350520"/>
          <a:ext cx="10071846" cy="6211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604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4293201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4203041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87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map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600" dirty="0">
                          <a:latin typeface="Courier New" panose="02070309020205020404" pitchFamily="49" charset="0"/>
                        </a:rPr>
                        <a:t>rdd.map(x =&gt; x * 2)</a:t>
                      </a:r>
                      <a:endParaRPr lang="nn-NO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Applies a function to each element to produce a new RDD of transformed elements.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filter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rdd.filter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(x =&gt; x &gt; 5)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Keeps only the elements that satisfy a condition.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distinct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rdd.distinct()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duplicate elements from the RDD.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union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rdd1.union(rdd2)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Combines two RDDs of the same type into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intersection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rdd1.intersection(rdd2)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Returns only elements that exist in both RDDs.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714232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subtract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rdd1.subtract(rdd2)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Removes elements in the second RDD from the first.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34171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rdd.groupBy(x =&gt; x % 2)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elements according to a function or rule.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890266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groupByKey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rdd.groupByKey()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Groups values with the same key (for key-value RDDs).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475686"/>
                  </a:ext>
                </a:extLst>
              </a:tr>
              <a:tr h="35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sortByKey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rdd.sortByKey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(ascending = true)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Sorts key–value pairs by their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472794"/>
                  </a:ext>
                </a:extLst>
              </a:tr>
              <a:tr h="61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ourier New" panose="02070309020205020404" pitchFamily="49" charset="0"/>
                        </a:rPr>
                        <a:t>cache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rdd.cache()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Persists the RDD in memory for reuse in future 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7456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9F9E21-AF7B-2287-75B3-84E336338097}"/>
              </a:ext>
            </a:extLst>
          </p:cNvPr>
          <p:cNvSpPr txBox="1"/>
          <p:nvPr/>
        </p:nvSpPr>
        <p:spPr>
          <a:xfrm>
            <a:off x="838202" y="0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Frequent High Level Function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885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5C94-53A7-C37D-C711-D383F445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9A495FD-B7FF-F781-B437-FA9372FAF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648531"/>
              </p:ext>
            </p:extLst>
          </p:nvPr>
        </p:nvGraphicFramePr>
        <p:xfrm>
          <a:off x="224117" y="1099484"/>
          <a:ext cx="1172583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7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65737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825820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</a:t>
                      </a:r>
                      <a:r>
                        <a:rPr lang="en-IN" dirty="0" err="1"/>
                        <a:t>peration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Syntax /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graph.subgraph(vpred = (id, attr) =&gt; attr.startsWith("A"))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Filter vertices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filterEdges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graph.subgraph(epred = triplet =&gt; triplet.attr == "follows")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 edges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joinVertices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graph.joinVertices(newVertexRDD){ (id, oldAttr, newAttr) =&gt; updatedAttr 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Updates vertex attributes by joining with another </a:t>
                      </a:r>
                      <a:r>
                        <a:rPr lang="en-US" dirty="0" err="1"/>
                        <a:t>VertexRDD</a:t>
                      </a:r>
                      <a:r>
                        <a:rPr lang="en-US" dirty="0"/>
                        <a:t>. Useful for adding computed values like degrees or ranks.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34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vertices.join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graph.vertices.join(vertexRDD)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Joins two VertexRDDs to combine attributes.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(vertexId, (attr1, attr2))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edges.map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graph.edges.map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(e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e.srcId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e.dstId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source-destination info from edges; often used before joins or subgraph creation.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74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Accesses source vertex, edge, and destination vertex for more complex filtering or join operations.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3457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E5E61E-B9A7-F959-7E61-18C66ADEE22C}"/>
              </a:ext>
            </a:extLst>
          </p:cNvPr>
          <p:cNvSpPr txBox="1"/>
          <p:nvPr/>
        </p:nvSpPr>
        <p:spPr>
          <a:xfrm>
            <a:off x="125506" y="691611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Subgraph extraction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8585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370-741C-C90B-53AF-F0687B33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3EBAD42-7597-970F-D8A1-11293265C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126492"/>
              </p:ext>
            </p:extLst>
          </p:nvPr>
        </p:nvGraphicFramePr>
        <p:xfrm>
          <a:off x="838198" y="705037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View 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graph.vertices.collect.foreach(println)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all vertex IDs and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graph.edges.collect.foreach(println)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Lists all edges (source, destination, label)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Human-readable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graph.triplets.collect.foreach(t =&gt; println(s"${t.srcAttr} --${t.attr}--&gt; ${t.dstAttr}"))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Prints relations like “Alice --follows--&gt; Bob”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3AA753A9-7E23-5891-1222-AF0E9A84EA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584934"/>
              </p:ext>
            </p:extLst>
          </p:nvPr>
        </p:nvGraphicFramePr>
        <p:xfrm>
          <a:off x="838198" y="3270437"/>
          <a:ext cx="1051559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graph.inDegrees.collect.foreach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Incoming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Out-degree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graph.outDegrees.collect.foreach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Outgoing edges count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graph.degrees.collect.foreach(println)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degree (in + out) for each vertex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12775A-080E-F9B6-6EF0-7784B82F6396}"/>
              </a:ext>
            </a:extLst>
          </p:cNvPr>
          <p:cNvSpPr txBox="1"/>
          <p:nvPr/>
        </p:nvSpPr>
        <p:spPr>
          <a:xfrm>
            <a:off x="757519" y="26894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 Information</a:t>
            </a:r>
            <a:endParaRPr lang="en-IN" b="1" dirty="0"/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CB126B4B-A255-B964-257A-AA4C537235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7642610"/>
              </p:ext>
            </p:extLst>
          </p:nvPr>
        </p:nvGraphicFramePr>
        <p:xfrm>
          <a:off x="838197" y="5190677"/>
          <a:ext cx="1051559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Outgoing </a:t>
                      </a:r>
                      <a:r>
                        <a:rPr lang="en-IN" dirty="0" err="1"/>
                        <a:t>neighbors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each node points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Incoming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graph.triplets.map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)).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groupByKey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().collect()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who points to each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6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24E9-8ECB-9375-924C-8324C5DE9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28FFB3E-E79B-88BB-1CD2-73556C477F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131954"/>
              </p:ext>
            </p:extLst>
          </p:nvPr>
        </p:nvGraphicFramePr>
        <p:xfrm>
          <a:off x="838200" y="816720"/>
          <a:ext cx="1051559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val reversedGraph = graph.reverse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reversed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reversedGraph.triplets.collect.foreach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(t =&gt;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println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(s"${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t.srcAttr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 --${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}--&gt; ${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t.dstAttr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}"))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18CDAF56-7ECD-D79E-A810-A9513AC6BC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38822"/>
              </p:ext>
            </p:extLst>
          </p:nvPr>
        </p:nvGraphicFramePr>
        <p:xfrm>
          <a:off x="838200" y="314700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82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80913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025585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ave</a:t>
                      </a:r>
                      <a:r>
                        <a:rPr lang="en-IN" dirty="0"/>
                        <a:t>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graph.vertices.saveAsObjectFile</a:t>
                      </a:r>
                      <a:r>
                        <a:rPr lang="fr-FR" dirty="0"/>
                        <a:t>("</a:t>
                      </a:r>
                      <a:r>
                        <a:rPr lang="fr-FR" dirty="0" err="1"/>
                        <a:t>vertices_obj</a:t>
                      </a:r>
                      <a:r>
                        <a:rPr lang="fr-FR" dirty="0"/>
                        <a:t>")</a:t>
                      </a:r>
                    </a:p>
                    <a:p>
                      <a:pPr>
                        <a:buNone/>
                      </a:pPr>
                      <a:r>
                        <a:rPr lang="en-US" dirty="0" err="1"/>
                        <a:t>graph.edges.saveAsObjectFile</a:t>
                      </a:r>
                      <a:r>
                        <a:rPr lang="en-US" dirty="0"/>
                        <a:t>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Reverses the direction of all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Load graph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val</a:t>
                      </a:r>
                      <a:r>
                        <a:rPr lang="en-IN" dirty="0"/>
                        <a:t> vertices = </a:t>
                      </a:r>
                      <a:r>
                        <a:rPr lang="en-IN" dirty="0" err="1"/>
                        <a:t>sc.objectFile</a:t>
                      </a:r>
                      <a:r>
                        <a:rPr lang="en-IN" dirty="0"/>
                        <a:t>[(Long, String)]("</a:t>
                      </a:r>
                      <a:r>
                        <a:rPr lang="en-IN" dirty="0" err="1"/>
                        <a:t>vertices_obj</a:t>
                      </a:r>
                      <a:r>
                        <a:rPr lang="en-IN" dirty="0"/>
                        <a:t>")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val</a:t>
                      </a:r>
                      <a:r>
                        <a:rPr lang="en-US" dirty="0"/>
                        <a:t> edges = </a:t>
                      </a:r>
                      <a:r>
                        <a:rPr lang="en-US" dirty="0" err="1"/>
                        <a:t>sc.objectFile</a:t>
                      </a:r>
                      <a:r>
                        <a:rPr lang="en-US" dirty="0"/>
                        <a:t>[Edge[String]]("</a:t>
                      </a:r>
                      <a:r>
                        <a:rPr lang="en-US" dirty="0" err="1"/>
                        <a:t>edges_obj</a:t>
                      </a:r>
                      <a:r>
                        <a:rPr lang="en-US" dirty="0"/>
                        <a:t>")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Displays the reversed edge directions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89D74A-B112-1F27-9659-70D0C2F03C25}"/>
              </a:ext>
            </a:extLst>
          </p:cNvPr>
          <p:cNvSpPr txBox="1"/>
          <p:nvPr/>
        </p:nvSpPr>
        <p:spPr>
          <a:xfrm>
            <a:off x="838200" y="253145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Reverse graph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5D912-F499-6849-262A-C8470ED20842}"/>
              </a:ext>
            </a:extLst>
          </p:cNvPr>
          <p:cNvSpPr txBox="1"/>
          <p:nvPr/>
        </p:nvSpPr>
        <p:spPr>
          <a:xfrm>
            <a:off x="775447" y="5102878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Miscellaneous: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9B2D9-7D35-47EA-183D-AA274378487A}"/>
              </a:ext>
            </a:extLst>
          </p:cNvPr>
          <p:cNvSpPr txBox="1"/>
          <p:nvPr/>
        </p:nvSpPr>
        <p:spPr>
          <a:xfrm>
            <a:off x="838200" y="5450541"/>
            <a:ext cx="617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:help to get reference list  of basic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:type for any variable to know its datatype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.collect() only when you need final calculation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.cache() for a variable if you are going to use it often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425B5-36F7-58B3-5671-4C987D9723E7}"/>
              </a:ext>
            </a:extLst>
          </p:cNvPr>
          <p:cNvSpPr txBox="1"/>
          <p:nvPr/>
        </p:nvSpPr>
        <p:spPr>
          <a:xfrm>
            <a:off x="775447" y="2777673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Save and Load Graph(text)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416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AD8C-F006-0151-3639-5646067B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D560F64-5D32-2BA9-6481-32F303020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283425"/>
              </p:ext>
            </p:extLst>
          </p:nvPr>
        </p:nvGraphicFramePr>
        <p:xfrm>
          <a:off x="838198" y="705037"/>
          <a:ext cx="10515597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4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</a:t>
                      </a:r>
                      <a:r>
                        <a:rPr lang="en-IN" dirty="0"/>
                        <a:t>age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graph.pageRank</a:t>
                      </a:r>
                      <a:r>
                        <a:rPr lang="en-IN" dirty="0"/>
                        <a:t>(</a:t>
                      </a:r>
                      <a:r>
                        <a:rPr lang="en-IN" dirty="0" err="1"/>
                        <a:t>tol</a:t>
                      </a:r>
                      <a:r>
                        <a:rPr lang="en-IN" dirty="0"/>
                        <a:t>) </a:t>
                      </a:r>
                    </a:p>
                    <a:p>
                      <a:pPr>
                        <a:buNone/>
                      </a:pP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PageRank.run(graph,numIter = 3)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rank as vertex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  <a:r>
                        <a:rPr lang="en-IN" dirty="0" err="1"/>
                        <a:t>onnected</a:t>
                      </a:r>
                      <a:r>
                        <a:rPr lang="en-IN" dirty="0"/>
                        <a:t>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graph.connectedComponents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component number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Strongly Connected Component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graph.stronglyConnectedComponents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numIter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component number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8F0E0173-992C-CB36-F15B-EFE2C48AA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5057013"/>
              </p:ext>
            </p:extLst>
          </p:nvPr>
        </p:nvGraphicFramePr>
        <p:xfrm>
          <a:off x="838198" y="3270437"/>
          <a:ext cx="1051559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318">
                  <a:extLst>
                    <a:ext uri="{9D8B030D-6E8A-4147-A177-3AD203B41FA5}">
                      <a16:colId xmlns:a16="http://schemas.microsoft.com/office/drawing/2014/main" val="3711828928"/>
                    </a:ext>
                  </a:extLst>
                </a:gridCol>
                <a:gridCol w="5186080">
                  <a:extLst>
                    <a:ext uri="{9D8B030D-6E8A-4147-A177-3AD203B41FA5}">
                      <a16:colId xmlns:a16="http://schemas.microsoft.com/office/drawing/2014/main" val="1297022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9906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</a:t>
                      </a:r>
                      <a:r>
                        <a:rPr lang="en-IN" dirty="0" err="1"/>
                        <a:t>riangle</a:t>
                      </a:r>
                      <a:r>
                        <a:rPr lang="en-IN" dirty="0"/>
                        <a:t>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graph.triangleCount</a:t>
                      </a:r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number of </a:t>
                      </a:r>
                      <a:r>
                        <a:rPr lang="en-US"/>
                        <a:t>participating triangle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4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</a:t>
                      </a:r>
                      <a:r>
                        <a:rPr lang="en-IN" dirty="0" err="1"/>
                        <a:t>hortest</a:t>
                      </a:r>
                      <a:r>
                        <a:rPr lang="en-IN" dirty="0"/>
                        <a:t> Path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ShortestPaths.run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(graph, Seq(1L))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Graph with Shortest path length to selected node(1L) as attribute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815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</a:t>
                      </a:r>
                      <a:r>
                        <a:rPr lang="en-IN" dirty="0" err="1"/>
                        <a:t>abel</a:t>
                      </a:r>
                      <a:r>
                        <a:rPr lang="en-IN" dirty="0"/>
                        <a:t> Propagation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LabelPropagation.run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(graph,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maxIter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10)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Detect Communities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2787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393ACC-2957-0402-7888-5652382471B1}"/>
              </a:ext>
            </a:extLst>
          </p:cNvPr>
          <p:cNvSpPr txBox="1"/>
          <p:nvPr/>
        </p:nvSpPr>
        <p:spPr>
          <a:xfrm>
            <a:off x="757519" y="268942"/>
            <a:ext cx="355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Built-in </a:t>
            </a:r>
            <a:r>
              <a:rPr lang="en-US" b="1" dirty="0" err="1"/>
              <a:t>GraphX</a:t>
            </a:r>
            <a:r>
              <a:rPr lang="en-US" b="1" dirty="0"/>
              <a:t> Algorithm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2702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71F5-0184-C390-D183-65A255AB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85E7-DBC9-5DB2-FBE5-66F29BE3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</a:t>
            </a:r>
            <a:r>
              <a:rPr lang="en-IN" b="1" u="sng" dirty="0"/>
              <a:t>age Rank</a:t>
            </a:r>
            <a:endParaRPr lang="en-IN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C62AF-08AF-0FE9-CCAF-F69B6481C5D2}"/>
              </a:ext>
            </a:extLst>
          </p:cNvPr>
          <p:cNvSpPr txBox="1"/>
          <p:nvPr/>
        </p:nvSpPr>
        <p:spPr>
          <a:xfrm>
            <a:off x="838203" y="1018096"/>
            <a:ext cx="105155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PageRank</a:t>
            </a:r>
            <a:r>
              <a:rPr lang="en-US" sz="2400" dirty="0"/>
              <a:t> is an algorithm that measures the </a:t>
            </a:r>
            <a:r>
              <a:rPr lang="en-US" sz="2400" i="1" dirty="0"/>
              <a:t>relative importance</a:t>
            </a:r>
            <a:r>
              <a:rPr lang="en-US" sz="2400" dirty="0"/>
              <a:t> of each vertex in a graph based on its connections.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rank score</a:t>
            </a:r>
            <a:r>
              <a:rPr lang="en-US" sz="2400" dirty="0"/>
              <a:t> based on how many links it has and the importance of those linking vertices.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6B02-AFC5-9265-C81B-014D4A30B7A8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9B91E-1696-26D9-4F53-F373A601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756"/>
            <a:ext cx="10515600" cy="41537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u="sng" dirty="0"/>
              <a:t>Method Variants</a:t>
            </a:r>
          </a:p>
          <a:p>
            <a:pPr marL="0" indent="0">
              <a:buNone/>
            </a:pPr>
            <a:r>
              <a:rPr lang="en-IN" b="1" dirty="0" err="1"/>
              <a:t>graph.pageRank</a:t>
            </a:r>
            <a:r>
              <a:rPr lang="en-IN" b="1" dirty="0"/>
              <a:t>(</a:t>
            </a:r>
            <a:r>
              <a:rPr lang="en-IN" b="1" dirty="0" err="1"/>
              <a:t>tol</a:t>
            </a:r>
            <a:r>
              <a:rPr lang="en-IN" b="1" dirty="0"/>
              <a:t>: Double)  </a:t>
            </a:r>
          </a:p>
          <a:p>
            <a:r>
              <a:rPr lang="en-IN" i="1" dirty="0" err="1"/>
              <a:t>tol</a:t>
            </a:r>
            <a:r>
              <a:rPr lang="en-IN" dirty="0"/>
              <a:t> → stop when PageRank values converge (change &lt; tolerance)</a:t>
            </a:r>
          </a:p>
          <a:p>
            <a:pPr marL="0" indent="0">
              <a:buNone/>
            </a:pPr>
            <a:r>
              <a:rPr lang="de-DE" b="1" dirty="0"/>
              <a:t>PageRank.run(graph,numIter = 3,</a:t>
            </a:r>
            <a:r>
              <a:rPr lang="en-IN" dirty="0"/>
              <a:t> </a:t>
            </a:r>
            <a:r>
              <a:rPr lang="en-IN" b="1" dirty="0" err="1"/>
              <a:t>resetProb</a:t>
            </a:r>
            <a:r>
              <a:rPr lang="en-IN" b="1" dirty="0"/>
              <a:t> = 0.15</a:t>
            </a:r>
            <a:r>
              <a:rPr lang="de-DE" b="1" dirty="0"/>
              <a:t>)</a:t>
            </a:r>
          </a:p>
          <a:p>
            <a:pPr marL="0" indent="0">
              <a:buNone/>
            </a:pPr>
            <a:r>
              <a:rPr lang="en-IN" i="1" dirty="0" err="1"/>
              <a:t>numIter</a:t>
            </a:r>
            <a:r>
              <a:rPr lang="en-IN" i="1" dirty="0"/>
              <a:t> </a:t>
            </a:r>
            <a:r>
              <a:rPr lang="en-US" dirty="0"/>
              <a:t>→ run for a fixed number of iterations</a:t>
            </a:r>
          </a:p>
          <a:p>
            <a:pPr marL="0" indent="0">
              <a:buNone/>
            </a:pPr>
            <a:r>
              <a:rPr lang="en-US" dirty="0"/>
              <a:t>Both return a </a:t>
            </a:r>
            <a:r>
              <a:rPr lang="en-US" b="1" dirty="0"/>
              <a:t>Graph[Double, Double]</a:t>
            </a:r>
            <a:r>
              <a:rPr lang="en-US" dirty="0"/>
              <a:t>:</a:t>
            </a:r>
          </a:p>
          <a:p>
            <a:r>
              <a:rPr lang="en-IN" dirty="0"/>
              <a:t>Vertex attribute → PageRank score</a:t>
            </a:r>
          </a:p>
          <a:p>
            <a:r>
              <a:rPr lang="en-US" dirty="0"/>
              <a:t>Edge attribute → normalized contribution weight</a:t>
            </a:r>
          </a:p>
          <a:p>
            <a:pPr marL="0" indent="0">
              <a:buNone/>
            </a:pPr>
            <a:r>
              <a:rPr lang="en-US" b="1" dirty="0"/>
              <a:t>Needed Import</a:t>
            </a:r>
            <a:r>
              <a:rPr lang="en-US" dirty="0"/>
              <a:t>: </a:t>
            </a:r>
            <a:r>
              <a:rPr lang="en-US" dirty="0" err="1"/>
              <a:t>org.apache.spark.graphx.lib.PageRank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799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ACB8-0D08-355F-BE3E-9734F4DB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0F24-247A-7902-30AE-D3E39C89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</a:t>
            </a:r>
            <a:r>
              <a:rPr lang="en-IN" b="1" u="sng" dirty="0"/>
              <a:t>age Rank 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3DB8E-FDD5-B868-F816-06D09A280011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052" name="Picture 4" descr="The PageRank algorithm on the network | Download Scientific Diagram">
            <a:extLst>
              <a:ext uri="{FF2B5EF4-FFF2-40B4-BE49-F238E27FC236}">
                <a16:creationId xmlns:a16="http://schemas.microsoft.com/office/drawing/2014/main" id="{1A19A4C6-A59B-AFBC-FBAD-2913B89C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65"/>
          <a:stretch>
            <a:fillRect/>
          </a:stretch>
        </p:blipFill>
        <p:spPr bwMode="auto">
          <a:xfrm>
            <a:off x="7948290" y="4116514"/>
            <a:ext cx="3271038" cy="201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7FF86-56F0-9D6C-CC84-E0BDF2D6B1C7}"/>
                  </a:ext>
                </a:extLst>
              </p:cNvPr>
              <p:cNvSpPr txBox="1"/>
              <p:nvPr/>
            </p:nvSpPr>
            <p:spPr>
              <a:xfrm>
                <a:off x="838200" y="1137182"/>
                <a:ext cx="9995648" cy="4066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IN" dirty="0"/>
                  <a:t>Each node starts with a default rank (1.0).</a:t>
                </a:r>
              </a:p>
              <a:p>
                <a:r>
                  <a:rPr lang="en-IN" dirty="0"/>
                  <a:t>Then repeatedly:</a:t>
                </a: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IN" dirty="0"/>
                  <a:t>Each node distributes its rank equally among its outgoing edges.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IN" dirty="0"/>
                  <a:t>Each node’s new rank = </a:t>
                </a:r>
                <a:r>
                  <a:rPr lang="en-IN" i="1" dirty="0"/>
                  <a:t>sum of contributions</a:t>
                </a:r>
                <a:r>
                  <a:rPr lang="en-IN" dirty="0"/>
                  <a:t> from </a:t>
                </a:r>
                <a:r>
                  <a:rPr lang="en-IN" dirty="0" err="1"/>
                  <a:t>neighbors</a:t>
                </a:r>
                <a:r>
                  <a:rPr lang="en-IN" dirty="0"/>
                  <a:t> × damping factor + small constant.</a:t>
                </a:r>
              </a:p>
              <a:p>
                <a:r>
                  <a:rPr lang="en-IN" dirty="0"/>
                  <a:t>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𝑃𝑅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𝑃𝑅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𝑑𝑒𝑔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d = damping factor (usually 0.85) (1 – </a:t>
                </a:r>
                <a:r>
                  <a:rPr lang="en-IN" dirty="0" err="1"/>
                  <a:t>resetProb</a:t>
                </a:r>
                <a:r>
                  <a:rPr lang="en-IN" dirty="0"/>
                  <a:t>)</a:t>
                </a:r>
              </a:p>
              <a:p>
                <a:r>
                  <a:rPr lang="en-IN" dirty="0" err="1"/>
                  <a:t>deg</a:t>
                </a:r>
                <a:r>
                  <a:rPr lang="en-IN" dirty="0"/>
                  <a:t>(u) = number of outgoing edges from node u</a:t>
                </a:r>
              </a:p>
              <a:p>
                <a:r>
                  <a:rPr lang="en-IN" dirty="0"/>
                  <a:t>N(v) = set of </a:t>
                </a:r>
                <a:r>
                  <a:rPr lang="en-IN" dirty="0" err="1"/>
                  <a:t>neighbors</a:t>
                </a:r>
                <a:r>
                  <a:rPr lang="en-IN" dirty="0"/>
                  <a:t> incoming to v</a:t>
                </a:r>
              </a:p>
              <a:p>
                <a:endParaRPr lang="en-IN" dirty="0"/>
              </a:p>
              <a:p>
                <a:r>
                  <a:rPr lang="en-IN" dirty="0"/>
                  <a:t>Note: If no outgoing edge then don’t send message from node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7FF86-56F0-9D6C-CC84-E0BDF2D6B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7182"/>
                <a:ext cx="9995648" cy="4066754"/>
              </a:xfrm>
              <a:prstGeom prst="rect">
                <a:avLst/>
              </a:prstGeom>
              <a:blipFill>
                <a:blip r:embed="rId4"/>
                <a:stretch>
                  <a:fillRect l="-549" t="-900" b="-14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28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750A-F90D-C29B-8F8D-F20D2A73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DEAE-7115-D455-6418-056513DF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Strongly Connected Component</a:t>
            </a:r>
            <a:endParaRPr lang="en-IN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69082-FEE5-6E15-15D0-CDCCD87031CE}"/>
              </a:ext>
            </a:extLst>
          </p:cNvPr>
          <p:cNvSpPr txBox="1"/>
          <p:nvPr/>
        </p:nvSpPr>
        <p:spPr>
          <a:xfrm>
            <a:off x="838203" y="1018096"/>
            <a:ext cx="105155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strongly connected component (SCC)</a:t>
            </a:r>
            <a:r>
              <a:rPr lang="en-US" sz="2400" dirty="0"/>
              <a:t> in a directed graph is a maximal set of vertices where </a:t>
            </a:r>
            <a:r>
              <a:rPr lang="en-US" sz="2400" b="1" dirty="0"/>
              <a:t>each vertex is reachable from every other vertex</a:t>
            </a:r>
            <a:r>
              <a:rPr lang="en-US" sz="2400" dirty="0"/>
              <a:t> in that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the </a:t>
            </a:r>
            <a:r>
              <a:rPr lang="en-US" sz="2400" b="1" dirty="0"/>
              <a:t>SCCs</a:t>
            </a:r>
            <a:r>
              <a:rPr lang="en-US" sz="2400" dirty="0"/>
              <a:t> are identified, the graph can be simplified by collapsing each SCC into a single node. The resulting "condensed graph" is a directed acyclic graph (DAG), which is easier to analyze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A4CC6-633C-42E7-53D2-44997853DDEA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262D5A-6614-F056-AC13-C07B4602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7088"/>
            <a:ext cx="10515600" cy="3784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Method</a:t>
            </a:r>
          </a:p>
          <a:p>
            <a:pPr marL="0" indent="0">
              <a:buNone/>
            </a:pPr>
            <a:r>
              <a:rPr lang="en-IN" b="1" dirty="0" err="1"/>
              <a:t>graph.stronglyConnectedComponents</a:t>
            </a:r>
            <a:r>
              <a:rPr lang="en-IN" b="1" dirty="0"/>
              <a:t>(</a:t>
            </a:r>
            <a:r>
              <a:rPr lang="en-IN" b="1" dirty="0" err="1"/>
              <a:t>numIter:Int</a:t>
            </a:r>
            <a:r>
              <a:rPr lang="en-IN" b="1" dirty="0"/>
              <a:t>) </a:t>
            </a:r>
          </a:p>
          <a:p>
            <a:r>
              <a:rPr lang="en-US" dirty="0" err="1"/>
              <a:t>numIter</a:t>
            </a:r>
            <a:r>
              <a:rPr lang="en-US" dirty="0"/>
              <a:t> -&gt; maximum number of iterations (stopping condition)</a:t>
            </a:r>
          </a:p>
          <a:p>
            <a:pPr marL="0" indent="0">
              <a:buNone/>
            </a:pPr>
            <a:r>
              <a:rPr lang="en-US" dirty="0"/>
              <a:t>Method returns a </a:t>
            </a:r>
            <a:r>
              <a:rPr lang="en-IN" b="1" dirty="0"/>
              <a:t>Graph[</a:t>
            </a:r>
            <a:r>
              <a:rPr lang="en-IN" b="1" dirty="0" err="1"/>
              <a:t>VertexId</a:t>
            </a:r>
            <a:r>
              <a:rPr lang="en-IN" b="1" dirty="0"/>
              <a:t>, ED]:</a:t>
            </a:r>
            <a:endParaRPr lang="en-US" b="1" dirty="0"/>
          </a:p>
          <a:p>
            <a:r>
              <a:rPr lang="en-IN" dirty="0"/>
              <a:t>Vertex attribute → </a:t>
            </a:r>
            <a:r>
              <a:rPr lang="en-US" b="1" dirty="0"/>
              <a:t>lowest vertex ID</a:t>
            </a:r>
            <a:r>
              <a:rPr lang="en-US" dirty="0"/>
              <a:t> in its strongly connected component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22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BF9F-D31F-4893-8F12-23C5910B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47A6-56F9-E4DA-E1ED-86B2B1D1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Strongly Connected Component</a:t>
            </a:r>
            <a:r>
              <a:rPr lang="en-IN" b="1" u="sng" dirty="0"/>
              <a:t>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ABB06-71C3-B644-90DC-94DB0C617325}"/>
              </a:ext>
            </a:extLst>
          </p:cNvPr>
          <p:cNvSpPr txBox="1"/>
          <p:nvPr/>
        </p:nvSpPr>
        <p:spPr>
          <a:xfrm>
            <a:off x="838200" y="1114985"/>
            <a:ext cx="75382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IN" dirty="0"/>
              <a:t>Algorithm is based on a </a:t>
            </a:r>
            <a:r>
              <a:rPr lang="en-IN" b="1" dirty="0"/>
              <a:t>label propagation</a:t>
            </a:r>
            <a:r>
              <a:rPr lang="en-IN" dirty="0"/>
              <a:t> style technique: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vertex starts labeled with its </a:t>
            </a:r>
            <a:r>
              <a:rPr lang="en-US" b="1" dirty="0"/>
              <a:t>own ID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Iteratively, every vertex propagates and updates its label to the </a:t>
            </a:r>
            <a:r>
              <a:rPr lang="en-US" b="1" dirty="0"/>
              <a:t>minimum vertex ID reachable</a:t>
            </a:r>
            <a:r>
              <a:rPr lang="en-US" dirty="0"/>
              <a:t> through its incoming and outgoing edges.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This continues until </a:t>
            </a:r>
            <a:r>
              <a:rPr lang="en-US" b="1" dirty="0"/>
              <a:t>labels stop changing</a:t>
            </a:r>
            <a:r>
              <a:rPr lang="en-US" dirty="0"/>
              <a:t> or until </a:t>
            </a:r>
            <a:r>
              <a:rPr lang="en-US" b="1" dirty="0" err="1"/>
              <a:t>numIter</a:t>
            </a:r>
            <a:r>
              <a:rPr lang="en-US" dirty="0"/>
              <a:t> is reached</a:t>
            </a:r>
            <a:endParaRPr lang="en-IN" dirty="0"/>
          </a:p>
        </p:txBody>
      </p:sp>
      <p:pic>
        <p:nvPicPr>
          <p:cNvPr id="2052" name="Picture 4" descr="Strongly connected component - Wikipedia">
            <a:extLst>
              <a:ext uri="{FF2B5EF4-FFF2-40B4-BE49-F238E27FC236}">
                <a16:creationId xmlns:a16="http://schemas.microsoft.com/office/drawing/2014/main" id="{E601E3CD-A879-CDCB-2A3B-FAA239A52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635" y="3423309"/>
            <a:ext cx="5203190" cy="327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66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1854-A602-00B8-7A6F-563388EE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0495-39FB-9DC1-933D-469AE133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Shortest Paths</a:t>
            </a:r>
            <a:endParaRPr lang="en-IN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19F0ED-6D2C-D104-41D8-1A5D1B9E99D1}"/>
                  </a:ext>
                </a:extLst>
              </p:cNvPr>
              <p:cNvSpPr txBox="1"/>
              <p:nvPr/>
            </p:nvSpPr>
            <p:spPr>
              <a:xfrm>
                <a:off x="838203" y="1018096"/>
                <a:ext cx="1051559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Given a graph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sz="2400" dirty="0"/>
                  <a:t>— </a:t>
                </a:r>
                <a:r>
                  <a:rPr lang="en-IN" sz="2400" dirty="0"/>
                  <a:t>with vertices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2400" dirty="0"/>
                  <a:t>and edges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sz="2400" dirty="0"/>
                  <a:t>(may have a </a:t>
                </a:r>
                <a:r>
                  <a:rPr lang="en-IN" sz="2400" i="1" dirty="0"/>
                  <a:t>weight</a:t>
                </a:r>
                <a:r>
                  <a:rPr lang="en-IN" sz="2400" dirty="0"/>
                  <a:t>) —</a:t>
                </a:r>
                <a:br>
                  <a:rPr lang="en-IN" sz="2400" dirty="0"/>
                </a:br>
                <a:r>
                  <a:rPr lang="en-IN" sz="2400" dirty="0"/>
                  <a:t>the </a:t>
                </a:r>
                <a:r>
                  <a:rPr lang="en-IN" sz="2400" b="1" dirty="0"/>
                  <a:t>shortest path</a:t>
                </a:r>
                <a:r>
                  <a:rPr lang="en-IN" sz="2400" dirty="0"/>
                  <a:t> between two nodes is the path with the </a:t>
                </a:r>
                <a:r>
                  <a:rPr lang="en-IN" sz="2400" b="1" dirty="0"/>
                  <a:t>minimum total weight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Useful to find fastest route or least cost path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19F0ED-6D2C-D104-41D8-1A5D1B9E9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3" y="1018096"/>
                <a:ext cx="10515597" cy="1569660"/>
              </a:xfrm>
              <a:prstGeom prst="rect">
                <a:avLst/>
              </a:prstGeom>
              <a:blipFill>
                <a:blip r:embed="rId3"/>
                <a:stretch>
                  <a:fillRect l="-812" t="-3101" b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FF3F38F-FC82-9330-171C-B0910A27D5E2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2E5A8E-5179-7424-30BC-8AFCE7B1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756"/>
            <a:ext cx="10515600" cy="4153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u="sng" dirty="0"/>
              <a:t>Method 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org.apache.spark.graphx.lib.ShortestPaths</a:t>
            </a:r>
            <a:r>
              <a:rPr lang="en-IN" b="1" dirty="0"/>
              <a:t> </a:t>
            </a:r>
          </a:p>
          <a:p>
            <a:r>
              <a:rPr lang="en-IN" dirty="0"/>
              <a:t>Needed Import</a:t>
            </a:r>
          </a:p>
          <a:p>
            <a:pPr marL="0" indent="0">
              <a:buNone/>
            </a:pPr>
            <a:r>
              <a:rPr lang="en-US" b="1" dirty="0" err="1"/>
              <a:t>ShortestPaths.run</a:t>
            </a:r>
            <a:r>
              <a:rPr lang="en-US" b="1" dirty="0"/>
              <a:t>(graph, </a:t>
            </a:r>
            <a:r>
              <a:rPr lang="en-IN" b="1" dirty="0"/>
              <a:t>landmarks</a:t>
            </a:r>
            <a:r>
              <a:rPr lang="en-US" b="1" dirty="0"/>
              <a:t>)</a:t>
            </a:r>
            <a:endParaRPr lang="en-IN" b="1" dirty="0"/>
          </a:p>
          <a:p>
            <a:r>
              <a:rPr lang="en-US" dirty="0"/>
              <a:t>graph</a:t>
            </a:r>
            <a:r>
              <a:rPr lang="en-IN" i="1" dirty="0"/>
              <a:t> </a:t>
            </a:r>
            <a:r>
              <a:rPr lang="en-US" dirty="0"/>
              <a:t>→ </a:t>
            </a:r>
            <a:r>
              <a:rPr lang="en-IN" dirty="0"/>
              <a:t>Graph[VD, ED]</a:t>
            </a:r>
          </a:p>
          <a:p>
            <a:r>
              <a:rPr lang="en-IN" dirty="0"/>
              <a:t>Landmarks </a:t>
            </a:r>
            <a:r>
              <a:rPr lang="en-US" dirty="0"/>
              <a:t>→ sequence of source vertex IDs</a:t>
            </a:r>
          </a:p>
          <a:p>
            <a:pPr marL="0" indent="0">
              <a:buNone/>
            </a:pPr>
            <a:r>
              <a:rPr lang="en-US" dirty="0"/>
              <a:t>Both return a </a:t>
            </a:r>
            <a:r>
              <a:rPr lang="en-IN" dirty="0"/>
              <a:t>Graph[Map[</a:t>
            </a:r>
            <a:r>
              <a:rPr lang="en-IN" dirty="0" err="1"/>
              <a:t>VertexId</a:t>
            </a:r>
            <a:r>
              <a:rPr lang="en-IN" dirty="0"/>
              <a:t>, Int], ED]:</a:t>
            </a:r>
            <a:endParaRPr lang="en-US" dirty="0"/>
          </a:p>
          <a:p>
            <a:r>
              <a:rPr lang="en-IN" dirty="0"/>
              <a:t>Vertex attribute → </a:t>
            </a:r>
            <a:r>
              <a:rPr lang="en-US" b="1" dirty="0"/>
              <a:t>Map</a:t>
            </a:r>
            <a:r>
              <a:rPr lang="en-US" dirty="0"/>
              <a:t> from each landmark ID to the shortest distance(only for unweighted graph)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928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FB68-E476-7E56-B208-C5F576D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1D27-45A1-8FC3-D41A-D8EB5FC5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Shortest Paths</a:t>
            </a:r>
            <a:r>
              <a:rPr lang="en-IN" b="1" u="sng" dirty="0"/>
              <a:t>: Algorithm</a:t>
            </a: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8B414-7B88-61D0-DDAB-DD78BD2081D0}"/>
              </a:ext>
            </a:extLst>
          </p:cNvPr>
          <p:cNvSpPr txBox="1"/>
          <p:nvPr/>
        </p:nvSpPr>
        <p:spPr>
          <a:xfrm>
            <a:off x="838200" y="1114985"/>
            <a:ext cx="100718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GraphX</a:t>
            </a:r>
            <a:r>
              <a:rPr lang="en-US" dirty="0"/>
              <a:t> uses a </a:t>
            </a:r>
            <a:r>
              <a:rPr lang="en-US" b="1" dirty="0"/>
              <a:t>distributed variant of the Breadth-First Search (BFS)</a:t>
            </a:r>
            <a:r>
              <a:rPr lang="en-US" dirty="0"/>
              <a:t> algorithm to compute shortest paths: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Start from landmark nodes with distance 0.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 other vertices start with distance ∞ (unreachable).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Iteratively: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vertex sends its known distances + edge weights to its neighbors.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Neighbors update their shortest known distance if a shorter path is found.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Repeat until no updates happen.</a:t>
            </a:r>
          </a:p>
        </p:txBody>
      </p:sp>
    </p:spTree>
    <p:extLst>
      <p:ext uri="{BB962C8B-B14F-4D97-AF65-F5344CB8AC3E}">
        <p14:creationId xmlns:p14="http://schemas.microsoft.com/office/powerpoint/2010/main" val="251526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D15D-09FB-C82C-36F1-3D8F28BC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B51A-097B-9EE4-FFFA-2B1D16DD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553C3-28D5-ECE5-6514-1100F30CE0C3}"/>
              </a:ext>
            </a:extLst>
          </p:cNvPr>
          <p:cNvSpPr txBox="1"/>
          <p:nvPr/>
        </p:nvSpPr>
        <p:spPr>
          <a:xfrm>
            <a:off x="838203" y="700194"/>
            <a:ext cx="107531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 tasks Given Below: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Build the graph (Show diagram using </a:t>
            </a:r>
            <a:r>
              <a:rPr lang="en-US" sz="2400" b="1" dirty="0" err="1"/>
              <a:t>networkx</a:t>
            </a:r>
            <a:r>
              <a:rPr lang="en-US" sz="2400" b="1" dirty="0"/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Apply PageRank to graph for (</a:t>
            </a:r>
            <a:r>
              <a:rPr lang="en-US" sz="2400" b="1" dirty="0" err="1"/>
              <a:t>i</a:t>
            </a:r>
            <a:r>
              <a:rPr lang="en-US" sz="2400" b="1" dirty="0"/>
              <a:t>) 3 iterations and for (ii) tolerance = 0.1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Find Reverse Graph and do task (b) on it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Add 2 more vertex and 5 more edges and then apply Page Rank for 4 iterations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Use Triangle count to find number of triangle associated with each vertex </a:t>
            </a:r>
          </a:p>
          <a:p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75B48-8684-609B-944B-673A6C914A63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3" name="Picture 4" descr="The PageRank algorithm on the network | Download Scientific Diagram">
            <a:extLst>
              <a:ext uri="{FF2B5EF4-FFF2-40B4-BE49-F238E27FC236}">
                <a16:creationId xmlns:a16="http://schemas.microsoft.com/office/drawing/2014/main" id="{BC864F75-03A4-B79C-BF9A-A89331526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65"/>
          <a:stretch>
            <a:fillRect/>
          </a:stretch>
        </p:blipFill>
        <p:spPr bwMode="auto">
          <a:xfrm>
            <a:off x="2974774" y="3182536"/>
            <a:ext cx="5077535" cy="312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94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CEDC3-49D6-9D1E-E5F2-FC29A5D6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F49B-CD3D-175B-D88A-1C4195B1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4AA39-AE46-2E73-F377-0F6AE6AE85CC}"/>
              </a:ext>
            </a:extLst>
          </p:cNvPr>
          <p:cNvSpPr txBox="1"/>
          <p:nvPr/>
        </p:nvSpPr>
        <p:spPr>
          <a:xfrm>
            <a:off x="838203" y="700194"/>
            <a:ext cx="107531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 tasks Given Below: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Build the graph (Show diagram using </a:t>
            </a:r>
            <a:r>
              <a:rPr lang="en-US" sz="2400" b="1" dirty="0" err="1"/>
              <a:t>networkx</a:t>
            </a:r>
            <a:r>
              <a:rPr lang="en-US" sz="2400" b="1" dirty="0"/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Apply built in SCC algorithm to graph and find numbers of SCCs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Find Reverse Graph and do task (b) on it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Build “Condensed” Graph  for both given graph and its reverse and use lowest ID of SCC as vertex attribute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Use Triangle count to find number of triangle associated with each vertex </a:t>
            </a:r>
          </a:p>
          <a:p>
            <a:pPr marL="457200" indent="-457200">
              <a:buFont typeface="+mj-lt"/>
              <a:buAutoNum type="alphaLcParenR"/>
            </a:pPr>
            <a:endParaRPr lang="en-US" sz="2400" b="1" dirty="0"/>
          </a:p>
          <a:p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930DD-0ED0-BDC5-CB33-BB80A3FC473C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A6A0D-6C5B-CFF0-3B6B-3A3B88D352F8}"/>
              </a:ext>
            </a:extLst>
          </p:cNvPr>
          <p:cNvSpPr txBox="1"/>
          <p:nvPr/>
        </p:nvSpPr>
        <p:spPr>
          <a:xfrm>
            <a:off x="838200" y="4116514"/>
            <a:ext cx="33079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("A","B"), ("B","C"), ("C","D"), ("D","A"), ("A","C"), ("B","D")</a:t>
            </a:r>
          </a:p>
          <a:p>
            <a:r>
              <a:rPr lang="en-IN" dirty="0"/>
              <a:t>("F","G"), ("G","H"), ("H","F")</a:t>
            </a:r>
          </a:p>
          <a:p>
            <a:r>
              <a:rPr lang="en-IN" dirty="0"/>
              <a:t>("I","J"), ("J","K"), ("K","L"), ("L","I"), ("I","K"), ("J","L")</a:t>
            </a:r>
          </a:p>
          <a:p>
            <a:r>
              <a:rPr lang="en-IN" dirty="0"/>
              <a:t>("M","N"), ("N","M"), ("A", "E"),</a:t>
            </a:r>
          </a:p>
          <a:p>
            <a:r>
              <a:rPr lang="en-IN" dirty="0"/>
              <a:t>("B", "E"),("E", "F") ,("C", "F"),</a:t>
            </a:r>
          </a:p>
          <a:p>
            <a:r>
              <a:rPr lang="en-IN" dirty="0"/>
              <a:t>("I", "M") ,("M", "O") ,("H", "O")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45D4A-0DF7-629D-004C-AD84676CA7B1}"/>
              </a:ext>
            </a:extLst>
          </p:cNvPr>
          <p:cNvSpPr txBox="1"/>
          <p:nvPr/>
        </p:nvSpPr>
        <p:spPr>
          <a:xfrm>
            <a:off x="838200" y="3747182"/>
            <a:ext cx="1631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Directed Edges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63211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E2F2-DF39-DA7D-72BE-FF8C4FDC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13FE-A295-FB33-9950-AD5EE143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3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D38F7-8EBC-4915-3AE2-9E92E76C832C}"/>
              </a:ext>
            </a:extLst>
          </p:cNvPr>
          <p:cNvSpPr txBox="1"/>
          <p:nvPr/>
        </p:nvSpPr>
        <p:spPr>
          <a:xfrm>
            <a:off x="838203" y="700194"/>
            <a:ext cx="107531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 tasks Given Below: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Build the graph (Show diagram using </a:t>
            </a:r>
            <a:r>
              <a:rPr lang="en-US" sz="2400" b="1" dirty="0" err="1"/>
              <a:t>networkx</a:t>
            </a:r>
            <a:r>
              <a:rPr lang="en-US" sz="2400" b="1" dirty="0"/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Add 2 more vertex and 5 more edges on your own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Apply </a:t>
            </a:r>
            <a:r>
              <a:rPr lang="en-US" sz="2400" b="1" dirty="0" err="1"/>
              <a:t>ShortestPath</a:t>
            </a:r>
            <a:r>
              <a:rPr lang="en-US" sz="2400" b="1" dirty="0"/>
              <a:t> algorithm to graph – Consider 2,4,5 as </a:t>
            </a:r>
            <a:r>
              <a:rPr lang="en-US" sz="2400" b="1" dirty="0" err="1"/>
              <a:t>LandMarks</a:t>
            </a:r>
            <a:r>
              <a:rPr lang="en-US" sz="2400" b="1" dirty="0"/>
              <a:t>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Find among </a:t>
            </a:r>
            <a:r>
              <a:rPr lang="en-US" sz="2400" b="1" dirty="0" err="1"/>
              <a:t>LandMarks</a:t>
            </a:r>
            <a:r>
              <a:rPr lang="en-US" sz="2400" b="1" dirty="0"/>
              <a:t> which node has highest reachability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Find among </a:t>
            </a:r>
            <a:r>
              <a:rPr lang="en-US" sz="2400" b="1" dirty="0" err="1"/>
              <a:t>LandMarks</a:t>
            </a:r>
            <a:r>
              <a:rPr lang="en-US" sz="2400" b="1" dirty="0"/>
              <a:t> which node has minimum total cost 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b="1" dirty="0"/>
              <a:t>Use Triangle count to find number of triangle associated with each vertex </a:t>
            </a:r>
          </a:p>
          <a:p>
            <a:pPr marL="457200" indent="-457200">
              <a:buFont typeface="+mj-lt"/>
              <a:buAutoNum type="alphaLcParenR"/>
            </a:pPr>
            <a:endParaRPr lang="en-US" sz="2400" b="1" dirty="0"/>
          </a:p>
          <a:p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5DD3D-D17E-3B90-6870-FD5C457CA23A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4DE5B-DA51-738E-D590-0B47A662E7EA}"/>
              </a:ext>
            </a:extLst>
          </p:cNvPr>
          <p:cNvSpPr txBox="1"/>
          <p:nvPr/>
        </p:nvSpPr>
        <p:spPr>
          <a:xfrm>
            <a:off x="986117" y="3334871"/>
            <a:ext cx="9341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Directed Adjacency List</a:t>
            </a:r>
          </a:p>
          <a:p>
            <a:r>
              <a:rPr lang="it-IT" dirty="0"/>
              <a:t>1: 3</a:t>
            </a:r>
          </a:p>
          <a:p>
            <a:r>
              <a:rPr lang="it-IT" dirty="0"/>
              <a:t>2: 1, 4</a:t>
            </a:r>
          </a:p>
          <a:p>
            <a:r>
              <a:rPr lang="it-IT" dirty="0"/>
              <a:t>3: 2</a:t>
            </a:r>
          </a:p>
          <a:p>
            <a:r>
              <a:rPr lang="it-IT" dirty="0"/>
              <a:t>4: 6, 5</a:t>
            </a:r>
          </a:p>
          <a:p>
            <a:r>
              <a:rPr lang="it-IT" dirty="0"/>
              <a:t>5: 6, 7</a:t>
            </a:r>
          </a:p>
          <a:p>
            <a:r>
              <a:rPr lang="it-IT" dirty="0"/>
              <a:t>6: 1</a:t>
            </a:r>
          </a:p>
          <a:p>
            <a:r>
              <a:rPr lang="it-IT" dirty="0"/>
              <a:t>7: (none)</a:t>
            </a:r>
          </a:p>
          <a:p>
            <a:r>
              <a:rPr lang="it-IT" dirty="0"/>
              <a:t>8: 5</a:t>
            </a:r>
          </a:p>
          <a:p>
            <a:r>
              <a:rPr lang="it-IT" dirty="0"/>
              <a:t>Note: Reachability = Maximum number of nodes reachable</a:t>
            </a:r>
          </a:p>
          <a:p>
            <a:r>
              <a:rPr lang="it-IT" dirty="0"/>
              <a:t>           Total Cost = Sum of Path Cost of each node to reach a landmark (Cost =0 if not reachable)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35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2088</Words>
  <Application>Microsoft Office PowerPoint</Application>
  <PresentationFormat>Widescreen</PresentationFormat>
  <Paragraphs>285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Office Theme</vt:lpstr>
      <vt:lpstr>Spark GraphX</vt:lpstr>
      <vt:lpstr>What is Pregel?</vt:lpstr>
      <vt:lpstr>What is Spark GraphX ?</vt:lpstr>
      <vt:lpstr>Basic Commands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Page Rank</vt:lpstr>
      <vt:lpstr>Page Rank : Algorithm</vt:lpstr>
      <vt:lpstr>Strongly Connected Component</vt:lpstr>
      <vt:lpstr>Strongly Connected Component: Algorithm</vt:lpstr>
      <vt:lpstr>Shortest Paths</vt:lpstr>
      <vt:lpstr>Shortest Paths: Algorithm</vt:lpstr>
      <vt:lpstr>Lab Task 1</vt:lpstr>
      <vt:lpstr>Lab Task 2</vt:lpstr>
      <vt:lpstr>Lab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Harsh Raj</cp:lastModifiedBy>
  <cp:revision>48</cp:revision>
  <dcterms:created xsi:type="dcterms:W3CDTF">2025-10-07T19:21:21Z</dcterms:created>
  <dcterms:modified xsi:type="dcterms:W3CDTF">2025-11-11T10:53:27Z</dcterms:modified>
</cp:coreProperties>
</file>