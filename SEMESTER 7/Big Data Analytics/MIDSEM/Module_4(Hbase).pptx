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0"/>
  </p:notesMasterIdLst>
  <p:sldIdLst>
    <p:sldId id="256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</p:sldIdLst>
  <p:sldSz cx="9144000" cy="5143500" type="screen16x9"/>
  <p:notesSz cx="6858000" cy="9144000"/>
  <p:embeddedFontLst>
    <p:embeddedFont>
      <p:font typeface="Franklin Gothic" panose="020B0604020202020204" charset="0"/>
      <p:bold r:id="rId21"/>
    </p:embeddedFont>
    <p:embeddedFont>
      <p:font typeface="Libre Franklin" pitchFamily="2" charset="0"/>
      <p:regular r:id="rId22"/>
      <p:bold r:id="rId23"/>
      <p:italic r:id="rId24"/>
      <p:boldItalic r:id="rId25"/>
    </p:embeddedFont>
    <p:embeddedFont>
      <p:font typeface="Roboto Mono" panose="00000009000000000000" pitchFamily="49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6F911F-34A3-4EB7-878F-E24D30116739}">
  <a:tblStyle styleId="{E66F911F-34A3-4EB7-878F-E24D301167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fd377e8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79fd377e8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7a26b861d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g37a26b861d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7ce7cdcb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37ce7cdcb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7a26b861db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g37a26b861db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7a26b861db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g37a26b861d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7a26b861db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g37a26b861db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7a26b861db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g37a26b861db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7a26b861db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g37a26b861db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7a26b861db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g37a26b861db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7a26b861db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g37a26b861db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a26b861db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37a26b861db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7cb73610c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g37cb73610c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7a26b861db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g37a26b861db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7a26b861d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g37a26b861d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7a26b861db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g37a26b861db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7ce7cdcb8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g37ce7cdcb8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79fefb16c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g379fefb16c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34900" y="2314323"/>
            <a:ext cx="8474100" cy="25035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  <a:defRPr sz="27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435896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cap="none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35894" y="1755648"/>
            <a:ext cx="8272200" cy="2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335863" y="3856481"/>
            <a:ext cx="8468100" cy="944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435895" y="1795463"/>
            <a:ext cx="8272200" cy="16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  <a:defRPr sz="2700" b="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38961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/>
          </p:nvPr>
        </p:nvSpPr>
        <p:spPr>
          <a:xfrm>
            <a:off x="4812029" y="1671002"/>
            <a:ext cx="38961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435893" y="1688168"/>
            <a:ext cx="3896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 b="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11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2"/>
          </p:nvPr>
        </p:nvSpPr>
        <p:spPr>
          <a:xfrm>
            <a:off x="435896" y="2194539"/>
            <a:ext cx="38961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3"/>
          </p:nvPr>
        </p:nvSpPr>
        <p:spPr>
          <a:xfrm>
            <a:off x="4812029" y="1688169"/>
            <a:ext cx="38961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500" b="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 b="1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11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4"/>
          </p:nvPr>
        </p:nvSpPr>
        <p:spPr>
          <a:xfrm>
            <a:off x="4812028" y="2194539"/>
            <a:ext cx="38961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31921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335863" y="450900"/>
            <a:ext cx="2762100" cy="43617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575893" y="700088"/>
            <a:ext cx="2274000" cy="12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ranklin Gothic"/>
              <a:buNone/>
              <a:defRPr sz="1800" b="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3675696" y="884872"/>
            <a:ext cx="4988100" cy="3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500">
                <a:solidFill>
                  <a:schemeClr val="dk2"/>
                </a:solidFill>
              </a:defRPr>
            </a:lvl1pPr>
            <a:lvl2pPr marL="914400" lvl="1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 sz="1400">
                <a:solidFill>
                  <a:schemeClr val="dk2"/>
                </a:solidFill>
              </a:defRPr>
            </a:lvl2pPr>
            <a:lvl3pPr marL="1371600" lvl="2" indent="-298450" algn="l">
              <a:spcBef>
                <a:spcPts val="500"/>
              </a:spcBef>
              <a:spcAft>
                <a:spcPts val="0"/>
              </a:spcAft>
              <a:buSzPts val="1100"/>
              <a:buChar char="◼"/>
              <a:defRPr sz="1200">
                <a:solidFill>
                  <a:schemeClr val="dk2"/>
                </a:solidFill>
              </a:defRPr>
            </a:lvl3pPr>
            <a:lvl4pPr marL="1828800" lvl="3" indent="-2921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4pPr>
            <a:lvl5pPr marL="2286000" lvl="4" indent="-2921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5pPr>
            <a:lvl6pPr marL="2743200" lvl="5" indent="-2921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6pPr>
            <a:lvl7pPr marL="3200400" lvl="6" indent="-2921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7pPr>
            <a:lvl8pPr marL="3657600" lvl="7" indent="-2921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8pPr>
            <a:lvl9pPr marL="4114800" lvl="8" indent="-292100" algn="l">
              <a:spcBef>
                <a:spcPts val="500"/>
              </a:spcBef>
              <a:spcAft>
                <a:spcPts val="50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2"/>
          </p:nvPr>
        </p:nvSpPr>
        <p:spPr>
          <a:xfrm>
            <a:off x="575893" y="2127491"/>
            <a:ext cx="2274000" cy="2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dt" idx="10"/>
          </p:nvPr>
        </p:nvSpPr>
        <p:spPr>
          <a:xfrm>
            <a:off x="5704463" y="484268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ftr" idx="11"/>
          </p:nvPr>
        </p:nvSpPr>
        <p:spPr>
          <a:xfrm>
            <a:off x="435894" y="4839443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sldNum" idx="12"/>
          </p:nvPr>
        </p:nvSpPr>
        <p:spPr>
          <a:xfrm>
            <a:off x="7918725" y="4842687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1800" b="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>
            <a:spLocks noGrp="1"/>
          </p:cNvSpPr>
          <p:nvPr>
            <p:ph type="pic" idx="2"/>
          </p:nvPr>
        </p:nvSpPr>
        <p:spPr>
          <a:xfrm>
            <a:off x="335863" y="481013"/>
            <a:ext cx="8468100" cy="2738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/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marL="4114800" lvl="8" indent="-228600" algn="l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 rot="5400000">
            <a:off x="3202506" y="-1014598"/>
            <a:ext cx="27390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2921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2pPr>
            <a:lvl3pPr marL="1371600" lvl="2" indent="-285750" algn="l">
              <a:spcBef>
                <a:spcPts val="500"/>
              </a:spcBef>
              <a:spcAft>
                <a:spcPts val="0"/>
              </a:spcAft>
              <a:buSzPts val="900"/>
              <a:buChar char="◼"/>
              <a:defRPr/>
            </a:lvl3pPr>
            <a:lvl4pPr marL="1828800" lvl="3" indent="-279400" algn="l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marL="2286000" lvl="4" indent="-279400" algn="l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/>
          <p:nvPr/>
        </p:nvSpPr>
        <p:spPr>
          <a:xfrm>
            <a:off x="6043613" y="449794"/>
            <a:ext cx="2765400" cy="43626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 rot="5400000">
            <a:off x="5522100" y="1278900"/>
            <a:ext cx="3605400" cy="23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 rot="5400000">
            <a:off x="1464111" y="-235200"/>
            <a:ext cx="3605400" cy="53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marL="1371600" lvl="2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marL="1828800" lvl="3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marL="2286000" lvl="4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marL="2743200" lvl="5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marL="3200400" lvl="6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marL="3657600" lvl="7" indent="-304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marL="4114800" lvl="8" indent="-30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>
            <a:endParaRPr/>
          </a:p>
        </p:txBody>
      </p:sp>
      <p:sp>
        <p:nvSpPr>
          <p:cNvPr id="129" name="Google Shape;129;p24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4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4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  <a:defRPr sz="21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7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marR="0" lvl="0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29210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28575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◼"/>
              <a:defRPr sz="10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7940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◼"/>
              <a:defRPr sz="8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7940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◼"/>
              <a:defRPr sz="8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7940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7940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7940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79400" algn="l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0" name="Google Shape;140;p25"/>
          <p:cNvSpPr txBox="1">
            <a:spLocks noGrp="1"/>
          </p:cNvSpPr>
          <p:nvPr>
            <p:ph type="ctrTitle"/>
          </p:nvPr>
        </p:nvSpPr>
        <p:spPr>
          <a:xfrm>
            <a:off x="398000" y="795050"/>
            <a:ext cx="82452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</a:pPr>
            <a:r>
              <a:rPr lang="en-GB" sz="3500" b="1"/>
              <a:t>BIG DATA ANALYTICS (CS-431)</a:t>
            </a:r>
            <a:endParaRPr sz="3500" b="1"/>
          </a:p>
        </p:txBody>
      </p:sp>
      <p:sp>
        <p:nvSpPr>
          <p:cNvPr id="141" name="Google Shape;141;p25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5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5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ubTitle" idx="1"/>
          </p:nvPr>
        </p:nvSpPr>
        <p:spPr>
          <a:xfrm>
            <a:off x="449400" y="2119150"/>
            <a:ext cx="8245200" cy="20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46940"/>
              <a:buNone/>
            </a:pPr>
            <a:r>
              <a:rPr lang="en-GB" sz="2343" b="1" dirty="0">
                <a:solidFill>
                  <a:schemeClr val="dk1"/>
                </a:solidFill>
              </a:rPr>
              <a:t>Dr. Sriparna Saha</a:t>
            </a:r>
            <a:endParaRPr sz="2343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199"/>
              <a:buFont typeface="Arial"/>
              <a:buNone/>
            </a:pPr>
            <a:r>
              <a:rPr lang="en-GB" sz="1827" dirty="0">
                <a:solidFill>
                  <a:schemeClr val="dk1"/>
                </a:solidFill>
              </a:rPr>
              <a:t>Associate Professor</a:t>
            </a:r>
            <a:endParaRPr sz="1827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101"/>
              <a:buFont typeface="Arial"/>
              <a:buNone/>
            </a:pPr>
            <a:r>
              <a:rPr lang="en-GB" sz="1547" b="1" dirty="0">
                <a:solidFill>
                  <a:schemeClr val="dk1"/>
                </a:solidFill>
              </a:rPr>
              <a:t>Website</a:t>
            </a:r>
            <a:r>
              <a:rPr lang="en-GB" sz="1547" dirty="0">
                <a:solidFill>
                  <a:schemeClr val="dk1"/>
                </a:solidFill>
              </a:rPr>
              <a:t>: https://www.iitp.ac.in/~sriparna/</a:t>
            </a:r>
            <a:endParaRPr sz="1547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101"/>
              <a:buFont typeface="Arial"/>
              <a:buNone/>
            </a:pPr>
            <a:r>
              <a:rPr lang="en-GB" sz="1547" b="1" dirty="0">
                <a:solidFill>
                  <a:schemeClr val="dk1"/>
                </a:solidFill>
              </a:rPr>
              <a:t>Google Scholar: </a:t>
            </a:r>
            <a:r>
              <a:rPr lang="en-GB" sz="1547" dirty="0">
                <a:solidFill>
                  <a:schemeClr val="dk1"/>
                </a:solidFill>
              </a:rPr>
              <a:t>https://scholar.google.co.in/citations?user=Fj7jA_AAAAAJ&amp;hl=en</a:t>
            </a:r>
            <a:endParaRPr sz="1547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101"/>
              <a:buFont typeface="Arial"/>
              <a:buNone/>
            </a:pPr>
            <a:r>
              <a:rPr lang="en-GB" sz="1547" b="1" dirty="0">
                <a:solidFill>
                  <a:schemeClr val="dk1"/>
                </a:solidFill>
              </a:rPr>
              <a:t>Research Lab: </a:t>
            </a:r>
            <a:r>
              <a:rPr lang="en-GB" sz="1547" dirty="0" err="1">
                <a:solidFill>
                  <a:schemeClr val="dk1"/>
                </a:solidFill>
              </a:rPr>
              <a:t>SS_Lab</a:t>
            </a:r>
            <a:endParaRPr sz="1547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101"/>
              <a:buFont typeface="Arial"/>
              <a:buNone/>
            </a:pPr>
            <a:r>
              <a:rPr lang="en-GB" sz="1547" b="1" dirty="0">
                <a:solidFill>
                  <a:schemeClr val="dk1"/>
                </a:solidFill>
              </a:rPr>
              <a:t>Core Research AREA:</a:t>
            </a:r>
            <a:r>
              <a:rPr lang="en-GB" sz="1547" dirty="0">
                <a:solidFill>
                  <a:schemeClr val="dk1"/>
                </a:solidFill>
              </a:rPr>
              <a:t> NLP, GenAI, LLMs, VLMs, Multimodality, Meta-Learning, Health Care, FinTech, Conversational Agents</a:t>
            </a:r>
            <a:endParaRPr sz="1547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101"/>
              <a:buFont typeface="Arial"/>
              <a:buNone/>
            </a:pPr>
            <a:endParaRPr sz="1547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614"/>
              <a:buFont typeface="Arial"/>
              <a:buNone/>
            </a:pPr>
            <a:endParaRPr sz="1454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54"/>
              <a:buFont typeface="Arial"/>
              <a:buNone/>
            </a:pPr>
            <a:r>
              <a:rPr lang="en-GB" sz="1583" b="1" dirty="0">
                <a:solidFill>
                  <a:schemeClr val="dk1"/>
                </a:solidFill>
              </a:rPr>
              <a:t>TAs</a:t>
            </a:r>
            <a:r>
              <a:rPr lang="en-GB" sz="1583" dirty="0">
                <a:solidFill>
                  <a:schemeClr val="dk1"/>
                </a:solidFill>
              </a:rPr>
              <a:t>: Sarmistha Das, Nitish Kumar, Divyanshu Singh, Aditya Bhagat, Harsh Raj</a:t>
            </a:r>
            <a:endParaRPr sz="1583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91666"/>
              <a:buNone/>
            </a:pPr>
            <a:endParaRPr dirty="0"/>
          </a:p>
        </p:txBody>
      </p:sp>
      <p:pic>
        <p:nvPicPr>
          <p:cNvPr id="145" name="Google Shape;145;p25" title="iit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4525" y="461825"/>
            <a:ext cx="1204575" cy="112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What is Apache HBase?</a:t>
            </a:r>
            <a:endParaRPr sz="3000" b="1"/>
          </a:p>
        </p:txBody>
      </p:sp>
      <p:sp>
        <p:nvSpPr>
          <p:cNvPr id="579" name="Google Shape;579;p89"/>
          <p:cNvSpPr txBox="1">
            <a:spLocks noGrp="1"/>
          </p:cNvSpPr>
          <p:nvPr>
            <p:ph type="body" idx="1"/>
          </p:nvPr>
        </p:nvSpPr>
        <p:spPr>
          <a:xfrm>
            <a:off x="647000" y="1531925"/>
            <a:ext cx="57966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HBase is a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NoSQL, column-oriented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database that runs on top of HDFS. It provides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read/write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access to large datasets.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on top of HDFS (HDFS is the primary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distributed file system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by Hadoop to store large volumes of data across multiple machines. It is designed for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high-throughput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access to large files.), uses it for storage.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for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random, real-time access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big data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 for use cases like messaging platforms, analytics engines, etc.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Schema-less, supports millions of rows and columns.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89"/>
          <p:cNvPicPr preferRelativeResize="0"/>
          <p:nvPr/>
        </p:nvPicPr>
        <p:blipFill rotWithShape="1">
          <a:blip r:embed="rId4">
            <a:alphaModFix/>
          </a:blip>
          <a:srcRect l="21719" t="11754" r="22040" b="30824"/>
          <a:stretch/>
        </p:blipFill>
        <p:spPr>
          <a:xfrm>
            <a:off x="6384150" y="1322600"/>
            <a:ext cx="2553124" cy="146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3600" y="2990975"/>
            <a:ext cx="2553124" cy="176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435900" y="526625"/>
            <a:ext cx="82722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70000"/>
              <a:buFont typeface="Franklin Gothic"/>
              <a:buNone/>
            </a:pPr>
            <a:r>
              <a:rPr lang="en-GB" sz="3000" b="1"/>
              <a:t>HBase architecture</a:t>
            </a:r>
            <a:endParaRPr sz="3000" b="1"/>
          </a:p>
        </p:txBody>
      </p:sp>
      <p:sp>
        <p:nvSpPr>
          <p:cNvPr id="588" name="Google Shape;588;p90"/>
          <p:cNvSpPr txBox="1">
            <a:spLocks noGrp="1"/>
          </p:cNvSpPr>
          <p:nvPr>
            <p:ph type="body" idx="1"/>
          </p:nvPr>
        </p:nvSpPr>
        <p:spPr>
          <a:xfrm>
            <a:off x="257525" y="1034750"/>
            <a:ext cx="5578500" cy="3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HBase architecture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based on the following components: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lphaLcPeriod"/>
            </a:pPr>
            <a:r>
              <a:rPr lang="en-GB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 Server.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serves one or more Regions — ranges of rows, stored together. Each Region is served only by one Region Server. Region Servers are also called HRegionServers. A Region Server contains multiple components, some of them work on top of HDFS, using it as a persistent data storage.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lphaLcPeriod"/>
            </a:pPr>
            <a:r>
              <a:rPr lang="en-GB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 server.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is a main server responsible for managing an HBase cluster. It is similar to a NameNode in HDFS. A Master server manages distribution of Regions between Region Servers, maintains the registration of Regions, etc. It is also called HMaster. You can deploy several Master servers in your cluster: one active and one or more standby.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lphaLcPeriod"/>
            </a:pPr>
            <a:r>
              <a:rPr lang="en-GB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ZooKeeper.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is a special service designed to manage configurations and synchronization of services. It is used to coordinate actions between HBase services.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6375" y="1416000"/>
            <a:ext cx="3224075" cy="2796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HBase and the CAP Theorem</a:t>
            </a:r>
            <a:endParaRPr sz="3000" b="1"/>
          </a:p>
        </p:txBody>
      </p:sp>
      <p:sp>
        <p:nvSpPr>
          <p:cNvPr id="596" name="Google Shape;596;p91"/>
          <p:cNvSpPr txBox="1">
            <a:spLocks noGrp="1"/>
          </p:cNvSpPr>
          <p:nvPr>
            <p:ph type="body" idx="1"/>
          </p:nvPr>
        </p:nvSpPr>
        <p:spPr>
          <a:xfrm>
            <a:off x="726300" y="1720225"/>
            <a:ext cx="4032600" cy="26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HBase is a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 (Consistency + Partition Tolerance)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system.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guarantees that a client will always read the most recently written value.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strong consistency is achieved by having a single RegionServer responsible for a given data range.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makes it a good fit for Big Data use cases where data accuracy is a strict requirement.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7" name="Google Shape;59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6275" y="1927400"/>
            <a:ext cx="3137925" cy="16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9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The HBase Data Model</a:t>
            </a:r>
            <a:endParaRPr sz="3000" b="1"/>
          </a:p>
        </p:txBody>
      </p:sp>
      <p:sp>
        <p:nvSpPr>
          <p:cNvPr id="604" name="Google Shape;604;p92"/>
          <p:cNvSpPr txBox="1">
            <a:spLocks noGrp="1"/>
          </p:cNvSpPr>
          <p:nvPr>
            <p:ph type="body" idx="1"/>
          </p:nvPr>
        </p:nvSpPr>
        <p:spPr>
          <a:xfrm>
            <a:off x="735300" y="1636250"/>
            <a:ext cx="79728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HBase stores data in a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table-like structure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but it's very different from traditional databases.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Structure: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Table → Rows → Column Families → Columns → Versions (timestamps)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Identified by a unique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 Key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 Family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group of related columns stored together.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Each data cell can have multiple versions (by timestamp).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for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sparse datasets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good when not every row has all columns.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The Importance of the Row Key</a:t>
            </a:r>
            <a:endParaRPr sz="3000" b="1"/>
          </a:p>
        </p:txBody>
      </p:sp>
      <p:sp>
        <p:nvSpPr>
          <p:cNvPr id="611" name="Google Shape;611;p93"/>
          <p:cNvSpPr txBox="1">
            <a:spLocks noGrp="1"/>
          </p:cNvSpPr>
          <p:nvPr>
            <p:ph type="body" idx="1"/>
          </p:nvPr>
        </p:nvSpPr>
        <p:spPr>
          <a:xfrm>
            <a:off x="685800" y="1512100"/>
            <a:ext cx="4122600" cy="3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 Key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uniquely identifies a row.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is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Row Key for fast lookups.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controls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distribution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across the cluster.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bad Row Key design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slow down performance (e.g., timestamp-only keys = hotspotting).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Row Key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helps HBase find data quickly because all rows are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by Row Key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enabling fast lookups and efficient data access.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8850" y="1917467"/>
            <a:ext cx="4080350" cy="186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HBase vs. HDFS</a:t>
            </a:r>
            <a:endParaRPr sz="3000" b="1"/>
          </a:p>
        </p:txBody>
      </p:sp>
      <p:pic>
        <p:nvPicPr>
          <p:cNvPr id="619" name="Google Shape;61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00" y="1649900"/>
            <a:ext cx="8519050" cy="195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Interacting with HBase</a:t>
            </a:r>
            <a:endParaRPr sz="3000" b="1"/>
          </a:p>
        </p:txBody>
      </p:sp>
      <p:sp>
        <p:nvSpPr>
          <p:cNvPr id="626" name="Google Shape;626;p95"/>
          <p:cNvSpPr txBox="1">
            <a:spLocks noGrp="1"/>
          </p:cNvSpPr>
          <p:nvPr>
            <p:ph type="body" idx="1"/>
          </p:nvPr>
        </p:nvSpPr>
        <p:spPr>
          <a:xfrm>
            <a:off x="755175" y="1720225"/>
            <a:ext cx="743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work with HBase through: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hbase shell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(command line)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API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(main programmatic access)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REST/Thrift/Avro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(for web or external systems)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(e.g., using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happybase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commands like: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put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scan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2075" y="1794825"/>
            <a:ext cx="3463350" cy="18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96"/>
          <p:cNvSpPr txBox="1">
            <a:spLocks noGrp="1"/>
          </p:cNvSpPr>
          <p:nvPr>
            <p:ph type="title"/>
          </p:nvPr>
        </p:nvSpPr>
        <p:spPr>
          <a:xfrm>
            <a:off x="435900" y="526624"/>
            <a:ext cx="8272200" cy="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Master-Slave Architecture</a:t>
            </a:r>
            <a:endParaRPr sz="3000" b="1"/>
          </a:p>
        </p:txBody>
      </p:sp>
      <p:sp>
        <p:nvSpPr>
          <p:cNvPr id="634" name="Google Shape;634;p96"/>
          <p:cNvSpPr txBox="1">
            <a:spLocks noGrp="1"/>
          </p:cNvSpPr>
          <p:nvPr>
            <p:ph type="body" idx="1"/>
          </p:nvPr>
        </p:nvSpPr>
        <p:spPr>
          <a:xfrm>
            <a:off x="435900" y="1418225"/>
            <a:ext cx="4479600" cy="3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HBase uses a master-slave architecture, coordinated by ZooKeeper.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HMaster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responsible for administrative tasks and assigning data regions to servers ( Manages metadata and region assignments).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RegionServers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the workhorses; they handle all client read and write requests.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clear division of labor is a classic architecture for managing large-scale data systems.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active HMaster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 a time; others are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standby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failover.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400" y="1570625"/>
            <a:ext cx="3766825" cy="245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9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Regions: Horizontal Data Partitioning</a:t>
            </a:r>
            <a:endParaRPr sz="3000" b="1"/>
          </a:p>
        </p:txBody>
      </p:sp>
      <p:sp>
        <p:nvSpPr>
          <p:cNvPr id="642" name="Google Shape;642;p97"/>
          <p:cNvSpPr txBox="1">
            <a:spLocks noGrp="1"/>
          </p:cNvSpPr>
          <p:nvPr>
            <p:ph type="body" idx="1"/>
          </p:nvPr>
        </p:nvSpPr>
        <p:spPr>
          <a:xfrm>
            <a:off x="497500" y="1736700"/>
            <a:ext cx="4925400" cy="19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stores a range of rows from a table.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Tables are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horizontally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Regions as they grow.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RegionServer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serve multiple Regions.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allows HBase to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 out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data increases.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97"/>
          <p:cNvPicPr preferRelativeResize="0"/>
          <p:nvPr/>
        </p:nvPicPr>
        <p:blipFill rotWithShape="1">
          <a:blip r:embed="rId4">
            <a:alphaModFix/>
          </a:blip>
          <a:srcRect t="16093"/>
          <a:stretch/>
        </p:blipFill>
        <p:spPr>
          <a:xfrm>
            <a:off x="5373350" y="1568225"/>
            <a:ext cx="3580924" cy="30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98"/>
          <p:cNvSpPr txBox="1">
            <a:spLocks noGrp="1"/>
          </p:cNvSpPr>
          <p:nvPr>
            <p:ph type="title"/>
          </p:nvPr>
        </p:nvSpPr>
        <p:spPr>
          <a:xfrm>
            <a:off x="435900" y="526623"/>
            <a:ext cx="8272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The Write Path: WAL (Write-Ahead Log)</a:t>
            </a:r>
            <a:endParaRPr sz="3000" b="1"/>
          </a:p>
        </p:txBody>
      </p:sp>
      <p:sp>
        <p:nvSpPr>
          <p:cNvPr id="650" name="Google Shape;650;p98"/>
          <p:cNvSpPr txBox="1">
            <a:spLocks noGrp="1"/>
          </p:cNvSpPr>
          <p:nvPr>
            <p:ph type="body" idx="1"/>
          </p:nvPr>
        </p:nvSpPr>
        <p:spPr>
          <a:xfrm>
            <a:off x="755175" y="1472475"/>
            <a:ext cx="39357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 (Write-Ahead Log)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Logs every write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saving data.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Stored in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HDFS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keep data safe if a server fails.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Helps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 data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after crashes.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because it only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adds to the end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log.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a RegionServer crashes, WAL ensures no data is lost.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No data loss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50" y="1720217"/>
            <a:ext cx="4267249" cy="206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9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The Write Path: MemStore</a:t>
            </a:r>
            <a:endParaRPr sz="3000" b="1"/>
          </a:p>
        </p:txBody>
      </p:sp>
      <p:sp>
        <p:nvSpPr>
          <p:cNvPr id="658" name="Google Shape;658;p99"/>
          <p:cNvSpPr txBox="1">
            <a:spLocks noGrp="1"/>
          </p:cNvSpPr>
          <p:nvPr>
            <p:ph type="body" idx="1"/>
          </p:nvPr>
        </p:nvSpPr>
        <p:spPr>
          <a:xfrm>
            <a:off x="636250" y="1720225"/>
            <a:ext cx="39357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Temporary storage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memory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new data.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Keeps data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quick access.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full, data is saved to disk as an HFile.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MemStore reaches a size limit, it’s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flushed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disk as an HFile.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First, HBase checks if the latest data is in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(MemStore).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found, it's returned directly (fastest access).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50" y="1720217"/>
            <a:ext cx="4267249" cy="206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0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The Write Path: HFiles (on HDFS)</a:t>
            </a:r>
            <a:endParaRPr sz="3000" b="1"/>
          </a:p>
        </p:txBody>
      </p:sp>
      <p:sp>
        <p:nvSpPr>
          <p:cNvPr id="666" name="Google Shape;666;p100"/>
          <p:cNvSpPr txBox="1">
            <a:spLocks noGrp="1"/>
          </p:cNvSpPr>
          <p:nvPr>
            <p:ph type="body" idx="1"/>
          </p:nvPr>
        </p:nvSpPr>
        <p:spPr>
          <a:xfrm>
            <a:off x="435900" y="1571550"/>
            <a:ext cx="5312100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Permanent data files stored on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HDFS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by flushing MemStore.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Files are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and unchangeable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fast reads.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files get merged over time to improve speed.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time, multiple HFiles are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compacted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reduce read overhead.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not found in MemStore or BlockCache, HBase reads from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HFiles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HDFS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is merged from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HFiles and versions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needed.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involve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Bloom Filters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Indexes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speed up lookups.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7" name="Google Shape;66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1800" y="1720225"/>
            <a:ext cx="3287400" cy="206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0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The Read Path </a:t>
            </a:r>
            <a:endParaRPr sz="3000" b="1"/>
          </a:p>
        </p:txBody>
      </p:sp>
      <p:sp>
        <p:nvSpPr>
          <p:cNvPr id="674" name="Google Shape;674;p101"/>
          <p:cNvSpPr txBox="1">
            <a:spLocks noGrp="1"/>
          </p:cNvSpPr>
          <p:nvPr>
            <p:ph type="body" idx="1"/>
          </p:nvPr>
        </p:nvSpPr>
        <p:spPr>
          <a:xfrm>
            <a:off x="675900" y="1581475"/>
            <a:ext cx="7878900" cy="29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HBase reads data in this order: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→ cache → disk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ensuring the most recent and fastest access possible.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fulfill a read request, a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RegionServer first checks the MemStore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latest data.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data isn't in MemStore, it checks the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BlockCache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stores frequently accessed data blocks from HFiles.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not found there, HBase reads from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HFiles on HDFS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Bloom Filters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indexes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speed up access.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multi-layered read path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ensures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low-latency performance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making HBase ideal for 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applications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like analytics dashboards.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5" name="Google Shape;675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0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Cassandra vs. HBase</a:t>
            </a:r>
            <a:endParaRPr sz="3000" b="1"/>
          </a:p>
        </p:txBody>
      </p:sp>
      <p:pic>
        <p:nvPicPr>
          <p:cNvPr id="681" name="Google Shape;68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7175" y="1418217"/>
            <a:ext cx="5171355" cy="3420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03"/>
          <p:cNvSpPr txBox="1">
            <a:spLocks noGrp="1"/>
          </p:cNvSpPr>
          <p:nvPr>
            <p:ph type="title"/>
          </p:nvPr>
        </p:nvSpPr>
        <p:spPr>
          <a:xfrm>
            <a:off x="435900" y="526624"/>
            <a:ext cx="8272200" cy="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r>
              <a:rPr lang="en-GB" sz="3000" b="1"/>
              <a:t>HBase: advantages and disadvantages</a:t>
            </a:r>
            <a:endParaRPr sz="3000" b="1"/>
          </a:p>
        </p:txBody>
      </p:sp>
      <p:pic>
        <p:nvPicPr>
          <p:cNvPr id="688" name="Google Shape;68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175" y="526625"/>
            <a:ext cx="1094925" cy="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275" y="1365975"/>
            <a:ext cx="7379471" cy="351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0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</a:pPr>
            <a:endParaRPr sz="3000" b="1"/>
          </a:p>
        </p:txBody>
      </p:sp>
      <p:sp>
        <p:nvSpPr>
          <p:cNvPr id="695" name="Google Shape;695;p104"/>
          <p:cNvSpPr txBox="1">
            <a:spLocks noGrp="1"/>
          </p:cNvSpPr>
          <p:nvPr>
            <p:ph type="body" idx="1"/>
          </p:nvPr>
        </p:nvSpPr>
        <p:spPr>
          <a:xfrm>
            <a:off x="435900" y="1819650"/>
            <a:ext cx="8150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Microsoft Office PowerPoint</Application>
  <PresentationFormat>On-screen Show (16:9)</PresentationFormat>
  <Paragraphs>93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Franklin Gothic</vt:lpstr>
      <vt:lpstr>Noto Sans Symbols</vt:lpstr>
      <vt:lpstr>Roboto Mono</vt:lpstr>
      <vt:lpstr>Libre Franklin</vt:lpstr>
      <vt:lpstr>Arial</vt:lpstr>
      <vt:lpstr>Simple Light</vt:lpstr>
      <vt:lpstr>DividendVTI</vt:lpstr>
      <vt:lpstr>BIG DATA ANALYTICS (CS-431)</vt:lpstr>
      <vt:lpstr>What is Apache HBase?</vt:lpstr>
      <vt:lpstr>HBase architecture</vt:lpstr>
      <vt:lpstr>HBase and the CAP Theorem</vt:lpstr>
      <vt:lpstr>The HBase Data Model</vt:lpstr>
      <vt:lpstr>The Importance of the Row Key</vt:lpstr>
      <vt:lpstr>HBase vs. HDFS</vt:lpstr>
      <vt:lpstr>Interacting with HBase</vt:lpstr>
      <vt:lpstr>Master-Slave Architecture</vt:lpstr>
      <vt:lpstr>Regions: Horizontal Data Partitioning</vt:lpstr>
      <vt:lpstr>The Write Path: WAL (Write-Ahead Log)</vt:lpstr>
      <vt:lpstr>The Write Path: MemStore</vt:lpstr>
      <vt:lpstr>The Write Path: HFiles (on HDFS)</vt:lpstr>
      <vt:lpstr>The Read Path </vt:lpstr>
      <vt:lpstr>Cassandra vs. HBase</vt:lpstr>
      <vt:lpstr>HBase: advantages and disadvantages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 🖤</cp:lastModifiedBy>
  <cp:revision>2</cp:revision>
  <dcterms:modified xsi:type="dcterms:W3CDTF">2025-09-10T09:05:56Z</dcterms:modified>
</cp:coreProperties>
</file>